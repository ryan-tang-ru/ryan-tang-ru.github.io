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9759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where, when, and why LLM systems fail, in two parts. Part 1 is mechanistic understanding. Inside one vision-language model, we trace a hallucinated word back to the few image tokens that cause it, and remove them without training. Part 2 is auditing and control. Agents run for many steps and pass results to each other, so we ask when and where a run starts to fail, and catch it while the run is still going.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map of my lab. Click through one direction at a time. Perception reliability: when a model sees an image, does it describe what is really there, and how sure is it. Operational interpretability: find the mechanism inside the model that causes a behavior, and steer it. Agent safety and control: when agents act over many steps, predict failures early and contain the error. And on the bottom, the important problems in biomedicine we tackle with these methods, on genomic, cellular, organ and patient data.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sits in the first two directions: perception reliability and operational interpretability. We look inside a vision-language model to find why it describes objects that are not in the image, and which image tokens cause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how these models work. A large vision-language model like LLaVA has a language model as its backbone. The image is cut into small patches; a vision transformer, the ViT, embeds each patch and runs 24 layers of self-attention over them. A small MLP, the projector, then maps each patch feature into the word space of the language model. The result is a sequence of image tokens, 576 of them for LLaVA-1.5, which the language model reads together with the question, just like extra words. Then it writes the answer token by token. We ask LLaVA-1.5 to describe this fruit stand. The answer sounds fluent and confident, and it mentions apples and oranges. Look closely: there are none. Bananas, plantains, papayas, kiwis. The model is describing objects that are not there. This is object hallucination. Keep this image in mind, we will come back to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one strange image. Same question every time: please describe the image in detail. The answers are long and mostly right, and the hallucinations hide inside them. At the airport, LLaVA-1.5 adds two motorcycles and a truck. At the window, a person standing in the background. On the snowy corner, a parked car and a person. And with a different model, Shikra, a car and people in a night skyline. None of them are there. The before-and-after answers for these four images are in the backup slides.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did the field focus on the language side? Two strong pieces of evidence. VCD shows that when you blur the image, the model falls back on what language expects: a black banana becomes yellow or green, so the language prior seems to override the image. PAI measures where attention goes as the answer grows: the image tokens get a small and shrinking share, while the text the model has already written takes more and more, so the decoder seems to stop looking at the image. Both point to the language model as the culprit, and the fixes all live in decoding: contrast against a distorted image (VCD), penalize over-trust (OPERA), or boost attention to the image (PAI). All of them keep the image as a fixed, trustworthy input. None asks which image tokens cause the hallucination in the first place. That is our question.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the picture of the model, now split into two halves. The light blue half on the right is where prior work lives: the language model and its decoding. VCD, OPERA and PAI change how the decoder picks words. The pink half on the left is the visual side: the ViT encodes the image patches, the projector turns them into image tokens, and those tokens are what the language model reads. This half has been largely left as it is. Our idea is to follow the red path backwards: start from the hallucinated word, apples, go back through the model to the image tokens it relied on, and from there to the image patches they came from. The image itself holds the full information: there are no apples in it. So the question at the top is whether the model actually gets the right information from the image, and if it does not, which image tokens lead it astray.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read this map. Each row is one word the model generates, from the first word at the top to the last at the bottom. Each column is one input token: a short system prompt on the left, then the 576 image tokens, the big block in the middle, and on the right the question and the answer written so far. A bright cell means that word paid a lot of attention to that token. Three patterns. The thin columns on the far left are attention sinks: they are bright in every row and carry no specific content. On the right, the triangle is the model reading its own earlier words; it is a triangle because a word can only see what came before it. The interesting part is the middle: at layer 15, words light up specific spots in the image block. To see what that means, take one row, keep its 576 image-token cells, fold them back into the 24 by 24 grid, and lay them on the image. On the right is what that looks like for the word dog, from a different image. The bright cells sit right on the dog. So at layer 15 the model is reading the region a word refers to. At layer 32, and most other layers, the image block stays dark apart from the sinks. That gives us a tool: for any word, look up which image tokens it relies on at layer 15.</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where the attention lands. Picture the decoder as a stack of layers, rows here, over the input tokens: image tokens on the left, text tokens on the right. When the model writes an object word, the red token, it looks back at the image tokens. In the middle layers, around layer 15, that attention lands on the image tokens of the object itself. We measure it with a simple ratio, shown under the curves: the attention that falls inside the object's box, over the attention on all image tokens. Over 500 MSCOCO images, for both LLaVA-1.5 and LLaVA-Next, this ratio rises in the middle layers: from layer 10 to 25, more than half of the attention lands on the right object, with a peak around layer 15. Now the interesting question: what about objects that are not there?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same trick for hallucinated objects, at layer 15. On the left, each row starts with the input image, then a real object, then a hallucinated one from the same image. Bananas spread over the bananas; the hallucinated apples look at the papaya and the kiwis, which share color, texture and shape. Cats spread over the cats; the hallucinated glove looks at the baseball. Hallucinations are not random: each one leans on a few tokens of an object that resembles it. On the right we make that quantitative with a simple test. For every object the model mentions, zero out the K image tokens it attends to most, regenerate, and ask whether the object is still there. The red curve, hallucinated objects: at K equals 8 about 80 percent are gone. The blue curve, real objects: only about 10 percent are affected, usually small objects or objects at the image edge. Real objects are backed by their whole region; a hallucination hangs on a handful of tokens. That asymmetry is what the method will use.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look at the papaya tokens, one tool. Read the picture bottom-up. The input is a row of image tokens, one per patch; the last one here is a papaya patch. As they pass through the layers, each token becomes an embedding, and at a middle layer l we pick one of them, the papaya embedding h. Our question is about the mapping from this latent space to the output space: which words does this embedding push up? Reading that off is not trivial, for two reasons. First, the latent space is not the same space at every layer: the same direction means one thing at layer l and something else at layer L, so we cannot simply apply the output layer to a layer-l state. Second, h sits at one position, but what it encodes can surface several tokens later, not only in the very next word. The J-lens handles both. Read the formula from the inside out. h is the embedding. The Jacobian answers the first challenge: it says how a small nudge to h at position t moves the last-layer state at a later position t prime, so it carries h through the remaining layers. The expectation answers the second: one Jacobian is exact only for one token in one prompt, so the lens averages over many prompts and over every later position t prime after t; the readout is which tokens the embedding makes more likely on average over everything the model says afterwards. Finally the model's own output layer turns the result into word probabilities, the ranked list in the middle. One practical point: because of the average, the lens for a layer is a single fixed map. We compute it once, and after that we can read any token of any image or prompt with it; nothing is trained, and nothing is fit per input. Next, we apply this to the papaya tokens.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point the readout at the fruit stand. On the left is the input, cut into its 24 by 24 grid: every cell is one image token, and with the readout we can ask each token what, in the model's eyes, it is looking at. A token on the kiwis reads kiwi; tokens on the bananas read banana. So far the model sees what we see. Now the cyan strip at the bottom, the papaya. On the right is that strip enlarged from the paper, with four of its tokens marked and under each one the five words its embedding pushes the model toward. Apple and orange show up again and again, sometimes as the piece app. The model is reading papaya patches as apples and oranges, exactly the two objects it hallucinated. We name these tokens Hallucinatory Image Tokens, HITs: a few highly attended image tokens that trigger a hallucinated object. The words on the right are the paper's readout; the tags on the kiwi and banana tokens on the left are a sketch of the idea. The paper computed this figure with the simpler version of the readout, without the Jacobian, and that version does not catch every HIT.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stays frozen; nothing is trained. Step one: answer as usual and pull out the object words with POS tagging and parsing. Here: bananas, apples, oranges.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at layer 15, take each object's top K attended image tokens, zero them, and regenerate. Objects that vanish are flagged as hallucinated; this step alone is the detector. K is small: 5 for LLaVA-1.5 and LLaVA-Next, 3 for Shikra.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three: zero the union of all candidate HITs and generate the final answer.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pipeline in one picture: answer, find the culprit tokens, zero them, answer again. No training, and only a few image tokens change.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uses, two tables. Left, mitigation: CHAIR on 500 MSCOCO images with the prompt "Please describe this image in detail." CHAIR_S is the share of captions that contain at least one hallucinated object, CHAIR_I the share of mentioned objects that are hallucinated. From greedy to EAZY, LLaVA-1.5 goes from 49.6 to 38.8, Shikra from 55.8 to 26.6, LLaVA-Next from 32.8 to 26.8, so EAZY has the lowest sentence-level CHAIR of all seven methods on all three models, including the decoding-side fixes VCD, OPERA and SID. Right, detection: on Hall-COCO we ask whether each mentioned object is real or hallucinated. An object whose mention disappears after zeroing its top tokens is flagged as hallucinated. EAZY reaches 78.8 percent accuracy, about 16 points above the best training-free baseline, with balanced precision on real and hallucinated objects. General ability is preserved: MME and MMBench stay within one percent of greedy decoding. The full ROC and precision-recall curves, POPE results and the timing comparison are in the backup slides.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the hallucinated glove that looked at the baseball? This is that desk, with the full answers. Before, LLaVA-1.5 counts five cats and adds a baseball glove, two cups and a cell phone. EAZY zeroes a single image token, the red square on the image, and asks again. The new answer has four cats, which is correct, a baseball instead of a glove, one cup, and no phone. Everything else in the description stays: the desk, the monitor, the keyboard, the bottle, the bowl. One token, four fixes.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where we started. Hallucination does not only come from the language side; most of it moves with the image. Each hallucinated object leans on a false anchor, a handful of look-alike tokens, about 1.5 percent of the image. Pull out the anchor and the hallucination falls: EAZY detects hallucinated objects about 16 points better than prior training-free detectors and gives the lowest hallucination rates on three different models, without any training. On the fruit stand, three tokens were enough.</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moves to the third direction, agent safety and control. Agents act over many steps and pass results to each other, so we ask when and where a run starts to fail, and how to catch it while the run is still going.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example, from the biomedicine side of the lab. We are building a multi-agent framework that turns the type 1 diabetes literature into a knowledge graph: 131,511 PubMed papers from 1960 to 2026. The graph is not a single snapshot. Every link is kept year by year, so you can pick a window of years and see how the field looked at that time. In the middle is the graph around type 1 diabetes, with genes in green and chemicals in orange. Below is the timeline of papers per year. On the right, for any link, here diabetes and insulin, you see the actual sentences and PMIDs that support it. It runs fully in the browser on my website, and the same idea of tracing a claim back to its evidence runs through the whole talk.</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back to the map of my lab. Today we covered perception reliability and interpretability in Part 1, and agent safety and control in Part 2, and the same tools carry over to biomedicine. Thank you,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slides follow: the three-token zero-out, Hall-COCO statistics, the animated walk-through of the method, more case studies, the detection curves, the full CHAIR table, cost and general ability, failure cases, and the noise study on visual bias.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line of evidence is about attention. OPERA finds that hallucinations tend to start right after the model's attention collapses onto a few summary tokens, the columnar pattern you see here. PAI measures where attention goes as the answer grows: the image tokens get a small share, while the generated text takes more and more. So the fixes all live in decoding: contrast against a distorted image (VCD), penalize over-trust (OPERA), or boost image attention (PAI). None of them asks which image tokens cause the hallucination in the first place. That is our question.</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those tokens really cause the hallucination, removing them should remove it. So we replace them with zero embeddings: same image, same prompt, same greedy decoding. The apples and oranges are gone, and the model now mentions the kiwis that were there all along. Three tokens out of 576. This is paper Figure 1.</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the fruit stand a lucky example? The paper builds Hall-COCO: 200 MSCOCO images that reliably make LLaVA-1.5 hallucinate, with human annotation. For every hallucinated object, zero its top 5 attended tokens and regenerate. Left group: only 14 percent of images do not improve. Middle: the share of images with any hallucination drops from 100 percent to 31.73 percent. Right: 74.17 percent of hallucinated objects vanish outright. HITs are a general phenomenon.</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idea in one line. A real object, like the cats, is supported by its whole region. A hallucinated object, like the glove, stands on a false anchor, a handful of look-alike tokens. Pull out the anchor and the hallucination falls, while real objects stay standing. That is EAZY: Eliminate hAllucinations by Zeroing out hallucinatorY image tokens.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watch EAZY run on the fruit stand. Step 1: LLaVA-1.5 answers as usual, and mentions apples and oranges. Step 2: we pull out the object words, bananas, apples, oranges. Step 3: at layer 15 we look up which image tokens each object word attends to most; for apples and oranges, the attention peaks on a few tokens near the bottom of the image. Step 4: we replace those tokens with zero embeddings. Step 5: we generate again. Apples and oranges are gone, so they are flagged as hallucinated, which is the detection result; and the new answer, with bananas and kiwis, is the mitigated output. Next slide shows the same pipeline as the paper's Figure 6.</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can close the loop on the examples from the beginning. The red squares were the tokens EAZY zeroes. At the airport, five tokens: the motorcycles and the truck disappear, and the new answer describes the small vehicle pulling the cargo container and the airplane behind it. At the window, the hallucinated person is gone, and the model instead notices the building reflected in the glass.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On the snowy corner, LLaVA-1.5 had invented a parked car and a person; after EAZY they are gone and the model now notices the steps and the yellow sign. On the night skyline, this time with Shikra, the hallucinated car and people disappear, and so does the made-up clock reading of 10:45.</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use: detection. For every object the model mentions, decide whether it is real or hallucinated. Compared with two training-free detectors, output uncertainty (50.57 percent) and internal confidence (62.56 percent), EAZY reaches 78.77 percent accuracy, with precision near 79 percent for both real and hallucinated objects. ROC AUC goes from 0.72 to 0.78 and PR AUC from 0.78 to 0.85. On Shikra and LLaVA-Next, accuracy is lower (69 and 72 percent) and real-object precision drops, which the appendix discusses.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use: fixing captions. CHAIR asks what share of captions contain at least one hallucinated object, on 500 MSCOCO images with the prompt "Please describe this image in detail." Greedy to EAZY: LLaVA-1.5 goes from 49.6 to 38.8, Shikra from 55.8 to 26.6, LLaVA-Next from 32.8 to 26.8. That is the lowest sentence-level CHAIR of all seven methods on all three models, including VCD, OPERA and SID (SID ties on LLaVA-Next instance-level CHAIR). On POPE the gain over strong baselines is small, which makes sense: POPE questions already name the object.</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it cost? EAZY regenerates the answer, so it is slower than plain greedy decoding: 9.5 versus 3.6 seconds per image. But it is about twice as fast as OPERA at 20.4 seconds, needs no training and no extra model, and on general benchmarks it stays within about one percent of greedy: MME 1496 versus 1511, MMBench 64.1 versus 64.3, on LLaVA-1.5.</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EAZY is not free of mistakes, and the paper shows two honest failure cases. Left: the ball is so small that the zeroed tokens cover all of it, so a real ball disappears from the answer. Right: the word microwave is split into mic, row and ave, which multiplies the zeroed tokens, and the microwave sits at the image edge, so a real object is lost. Open question for discussion: can we tell a hallucination's false anchor apart from a small real object?</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Stepping back: how much of hallucination comes from the image at all? We add Gaussian noise to the image step by step and track which hallucinations appear and which disappear. If hallucinations were mostly language prior, they should survive the noise. Most of them do not: about 80 percent of the changes follow the visual input, and 8.6 percent are mainly language prior. This complements the prior work we started with: the language side matters, but the visual input deserves at least as much attention.</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8000" y="355600"/>
            <a:ext cx="11176000" cy="467320"/>
          </a:xfrm>
          <a:prstGeom prst="rect">
            <a:avLst/>
          </a:prstGeom>
          <a:noFill/>
          <a:ln/>
        </p:spPr>
        <p:txBody>
          <a:bodyPr wrap="square" lIns="0" tIns="0" rIns="0" bIns="0" rtlCol="0" anchor="t"/>
          <a:lstStyle>
            <a:lvl1pPr marL="0" indent="0" algn="l">
              <a:lnSpc>
                <a:spcPct val="115000"/>
              </a:lnSpc>
              <a:buNone/>
              <a:defRPr lang="en-US" sz="3200" dirty="0">
                <a:solidFill>
                  <a:srgbClr val="000000"/>
                </a:solidFill>
                <a:latin typeface="Lato" pitchFamily="34" charset="0"/>
                <a:ea typeface="Lato" pitchFamily="34" charset="-122"/>
                <a:cs typeface="Lato"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508000" y="1127720"/>
            <a:ext cx="10871200" cy="4917480"/>
          </a:xfrm>
          <a:prstGeom prst="rect">
            <a:avLst/>
          </a:prstGeom>
          <a:noFill/>
          <a:ln/>
        </p:spPr>
        <p:txBody>
          <a:bodyPr wrap="square" lIns="0" tIns="0" rIns="0" bIns="0" rtlCol="0" anchor="t"/>
          <a:lstStyle>
            <a:lvl1pPr marL="0" indent="0" algn="l">
              <a:lnSpc>
                <a:spcPct val="140000"/>
              </a:lnSpc>
              <a:buNone/>
              <a:defRPr lang="en-US" sz="1600" dirty="0">
                <a:solidFill>
                  <a:srgbClr val="000000"/>
                </a:solidFill>
                <a:latin typeface="Lato" pitchFamily="34" charset="0"/>
                <a:ea typeface="Lato" pitchFamily="34" charset="-122"/>
                <a:cs typeface="Lato"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8000" y="355600"/>
            <a:ext cx="11176000" cy="467320"/>
          </a:xfrm>
          <a:prstGeom prst="rect">
            <a:avLst/>
          </a:prstGeom>
          <a:noFill/>
          <a:ln/>
        </p:spPr>
        <p:txBody>
          <a:bodyPr wrap="square" lIns="0" tIns="0" rIns="0" bIns="0" rtlCol="0" anchor="t"/>
          <a:lstStyle>
            <a:lvl1pPr marL="0" indent="0" algn="l">
              <a:lnSpc>
                <a:spcPct val="115000"/>
              </a:lnSpc>
              <a:buNone/>
              <a:defRPr lang="en-US" sz="3200" dirty="0">
                <a:solidFill>
                  <a:srgbClr val="000000"/>
                </a:solidFill>
                <a:latin typeface="Lato" pitchFamily="34" charset="0"/>
                <a:ea typeface="Lato" pitchFamily="34" charset="-122"/>
                <a:cs typeface="Lato"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508000" y="1127720"/>
            <a:ext cx="10871200" cy="4917480"/>
          </a:xfrm>
          <a:prstGeom prst="rect">
            <a:avLst/>
          </a:prstGeom>
          <a:noFill/>
          <a:ln/>
        </p:spPr>
        <p:txBody>
          <a:bodyPr wrap="square" lIns="0" tIns="0" rIns="0" bIns="0" rtlCol="0" anchor="t"/>
          <a:lstStyle>
            <a:lvl1pPr marL="0" indent="0" algn="l">
              <a:lnSpc>
                <a:spcPct val="140000"/>
              </a:lnSpc>
              <a:buNone/>
              <a:defRPr lang="en-US" sz="1600" dirty="0">
                <a:solidFill>
                  <a:srgbClr val="000000"/>
                </a:solidFill>
                <a:latin typeface="Lato" pitchFamily="34" charset="0"/>
                <a:ea typeface="Lato" pitchFamily="34" charset="-122"/>
                <a:cs typeface="Lato"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notesSlide" Target="../notesSlides/notesSlide4.xml"/><Relationship Id="rId16"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s>
</file>

<file path=ppt/slides/_rels/slide5.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39.png"/><Relationship Id="rId18" Type="http://schemas.openxmlformats.org/officeDocument/2006/relationships/image" Target="../media/image43.png"/><Relationship Id="rId3" Type="http://schemas.openxmlformats.org/officeDocument/2006/relationships/image" Target="../media/image13.png"/><Relationship Id="rId21" Type="http://schemas.openxmlformats.org/officeDocument/2006/relationships/image" Target="../media/image46.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42.png"/><Relationship Id="rId2" Type="http://schemas.openxmlformats.org/officeDocument/2006/relationships/notesSlide" Target="../notesSlides/notesSlide7.xml"/><Relationship Id="rId16" Type="http://schemas.openxmlformats.org/officeDocument/2006/relationships/image" Target="../media/image41.png"/><Relationship Id="rId20"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5" Type="http://schemas.openxmlformats.org/officeDocument/2006/relationships/image" Target="../media/image40.png"/><Relationship Id="rId10" Type="http://schemas.openxmlformats.org/officeDocument/2006/relationships/image" Target="../media/image20.png"/><Relationship Id="rId19"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19.png"/><Relationship Id="rId14" Type="http://schemas.openxmlformats.org/officeDocument/2006/relationships/image" Target="../media/image29.png"/><Relationship Id="rId22" Type="http://schemas.openxmlformats.org/officeDocument/2006/relationships/image" Target="../media/image47.png"/></Relationships>
</file>

<file path=ppt/slides/_rels/slide8.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10" Type="http://schemas.openxmlformats.org/officeDocument/2006/relationships/image" Target="../media/image55.png"/><Relationship Id="rId4" Type="http://schemas.openxmlformats.org/officeDocument/2006/relationships/image" Target="../media/image49.png"/><Relationship Id="rId9" Type="http://schemas.openxmlformats.org/officeDocument/2006/relationships/image" Target="../media/image54.png"/></Relationships>
</file>

<file path=ppt/slides/_rels/slide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png"/></Relationships>
</file>

<file path=ppt/slides/_rels/slide10.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13.png"/><Relationship Id="rId7" Type="http://schemas.openxmlformats.org/officeDocument/2006/relationships/image" Target="../media/image6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 Id="rId9" Type="http://schemas.openxmlformats.org/officeDocument/2006/relationships/image" Target="../media/image64.png"/></Relationships>
</file>

<file path=ppt/slides/_rels/slide11.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68.png"/><Relationship Id="rId3" Type="http://schemas.openxmlformats.org/officeDocument/2006/relationships/image" Target="../media/image65.png"/><Relationship Id="rId7" Type="http://schemas.openxmlformats.org/officeDocument/2006/relationships/image" Target="../media/image18.png"/><Relationship Id="rId12" Type="http://schemas.openxmlformats.org/officeDocument/2006/relationships/image" Target="../media/image67.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66.png"/><Relationship Id="rId5" Type="http://schemas.openxmlformats.org/officeDocument/2006/relationships/image" Target="../media/image16.png"/><Relationship Id="rId15" Type="http://schemas.openxmlformats.org/officeDocument/2006/relationships/image" Target="../media/image70.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69.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1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80.png"/><Relationship Id="rId7" Type="http://schemas.openxmlformats.org/officeDocument/2006/relationships/image" Target="../media/image84.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83.png"/><Relationship Id="rId5" Type="http://schemas.openxmlformats.org/officeDocument/2006/relationships/image" Target="../media/image82.png"/><Relationship Id="rId10" Type="http://schemas.openxmlformats.org/officeDocument/2006/relationships/image" Target="../media/image87.png"/><Relationship Id="rId4" Type="http://schemas.openxmlformats.org/officeDocument/2006/relationships/image" Target="../media/image81.png"/><Relationship Id="rId9" Type="http://schemas.openxmlformats.org/officeDocument/2006/relationships/image" Target="../media/image86.png"/></Relationships>
</file>

<file path=ppt/slides/_rels/slide22.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90.jpeg"/><Relationship Id="rId4" Type="http://schemas.openxmlformats.org/officeDocument/2006/relationships/image" Target="../media/image89.jpeg"/></Relationships>
</file>

<file path=ppt/slides/_rels/slide23.xml.rels><?xml version="1.0" encoding="UTF-8" standalone="yes"?>
<Relationships xmlns="http://schemas.openxmlformats.org/package/2006/relationships"><Relationship Id="rId3" Type="http://schemas.openxmlformats.org/officeDocument/2006/relationships/image" Target="../media/image91.png"/><Relationship Id="rId7" Type="http://schemas.openxmlformats.org/officeDocument/2006/relationships/image" Target="../media/image93.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85.png"/><Relationship Id="rId5" Type="http://schemas.openxmlformats.org/officeDocument/2006/relationships/image" Target="../media/image92.png"/><Relationship Id="rId4" Type="http://schemas.openxmlformats.org/officeDocument/2006/relationships/image" Target="../media/image84.png"/></Relationships>
</file>

<file path=ppt/slides/_rels/slide24.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94.png"/><Relationship Id="rId7" Type="http://schemas.openxmlformats.org/officeDocument/2006/relationships/image" Target="../media/image92.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 Id="rId9" Type="http://schemas.openxmlformats.org/officeDocument/2006/relationships/image" Target="../media/image95.png"/></Relationships>
</file>

<file path=ppt/slides/_rels/slide25.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98.png"/><Relationship Id="rId4" Type="http://schemas.openxmlformats.org/officeDocument/2006/relationships/image" Target="../media/image97.png"/></Relationships>
</file>

<file path=ppt/slides/_rels/slide26.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1.png"/><Relationship Id="rId7" Type="http://schemas.openxmlformats.org/officeDocument/2006/relationships/image" Target="../media/image104.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07.png"/></Relationships>
</file>

<file path=ppt/slides/_rels/slide32.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09.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111.png"/></Relationships>
</file>

<file path=ppt/slides/_rels/slide35.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113.png"/></Relationships>
</file>

<file path=ppt/slides/_rels/slide3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116.png"/></Relationships>
</file>

<file path=ppt/slides/_rels/slide43.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118.png"/></Relationships>
</file>

<file path=ppt/slides/_rels/slide44.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120.png"/></Relationships>
</file>

<file path=ppt/slides/_rels/slide45.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126.png"/><Relationship Id="rId5" Type="http://schemas.openxmlformats.org/officeDocument/2006/relationships/image" Target="../media/image125.png"/><Relationship Id="rId4" Type="http://schemas.openxmlformats.org/officeDocument/2006/relationships/image" Target="../media/image124.png"/></Relationships>
</file>

<file path=ppt/slides/_rels/slide49.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128.png"/></Relationships>
</file>

<file path=ppt/slides/_rels/slide50.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a:spLocks noGrp="1"/>
          </p:cNvSpPr>
          <p:nvPr>
            <p:ph type="title"/>
          </p:nvPr>
        </p:nvSpPr>
        <p:spPr>
          <a:xfrm>
            <a:off x="863600" y="1808460"/>
            <a:ext cx="10464800" cy="635000"/>
          </a:xfrm>
          <a:prstGeom prst="rect">
            <a:avLst/>
          </a:prstGeom>
          <a:noFill/>
          <a:ln/>
        </p:spPr>
        <p:txBody>
          <a:bodyPr wrap="square" lIns="0" tIns="0" rIns="0" bIns="0" rtlCol="0" anchor="t">
            <a:normAutofit fontScale="90000"/>
          </a:bodyPr>
          <a:lstStyle/>
          <a:p>
            <a:pPr algn="ctr"/>
            <a:r>
              <a:rPr lang="en-US" altLang="zh-CN" sz="4000" b="1" dirty="0">
                <a:solidFill>
                  <a:srgbClr val="C00000"/>
                </a:solidFill>
              </a:rPr>
              <a:t>When AI Fails: From Mechanistic Understanding to Proactive Auditing</a:t>
            </a:r>
            <a:endParaRPr lang="en-US" sz="4000" dirty="0"/>
          </a:p>
        </p:txBody>
      </p:sp>
      <p:sp>
        <p:nvSpPr>
          <p:cNvPr id="5" name="Text 3"/>
          <p:cNvSpPr/>
          <p:nvPr/>
        </p:nvSpPr>
        <p:spPr>
          <a:xfrm>
            <a:off x="863600" y="3613134"/>
            <a:ext cx="10464800" cy="1397000"/>
          </a:xfrm>
          <a:prstGeom prst="rect">
            <a:avLst/>
          </a:prstGeom>
          <a:noFill/>
          <a:ln/>
        </p:spPr>
        <p:txBody>
          <a:bodyPr wrap="square" lIns="0" tIns="0" rIns="0" bIns="0" rtlCol="0" anchor="t">
            <a:normAutofit/>
          </a:bodyPr>
          <a:lstStyle/>
          <a:p>
            <a:pPr marL="0" indent="0" algn="ctr">
              <a:lnSpc>
                <a:spcPts val="2700"/>
              </a:lnSpc>
              <a:buNone/>
            </a:pPr>
            <a:r>
              <a:rPr lang="en-US" sz="1800" dirty="0">
                <a:solidFill>
                  <a:srgbClr val="666666"/>
                </a:solidFill>
                <a:latin typeface="Lato" pitchFamily="34" charset="0"/>
                <a:ea typeface="Lato" pitchFamily="34" charset="-122"/>
                <a:cs typeface="Lato" pitchFamily="34" charset="-120"/>
              </a:rPr>
              <a:t>Ruixiang (Ryan) Tang</a:t>
            </a:r>
            <a:endParaRPr lang="en-US" sz="1800" dirty="0"/>
          </a:p>
          <a:p>
            <a:pPr marL="0" indent="0" algn="ctr">
              <a:lnSpc>
                <a:spcPts val="2700"/>
              </a:lnSpc>
              <a:buNone/>
            </a:pPr>
            <a:r>
              <a:rPr lang="en-US" sz="1800" dirty="0">
                <a:solidFill>
                  <a:srgbClr val="666666"/>
                </a:solidFill>
                <a:latin typeface="Lato" pitchFamily="34" charset="0"/>
                <a:ea typeface="Lato" pitchFamily="34" charset="-122"/>
                <a:cs typeface="Lato" pitchFamily="34" charset="-120"/>
              </a:rPr>
              <a:t>Assistant Professor</a:t>
            </a:r>
            <a:endParaRPr lang="en-US" sz="1800" dirty="0"/>
          </a:p>
          <a:p>
            <a:pPr marL="0" indent="0" algn="ctr">
              <a:lnSpc>
                <a:spcPts val="2700"/>
              </a:lnSpc>
              <a:buNone/>
            </a:pPr>
            <a:r>
              <a:rPr lang="en-US" sz="1800" dirty="0">
                <a:solidFill>
                  <a:srgbClr val="666666"/>
                </a:solidFill>
                <a:latin typeface="Lato" pitchFamily="34" charset="0"/>
                <a:ea typeface="Lato" pitchFamily="34" charset="-122"/>
                <a:cs typeface="Lato" pitchFamily="34" charset="-120"/>
              </a:rPr>
              <a:t>Rutgers University, New Brunswick</a:t>
            </a:r>
            <a:endParaRPr lang="en-US" sz="1800" dirty="0"/>
          </a:p>
          <a:p>
            <a:pPr marL="0" indent="0" algn="ctr">
              <a:lnSpc>
                <a:spcPts val="2700"/>
              </a:lnSpc>
              <a:buNone/>
            </a:pPr>
            <a:r>
              <a:rPr lang="en-US" sz="1800" dirty="0">
                <a:solidFill>
                  <a:srgbClr val="666666"/>
                </a:solidFill>
                <a:latin typeface="Lato" pitchFamily="34" charset="0"/>
                <a:ea typeface="Lato" pitchFamily="34" charset="-122"/>
                <a:cs typeface="Lato" pitchFamily="34" charset="-120"/>
              </a:rPr>
              <a:t>2026/10</a:t>
            </a:r>
            <a:endParaRPr lang="en-US" sz="1800" dirty="0"/>
          </a:p>
        </p:txBody>
      </p:sp>
      <p:sp>
        <p:nvSpPr>
          <p:cNvPr id="6" name="Text 4"/>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Overview: Research Directions of Our Lab</a:t>
            </a:r>
            <a:endParaRPr lang="en-US" sz="3200" dirty="0"/>
          </a:p>
        </p:txBody>
      </p:sp>
      <p:sp>
        <p:nvSpPr>
          <p:cNvPr id="4" name="Text 2"/>
          <p:cNvSpPr/>
          <p:nvPr/>
        </p:nvSpPr>
        <p:spPr>
          <a:xfrm>
            <a:off x="508000" y="1026120"/>
            <a:ext cx="11511280" cy="711200"/>
          </a:xfrm>
          <a:prstGeom prst="rect">
            <a:avLst/>
          </a:prstGeom>
          <a:noFill/>
          <a:ln/>
        </p:spPr>
        <p:txBody>
          <a:bodyPr wrap="square" lIns="0" tIns="0" rIns="0" bIns="0" rtlCol="0" anchor="t">
            <a:normAutofit/>
          </a:bodyPr>
          <a:lstStyle/>
          <a:p>
            <a:pPr marL="0" indent="0" algn="l">
              <a:lnSpc>
                <a:spcPts val="2700"/>
              </a:lnSpc>
              <a:buNone/>
            </a:pPr>
            <a:r>
              <a:rPr lang="en-US" sz="2000" b="1" dirty="0">
                <a:solidFill>
                  <a:srgbClr val="000000"/>
                </a:solidFill>
                <a:latin typeface="Lato" pitchFamily="34" charset="0"/>
                <a:ea typeface="Lato" pitchFamily="34" charset="-122"/>
                <a:cs typeface="Lato" pitchFamily="34" charset="-120"/>
              </a:rPr>
              <a:t>Trustworthy and Reliable AI Lab:</a:t>
            </a:r>
            <a:r>
              <a:rPr lang="en-US" sz="2000" dirty="0">
                <a:solidFill>
                  <a:srgbClr val="000000"/>
                </a:solidFill>
                <a:latin typeface="Lato" pitchFamily="34" charset="0"/>
                <a:ea typeface="Lato" pitchFamily="34" charset="-122"/>
                <a:cs typeface="Lato" pitchFamily="34" charset="-120"/>
              </a:rPr>
              <a:t> we study how AI systems fail, </a:t>
            </a:r>
            <a:r>
              <a:rPr lang="en-US" sz="2000" u="sng" dirty="0">
                <a:solidFill>
                  <a:srgbClr val="C00000"/>
                </a:solidFill>
                <a:latin typeface="Lato" pitchFamily="34" charset="0"/>
                <a:ea typeface="Lato" pitchFamily="34" charset="-122"/>
                <a:cs typeface="Lato" pitchFamily="34" charset="-120"/>
              </a:rPr>
              <a:t>from perception to agent actions</a:t>
            </a:r>
            <a:r>
              <a:rPr lang="en-US" sz="2000" dirty="0">
                <a:solidFill>
                  <a:srgbClr val="000000"/>
                </a:solidFill>
                <a:latin typeface="Lato" pitchFamily="34" charset="0"/>
                <a:ea typeface="Lato" pitchFamily="34" charset="-122"/>
                <a:cs typeface="Lato" pitchFamily="34" charset="-120"/>
              </a:rPr>
              <a:t>, and tackle important problems in biomedicine</a:t>
            </a:r>
            <a:endParaRPr lang="en-US" sz="2000" dirty="0"/>
          </a:p>
        </p:txBody>
      </p:sp>
      <p:sp>
        <p:nvSpPr>
          <p:cNvPr id="5" name="Shape 3"/>
          <p:cNvSpPr/>
          <p:nvPr/>
        </p:nvSpPr>
        <p:spPr>
          <a:xfrm>
            <a:off x="511175" y="2066925"/>
            <a:ext cx="3416300" cy="2692350"/>
          </a:xfrm>
          <a:prstGeom prst="roundRect">
            <a:avLst>
              <a:gd name="adj" fmla="val 4599"/>
            </a:avLst>
          </a:prstGeom>
          <a:solidFill>
            <a:srgbClr val="FFFFFF"/>
          </a:solidFill>
          <a:ln w="6350">
            <a:solidFill>
              <a:srgbClr val="E4E7ED"/>
            </a:solidFill>
            <a:prstDash val="solid"/>
          </a:ln>
          <a:effectLst>
            <a:outerShdw blurRad="25400" dist="12700" dir="5400000" algn="bl" rotWithShape="0">
              <a:srgbClr val="111827">
                <a:alpha val="5000"/>
              </a:srgbClr>
            </a:outerShdw>
          </a:effectLst>
        </p:spPr>
        <p:txBody>
          <a:bodyPr/>
          <a:lstStyle/>
          <a:p>
            <a:endParaRPr lang="en-US"/>
          </a:p>
        </p:txBody>
      </p:sp>
      <p:sp>
        <p:nvSpPr>
          <p:cNvPr id="6" name="Text 4"/>
          <p:cNvSpPr/>
          <p:nvPr/>
        </p:nvSpPr>
        <p:spPr>
          <a:xfrm>
            <a:off x="692150" y="2222500"/>
            <a:ext cx="3145981" cy="306040"/>
          </a:xfrm>
          <a:prstGeom prst="rect">
            <a:avLst/>
          </a:prstGeom>
          <a:noFill/>
          <a:ln/>
        </p:spPr>
        <p:txBody>
          <a:bodyPr wrap="none" lIns="0" tIns="0" rIns="0" bIns="0" rtlCol="0" anchor="t">
            <a:normAutofit/>
          </a:bodyPr>
          <a:lstStyle/>
          <a:p>
            <a:pPr marL="0" indent="0" algn="l">
              <a:lnSpc>
                <a:spcPts val="2210"/>
              </a:lnSpc>
              <a:buNone/>
            </a:pPr>
            <a:r>
              <a:rPr lang="en-US" sz="1700" b="1" dirty="0">
                <a:solidFill>
                  <a:srgbClr val="2F64A8"/>
                </a:solidFill>
                <a:latin typeface="Lato" pitchFamily="34" charset="0"/>
                <a:ea typeface="Lato" pitchFamily="34" charset="-122"/>
                <a:cs typeface="Lato" pitchFamily="34" charset="-120"/>
              </a:rPr>
              <a:t>Perception reliability</a:t>
            </a:r>
            <a:endParaRPr lang="en-US" sz="1700" dirty="0"/>
          </a:p>
        </p:txBody>
      </p:sp>
      <p:pic>
        <p:nvPicPr>
          <p:cNvPr id="7" name="Image 0" descr="A robot unsure how many fingers a hand shows, answering 5 (wrong) and 6 (right)"/>
          <p:cNvPicPr>
            <a:picLocks noChangeAspect="1"/>
          </p:cNvPicPr>
          <p:nvPr/>
        </p:nvPicPr>
        <p:blipFill>
          <a:blip r:embed="rId3"/>
          <a:srcRect t="-115" b="-115"/>
          <a:stretch/>
        </p:blipFill>
        <p:spPr>
          <a:xfrm>
            <a:off x="692150" y="2604740"/>
            <a:ext cx="3048000" cy="1384300"/>
          </a:xfrm>
          <a:prstGeom prst="rect">
            <a:avLst/>
          </a:prstGeom>
        </p:spPr>
      </p:pic>
      <p:sp>
        <p:nvSpPr>
          <p:cNvPr id="8" name="Shape 5"/>
          <p:cNvSpPr/>
          <p:nvPr/>
        </p:nvSpPr>
        <p:spPr>
          <a:xfrm>
            <a:off x="692150" y="4179540"/>
            <a:ext cx="76200" cy="76200"/>
          </a:xfrm>
          <a:prstGeom prst="roundRect">
            <a:avLst>
              <a:gd name="adj" fmla="val 50000"/>
            </a:avLst>
          </a:prstGeom>
          <a:solidFill>
            <a:srgbClr val="2F64A8"/>
          </a:solidFill>
          <a:ln/>
        </p:spPr>
        <p:txBody>
          <a:bodyPr/>
          <a:lstStyle/>
          <a:p>
            <a:endParaRPr lang="en-US"/>
          </a:p>
        </p:txBody>
      </p:sp>
      <p:sp>
        <p:nvSpPr>
          <p:cNvPr id="9" name="Text 6"/>
          <p:cNvSpPr/>
          <p:nvPr/>
        </p:nvSpPr>
        <p:spPr>
          <a:xfrm>
            <a:off x="857250" y="4090640"/>
            <a:ext cx="3067050"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B4150"/>
                </a:solidFill>
                <a:latin typeface="Lato" pitchFamily="34" charset="0"/>
                <a:ea typeface="Lato" pitchFamily="34" charset="-122"/>
                <a:cs typeface="Lato" pitchFamily="34" charset="-120"/>
              </a:rPr>
              <a:t>Hallucination detection &amp; mitigation</a:t>
            </a:r>
            <a:endParaRPr lang="en-US" sz="1400" dirty="0"/>
          </a:p>
        </p:txBody>
      </p:sp>
      <p:sp>
        <p:nvSpPr>
          <p:cNvPr id="10" name="Shape 7"/>
          <p:cNvSpPr/>
          <p:nvPr/>
        </p:nvSpPr>
        <p:spPr>
          <a:xfrm>
            <a:off x="692150" y="4461470"/>
            <a:ext cx="76200" cy="76200"/>
          </a:xfrm>
          <a:prstGeom prst="roundRect">
            <a:avLst>
              <a:gd name="adj" fmla="val 50000"/>
            </a:avLst>
          </a:prstGeom>
          <a:solidFill>
            <a:srgbClr val="2F64A8"/>
          </a:solidFill>
          <a:ln/>
        </p:spPr>
        <p:txBody>
          <a:bodyPr/>
          <a:lstStyle/>
          <a:p>
            <a:endParaRPr lang="en-US"/>
          </a:p>
        </p:txBody>
      </p:sp>
      <p:sp>
        <p:nvSpPr>
          <p:cNvPr id="11" name="Text 8"/>
          <p:cNvSpPr/>
          <p:nvPr/>
        </p:nvSpPr>
        <p:spPr>
          <a:xfrm>
            <a:off x="857250" y="4372570"/>
            <a:ext cx="2462629"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B4150"/>
                </a:solidFill>
                <a:latin typeface="Lato" pitchFamily="34" charset="0"/>
                <a:ea typeface="Lato" pitchFamily="34" charset="-122"/>
                <a:cs typeface="Lato" pitchFamily="34" charset="-120"/>
              </a:rPr>
              <a:t>Uncertainty quantification</a:t>
            </a:r>
            <a:endParaRPr lang="en-US" sz="1400" dirty="0"/>
          </a:p>
        </p:txBody>
      </p:sp>
      <p:pic>
        <p:nvPicPr>
          <p:cNvPr id="12" name="Image 1" descr="arrow-right"/>
          <p:cNvPicPr>
            <a:picLocks noChangeAspect="1"/>
          </p:cNvPicPr>
          <p:nvPr/>
        </p:nvPicPr>
        <p:blipFill>
          <a:blip r:embed="rId4"/>
          <a:srcRect/>
          <a:stretch/>
        </p:blipFill>
        <p:spPr>
          <a:xfrm>
            <a:off x="4032250" y="3340100"/>
            <a:ext cx="254000" cy="139700"/>
          </a:xfrm>
          <a:prstGeom prst="rect">
            <a:avLst/>
          </a:prstGeom>
        </p:spPr>
      </p:pic>
      <p:sp>
        <p:nvSpPr>
          <p:cNvPr id="13" name="Shape 9"/>
          <p:cNvSpPr/>
          <p:nvPr/>
        </p:nvSpPr>
        <p:spPr>
          <a:xfrm>
            <a:off x="4391025" y="2066925"/>
            <a:ext cx="3416300" cy="2692350"/>
          </a:xfrm>
          <a:prstGeom prst="roundRect">
            <a:avLst>
              <a:gd name="adj" fmla="val 4599"/>
            </a:avLst>
          </a:prstGeom>
          <a:solidFill>
            <a:srgbClr val="FFFFFF"/>
          </a:solidFill>
          <a:ln w="6350">
            <a:solidFill>
              <a:srgbClr val="E4E7ED"/>
            </a:solidFill>
            <a:prstDash val="solid"/>
          </a:ln>
          <a:effectLst>
            <a:outerShdw blurRad="25400" dist="12700" dir="5400000" algn="bl" rotWithShape="0">
              <a:srgbClr val="111827">
                <a:alpha val="5000"/>
              </a:srgbClr>
            </a:outerShdw>
          </a:effectLst>
        </p:spPr>
        <p:txBody>
          <a:bodyPr/>
          <a:lstStyle/>
          <a:p>
            <a:endParaRPr lang="en-US"/>
          </a:p>
        </p:txBody>
      </p:sp>
      <p:sp>
        <p:nvSpPr>
          <p:cNvPr id="14" name="Text 10"/>
          <p:cNvSpPr/>
          <p:nvPr/>
        </p:nvSpPr>
        <p:spPr>
          <a:xfrm>
            <a:off x="4572000" y="2222500"/>
            <a:ext cx="3145981" cy="306040"/>
          </a:xfrm>
          <a:prstGeom prst="rect">
            <a:avLst/>
          </a:prstGeom>
          <a:noFill/>
          <a:ln/>
        </p:spPr>
        <p:txBody>
          <a:bodyPr wrap="none" lIns="0" tIns="0" rIns="0" bIns="0" rtlCol="0" anchor="t">
            <a:normAutofit/>
          </a:bodyPr>
          <a:lstStyle/>
          <a:p>
            <a:pPr marL="0" indent="0" algn="l">
              <a:lnSpc>
                <a:spcPts val="2210"/>
              </a:lnSpc>
              <a:buNone/>
            </a:pPr>
            <a:r>
              <a:rPr lang="en-US" sz="1700" b="1" dirty="0">
                <a:solidFill>
                  <a:srgbClr val="1E7B70"/>
                </a:solidFill>
                <a:latin typeface="Lato" pitchFamily="34" charset="0"/>
                <a:ea typeface="Lato" pitchFamily="34" charset="-122"/>
                <a:cs typeface="Lato" pitchFamily="34" charset="-120"/>
              </a:rPr>
              <a:t>Operational interpretability</a:t>
            </a:r>
            <a:endParaRPr lang="en-US" sz="1700" dirty="0"/>
          </a:p>
        </p:txBody>
      </p:sp>
      <p:pic>
        <p:nvPicPr>
          <p:cNvPr id="15" name="Image 2" descr="A robot whose internal network is probed by a hand holding a needle"/>
          <p:cNvPicPr>
            <a:picLocks noChangeAspect="1"/>
          </p:cNvPicPr>
          <p:nvPr/>
        </p:nvPicPr>
        <p:blipFill>
          <a:blip r:embed="rId5"/>
          <a:srcRect t="-115" b="-115"/>
          <a:stretch/>
        </p:blipFill>
        <p:spPr>
          <a:xfrm>
            <a:off x="4572000" y="2604740"/>
            <a:ext cx="3048000" cy="1384300"/>
          </a:xfrm>
          <a:prstGeom prst="rect">
            <a:avLst/>
          </a:prstGeom>
        </p:spPr>
      </p:pic>
      <p:sp>
        <p:nvSpPr>
          <p:cNvPr id="16" name="Shape 11"/>
          <p:cNvSpPr/>
          <p:nvPr/>
        </p:nvSpPr>
        <p:spPr>
          <a:xfrm>
            <a:off x="4572000" y="4179540"/>
            <a:ext cx="76200" cy="76200"/>
          </a:xfrm>
          <a:prstGeom prst="roundRect">
            <a:avLst>
              <a:gd name="adj" fmla="val 50000"/>
            </a:avLst>
          </a:prstGeom>
          <a:solidFill>
            <a:srgbClr val="1E7B70"/>
          </a:solidFill>
          <a:ln/>
        </p:spPr>
        <p:txBody>
          <a:bodyPr/>
          <a:lstStyle/>
          <a:p>
            <a:endParaRPr lang="en-US"/>
          </a:p>
        </p:txBody>
      </p:sp>
      <p:sp>
        <p:nvSpPr>
          <p:cNvPr id="17" name="Text 12"/>
          <p:cNvSpPr/>
          <p:nvPr/>
        </p:nvSpPr>
        <p:spPr>
          <a:xfrm>
            <a:off x="4737100" y="4090640"/>
            <a:ext cx="2833688"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B4150"/>
                </a:solidFill>
                <a:latin typeface="Lato" pitchFamily="34" charset="0"/>
                <a:ea typeface="Lato" pitchFamily="34" charset="-122"/>
                <a:cs typeface="Lato" pitchFamily="34" charset="-120"/>
              </a:rPr>
              <a:t>Causal mechanism localization</a:t>
            </a:r>
            <a:endParaRPr lang="en-US" sz="1400" dirty="0"/>
          </a:p>
        </p:txBody>
      </p:sp>
      <p:sp>
        <p:nvSpPr>
          <p:cNvPr id="18" name="Shape 13"/>
          <p:cNvSpPr/>
          <p:nvPr/>
        </p:nvSpPr>
        <p:spPr>
          <a:xfrm>
            <a:off x="4572000" y="4461470"/>
            <a:ext cx="76200" cy="76200"/>
          </a:xfrm>
          <a:prstGeom prst="roundRect">
            <a:avLst>
              <a:gd name="adj" fmla="val 50000"/>
            </a:avLst>
          </a:prstGeom>
          <a:solidFill>
            <a:srgbClr val="1E7B70"/>
          </a:solidFill>
          <a:ln/>
        </p:spPr>
        <p:txBody>
          <a:bodyPr/>
          <a:lstStyle/>
          <a:p>
            <a:endParaRPr lang="en-US"/>
          </a:p>
        </p:txBody>
      </p:sp>
      <p:sp>
        <p:nvSpPr>
          <p:cNvPr id="19" name="Text 14"/>
          <p:cNvSpPr/>
          <p:nvPr/>
        </p:nvSpPr>
        <p:spPr>
          <a:xfrm>
            <a:off x="4737100" y="4372570"/>
            <a:ext cx="2587466"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B4150"/>
                </a:solidFill>
                <a:latin typeface="Lato" pitchFamily="34" charset="0"/>
                <a:ea typeface="Lato" pitchFamily="34" charset="-122"/>
                <a:cs typeface="Lato" pitchFamily="34" charset="-120"/>
              </a:rPr>
              <a:t>Mechanism-guided steering</a:t>
            </a:r>
            <a:endParaRPr lang="en-US" sz="1400" dirty="0"/>
          </a:p>
        </p:txBody>
      </p:sp>
      <p:pic>
        <p:nvPicPr>
          <p:cNvPr id="20" name="Image 3" descr="arrow-right"/>
          <p:cNvPicPr>
            <a:picLocks noChangeAspect="1"/>
          </p:cNvPicPr>
          <p:nvPr/>
        </p:nvPicPr>
        <p:blipFill>
          <a:blip r:embed="rId4"/>
          <a:srcRect/>
          <a:stretch/>
        </p:blipFill>
        <p:spPr>
          <a:xfrm>
            <a:off x="7905750" y="3340100"/>
            <a:ext cx="254000" cy="139700"/>
          </a:xfrm>
          <a:prstGeom prst="rect">
            <a:avLst/>
          </a:prstGeom>
        </p:spPr>
      </p:pic>
      <p:sp>
        <p:nvSpPr>
          <p:cNvPr id="21" name="Shape 15"/>
          <p:cNvSpPr/>
          <p:nvPr/>
        </p:nvSpPr>
        <p:spPr>
          <a:xfrm>
            <a:off x="8264525" y="2066925"/>
            <a:ext cx="3416300" cy="2692350"/>
          </a:xfrm>
          <a:prstGeom prst="roundRect">
            <a:avLst>
              <a:gd name="adj" fmla="val 4599"/>
            </a:avLst>
          </a:prstGeom>
          <a:solidFill>
            <a:srgbClr val="FFFFFF"/>
          </a:solidFill>
          <a:ln w="6350">
            <a:solidFill>
              <a:srgbClr val="E4E7ED"/>
            </a:solidFill>
            <a:prstDash val="solid"/>
          </a:ln>
          <a:effectLst>
            <a:outerShdw blurRad="25400" dist="12700" dir="5400000" algn="bl" rotWithShape="0">
              <a:srgbClr val="111827">
                <a:alpha val="5000"/>
              </a:srgbClr>
            </a:outerShdw>
          </a:effectLst>
        </p:spPr>
        <p:txBody>
          <a:bodyPr/>
          <a:lstStyle/>
          <a:p>
            <a:endParaRPr lang="en-US"/>
          </a:p>
        </p:txBody>
      </p:sp>
      <p:sp>
        <p:nvSpPr>
          <p:cNvPr id="22" name="Text 16"/>
          <p:cNvSpPr/>
          <p:nvPr/>
        </p:nvSpPr>
        <p:spPr>
          <a:xfrm>
            <a:off x="8445500" y="2222500"/>
            <a:ext cx="3145981" cy="306040"/>
          </a:xfrm>
          <a:prstGeom prst="rect">
            <a:avLst/>
          </a:prstGeom>
          <a:noFill/>
          <a:ln/>
        </p:spPr>
        <p:txBody>
          <a:bodyPr wrap="none" lIns="0" tIns="0" rIns="0" bIns="0" rtlCol="0" anchor="t">
            <a:normAutofit/>
          </a:bodyPr>
          <a:lstStyle/>
          <a:p>
            <a:pPr marL="0" indent="0" algn="l">
              <a:lnSpc>
                <a:spcPts val="2210"/>
              </a:lnSpc>
              <a:buNone/>
            </a:pPr>
            <a:r>
              <a:rPr lang="en-US" sz="1700" b="1" dirty="0">
                <a:solidFill>
                  <a:srgbClr val="6B4FA0"/>
                </a:solidFill>
                <a:latin typeface="Lato" pitchFamily="34" charset="0"/>
                <a:ea typeface="Lato" pitchFamily="34" charset="-122"/>
                <a:cs typeface="Lato" pitchFamily="34" charset="-120"/>
              </a:rPr>
              <a:t>Agent safety &amp; control</a:t>
            </a:r>
            <a:endParaRPr lang="en-US" sz="1700" dirty="0"/>
          </a:p>
        </p:txBody>
      </p:sp>
      <p:pic>
        <p:nvPicPr>
          <p:cNvPr id="23" name="Image 4" descr="A multi-agent plan trace where a patch step is flagged and the deploy step is held back"/>
          <p:cNvPicPr>
            <a:picLocks noChangeAspect="1"/>
          </p:cNvPicPr>
          <p:nvPr/>
        </p:nvPicPr>
        <p:blipFill>
          <a:blip r:embed="rId6"/>
          <a:srcRect t="-115" b="-115"/>
          <a:stretch/>
        </p:blipFill>
        <p:spPr>
          <a:xfrm>
            <a:off x="8445500" y="2604740"/>
            <a:ext cx="3048000" cy="1384300"/>
          </a:xfrm>
          <a:prstGeom prst="rect">
            <a:avLst/>
          </a:prstGeom>
        </p:spPr>
      </p:pic>
      <p:sp>
        <p:nvSpPr>
          <p:cNvPr id="24" name="Shape 17"/>
          <p:cNvSpPr/>
          <p:nvPr/>
        </p:nvSpPr>
        <p:spPr>
          <a:xfrm>
            <a:off x="8445500" y="4179540"/>
            <a:ext cx="76200" cy="76200"/>
          </a:xfrm>
          <a:prstGeom prst="roundRect">
            <a:avLst>
              <a:gd name="adj" fmla="val 50000"/>
            </a:avLst>
          </a:prstGeom>
          <a:solidFill>
            <a:srgbClr val="6B4FA0"/>
          </a:solidFill>
          <a:ln/>
        </p:spPr>
        <p:txBody>
          <a:bodyPr/>
          <a:lstStyle/>
          <a:p>
            <a:endParaRPr lang="en-US"/>
          </a:p>
        </p:txBody>
      </p:sp>
      <p:sp>
        <p:nvSpPr>
          <p:cNvPr id="25" name="Text 18"/>
          <p:cNvSpPr/>
          <p:nvPr/>
        </p:nvSpPr>
        <p:spPr>
          <a:xfrm>
            <a:off x="8610600" y="4090640"/>
            <a:ext cx="2753678"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B4150"/>
                </a:solidFill>
                <a:latin typeface="Lato" pitchFamily="34" charset="0"/>
                <a:ea typeface="Lato" pitchFamily="34" charset="-122"/>
                <a:cs typeface="Lato" pitchFamily="34" charset="-120"/>
              </a:rPr>
              <a:t>Multi-agent failure prediction</a:t>
            </a:r>
            <a:endParaRPr lang="en-US" sz="1400" dirty="0"/>
          </a:p>
        </p:txBody>
      </p:sp>
      <p:sp>
        <p:nvSpPr>
          <p:cNvPr id="26" name="Shape 19"/>
          <p:cNvSpPr/>
          <p:nvPr/>
        </p:nvSpPr>
        <p:spPr>
          <a:xfrm>
            <a:off x="8445500" y="4461470"/>
            <a:ext cx="76200" cy="76200"/>
          </a:xfrm>
          <a:prstGeom prst="roundRect">
            <a:avLst>
              <a:gd name="adj" fmla="val 50000"/>
            </a:avLst>
          </a:prstGeom>
          <a:solidFill>
            <a:srgbClr val="6B4FA0"/>
          </a:solidFill>
          <a:ln/>
        </p:spPr>
        <p:txBody>
          <a:bodyPr/>
          <a:lstStyle/>
          <a:p>
            <a:endParaRPr lang="en-US"/>
          </a:p>
        </p:txBody>
      </p:sp>
      <p:sp>
        <p:nvSpPr>
          <p:cNvPr id="27" name="Text 20"/>
          <p:cNvSpPr/>
          <p:nvPr/>
        </p:nvSpPr>
        <p:spPr>
          <a:xfrm>
            <a:off x="8610600" y="4372570"/>
            <a:ext cx="2980015"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B4150"/>
                </a:solidFill>
                <a:latin typeface="Lato" pitchFamily="34" charset="0"/>
                <a:ea typeface="Lato" pitchFamily="34" charset="-122"/>
                <a:cs typeface="Lato" pitchFamily="34" charset="-120"/>
              </a:rPr>
              <a:t>Error containment and recovery</a:t>
            </a:r>
            <a:endParaRPr lang="en-US" sz="1400" dirty="0"/>
          </a:p>
        </p:txBody>
      </p:sp>
      <p:pic>
        <p:nvPicPr>
          <p:cNvPr id="28" name="Image 5" descr="arrow-down"/>
          <p:cNvPicPr>
            <a:picLocks noChangeAspect="1"/>
          </p:cNvPicPr>
          <p:nvPr/>
        </p:nvPicPr>
        <p:blipFill>
          <a:blip r:embed="rId7"/>
          <a:srcRect/>
          <a:stretch/>
        </p:blipFill>
        <p:spPr>
          <a:xfrm>
            <a:off x="2139950" y="4851400"/>
            <a:ext cx="152400" cy="279400"/>
          </a:xfrm>
          <a:prstGeom prst="rect">
            <a:avLst/>
          </a:prstGeom>
        </p:spPr>
      </p:pic>
      <p:pic>
        <p:nvPicPr>
          <p:cNvPr id="29" name="Image 6" descr="arrow-down"/>
          <p:cNvPicPr>
            <a:picLocks noChangeAspect="1"/>
          </p:cNvPicPr>
          <p:nvPr/>
        </p:nvPicPr>
        <p:blipFill>
          <a:blip r:embed="rId7"/>
          <a:srcRect/>
          <a:stretch/>
        </p:blipFill>
        <p:spPr>
          <a:xfrm>
            <a:off x="6019800" y="4851400"/>
            <a:ext cx="152400" cy="279400"/>
          </a:xfrm>
          <a:prstGeom prst="rect">
            <a:avLst/>
          </a:prstGeom>
        </p:spPr>
      </p:pic>
      <p:pic>
        <p:nvPicPr>
          <p:cNvPr id="30" name="Image 7" descr="arrow-down"/>
          <p:cNvPicPr>
            <a:picLocks noChangeAspect="1"/>
          </p:cNvPicPr>
          <p:nvPr/>
        </p:nvPicPr>
        <p:blipFill>
          <a:blip r:embed="rId7"/>
          <a:srcRect/>
          <a:stretch/>
        </p:blipFill>
        <p:spPr>
          <a:xfrm>
            <a:off x="9899650" y="4851400"/>
            <a:ext cx="152400" cy="279400"/>
          </a:xfrm>
          <a:prstGeom prst="rect">
            <a:avLst/>
          </a:prstGeom>
        </p:spPr>
      </p:pic>
      <p:sp>
        <p:nvSpPr>
          <p:cNvPr id="31" name="Shape 21"/>
          <p:cNvSpPr/>
          <p:nvPr/>
        </p:nvSpPr>
        <p:spPr>
          <a:xfrm>
            <a:off x="511175" y="5222875"/>
            <a:ext cx="11169650" cy="664170"/>
          </a:xfrm>
          <a:prstGeom prst="roundRect">
            <a:avLst>
              <a:gd name="adj" fmla="val 18644"/>
            </a:avLst>
          </a:prstGeom>
          <a:solidFill>
            <a:srgbClr val="F5FAF7"/>
          </a:solidFill>
          <a:ln w="6350">
            <a:solidFill>
              <a:srgbClr val="D6E8DD"/>
            </a:solidFill>
            <a:prstDash val="solid"/>
          </a:ln>
          <a:effectLst>
            <a:outerShdw blurRad="25400" dist="12700" dir="5400000" algn="bl" rotWithShape="0">
              <a:srgbClr val="111827">
                <a:alpha val="5000"/>
              </a:srgbClr>
            </a:outerShdw>
          </a:effectLst>
        </p:spPr>
        <p:txBody>
          <a:bodyPr/>
          <a:lstStyle/>
          <a:p>
            <a:endParaRPr lang="en-US"/>
          </a:p>
        </p:txBody>
      </p:sp>
      <p:pic>
        <p:nvPicPr>
          <p:cNvPr id="32" name="Image 8" descr="preencoded.png"/>
          <p:cNvPicPr>
            <a:picLocks noChangeAspect="1"/>
          </p:cNvPicPr>
          <p:nvPr/>
        </p:nvPicPr>
        <p:blipFill>
          <a:blip r:embed="rId8"/>
          <a:srcRect/>
          <a:stretch/>
        </p:blipFill>
        <p:spPr>
          <a:xfrm>
            <a:off x="717550" y="5478711"/>
            <a:ext cx="330200" cy="152400"/>
          </a:xfrm>
          <a:prstGeom prst="rect">
            <a:avLst/>
          </a:prstGeom>
        </p:spPr>
      </p:pic>
      <p:sp>
        <p:nvSpPr>
          <p:cNvPr id="33" name="Text 22"/>
          <p:cNvSpPr/>
          <p:nvPr/>
        </p:nvSpPr>
        <p:spPr>
          <a:xfrm>
            <a:off x="1136650" y="5414615"/>
            <a:ext cx="1826946" cy="306040"/>
          </a:xfrm>
          <a:prstGeom prst="rect">
            <a:avLst/>
          </a:prstGeom>
          <a:noFill/>
          <a:ln/>
        </p:spPr>
        <p:txBody>
          <a:bodyPr wrap="none" lIns="0" tIns="0" rIns="0" bIns="0" rtlCol="0" anchor="t">
            <a:normAutofit/>
          </a:bodyPr>
          <a:lstStyle/>
          <a:p>
            <a:pPr marL="0" indent="0" algn="l">
              <a:lnSpc>
                <a:spcPts val="2210"/>
              </a:lnSpc>
              <a:buNone/>
            </a:pPr>
            <a:r>
              <a:rPr lang="en-US" sz="1700" b="1" dirty="0">
                <a:solidFill>
                  <a:srgbClr val="2E7D5B"/>
                </a:solidFill>
                <a:latin typeface="Lato" pitchFamily="34" charset="0"/>
                <a:ea typeface="Lato" pitchFamily="34" charset="-122"/>
                <a:cs typeface="Lato" pitchFamily="34" charset="-120"/>
              </a:rPr>
              <a:t>AI for biomedicine</a:t>
            </a:r>
            <a:endParaRPr lang="en-US" sz="1700" dirty="0"/>
          </a:p>
        </p:txBody>
      </p:sp>
      <p:pic>
        <p:nvPicPr>
          <p:cNvPr id="34" name="Image 9" descr="DNA icon"/>
          <p:cNvPicPr>
            <a:picLocks noChangeAspect="1"/>
          </p:cNvPicPr>
          <p:nvPr/>
        </p:nvPicPr>
        <p:blipFill>
          <a:blip r:embed="rId9"/>
          <a:srcRect/>
          <a:stretch/>
        </p:blipFill>
        <p:spPr>
          <a:xfrm>
            <a:off x="3466108" y="5377160"/>
            <a:ext cx="355600" cy="355600"/>
          </a:xfrm>
          <a:prstGeom prst="rect">
            <a:avLst/>
          </a:prstGeom>
        </p:spPr>
      </p:pic>
      <p:sp>
        <p:nvSpPr>
          <p:cNvPr id="35" name="Text 23"/>
          <p:cNvSpPr/>
          <p:nvPr/>
        </p:nvSpPr>
        <p:spPr>
          <a:xfrm>
            <a:off x="3910608" y="5353050"/>
            <a:ext cx="1219299" cy="238720"/>
          </a:xfrm>
          <a:prstGeom prst="rect">
            <a:avLst/>
          </a:prstGeom>
          <a:noFill/>
          <a:ln/>
        </p:spPr>
        <p:txBody>
          <a:bodyPr wrap="none" lIns="0" tIns="0" rIns="0" bIns="0" rtlCol="0" anchor="t">
            <a:normAutofit/>
          </a:bodyPr>
          <a:lstStyle/>
          <a:p>
            <a:pPr marL="0" indent="0" algn="l">
              <a:lnSpc>
                <a:spcPts val="1680"/>
              </a:lnSpc>
              <a:buNone/>
            </a:pPr>
            <a:r>
              <a:rPr lang="en-US" sz="1400" b="1" dirty="0">
                <a:solidFill>
                  <a:srgbClr val="232833"/>
                </a:solidFill>
                <a:latin typeface="Lato" pitchFamily="34" charset="0"/>
                <a:ea typeface="Lato" pitchFamily="34" charset="-122"/>
                <a:cs typeface="Lato" pitchFamily="34" charset="-120"/>
              </a:rPr>
              <a:t>Genomic</a:t>
            </a:r>
            <a:endParaRPr lang="en-US" sz="1400" dirty="0"/>
          </a:p>
        </p:txBody>
      </p:sp>
      <p:sp>
        <p:nvSpPr>
          <p:cNvPr id="36" name="Text 24"/>
          <p:cNvSpPr/>
          <p:nvPr/>
        </p:nvSpPr>
        <p:spPr>
          <a:xfrm>
            <a:off x="3910608" y="5566370"/>
            <a:ext cx="1219299" cy="215900"/>
          </a:xfrm>
          <a:prstGeom prst="rect">
            <a:avLst/>
          </a:prstGeom>
          <a:noFill/>
          <a:ln/>
        </p:spPr>
        <p:txBody>
          <a:bodyPr wrap="none" lIns="0" tIns="0" rIns="0" bIns="0" rtlCol="0" anchor="t">
            <a:normAutofit/>
          </a:bodyPr>
          <a:lstStyle/>
          <a:p>
            <a:pPr marL="0" indent="0" algn="l">
              <a:lnSpc>
                <a:spcPts val="1500"/>
              </a:lnSpc>
              <a:buNone/>
            </a:pPr>
            <a:r>
              <a:rPr lang="en-US" sz="1200" dirty="0">
                <a:solidFill>
                  <a:srgbClr val="5A6170"/>
                </a:solidFill>
                <a:latin typeface="Lato" pitchFamily="34" charset="0"/>
                <a:ea typeface="Lato" pitchFamily="34" charset="-122"/>
                <a:cs typeface="Lato" pitchFamily="34" charset="-120"/>
              </a:rPr>
              <a:t>genes, expression</a:t>
            </a:r>
            <a:endParaRPr lang="en-US" sz="1200" dirty="0"/>
          </a:p>
        </p:txBody>
      </p:sp>
      <p:pic>
        <p:nvPicPr>
          <p:cNvPr id="37" name="Image 10" descr="Cell icon"/>
          <p:cNvPicPr>
            <a:picLocks noChangeAspect="1"/>
          </p:cNvPicPr>
          <p:nvPr/>
        </p:nvPicPr>
        <p:blipFill>
          <a:blip r:embed="rId10"/>
          <a:srcRect/>
          <a:stretch/>
        </p:blipFill>
        <p:spPr>
          <a:xfrm>
            <a:off x="5634831" y="5377160"/>
            <a:ext cx="355600" cy="355600"/>
          </a:xfrm>
          <a:prstGeom prst="rect">
            <a:avLst/>
          </a:prstGeom>
        </p:spPr>
      </p:pic>
      <p:sp>
        <p:nvSpPr>
          <p:cNvPr id="38" name="Text 25"/>
          <p:cNvSpPr/>
          <p:nvPr/>
        </p:nvSpPr>
        <p:spPr>
          <a:xfrm>
            <a:off x="6079331" y="5353050"/>
            <a:ext cx="1072952" cy="238720"/>
          </a:xfrm>
          <a:prstGeom prst="rect">
            <a:avLst/>
          </a:prstGeom>
          <a:noFill/>
          <a:ln/>
        </p:spPr>
        <p:txBody>
          <a:bodyPr wrap="none" lIns="0" tIns="0" rIns="0" bIns="0" rtlCol="0" anchor="t">
            <a:normAutofit/>
          </a:bodyPr>
          <a:lstStyle/>
          <a:p>
            <a:pPr marL="0" indent="0" algn="l">
              <a:lnSpc>
                <a:spcPts val="1680"/>
              </a:lnSpc>
              <a:buNone/>
            </a:pPr>
            <a:r>
              <a:rPr lang="en-US" sz="1400" b="1" dirty="0">
                <a:solidFill>
                  <a:srgbClr val="232833"/>
                </a:solidFill>
                <a:latin typeface="Lato" pitchFamily="34" charset="0"/>
                <a:ea typeface="Lato" pitchFamily="34" charset="-122"/>
                <a:cs typeface="Lato" pitchFamily="34" charset="-120"/>
              </a:rPr>
              <a:t>Cellular</a:t>
            </a:r>
            <a:endParaRPr lang="en-US" sz="1400" dirty="0"/>
          </a:p>
        </p:txBody>
      </p:sp>
      <p:sp>
        <p:nvSpPr>
          <p:cNvPr id="39" name="Text 26"/>
          <p:cNvSpPr/>
          <p:nvPr/>
        </p:nvSpPr>
        <p:spPr>
          <a:xfrm>
            <a:off x="6079331" y="5566370"/>
            <a:ext cx="1072952" cy="215900"/>
          </a:xfrm>
          <a:prstGeom prst="rect">
            <a:avLst/>
          </a:prstGeom>
          <a:noFill/>
          <a:ln/>
        </p:spPr>
        <p:txBody>
          <a:bodyPr wrap="none" lIns="0" tIns="0" rIns="0" bIns="0" rtlCol="0" anchor="t">
            <a:normAutofit/>
          </a:bodyPr>
          <a:lstStyle/>
          <a:p>
            <a:pPr marL="0" indent="0" algn="l">
              <a:lnSpc>
                <a:spcPts val="1500"/>
              </a:lnSpc>
              <a:buNone/>
            </a:pPr>
            <a:r>
              <a:rPr lang="en-US" sz="1200" dirty="0">
                <a:solidFill>
                  <a:srgbClr val="5A6170"/>
                </a:solidFill>
                <a:latin typeface="Lato" pitchFamily="34" charset="0"/>
                <a:ea typeface="Lato" pitchFamily="34" charset="-122"/>
                <a:cs typeface="Lato" pitchFamily="34" charset="-120"/>
              </a:rPr>
              <a:t>cell microscopy</a:t>
            </a:r>
            <a:endParaRPr lang="en-US" sz="1200" dirty="0"/>
          </a:p>
        </p:txBody>
      </p:sp>
      <p:pic>
        <p:nvPicPr>
          <p:cNvPr id="40" name="Image 11" descr="Organ icon"/>
          <p:cNvPicPr>
            <a:picLocks noChangeAspect="1"/>
          </p:cNvPicPr>
          <p:nvPr/>
        </p:nvPicPr>
        <p:blipFill>
          <a:blip r:embed="rId11"/>
          <a:srcRect/>
          <a:stretch/>
        </p:blipFill>
        <p:spPr>
          <a:xfrm>
            <a:off x="7657157" y="5377160"/>
            <a:ext cx="355600" cy="355600"/>
          </a:xfrm>
          <a:prstGeom prst="rect">
            <a:avLst/>
          </a:prstGeom>
        </p:spPr>
      </p:pic>
      <p:sp>
        <p:nvSpPr>
          <p:cNvPr id="41" name="Text 27"/>
          <p:cNvSpPr/>
          <p:nvPr/>
        </p:nvSpPr>
        <p:spPr>
          <a:xfrm>
            <a:off x="8101657" y="5353050"/>
            <a:ext cx="1233884" cy="238720"/>
          </a:xfrm>
          <a:prstGeom prst="rect">
            <a:avLst/>
          </a:prstGeom>
          <a:noFill/>
          <a:ln/>
        </p:spPr>
        <p:txBody>
          <a:bodyPr wrap="none" lIns="0" tIns="0" rIns="0" bIns="0" rtlCol="0" anchor="t">
            <a:normAutofit/>
          </a:bodyPr>
          <a:lstStyle/>
          <a:p>
            <a:pPr marL="0" indent="0" algn="l">
              <a:lnSpc>
                <a:spcPts val="1680"/>
              </a:lnSpc>
              <a:buNone/>
            </a:pPr>
            <a:r>
              <a:rPr lang="en-US" sz="1400" b="1" dirty="0">
                <a:solidFill>
                  <a:srgbClr val="232833"/>
                </a:solidFill>
                <a:latin typeface="Lato" pitchFamily="34" charset="0"/>
                <a:ea typeface="Lato" pitchFamily="34" charset="-122"/>
                <a:cs typeface="Lato" pitchFamily="34" charset="-120"/>
              </a:rPr>
              <a:t>Organ</a:t>
            </a:r>
            <a:endParaRPr lang="en-US" sz="1400" dirty="0"/>
          </a:p>
        </p:txBody>
      </p:sp>
      <p:sp>
        <p:nvSpPr>
          <p:cNvPr id="42" name="Text 28"/>
          <p:cNvSpPr/>
          <p:nvPr/>
        </p:nvSpPr>
        <p:spPr>
          <a:xfrm>
            <a:off x="8101657" y="5566370"/>
            <a:ext cx="1233884" cy="215900"/>
          </a:xfrm>
          <a:prstGeom prst="rect">
            <a:avLst/>
          </a:prstGeom>
          <a:noFill/>
          <a:ln/>
        </p:spPr>
        <p:txBody>
          <a:bodyPr wrap="none" lIns="0" tIns="0" rIns="0" bIns="0" rtlCol="0" anchor="t">
            <a:normAutofit/>
          </a:bodyPr>
          <a:lstStyle/>
          <a:p>
            <a:pPr marL="0" indent="0" algn="l">
              <a:lnSpc>
                <a:spcPts val="1500"/>
              </a:lnSpc>
              <a:buNone/>
            </a:pPr>
            <a:r>
              <a:rPr lang="en-US" sz="1200" dirty="0">
                <a:solidFill>
                  <a:srgbClr val="5A6170"/>
                </a:solidFill>
                <a:latin typeface="Lato" pitchFamily="34" charset="0"/>
                <a:ea typeface="Lato" pitchFamily="34" charset="-122"/>
                <a:cs typeface="Lato" pitchFamily="34" charset="-120"/>
              </a:rPr>
              <a:t>radiographs, iEEG</a:t>
            </a:r>
            <a:endParaRPr lang="en-US" sz="1200" dirty="0"/>
          </a:p>
        </p:txBody>
      </p:sp>
      <p:pic>
        <p:nvPicPr>
          <p:cNvPr id="43" name="Image 12" descr="Patient icon"/>
          <p:cNvPicPr>
            <a:picLocks noChangeAspect="1"/>
          </p:cNvPicPr>
          <p:nvPr/>
        </p:nvPicPr>
        <p:blipFill>
          <a:blip r:embed="rId12"/>
          <a:srcRect/>
          <a:stretch/>
        </p:blipFill>
        <p:spPr>
          <a:xfrm>
            <a:off x="9840466" y="5377160"/>
            <a:ext cx="355600" cy="355600"/>
          </a:xfrm>
          <a:prstGeom prst="rect">
            <a:avLst/>
          </a:prstGeom>
        </p:spPr>
      </p:pic>
      <p:sp>
        <p:nvSpPr>
          <p:cNvPr id="44" name="Text 29"/>
          <p:cNvSpPr/>
          <p:nvPr/>
        </p:nvSpPr>
        <p:spPr>
          <a:xfrm>
            <a:off x="10284966" y="5353050"/>
            <a:ext cx="1240284" cy="238720"/>
          </a:xfrm>
          <a:prstGeom prst="rect">
            <a:avLst/>
          </a:prstGeom>
          <a:noFill/>
          <a:ln/>
        </p:spPr>
        <p:txBody>
          <a:bodyPr wrap="none" lIns="0" tIns="0" rIns="0" bIns="0" rtlCol="0" anchor="t">
            <a:normAutofit/>
          </a:bodyPr>
          <a:lstStyle/>
          <a:p>
            <a:pPr marL="0" indent="0" algn="l">
              <a:lnSpc>
                <a:spcPts val="1680"/>
              </a:lnSpc>
              <a:buNone/>
            </a:pPr>
            <a:r>
              <a:rPr lang="en-US" sz="1400" b="1" dirty="0">
                <a:solidFill>
                  <a:srgbClr val="232833"/>
                </a:solidFill>
                <a:latin typeface="Lato" pitchFamily="34" charset="0"/>
                <a:ea typeface="Lato" pitchFamily="34" charset="-122"/>
                <a:cs typeface="Lato" pitchFamily="34" charset="-120"/>
              </a:rPr>
              <a:t>Patient</a:t>
            </a:r>
            <a:endParaRPr lang="en-US" sz="1400" dirty="0"/>
          </a:p>
        </p:txBody>
      </p:sp>
      <p:sp>
        <p:nvSpPr>
          <p:cNvPr id="45" name="Text 30"/>
          <p:cNvSpPr/>
          <p:nvPr/>
        </p:nvSpPr>
        <p:spPr>
          <a:xfrm>
            <a:off x="10284966" y="5566370"/>
            <a:ext cx="1240284" cy="215900"/>
          </a:xfrm>
          <a:prstGeom prst="rect">
            <a:avLst/>
          </a:prstGeom>
          <a:noFill/>
          <a:ln/>
        </p:spPr>
        <p:txBody>
          <a:bodyPr wrap="none" lIns="0" tIns="0" rIns="0" bIns="0" rtlCol="0" anchor="t">
            <a:normAutofit/>
          </a:bodyPr>
          <a:lstStyle/>
          <a:p>
            <a:pPr marL="0" indent="0" algn="l">
              <a:lnSpc>
                <a:spcPts val="1500"/>
              </a:lnSpc>
              <a:buNone/>
            </a:pPr>
            <a:r>
              <a:rPr lang="en-US" sz="1200" dirty="0">
                <a:solidFill>
                  <a:srgbClr val="5A6170"/>
                </a:solidFill>
                <a:latin typeface="Lato" pitchFamily="34" charset="0"/>
                <a:ea typeface="Lato" pitchFamily="34" charset="-122"/>
                <a:cs typeface="Lato" pitchFamily="34" charset="-120"/>
              </a:rPr>
              <a:t>notes, biomarkers</a:t>
            </a:r>
            <a:endParaRPr lang="en-US" sz="1200" dirty="0"/>
          </a:p>
        </p:txBody>
      </p:sp>
      <p:sp>
        <p:nvSpPr>
          <p:cNvPr id="46" name="Text 31"/>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47" name="Text 32"/>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2 / 33</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Shape 1"/>
          <p:cNvSpPr/>
          <p:nvPr/>
        </p:nvSpPr>
        <p:spPr>
          <a:xfrm>
            <a:off x="511175" y="1847850"/>
            <a:ext cx="3414167" cy="2692350"/>
          </a:xfrm>
          <a:prstGeom prst="roundRect">
            <a:avLst>
              <a:gd name="adj" fmla="val 4599"/>
            </a:avLst>
          </a:prstGeom>
          <a:solidFill>
            <a:srgbClr val="FFFFFF"/>
          </a:solidFill>
          <a:ln w="6350">
            <a:solidFill>
              <a:srgbClr val="E4E7ED"/>
            </a:solidFill>
            <a:prstDash val="solid"/>
          </a:ln>
          <a:effectLst>
            <a:outerShdw blurRad="25400" dist="12700" dir="5400000" algn="bl" rotWithShape="0">
              <a:srgbClr val="111827">
                <a:alpha val="5000"/>
              </a:srgbClr>
            </a:outerShdw>
          </a:effectLst>
        </p:spPr>
        <p:txBody>
          <a:bodyPr/>
          <a:lstStyle/>
          <a:p>
            <a:endParaRPr lang="en-US"/>
          </a:p>
        </p:txBody>
      </p:sp>
      <p:sp>
        <p:nvSpPr>
          <p:cNvPr id="4" name="Text 2"/>
          <p:cNvSpPr/>
          <p:nvPr/>
        </p:nvSpPr>
        <p:spPr>
          <a:xfrm>
            <a:off x="692150" y="2003425"/>
            <a:ext cx="3143783" cy="306040"/>
          </a:xfrm>
          <a:prstGeom prst="rect">
            <a:avLst/>
          </a:prstGeom>
          <a:noFill/>
          <a:ln/>
        </p:spPr>
        <p:txBody>
          <a:bodyPr wrap="none" lIns="0" tIns="0" rIns="0" bIns="0" rtlCol="0" anchor="t">
            <a:normAutofit/>
          </a:bodyPr>
          <a:lstStyle/>
          <a:p>
            <a:pPr marL="0" indent="0" algn="l">
              <a:lnSpc>
                <a:spcPts val="2210"/>
              </a:lnSpc>
              <a:buNone/>
            </a:pPr>
            <a:r>
              <a:rPr lang="en-US" sz="1700" b="1" dirty="0">
                <a:solidFill>
                  <a:srgbClr val="2F64A8"/>
                </a:solidFill>
                <a:latin typeface="Lato" pitchFamily="34" charset="0"/>
                <a:ea typeface="Lato" pitchFamily="34" charset="-122"/>
                <a:cs typeface="Lato" pitchFamily="34" charset="-120"/>
              </a:rPr>
              <a:t>Perception reliability</a:t>
            </a:r>
            <a:endParaRPr lang="en-US" sz="1700" dirty="0"/>
          </a:p>
        </p:txBody>
      </p:sp>
      <p:pic>
        <p:nvPicPr>
          <p:cNvPr id="5" name="Image 0" descr="A robot unsure how many fingers a hand shows, answering 5 (wrong) and 6 (right)"/>
          <p:cNvPicPr>
            <a:picLocks noChangeAspect="1"/>
          </p:cNvPicPr>
          <p:nvPr/>
        </p:nvPicPr>
        <p:blipFill>
          <a:blip r:embed="rId3"/>
          <a:srcRect t="-115" b="-115"/>
          <a:stretch/>
        </p:blipFill>
        <p:spPr>
          <a:xfrm>
            <a:off x="692150" y="2385665"/>
            <a:ext cx="3048000" cy="1384300"/>
          </a:xfrm>
          <a:prstGeom prst="rect">
            <a:avLst/>
          </a:prstGeom>
        </p:spPr>
      </p:pic>
      <p:sp>
        <p:nvSpPr>
          <p:cNvPr id="6" name="Shape 3"/>
          <p:cNvSpPr/>
          <p:nvPr/>
        </p:nvSpPr>
        <p:spPr>
          <a:xfrm>
            <a:off x="692150" y="3960465"/>
            <a:ext cx="76200" cy="76200"/>
          </a:xfrm>
          <a:prstGeom prst="roundRect">
            <a:avLst>
              <a:gd name="adj" fmla="val 50000"/>
            </a:avLst>
          </a:prstGeom>
          <a:solidFill>
            <a:srgbClr val="2F64A8"/>
          </a:solidFill>
          <a:ln/>
        </p:spPr>
        <p:txBody>
          <a:bodyPr/>
          <a:lstStyle/>
          <a:p>
            <a:endParaRPr lang="en-US"/>
          </a:p>
        </p:txBody>
      </p:sp>
      <p:sp>
        <p:nvSpPr>
          <p:cNvPr id="7" name="Text 4"/>
          <p:cNvSpPr/>
          <p:nvPr/>
        </p:nvSpPr>
        <p:spPr>
          <a:xfrm>
            <a:off x="857250" y="3871565"/>
            <a:ext cx="3064917"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B4150"/>
                </a:solidFill>
                <a:latin typeface="Lato" pitchFamily="34" charset="0"/>
                <a:ea typeface="Lato" pitchFamily="34" charset="-122"/>
                <a:cs typeface="Lato" pitchFamily="34" charset="-120"/>
              </a:rPr>
              <a:t>Hallucination detection &amp; mitigation</a:t>
            </a:r>
            <a:endParaRPr lang="en-US" sz="1400" dirty="0"/>
          </a:p>
        </p:txBody>
      </p:sp>
      <p:sp>
        <p:nvSpPr>
          <p:cNvPr id="8" name="Shape 5"/>
          <p:cNvSpPr/>
          <p:nvPr/>
        </p:nvSpPr>
        <p:spPr>
          <a:xfrm>
            <a:off x="692150" y="4242395"/>
            <a:ext cx="76200" cy="76200"/>
          </a:xfrm>
          <a:prstGeom prst="roundRect">
            <a:avLst>
              <a:gd name="adj" fmla="val 50000"/>
            </a:avLst>
          </a:prstGeom>
          <a:solidFill>
            <a:srgbClr val="2F64A8"/>
          </a:solidFill>
          <a:ln/>
        </p:spPr>
        <p:txBody>
          <a:bodyPr/>
          <a:lstStyle/>
          <a:p>
            <a:endParaRPr lang="en-US"/>
          </a:p>
        </p:txBody>
      </p:sp>
      <p:sp>
        <p:nvSpPr>
          <p:cNvPr id="9" name="Text 6"/>
          <p:cNvSpPr/>
          <p:nvPr/>
        </p:nvSpPr>
        <p:spPr>
          <a:xfrm>
            <a:off x="857250" y="4153495"/>
            <a:ext cx="2462629"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B4150"/>
                </a:solidFill>
                <a:latin typeface="Lato" pitchFamily="34" charset="0"/>
                <a:ea typeface="Lato" pitchFamily="34" charset="-122"/>
                <a:cs typeface="Lato" pitchFamily="34" charset="-120"/>
              </a:rPr>
              <a:t>Uncertainty quantification</a:t>
            </a:r>
            <a:endParaRPr lang="en-US" sz="1400" dirty="0"/>
          </a:p>
        </p:txBody>
      </p:sp>
      <p:pic>
        <p:nvPicPr>
          <p:cNvPr id="10" name="Image 1" descr="arrow-right"/>
          <p:cNvPicPr>
            <a:picLocks noChangeAspect="1"/>
          </p:cNvPicPr>
          <p:nvPr/>
        </p:nvPicPr>
        <p:blipFill>
          <a:blip r:embed="rId4"/>
          <a:srcRect/>
          <a:stretch/>
        </p:blipFill>
        <p:spPr>
          <a:xfrm>
            <a:off x="4030117" y="3124150"/>
            <a:ext cx="254000" cy="139700"/>
          </a:xfrm>
          <a:prstGeom prst="rect">
            <a:avLst/>
          </a:prstGeom>
        </p:spPr>
      </p:pic>
      <p:sp>
        <p:nvSpPr>
          <p:cNvPr id="11" name="Shape 7"/>
          <p:cNvSpPr/>
          <p:nvPr/>
        </p:nvSpPr>
        <p:spPr>
          <a:xfrm>
            <a:off x="4388892" y="1847850"/>
            <a:ext cx="3414216" cy="2692350"/>
          </a:xfrm>
          <a:prstGeom prst="roundRect">
            <a:avLst>
              <a:gd name="adj" fmla="val 4599"/>
            </a:avLst>
          </a:prstGeom>
          <a:solidFill>
            <a:srgbClr val="FFFFFF"/>
          </a:solidFill>
          <a:ln w="6350">
            <a:solidFill>
              <a:srgbClr val="E4E7ED"/>
            </a:solidFill>
            <a:prstDash val="solid"/>
          </a:ln>
          <a:effectLst>
            <a:outerShdw blurRad="25400" dist="12700" dir="5400000" algn="bl" rotWithShape="0">
              <a:srgbClr val="111827">
                <a:alpha val="5000"/>
              </a:srgbClr>
            </a:outerShdw>
          </a:effectLst>
        </p:spPr>
        <p:txBody>
          <a:bodyPr/>
          <a:lstStyle/>
          <a:p>
            <a:endParaRPr lang="en-US"/>
          </a:p>
        </p:txBody>
      </p:sp>
      <p:sp>
        <p:nvSpPr>
          <p:cNvPr id="12" name="Text 8"/>
          <p:cNvSpPr/>
          <p:nvPr/>
        </p:nvSpPr>
        <p:spPr>
          <a:xfrm>
            <a:off x="4569867" y="2003425"/>
            <a:ext cx="3143834" cy="306040"/>
          </a:xfrm>
          <a:prstGeom prst="rect">
            <a:avLst/>
          </a:prstGeom>
          <a:noFill/>
          <a:ln/>
        </p:spPr>
        <p:txBody>
          <a:bodyPr wrap="none" lIns="0" tIns="0" rIns="0" bIns="0" rtlCol="0" anchor="t">
            <a:normAutofit/>
          </a:bodyPr>
          <a:lstStyle/>
          <a:p>
            <a:pPr marL="0" indent="0" algn="l">
              <a:lnSpc>
                <a:spcPts val="2210"/>
              </a:lnSpc>
              <a:buNone/>
            </a:pPr>
            <a:r>
              <a:rPr lang="en-US" sz="1700" b="1" dirty="0">
                <a:solidFill>
                  <a:srgbClr val="1E7B70"/>
                </a:solidFill>
                <a:latin typeface="Lato" pitchFamily="34" charset="0"/>
                <a:ea typeface="Lato" pitchFamily="34" charset="-122"/>
                <a:cs typeface="Lato" pitchFamily="34" charset="-120"/>
              </a:rPr>
              <a:t>Operational interpretability</a:t>
            </a:r>
            <a:endParaRPr lang="en-US" sz="1700" dirty="0"/>
          </a:p>
        </p:txBody>
      </p:sp>
      <p:pic>
        <p:nvPicPr>
          <p:cNvPr id="13" name="Image 2" descr="A robot whose internal network is probed by a hand holding a needle"/>
          <p:cNvPicPr>
            <a:picLocks noChangeAspect="1"/>
          </p:cNvPicPr>
          <p:nvPr/>
        </p:nvPicPr>
        <p:blipFill>
          <a:blip r:embed="rId5"/>
          <a:srcRect t="-115" b="-115"/>
          <a:stretch/>
        </p:blipFill>
        <p:spPr>
          <a:xfrm>
            <a:off x="4569867" y="2385665"/>
            <a:ext cx="3048000" cy="1384300"/>
          </a:xfrm>
          <a:prstGeom prst="rect">
            <a:avLst/>
          </a:prstGeom>
        </p:spPr>
      </p:pic>
      <p:sp>
        <p:nvSpPr>
          <p:cNvPr id="14" name="Shape 9"/>
          <p:cNvSpPr/>
          <p:nvPr/>
        </p:nvSpPr>
        <p:spPr>
          <a:xfrm>
            <a:off x="4569867" y="3960465"/>
            <a:ext cx="76200" cy="76200"/>
          </a:xfrm>
          <a:prstGeom prst="roundRect">
            <a:avLst>
              <a:gd name="adj" fmla="val 50000"/>
            </a:avLst>
          </a:prstGeom>
          <a:solidFill>
            <a:srgbClr val="1E7B70"/>
          </a:solidFill>
          <a:ln/>
        </p:spPr>
        <p:txBody>
          <a:bodyPr/>
          <a:lstStyle/>
          <a:p>
            <a:endParaRPr lang="en-US"/>
          </a:p>
        </p:txBody>
      </p:sp>
      <p:sp>
        <p:nvSpPr>
          <p:cNvPr id="15" name="Text 10"/>
          <p:cNvSpPr/>
          <p:nvPr/>
        </p:nvSpPr>
        <p:spPr>
          <a:xfrm>
            <a:off x="4734967" y="3871565"/>
            <a:ext cx="2833688"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B4150"/>
                </a:solidFill>
                <a:latin typeface="Lato" pitchFamily="34" charset="0"/>
                <a:ea typeface="Lato" pitchFamily="34" charset="-122"/>
                <a:cs typeface="Lato" pitchFamily="34" charset="-120"/>
              </a:rPr>
              <a:t>Causal mechanism localization</a:t>
            </a:r>
            <a:endParaRPr lang="en-US" sz="1400" dirty="0"/>
          </a:p>
        </p:txBody>
      </p:sp>
      <p:sp>
        <p:nvSpPr>
          <p:cNvPr id="16" name="Shape 11"/>
          <p:cNvSpPr/>
          <p:nvPr/>
        </p:nvSpPr>
        <p:spPr>
          <a:xfrm>
            <a:off x="4569867" y="4242395"/>
            <a:ext cx="76200" cy="76200"/>
          </a:xfrm>
          <a:prstGeom prst="roundRect">
            <a:avLst>
              <a:gd name="adj" fmla="val 50000"/>
            </a:avLst>
          </a:prstGeom>
          <a:solidFill>
            <a:srgbClr val="1E7B70"/>
          </a:solidFill>
          <a:ln/>
        </p:spPr>
        <p:txBody>
          <a:bodyPr/>
          <a:lstStyle/>
          <a:p>
            <a:endParaRPr lang="en-US"/>
          </a:p>
        </p:txBody>
      </p:sp>
      <p:sp>
        <p:nvSpPr>
          <p:cNvPr id="17" name="Text 12"/>
          <p:cNvSpPr/>
          <p:nvPr/>
        </p:nvSpPr>
        <p:spPr>
          <a:xfrm>
            <a:off x="4734967" y="4153495"/>
            <a:ext cx="2587466"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B4150"/>
                </a:solidFill>
                <a:latin typeface="Lato" pitchFamily="34" charset="0"/>
                <a:ea typeface="Lato" pitchFamily="34" charset="-122"/>
                <a:cs typeface="Lato" pitchFamily="34" charset="-120"/>
              </a:rPr>
              <a:t>Mechanism-guided steering</a:t>
            </a:r>
            <a:endParaRPr lang="en-US" sz="1400" dirty="0"/>
          </a:p>
        </p:txBody>
      </p:sp>
      <p:pic>
        <p:nvPicPr>
          <p:cNvPr id="18" name="Image 3" descr="arrow-right"/>
          <p:cNvPicPr>
            <a:picLocks noChangeAspect="1"/>
          </p:cNvPicPr>
          <p:nvPr/>
        </p:nvPicPr>
        <p:blipFill>
          <a:blip r:embed="rId6"/>
          <a:srcRect/>
          <a:stretch/>
        </p:blipFill>
        <p:spPr>
          <a:xfrm>
            <a:off x="7907883" y="3124150"/>
            <a:ext cx="254000" cy="139700"/>
          </a:xfrm>
          <a:prstGeom prst="rect">
            <a:avLst/>
          </a:prstGeom>
        </p:spPr>
      </p:pic>
      <p:sp>
        <p:nvSpPr>
          <p:cNvPr id="19" name="Shape 13"/>
          <p:cNvSpPr/>
          <p:nvPr/>
        </p:nvSpPr>
        <p:spPr>
          <a:xfrm>
            <a:off x="8266658" y="1847850"/>
            <a:ext cx="3414167" cy="2692350"/>
          </a:xfrm>
          <a:prstGeom prst="roundRect">
            <a:avLst>
              <a:gd name="adj" fmla="val 4599"/>
            </a:avLst>
          </a:prstGeom>
          <a:solidFill>
            <a:srgbClr val="FFFFFF">
              <a:alpha val="40000"/>
            </a:srgbClr>
          </a:solidFill>
          <a:ln w="6350">
            <a:solidFill>
              <a:srgbClr val="E4E7ED">
                <a:alpha val="40000"/>
              </a:srgbClr>
            </a:solidFill>
            <a:prstDash val="solid"/>
          </a:ln>
          <a:effectLst>
            <a:outerShdw blurRad="25400" dist="12700" dir="5400000" algn="bl" rotWithShape="0">
              <a:srgbClr val="111827">
                <a:alpha val="2000"/>
              </a:srgbClr>
            </a:outerShdw>
          </a:effectLst>
        </p:spPr>
        <p:txBody>
          <a:bodyPr/>
          <a:lstStyle/>
          <a:p>
            <a:endParaRPr lang="en-US"/>
          </a:p>
        </p:txBody>
      </p:sp>
      <p:sp>
        <p:nvSpPr>
          <p:cNvPr id="20" name="Text 14"/>
          <p:cNvSpPr/>
          <p:nvPr/>
        </p:nvSpPr>
        <p:spPr>
          <a:xfrm>
            <a:off x="8447633" y="2003425"/>
            <a:ext cx="3143783" cy="306040"/>
          </a:xfrm>
          <a:prstGeom prst="rect">
            <a:avLst/>
          </a:prstGeom>
          <a:noFill/>
          <a:ln/>
        </p:spPr>
        <p:txBody>
          <a:bodyPr wrap="none" lIns="0" tIns="0" rIns="0" bIns="0" rtlCol="0" anchor="t">
            <a:normAutofit/>
          </a:bodyPr>
          <a:lstStyle/>
          <a:p>
            <a:pPr marL="0" indent="0" algn="l">
              <a:lnSpc>
                <a:spcPts val="2210"/>
              </a:lnSpc>
              <a:buNone/>
            </a:pPr>
            <a:r>
              <a:rPr lang="en-US" sz="1700" b="1" dirty="0">
                <a:solidFill>
                  <a:srgbClr val="6B4FA0">
                    <a:alpha val="40000"/>
                  </a:srgbClr>
                </a:solidFill>
                <a:latin typeface="Lato" pitchFamily="34" charset="0"/>
                <a:ea typeface="Lato" pitchFamily="34" charset="-122"/>
                <a:cs typeface="Lato" pitchFamily="34" charset="-120"/>
              </a:rPr>
              <a:t>Agent safety &amp; control</a:t>
            </a:r>
            <a:endParaRPr lang="en-US" sz="1700" dirty="0"/>
          </a:p>
        </p:txBody>
      </p:sp>
      <p:pic>
        <p:nvPicPr>
          <p:cNvPr id="21" name="Image 4" descr="A multi-agent plan trace where a patch step is flagged and the deploy step is held back"/>
          <p:cNvPicPr>
            <a:picLocks noChangeAspect="1"/>
          </p:cNvPicPr>
          <p:nvPr/>
        </p:nvPicPr>
        <p:blipFill>
          <a:blip r:embed="rId7">
            <a:alphaModFix amt="40000"/>
          </a:blip>
          <a:srcRect t="-115" b="-115"/>
          <a:stretch/>
        </p:blipFill>
        <p:spPr>
          <a:xfrm>
            <a:off x="8447633" y="2385665"/>
            <a:ext cx="3048000" cy="1384300"/>
          </a:xfrm>
          <a:prstGeom prst="rect">
            <a:avLst/>
          </a:prstGeom>
        </p:spPr>
      </p:pic>
      <p:sp>
        <p:nvSpPr>
          <p:cNvPr id="22" name="Shape 15"/>
          <p:cNvSpPr/>
          <p:nvPr/>
        </p:nvSpPr>
        <p:spPr>
          <a:xfrm>
            <a:off x="8447633" y="3960465"/>
            <a:ext cx="76200" cy="76200"/>
          </a:xfrm>
          <a:prstGeom prst="roundRect">
            <a:avLst>
              <a:gd name="adj" fmla="val 50000"/>
            </a:avLst>
          </a:prstGeom>
          <a:solidFill>
            <a:srgbClr val="6B4FA0">
              <a:alpha val="40000"/>
            </a:srgbClr>
          </a:solidFill>
          <a:ln/>
        </p:spPr>
        <p:txBody>
          <a:bodyPr/>
          <a:lstStyle/>
          <a:p>
            <a:endParaRPr lang="en-US"/>
          </a:p>
        </p:txBody>
      </p:sp>
      <p:sp>
        <p:nvSpPr>
          <p:cNvPr id="23" name="Text 16"/>
          <p:cNvSpPr/>
          <p:nvPr/>
        </p:nvSpPr>
        <p:spPr>
          <a:xfrm>
            <a:off x="8612733" y="3871565"/>
            <a:ext cx="2753678"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B4150">
                    <a:alpha val="40000"/>
                  </a:srgbClr>
                </a:solidFill>
                <a:latin typeface="Lato" pitchFamily="34" charset="0"/>
                <a:ea typeface="Lato" pitchFamily="34" charset="-122"/>
                <a:cs typeface="Lato" pitchFamily="34" charset="-120"/>
              </a:rPr>
              <a:t>Multi-agent failure prediction</a:t>
            </a:r>
            <a:endParaRPr lang="en-US" sz="1400" dirty="0"/>
          </a:p>
        </p:txBody>
      </p:sp>
      <p:sp>
        <p:nvSpPr>
          <p:cNvPr id="24" name="Shape 17"/>
          <p:cNvSpPr/>
          <p:nvPr/>
        </p:nvSpPr>
        <p:spPr>
          <a:xfrm>
            <a:off x="8447633" y="4242395"/>
            <a:ext cx="76200" cy="76200"/>
          </a:xfrm>
          <a:prstGeom prst="roundRect">
            <a:avLst>
              <a:gd name="adj" fmla="val 50000"/>
            </a:avLst>
          </a:prstGeom>
          <a:solidFill>
            <a:srgbClr val="6B4FA0">
              <a:alpha val="40000"/>
            </a:srgbClr>
          </a:solidFill>
          <a:ln/>
        </p:spPr>
        <p:txBody>
          <a:bodyPr/>
          <a:lstStyle/>
          <a:p>
            <a:endParaRPr lang="en-US"/>
          </a:p>
        </p:txBody>
      </p:sp>
      <p:sp>
        <p:nvSpPr>
          <p:cNvPr id="25" name="Text 18"/>
          <p:cNvSpPr/>
          <p:nvPr/>
        </p:nvSpPr>
        <p:spPr>
          <a:xfrm>
            <a:off x="8612733" y="4153495"/>
            <a:ext cx="2980015"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B4150">
                    <a:alpha val="40000"/>
                  </a:srgbClr>
                </a:solidFill>
                <a:latin typeface="Lato" pitchFamily="34" charset="0"/>
                <a:ea typeface="Lato" pitchFamily="34" charset="-122"/>
                <a:cs typeface="Lato" pitchFamily="34" charset="-120"/>
              </a:rPr>
              <a:t>Error containment and recovery</a:t>
            </a:r>
            <a:endParaRPr lang="en-US" sz="1400" dirty="0"/>
          </a:p>
        </p:txBody>
      </p:sp>
      <p:sp>
        <p:nvSpPr>
          <p:cNvPr id="26" name="Text 19"/>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27" name="Text 20"/>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3 / 33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Object Hallucination in LVLMs</a:t>
            </a:r>
            <a:endParaRPr lang="en-US" sz="3200" dirty="0"/>
          </a:p>
        </p:txBody>
      </p:sp>
      <p:sp>
        <p:nvSpPr>
          <p:cNvPr id="4" name="Text 2"/>
          <p:cNvSpPr/>
          <p:nvPr/>
        </p:nvSpPr>
        <p:spPr>
          <a:xfrm>
            <a:off x="508000" y="1026120"/>
            <a:ext cx="11511280" cy="368300"/>
          </a:xfrm>
          <a:prstGeom prst="rect">
            <a:avLst/>
          </a:prstGeom>
          <a:noFill/>
          <a:ln/>
        </p:spPr>
        <p:txBody>
          <a:bodyPr wrap="square" lIns="0" tIns="0" rIns="0" bIns="0" rtlCol="0" anchor="t">
            <a:normAutofit/>
          </a:bodyPr>
          <a:lstStyle/>
          <a:p>
            <a:pPr marL="0" indent="0" algn="l">
              <a:lnSpc>
                <a:spcPts val="2700"/>
              </a:lnSpc>
              <a:buNone/>
            </a:pPr>
            <a:r>
              <a:rPr lang="en-US" sz="2000" b="1" dirty="0">
                <a:solidFill>
                  <a:srgbClr val="000000"/>
                </a:solidFill>
                <a:latin typeface="Lato" pitchFamily="34" charset="0"/>
                <a:ea typeface="Lato" pitchFamily="34" charset="-122"/>
                <a:cs typeface="Lato" pitchFamily="34" charset="-120"/>
              </a:rPr>
              <a:t>Object Hallucination:</a:t>
            </a:r>
            <a:r>
              <a:rPr lang="en-US" sz="2000" dirty="0">
                <a:solidFill>
                  <a:srgbClr val="000000"/>
                </a:solidFill>
                <a:latin typeface="Lato" pitchFamily="34" charset="0"/>
                <a:ea typeface="Lato" pitchFamily="34" charset="-122"/>
                <a:cs typeface="Lato" pitchFamily="34" charset="-120"/>
              </a:rPr>
              <a:t> LVLMs describe objects that are </a:t>
            </a:r>
            <a:r>
              <a:rPr lang="en-US" sz="2000" u="sng" dirty="0">
                <a:solidFill>
                  <a:srgbClr val="C00000"/>
                </a:solidFill>
                <a:latin typeface="Lato" pitchFamily="34" charset="0"/>
                <a:ea typeface="Lato" pitchFamily="34" charset="-122"/>
                <a:cs typeface="Lato" pitchFamily="34" charset="-120"/>
              </a:rPr>
              <a:t>not in the image</a:t>
            </a:r>
            <a:endParaRPr lang="en-US" sz="2000" dirty="0"/>
          </a:p>
        </p:txBody>
      </p:sp>
      <p:pic>
        <p:nvPicPr>
          <p:cNvPr id="5" name="Image 0" descr="connector"/>
          <p:cNvPicPr>
            <a:picLocks noChangeAspect="1"/>
          </p:cNvPicPr>
          <p:nvPr/>
        </p:nvPicPr>
        <p:blipFill>
          <a:blip r:embed="rId3"/>
          <a:srcRect/>
          <a:stretch/>
        </p:blipFill>
        <p:spPr>
          <a:xfrm>
            <a:off x="5334000" y="2969220"/>
            <a:ext cx="127000" cy="1651000"/>
          </a:xfrm>
          <a:prstGeom prst="rect">
            <a:avLst/>
          </a:prstGeom>
        </p:spPr>
      </p:pic>
      <p:pic>
        <p:nvPicPr>
          <p:cNvPr id="6" name="Image 1" descr="Input image: a grocery fruit stand with bananas, plantains, kiwis and papayas, split into patches"/>
          <p:cNvPicPr>
            <a:picLocks noChangeAspect="1"/>
          </p:cNvPicPr>
          <p:nvPr/>
        </p:nvPicPr>
        <p:blipFill>
          <a:blip r:embed="rId4"/>
          <a:srcRect/>
          <a:stretch/>
        </p:blipFill>
        <p:spPr>
          <a:xfrm>
            <a:off x="762000" y="2143720"/>
            <a:ext cx="2921000" cy="2921000"/>
          </a:xfrm>
          <a:prstGeom prst="roundRect">
            <a:avLst>
              <a:gd name="adj" fmla="val 2609"/>
            </a:avLst>
          </a:prstGeom>
        </p:spPr>
      </p:pic>
      <p:pic>
        <p:nvPicPr>
          <p:cNvPr id="7" name="Image 2" descr="24 by 24 patch grid over the image"/>
          <p:cNvPicPr>
            <a:picLocks noChangeAspect="1"/>
          </p:cNvPicPr>
          <p:nvPr/>
        </p:nvPicPr>
        <p:blipFill>
          <a:blip r:embed="rId5"/>
          <a:srcRect/>
          <a:stretch/>
        </p:blipFill>
        <p:spPr>
          <a:xfrm>
            <a:off x="762000" y="2143720"/>
            <a:ext cx="2921000" cy="2921000"/>
          </a:xfrm>
          <a:prstGeom prst="rect">
            <a:avLst/>
          </a:prstGeom>
        </p:spPr>
      </p:pic>
      <p:sp>
        <p:nvSpPr>
          <p:cNvPr id="8" name="Text 3"/>
          <p:cNvSpPr/>
          <p:nvPr/>
        </p:nvSpPr>
        <p:spPr>
          <a:xfrm>
            <a:off x="718185" y="5115520"/>
            <a:ext cx="3008630" cy="322560"/>
          </a:xfrm>
          <a:prstGeom prst="rect">
            <a:avLst/>
          </a:prstGeom>
          <a:noFill/>
          <a:ln/>
        </p:spPr>
        <p:txBody>
          <a:bodyPr wrap="square" lIns="0" tIns="0" rIns="0" bIns="0" rtlCol="0" anchor="t">
            <a:normAutofit/>
          </a:bodyPr>
          <a:lstStyle/>
          <a:p>
            <a:pPr marL="0" indent="0" algn="ctr">
              <a:lnSpc>
                <a:spcPts val="2340"/>
              </a:lnSpc>
              <a:buNone/>
            </a:pPr>
            <a:r>
              <a:rPr lang="en-US" sz="1800" b="1" dirty="0">
                <a:solidFill>
                  <a:srgbClr val="000000"/>
                </a:solidFill>
                <a:latin typeface="Lato" pitchFamily="34" charset="0"/>
                <a:ea typeface="Lato" pitchFamily="34" charset="-122"/>
                <a:cs typeface="Lato" pitchFamily="34" charset="-120"/>
              </a:rPr>
              <a:t>Input image</a:t>
            </a:r>
            <a:endParaRPr lang="en-US" sz="1800" dirty="0"/>
          </a:p>
        </p:txBody>
      </p:sp>
      <p:sp>
        <p:nvSpPr>
          <p:cNvPr id="9" name="Shape 4"/>
          <p:cNvSpPr/>
          <p:nvPr/>
        </p:nvSpPr>
        <p:spPr>
          <a:xfrm>
            <a:off x="4200525" y="4566245"/>
            <a:ext cx="2393950" cy="1187450"/>
          </a:xfrm>
          <a:prstGeom prst="roundRect">
            <a:avLst>
              <a:gd name="adj" fmla="val 6684"/>
            </a:avLst>
          </a:prstGeom>
          <a:solidFill>
            <a:srgbClr val="FFFFFF"/>
          </a:solidFill>
          <a:ln w="19050">
            <a:solidFill>
              <a:srgbClr val="2F5597"/>
            </a:solidFill>
            <a:prstDash val="solid"/>
          </a:ln>
        </p:spPr>
        <p:txBody>
          <a:bodyPr/>
          <a:lstStyle/>
          <a:p>
            <a:endParaRPr lang="en-US"/>
          </a:p>
        </p:txBody>
      </p:sp>
      <p:sp>
        <p:nvSpPr>
          <p:cNvPr id="10" name="Text 5"/>
          <p:cNvSpPr/>
          <p:nvPr/>
        </p:nvSpPr>
        <p:spPr>
          <a:xfrm>
            <a:off x="4265993" y="4709765"/>
            <a:ext cx="2263013" cy="265410"/>
          </a:xfrm>
          <a:prstGeom prst="rect">
            <a:avLst/>
          </a:prstGeom>
          <a:noFill/>
          <a:ln/>
        </p:spPr>
        <p:txBody>
          <a:bodyPr wrap="square" lIns="0" tIns="0" rIns="0" bIns="0" rtlCol="0" anchor="t">
            <a:normAutofit/>
          </a:bodyPr>
          <a:lstStyle/>
          <a:p>
            <a:pPr marL="0" indent="0" algn="ctr">
              <a:lnSpc>
                <a:spcPts val="1890"/>
              </a:lnSpc>
              <a:buNone/>
            </a:pPr>
            <a:r>
              <a:rPr lang="en-US" sz="1400" b="1" dirty="0">
                <a:solidFill>
                  <a:srgbClr val="2F5597"/>
                </a:solidFill>
                <a:latin typeface="Lato" pitchFamily="34" charset="0"/>
                <a:ea typeface="Lato" pitchFamily="34" charset="-122"/>
                <a:cs typeface="Lato" pitchFamily="34" charset="-120"/>
              </a:rPr>
              <a:t>Vision Encoder (ViT)</a:t>
            </a:r>
            <a:endParaRPr lang="en-US" sz="1400" dirty="0"/>
          </a:p>
        </p:txBody>
      </p:sp>
      <p:sp>
        <p:nvSpPr>
          <p:cNvPr id="11" name="Shape 6"/>
          <p:cNvSpPr/>
          <p:nvPr/>
        </p:nvSpPr>
        <p:spPr>
          <a:xfrm>
            <a:off x="4298950" y="5000575"/>
            <a:ext cx="2197100" cy="355600"/>
          </a:xfrm>
          <a:prstGeom prst="roundRect">
            <a:avLst>
              <a:gd name="adj" fmla="val 17857"/>
            </a:avLst>
          </a:prstGeom>
          <a:solidFill>
            <a:srgbClr val="E8EEF8"/>
          </a:solidFill>
          <a:ln/>
        </p:spPr>
        <p:txBody>
          <a:bodyPr/>
          <a:lstStyle/>
          <a:p>
            <a:endParaRPr lang="en-US"/>
          </a:p>
        </p:txBody>
      </p:sp>
      <p:sp>
        <p:nvSpPr>
          <p:cNvPr id="12" name="Text 7"/>
          <p:cNvSpPr/>
          <p:nvPr/>
        </p:nvSpPr>
        <p:spPr>
          <a:xfrm>
            <a:off x="4362450" y="5038675"/>
            <a:ext cx="1155700" cy="279400"/>
          </a:xfrm>
          <a:prstGeom prst="roundRect">
            <a:avLst>
              <a:gd name="adj" fmla="val 18182"/>
            </a:avLst>
          </a:prstGeom>
          <a:solidFill>
            <a:srgbClr val="FFFFFF"/>
          </a:solidFill>
          <a:ln/>
        </p:spPr>
        <p:txBody>
          <a:bodyPr wrap="square" lIns="0" tIns="0" rIns="0" bIns="0" rtlCol="0" anchor="ctr">
            <a:normAutofit/>
          </a:bodyPr>
          <a:lstStyle/>
          <a:p>
            <a:pPr marL="0" indent="0" algn="ctr">
              <a:lnSpc>
                <a:spcPts val="1620"/>
              </a:lnSpc>
              <a:buNone/>
            </a:pPr>
            <a:r>
              <a:rPr lang="en-US" sz="1200" b="1" dirty="0">
                <a:solidFill>
                  <a:srgbClr val="2F5597"/>
                </a:solidFill>
                <a:latin typeface="Lato" pitchFamily="34" charset="0"/>
                <a:ea typeface="Lato" pitchFamily="34" charset="-122"/>
                <a:cs typeface="Lato" pitchFamily="34" charset="-120"/>
              </a:rPr>
              <a:t>Self-Attention</a:t>
            </a:r>
            <a:endParaRPr lang="en-US" sz="1200" dirty="0"/>
          </a:p>
        </p:txBody>
      </p:sp>
      <p:sp>
        <p:nvSpPr>
          <p:cNvPr id="13" name="Text 8"/>
          <p:cNvSpPr/>
          <p:nvPr/>
        </p:nvSpPr>
        <p:spPr>
          <a:xfrm>
            <a:off x="5581650" y="5038675"/>
            <a:ext cx="457200" cy="279400"/>
          </a:xfrm>
          <a:prstGeom prst="roundRect">
            <a:avLst>
              <a:gd name="adj" fmla="val 18182"/>
            </a:avLst>
          </a:prstGeom>
          <a:solidFill>
            <a:srgbClr val="FFFFFF"/>
          </a:solidFill>
          <a:ln/>
        </p:spPr>
        <p:txBody>
          <a:bodyPr wrap="square" lIns="0" tIns="0" rIns="0" bIns="0" rtlCol="0" anchor="ctr">
            <a:normAutofit/>
          </a:bodyPr>
          <a:lstStyle/>
          <a:p>
            <a:pPr marL="0" indent="0" algn="ctr">
              <a:lnSpc>
                <a:spcPts val="1620"/>
              </a:lnSpc>
              <a:buNone/>
            </a:pPr>
            <a:r>
              <a:rPr lang="en-US" sz="1200" b="1" dirty="0">
                <a:solidFill>
                  <a:srgbClr val="2F5597"/>
                </a:solidFill>
                <a:latin typeface="Lato" pitchFamily="34" charset="0"/>
                <a:ea typeface="Lato" pitchFamily="34" charset="-122"/>
                <a:cs typeface="Lato" pitchFamily="34" charset="-120"/>
              </a:rPr>
              <a:t>MLP</a:t>
            </a:r>
            <a:endParaRPr lang="en-US" sz="1200" dirty="0"/>
          </a:p>
        </p:txBody>
      </p:sp>
      <p:sp>
        <p:nvSpPr>
          <p:cNvPr id="14" name="Text 9"/>
          <p:cNvSpPr/>
          <p:nvPr/>
        </p:nvSpPr>
        <p:spPr>
          <a:xfrm>
            <a:off x="6076950" y="5075486"/>
            <a:ext cx="381000" cy="231130"/>
          </a:xfrm>
          <a:prstGeom prst="rect">
            <a:avLst/>
          </a:prstGeom>
          <a:noFill/>
          <a:ln/>
        </p:spPr>
        <p:txBody>
          <a:bodyPr wrap="square" lIns="0" tIns="0" rIns="0" bIns="0" rtlCol="0" anchor="t">
            <a:normAutofit/>
          </a:bodyPr>
          <a:lstStyle/>
          <a:p>
            <a:pPr marL="0" indent="0" algn="ctr">
              <a:lnSpc>
                <a:spcPts val="1620"/>
              </a:lnSpc>
              <a:buNone/>
            </a:pPr>
            <a:r>
              <a:rPr lang="en-US" sz="1200" b="1" dirty="0">
                <a:solidFill>
                  <a:srgbClr val="2F5597"/>
                </a:solidFill>
                <a:latin typeface="Lato" pitchFamily="34" charset="0"/>
                <a:ea typeface="Lato" pitchFamily="34" charset="-122"/>
                <a:cs typeface="Lato" pitchFamily="34" charset="-120"/>
              </a:rPr>
              <a:t>×24</a:t>
            </a:r>
            <a:endParaRPr lang="en-US" sz="1200" dirty="0"/>
          </a:p>
        </p:txBody>
      </p:sp>
      <p:pic>
        <p:nvPicPr>
          <p:cNvPr id="15" name="Image 3" descr="preencoded.png"/>
          <p:cNvPicPr>
            <a:picLocks noChangeAspect="1"/>
          </p:cNvPicPr>
          <p:nvPr/>
        </p:nvPicPr>
        <p:blipFill>
          <a:blip r:embed="rId6"/>
          <a:srcRect/>
          <a:stretch/>
        </p:blipFill>
        <p:spPr>
          <a:xfrm>
            <a:off x="4337050" y="5406975"/>
            <a:ext cx="203200" cy="203200"/>
          </a:xfrm>
          <a:prstGeom prst="roundRect">
            <a:avLst>
              <a:gd name="adj" fmla="val 9375"/>
            </a:avLst>
          </a:prstGeom>
        </p:spPr>
      </p:pic>
      <p:pic>
        <p:nvPicPr>
          <p:cNvPr id="16" name="Image 4" descr="preencoded.png"/>
          <p:cNvPicPr>
            <a:picLocks noChangeAspect="1"/>
          </p:cNvPicPr>
          <p:nvPr/>
        </p:nvPicPr>
        <p:blipFill>
          <a:blip r:embed="rId7"/>
          <a:srcRect/>
          <a:stretch/>
        </p:blipFill>
        <p:spPr>
          <a:xfrm>
            <a:off x="4578350" y="5406975"/>
            <a:ext cx="203200" cy="203200"/>
          </a:xfrm>
          <a:prstGeom prst="roundRect">
            <a:avLst>
              <a:gd name="adj" fmla="val 9375"/>
            </a:avLst>
          </a:prstGeom>
        </p:spPr>
      </p:pic>
      <p:pic>
        <p:nvPicPr>
          <p:cNvPr id="17" name="Image 5" descr="preencoded.png"/>
          <p:cNvPicPr>
            <a:picLocks noChangeAspect="1"/>
          </p:cNvPicPr>
          <p:nvPr/>
        </p:nvPicPr>
        <p:blipFill>
          <a:blip r:embed="rId8"/>
          <a:srcRect/>
          <a:stretch/>
        </p:blipFill>
        <p:spPr>
          <a:xfrm>
            <a:off x="4819650" y="5406975"/>
            <a:ext cx="203200" cy="203200"/>
          </a:xfrm>
          <a:prstGeom prst="roundRect">
            <a:avLst>
              <a:gd name="adj" fmla="val 9375"/>
            </a:avLst>
          </a:prstGeom>
        </p:spPr>
      </p:pic>
      <p:pic>
        <p:nvPicPr>
          <p:cNvPr id="18" name="Image 6" descr="preencoded.png"/>
          <p:cNvPicPr>
            <a:picLocks noChangeAspect="1"/>
          </p:cNvPicPr>
          <p:nvPr/>
        </p:nvPicPr>
        <p:blipFill>
          <a:blip r:embed="rId9"/>
          <a:srcRect/>
          <a:stretch/>
        </p:blipFill>
        <p:spPr>
          <a:xfrm>
            <a:off x="5060950" y="5406975"/>
            <a:ext cx="203200" cy="203200"/>
          </a:xfrm>
          <a:prstGeom prst="roundRect">
            <a:avLst>
              <a:gd name="adj" fmla="val 9375"/>
            </a:avLst>
          </a:prstGeom>
        </p:spPr>
      </p:pic>
      <p:sp>
        <p:nvSpPr>
          <p:cNvPr id="19" name="Text 10"/>
          <p:cNvSpPr/>
          <p:nvPr/>
        </p:nvSpPr>
        <p:spPr>
          <a:xfrm>
            <a:off x="5276850" y="5419675"/>
            <a:ext cx="241300" cy="203200"/>
          </a:xfrm>
          <a:prstGeom prst="rect">
            <a:avLst/>
          </a:prstGeom>
          <a:noFill/>
          <a:ln/>
        </p:spPr>
        <p:txBody>
          <a:bodyPr wrap="square" lIns="0" tIns="0" rIns="0" bIns="0" rtlCol="0" anchor="t">
            <a:normAutofit/>
          </a:bodyPr>
          <a:lstStyle/>
          <a:p>
            <a:pPr marL="0" indent="0" algn="ctr">
              <a:lnSpc>
                <a:spcPts val="1400"/>
              </a:lnSpc>
              <a:buNone/>
            </a:pPr>
            <a:r>
              <a:rPr lang="en-US" sz="1400" b="1" dirty="0">
                <a:solidFill>
                  <a:srgbClr val="2F5597"/>
                </a:solidFill>
                <a:latin typeface="Lato" pitchFamily="34" charset="0"/>
                <a:ea typeface="Lato" pitchFamily="34" charset="-122"/>
                <a:cs typeface="Lato" pitchFamily="34" charset="-120"/>
              </a:rPr>
              <a:t>…</a:t>
            </a:r>
            <a:endParaRPr lang="en-US" sz="1400" dirty="0"/>
          </a:p>
        </p:txBody>
      </p:sp>
      <p:pic>
        <p:nvPicPr>
          <p:cNvPr id="20" name="Image 7" descr="preencoded.png"/>
          <p:cNvPicPr>
            <a:picLocks noChangeAspect="1"/>
          </p:cNvPicPr>
          <p:nvPr/>
        </p:nvPicPr>
        <p:blipFill>
          <a:blip r:embed="rId10"/>
          <a:srcRect/>
          <a:stretch/>
        </p:blipFill>
        <p:spPr>
          <a:xfrm>
            <a:off x="5530850" y="5406975"/>
            <a:ext cx="203200" cy="203200"/>
          </a:xfrm>
          <a:prstGeom prst="roundRect">
            <a:avLst>
              <a:gd name="adj" fmla="val 9375"/>
            </a:avLst>
          </a:prstGeom>
        </p:spPr>
      </p:pic>
      <p:pic>
        <p:nvPicPr>
          <p:cNvPr id="21" name="Image 8" descr="preencoded.png"/>
          <p:cNvPicPr>
            <a:picLocks noChangeAspect="1"/>
          </p:cNvPicPr>
          <p:nvPr/>
        </p:nvPicPr>
        <p:blipFill>
          <a:blip r:embed="rId11"/>
          <a:srcRect/>
          <a:stretch/>
        </p:blipFill>
        <p:spPr>
          <a:xfrm>
            <a:off x="5772150" y="5406975"/>
            <a:ext cx="203200" cy="203200"/>
          </a:xfrm>
          <a:prstGeom prst="roundRect">
            <a:avLst>
              <a:gd name="adj" fmla="val 9375"/>
            </a:avLst>
          </a:prstGeom>
        </p:spPr>
      </p:pic>
      <p:pic>
        <p:nvPicPr>
          <p:cNvPr id="22" name="Image 9" descr="preencoded.png"/>
          <p:cNvPicPr>
            <a:picLocks noChangeAspect="1"/>
          </p:cNvPicPr>
          <p:nvPr/>
        </p:nvPicPr>
        <p:blipFill>
          <a:blip r:embed="rId12"/>
          <a:srcRect/>
          <a:stretch/>
        </p:blipFill>
        <p:spPr>
          <a:xfrm>
            <a:off x="6013450" y="5406975"/>
            <a:ext cx="203200" cy="203200"/>
          </a:xfrm>
          <a:prstGeom prst="roundRect">
            <a:avLst>
              <a:gd name="adj" fmla="val 9375"/>
            </a:avLst>
          </a:prstGeom>
        </p:spPr>
      </p:pic>
      <p:pic>
        <p:nvPicPr>
          <p:cNvPr id="23" name="Image 10" descr="preencoded.png"/>
          <p:cNvPicPr>
            <a:picLocks noChangeAspect="1"/>
          </p:cNvPicPr>
          <p:nvPr/>
        </p:nvPicPr>
        <p:blipFill>
          <a:blip r:embed="rId13"/>
          <a:srcRect/>
          <a:stretch/>
        </p:blipFill>
        <p:spPr>
          <a:xfrm>
            <a:off x="6254750" y="5406975"/>
            <a:ext cx="203200" cy="203200"/>
          </a:xfrm>
          <a:prstGeom prst="roundRect">
            <a:avLst>
              <a:gd name="adj" fmla="val 9375"/>
            </a:avLst>
          </a:prstGeom>
        </p:spPr>
      </p:pic>
      <p:pic>
        <p:nvPicPr>
          <p:cNvPr id="24" name="Image 11" descr="Projector drawn as a trapezoid that widens toward the language model"/>
          <p:cNvPicPr>
            <a:picLocks noChangeAspect="1"/>
          </p:cNvPicPr>
          <p:nvPr/>
        </p:nvPicPr>
        <p:blipFill>
          <a:blip r:embed="rId14"/>
          <a:srcRect/>
          <a:stretch/>
        </p:blipFill>
        <p:spPr>
          <a:xfrm>
            <a:off x="4445000" y="3553420"/>
            <a:ext cx="1905000" cy="762000"/>
          </a:xfrm>
          <a:prstGeom prst="rect">
            <a:avLst/>
          </a:prstGeom>
        </p:spPr>
      </p:pic>
      <p:sp>
        <p:nvSpPr>
          <p:cNvPr id="25" name="Text 11"/>
          <p:cNvSpPr/>
          <p:nvPr/>
        </p:nvSpPr>
        <p:spPr>
          <a:xfrm>
            <a:off x="4416425" y="3642320"/>
            <a:ext cx="1962150" cy="265410"/>
          </a:xfrm>
          <a:prstGeom prst="rect">
            <a:avLst/>
          </a:prstGeom>
          <a:noFill/>
          <a:ln/>
        </p:spPr>
        <p:txBody>
          <a:bodyPr wrap="square" lIns="0" tIns="0" rIns="0" bIns="0" rtlCol="0" anchor="t">
            <a:normAutofit/>
          </a:bodyPr>
          <a:lstStyle/>
          <a:p>
            <a:pPr marL="0" indent="0" algn="ctr">
              <a:lnSpc>
                <a:spcPts val="1890"/>
              </a:lnSpc>
              <a:buNone/>
            </a:pPr>
            <a:r>
              <a:rPr lang="en-US" sz="1400" b="1" dirty="0">
                <a:solidFill>
                  <a:srgbClr val="2F5597"/>
                </a:solidFill>
                <a:latin typeface="Lato" pitchFamily="34" charset="0"/>
                <a:ea typeface="Lato" pitchFamily="34" charset="-122"/>
                <a:cs typeface="Lato" pitchFamily="34" charset="-120"/>
              </a:rPr>
              <a:t>Projector</a:t>
            </a:r>
            <a:endParaRPr lang="en-US" sz="1400" dirty="0"/>
          </a:p>
        </p:txBody>
      </p:sp>
      <p:sp>
        <p:nvSpPr>
          <p:cNvPr id="26" name="Text 12"/>
          <p:cNvSpPr/>
          <p:nvPr/>
        </p:nvSpPr>
        <p:spPr>
          <a:xfrm>
            <a:off x="4416425" y="3896320"/>
            <a:ext cx="1962150" cy="231130"/>
          </a:xfrm>
          <a:prstGeom prst="rect">
            <a:avLst/>
          </a:prstGeom>
          <a:noFill/>
          <a:ln/>
        </p:spPr>
        <p:txBody>
          <a:bodyPr wrap="square" lIns="0" tIns="0" rIns="0" bIns="0" rtlCol="0" anchor="t">
            <a:normAutofit/>
          </a:bodyPr>
          <a:lstStyle/>
          <a:p>
            <a:pPr marL="0" indent="0" algn="ctr">
              <a:lnSpc>
                <a:spcPts val="1620"/>
              </a:lnSpc>
              <a:buNone/>
            </a:pPr>
            <a:r>
              <a:rPr lang="en-US" sz="1200" dirty="0">
                <a:solidFill>
                  <a:srgbClr val="2F5597"/>
                </a:solidFill>
                <a:latin typeface="Lato" pitchFamily="34" charset="0"/>
                <a:ea typeface="Lato" pitchFamily="34" charset="-122"/>
                <a:cs typeface="Lato" pitchFamily="34" charset="-120"/>
              </a:rPr>
              <a:t>2-layer MLP</a:t>
            </a:r>
            <a:endParaRPr lang="en-US" sz="1200" dirty="0"/>
          </a:p>
        </p:txBody>
      </p:sp>
      <p:sp>
        <p:nvSpPr>
          <p:cNvPr id="27" name="Shape 13"/>
          <p:cNvSpPr/>
          <p:nvPr/>
        </p:nvSpPr>
        <p:spPr>
          <a:xfrm>
            <a:off x="4406900" y="3197820"/>
            <a:ext cx="1981200" cy="177800"/>
          </a:xfrm>
          <a:prstGeom prst="rect">
            <a:avLst/>
          </a:prstGeom>
          <a:solidFill>
            <a:srgbClr val="FFFFFF"/>
          </a:solidFill>
          <a:ln/>
        </p:spPr>
        <p:txBody>
          <a:bodyPr/>
          <a:lstStyle/>
          <a:p>
            <a:endParaRPr lang="en-US"/>
          </a:p>
        </p:txBody>
      </p:sp>
      <p:sp>
        <p:nvSpPr>
          <p:cNvPr id="28" name="Shape 14"/>
          <p:cNvSpPr/>
          <p:nvPr/>
        </p:nvSpPr>
        <p:spPr>
          <a:xfrm>
            <a:off x="4406900" y="3197820"/>
            <a:ext cx="177800" cy="177800"/>
          </a:xfrm>
          <a:prstGeom prst="roundRect">
            <a:avLst>
              <a:gd name="adj" fmla="val 21429"/>
            </a:avLst>
          </a:prstGeom>
          <a:solidFill>
            <a:srgbClr val="9DB4D8"/>
          </a:solidFill>
          <a:ln/>
        </p:spPr>
        <p:txBody>
          <a:bodyPr/>
          <a:lstStyle/>
          <a:p>
            <a:endParaRPr lang="en-US"/>
          </a:p>
        </p:txBody>
      </p:sp>
      <p:sp>
        <p:nvSpPr>
          <p:cNvPr id="29" name="Shape 15"/>
          <p:cNvSpPr/>
          <p:nvPr/>
        </p:nvSpPr>
        <p:spPr>
          <a:xfrm>
            <a:off x="4635500" y="3197820"/>
            <a:ext cx="177800" cy="177800"/>
          </a:xfrm>
          <a:prstGeom prst="roundRect">
            <a:avLst>
              <a:gd name="adj" fmla="val 21429"/>
            </a:avLst>
          </a:prstGeom>
          <a:solidFill>
            <a:srgbClr val="9DB4D8"/>
          </a:solidFill>
          <a:ln/>
        </p:spPr>
        <p:txBody>
          <a:bodyPr/>
          <a:lstStyle/>
          <a:p>
            <a:endParaRPr lang="en-US"/>
          </a:p>
        </p:txBody>
      </p:sp>
      <p:sp>
        <p:nvSpPr>
          <p:cNvPr id="30" name="Shape 16"/>
          <p:cNvSpPr/>
          <p:nvPr/>
        </p:nvSpPr>
        <p:spPr>
          <a:xfrm>
            <a:off x="4864100" y="3197820"/>
            <a:ext cx="177800" cy="177800"/>
          </a:xfrm>
          <a:prstGeom prst="roundRect">
            <a:avLst>
              <a:gd name="adj" fmla="val 21429"/>
            </a:avLst>
          </a:prstGeom>
          <a:solidFill>
            <a:srgbClr val="9DB4D8"/>
          </a:solidFill>
          <a:ln/>
        </p:spPr>
        <p:txBody>
          <a:bodyPr/>
          <a:lstStyle/>
          <a:p>
            <a:endParaRPr lang="en-US"/>
          </a:p>
        </p:txBody>
      </p:sp>
      <p:sp>
        <p:nvSpPr>
          <p:cNvPr id="31" name="Shape 17"/>
          <p:cNvSpPr/>
          <p:nvPr/>
        </p:nvSpPr>
        <p:spPr>
          <a:xfrm>
            <a:off x="5092700" y="3197820"/>
            <a:ext cx="177800" cy="177800"/>
          </a:xfrm>
          <a:prstGeom prst="roundRect">
            <a:avLst>
              <a:gd name="adj" fmla="val 21429"/>
            </a:avLst>
          </a:prstGeom>
          <a:solidFill>
            <a:srgbClr val="9DB4D8"/>
          </a:solidFill>
          <a:ln/>
        </p:spPr>
        <p:txBody>
          <a:bodyPr/>
          <a:lstStyle/>
          <a:p>
            <a:endParaRPr lang="en-US"/>
          </a:p>
        </p:txBody>
      </p:sp>
      <p:sp>
        <p:nvSpPr>
          <p:cNvPr id="32" name="Text 18"/>
          <p:cNvSpPr/>
          <p:nvPr/>
        </p:nvSpPr>
        <p:spPr>
          <a:xfrm>
            <a:off x="5295900" y="3197820"/>
            <a:ext cx="203200" cy="203200"/>
          </a:xfrm>
          <a:prstGeom prst="rect">
            <a:avLst/>
          </a:prstGeom>
          <a:noFill/>
          <a:ln/>
        </p:spPr>
        <p:txBody>
          <a:bodyPr wrap="square" lIns="0" tIns="0" rIns="0" bIns="0" rtlCol="0" anchor="t">
            <a:normAutofit/>
          </a:bodyPr>
          <a:lstStyle/>
          <a:p>
            <a:pPr marL="0" indent="0" algn="ctr">
              <a:lnSpc>
                <a:spcPts val="1400"/>
              </a:lnSpc>
              <a:buNone/>
            </a:pPr>
            <a:r>
              <a:rPr lang="en-US" sz="1400" b="1" dirty="0">
                <a:solidFill>
                  <a:srgbClr val="2F5597"/>
                </a:solidFill>
                <a:latin typeface="Lato" pitchFamily="34" charset="0"/>
                <a:ea typeface="Lato" pitchFamily="34" charset="-122"/>
                <a:cs typeface="Lato" pitchFamily="34" charset="-120"/>
              </a:rPr>
              <a:t>…</a:t>
            </a:r>
            <a:endParaRPr lang="en-US" sz="1400" dirty="0"/>
          </a:p>
        </p:txBody>
      </p:sp>
      <p:sp>
        <p:nvSpPr>
          <p:cNvPr id="33" name="Shape 19"/>
          <p:cNvSpPr/>
          <p:nvPr/>
        </p:nvSpPr>
        <p:spPr>
          <a:xfrm>
            <a:off x="5524500" y="3197820"/>
            <a:ext cx="177800" cy="177800"/>
          </a:xfrm>
          <a:prstGeom prst="roundRect">
            <a:avLst>
              <a:gd name="adj" fmla="val 21429"/>
            </a:avLst>
          </a:prstGeom>
          <a:solidFill>
            <a:srgbClr val="9DB4D8"/>
          </a:solidFill>
          <a:ln/>
        </p:spPr>
        <p:txBody>
          <a:bodyPr/>
          <a:lstStyle/>
          <a:p>
            <a:endParaRPr lang="en-US"/>
          </a:p>
        </p:txBody>
      </p:sp>
      <p:sp>
        <p:nvSpPr>
          <p:cNvPr id="34" name="Shape 20"/>
          <p:cNvSpPr/>
          <p:nvPr/>
        </p:nvSpPr>
        <p:spPr>
          <a:xfrm>
            <a:off x="5753100" y="3197820"/>
            <a:ext cx="177800" cy="177800"/>
          </a:xfrm>
          <a:prstGeom prst="roundRect">
            <a:avLst>
              <a:gd name="adj" fmla="val 21429"/>
            </a:avLst>
          </a:prstGeom>
          <a:solidFill>
            <a:srgbClr val="9DB4D8"/>
          </a:solidFill>
          <a:ln/>
        </p:spPr>
        <p:txBody>
          <a:bodyPr/>
          <a:lstStyle/>
          <a:p>
            <a:endParaRPr lang="en-US"/>
          </a:p>
        </p:txBody>
      </p:sp>
      <p:sp>
        <p:nvSpPr>
          <p:cNvPr id="35" name="Shape 21"/>
          <p:cNvSpPr/>
          <p:nvPr/>
        </p:nvSpPr>
        <p:spPr>
          <a:xfrm>
            <a:off x="5981700" y="3197820"/>
            <a:ext cx="177800" cy="177800"/>
          </a:xfrm>
          <a:prstGeom prst="roundRect">
            <a:avLst>
              <a:gd name="adj" fmla="val 21429"/>
            </a:avLst>
          </a:prstGeom>
          <a:solidFill>
            <a:srgbClr val="9DB4D8"/>
          </a:solidFill>
          <a:ln/>
        </p:spPr>
        <p:txBody>
          <a:bodyPr/>
          <a:lstStyle/>
          <a:p>
            <a:endParaRPr lang="en-US"/>
          </a:p>
        </p:txBody>
      </p:sp>
      <p:sp>
        <p:nvSpPr>
          <p:cNvPr id="36" name="Shape 22"/>
          <p:cNvSpPr/>
          <p:nvPr/>
        </p:nvSpPr>
        <p:spPr>
          <a:xfrm>
            <a:off x="6210300" y="3197820"/>
            <a:ext cx="177800" cy="177800"/>
          </a:xfrm>
          <a:prstGeom prst="roundRect">
            <a:avLst>
              <a:gd name="adj" fmla="val 21429"/>
            </a:avLst>
          </a:prstGeom>
          <a:solidFill>
            <a:srgbClr val="9DB4D8"/>
          </a:solidFill>
          <a:ln/>
        </p:spPr>
        <p:txBody>
          <a:bodyPr/>
          <a:lstStyle/>
          <a:p>
            <a:endParaRPr lang="en-US"/>
          </a:p>
        </p:txBody>
      </p:sp>
      <p:sp>
        <p:nvSpPr>
          <p:cNvPr id="37" name="Text 23"/>
          <p:cNvSpPr/>
          <p:nvPr/>
        </p:nvSpPr>
        <p:spPr>
          <a:xfrm>
            <a:off x="6451600" y="3172420"/>
            <a:ext cx="749300" cy="39112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55555"/>
                </a:solidFill>
                <a:latin typeface="Lato" pitchFamily="34" charset="0"/>
                <a:ea typeface="Lato" pitchFamily="34" charset="-122"/>
                <a:cs typeface="Lato" pitchFamily="34" charset="-120"/>
              </a:rPr>
              <a:t>image tokens</a:t>
            </a:r>
            <a:endParaRPr lang="en-US" sz="1200" dirty="0"/>
          </a:p>
        </p:txBody>
      </p:sp>
      <p:sp>
        <p:nvSpPr>
          <p:cNvPr id="38" name="Shape 24"/>
          <p:cNvSpPr/>
          <p:nvPr/>
        </p:nvSpPr>
        <p:spPr>
          <a:xfrm>
            <a:off x="4191000" y="1673820"/>
            <a:ext cx="2413000" cy="1358900"/>
          </a:xfrm>
          <a:prstGeom prst="roundRect">
            <a:avLst>
              <a:gd name="adj" fmla="val 6542"/>
            </a:avLst>
          </a:prstGeom>
          <a:solidFill>
            <a:srgbClr val="2F5597"/>
          </a:solidFill>
          <a:ln/>
        </p:spPr>
        <p:txBody>
          <a:bodyPr/>
          <a:lstStyle/>
          <a:p>
            <a:endParaRPr lang="en-US"/>
          </a:p>
        </p:txBody>
      </p:sp>
      <p:sp>
        <p:nvSpPr>
          <p:cNvPr id="39" name="Text 25"/>
          <p:cNvSpPr/>
          <p:nvPr/>
        </p:nvSpPr>
        <p:spPr>
          <a:xfrm>
            <a:off x="4246372" y="1852265"/>
            <a:ext cx="2302256" cy="265410"/>
          </a:xfrm>
          <a:prstGeom prst="rect">
            <a:avLst/>
          </a:prstGeom>
          <a:noFill/>
          <a:ln/>
        </p:spPr>
        <p:txBody>
          <a:bodyPr wrap="square" lIns="0" tIns="0" rIns="0" bIns="0" rtlCol="0" anchor="t">
            <a:normAutofit/>
          </a:bodyPr>
          <a:lstStyle/>
          <a:p>
            <a:pPr marL="0" indent="0" algn="ctr">
              <a:lnSpc>
                <a:spcPts val="1890"/>
              </a:lnSpc>
              <a:buNone/>
            </a:pPr>
            <a:r>
              <a:rPr lang="en-US" sz="1400" b="1" dirty="0">
                <a:solidFill>
                  <a:srgbClr val="FFFFFF"/>
                </a:solidFill>
                <a:latin typeface="Lato" pitchFamily="34" charset="0"/>
                <a:ea typeface="Lato" pitchFamily="34" charset="-122"/>
                <a:cs typeface="Lato" pitchFamily="34" charset="-120"/>
              </a:rPr>
              <a:t>Language Model</a:t>
            </a:r>
            <a:endParaRPr lang="en-US" sz="1400" dirty="0"/>
          </a:p>
        </p:txBody>
      </p:sp>
      <p:sp>
        <p:nvSpPr>
          <p:cNvPr id="40" name="Text 26"/>
          <p:cNvSpPr/>
          <p:nvPr/>
        </p:nvSpPr>
        <p:spPr>
          <a:xfrm>
            <a:off x="4279900" y="2155775"/>
            <a:ext cx="2235200" cy="279400"/>
          </a:xfrm>
          <a:prstGeom prst="roundRect">
            <a:avLst>
              <a:gd name="adj" fmla="val 22727"/>
            </a:avLst>
          </a:prstGeom>
          <a:solidFill>
            <a:srgbClr val="FFFFFF"/>
          </a:solidFill>
          <a:ln/>
        </p:spPr>
        <p:txBody>
          <a:bodyPr wrap="square" lIns="0" tIns="0" rIns="0" bIns="0" rtlCol="0" anchor="ctr">
            <a:normAutofit/>
          </a:bodyPr>
          <a:lstStyle/>
          <a:p>
            <a:pPr marL="0" indent="0" algn="ctr">
              <a:lnSpc>
                <a:spcPts val="1620"/>
              </a:lnSpc>
              <a:buNone/>
            </a:pPr>
            <a:r>
              <a:rPr lang="en-US" sz="1200" b="1" dirty="0">
                <a:solidFill>
                  <a:srgbClr val="2F5597"/>
                </a:solidFill>
                <a:latin typeface="Lato" pitchFamily="34" charset="0"/>
                <a:ea typeface="Lato" pitchFamily="34" charset="-122"/>
                <a:cs typeface="Lato" pitchFamily="34" charset="-120"/>
              </a:rPr>
              <a:t>Next-token decoding</a:t>
            </a:r>
            <a:endParaRPr lang="en-US" sz="1200" dirty="0"/>
          </a:p>
        </p:txBody>
      </p:sp>
      <p:sp>
        <p:nvSpPr>
          <p:cNvPr id="41" name="Shape 27"/>
          <p:cNvSpPr/>
          <p:nvPr/>
        </p:nvSpPr>
        <p:spPr>
          <a:xfrm>
            <a:off x="4279900" y="2498675"/>
            <a:ext cx="2235200" cy="355600"/>
          </a:xfrm>
          <a:prstGeom prst="roundRect">
            <a:avLst>
              <a:gd name="adj" fmla="val 17857"/>
            </a:avLst>
          </a:prstGeom>
          <a:solidFill>
            <a:srgbClr val="4A6FB0"/>
          </a:solidFill>
          <a:ln/>
        </p:spPr>
        <p:txBody>
          <a:bodyPr/>
          <a:lstStyle/>
          <a:p>
            <a:endParaRPr lang="en-US"/>
          </a:p>
        </p:txBody>
      </p:sp>
      <p:sp>
        <p:nvSpPr>
          <p:cNvPr id="42" name="Text 28"/>
          <p:cNvSpPr/>
          <p:nvPr/>
        </p:nvSpPr>
        <p:spPr>
          <a:xfrm>
            <a:off x="4343400" y="2536775"/>
            <a:ext cx="1193800" cy="279400"/>
          </a:xfrm>
          <a:prstGeom prst="roundRect">
            <a:avLst>
              <a:gd name="adj" fmla="val 18182"/>
            </a:avLst>
          </a:prstGeom>
          <a:solidFill>
            <a:srgbClr val="FFFFFF"/>
          </a:solidFill>
          <a:ln/>
        </p:spPr>
        <p:txBody>
          <a:bodyPr wrap="square" lIns="0" tIns="0" rIns="0" bIns="0" rtlCol="0" anchor="ctr">
            <a:normAutofit/>
          </a:bodyPr>
          <a:lstStyle/>
          <a:p>
            <a:pPr marL="0" indent="0" algn="ctr">
              <a:lnSpc>
                <a:spcPts val="1620"/>
              </a:lnSpc>
              <a:buNone/>
            </a:pPr>
            <a:r>
              <a:rPr lang="en-US" sz="1200" b="1" dirty="0">
                <a:solidFill>
                  <a:srgbClr val="2F5597"/>
                </a:solidFill>
                <a:latin typeface="Lato" pitchFamily="34" charset="0"/>
                <a:ea typeface="Lato" pitchFamily="34" charset="-122"/>
                <a:cs typeface="Lato" pitchFamily="34" charset="-120"/>
              </a:rPr>
              <a:t>Self-Attention</a:t>
            </a:r>
            <a:endParaRPr lang="en-US" sz="1200" dirty="0"/>
          </a:p>
        </p:txBody>
      </p:sp>
      <p:sp>
        <p:nvSpPr>
          <p:cNvPr id="43" name="Text 29"/>
          <p:cNvSpPr/>
          <p:nvPr/>
        </p:nvSpPr>
        <p:spPr>
          <a:xfrm>
            <a:off x="5600700" y="2536775"/>
            <a:ext cx="457200" cy="279400"/>
          </a:xfrm>
          <a:prstGeom prst="roundRect">
            <a:avLst>
              <a:gd name="adj" fmla="val 18182"/>
            </a:avLst>
          </a:prstGeom>
          <a:solidFill>
            <a:srgbClr val="FFFFFF"/>
          </a:solidFill>
          <a:ln/>
        </p:spPr>
        <p:txBody>
          <a:bodyPr wrap="square" lIns="0" tIns="0" rIns="0" bIns="0" rtlCol="0" anchor="ctr">
            <a:normAutofit/>
          </a:bodyPr>
          <a:lstStyle/>
          <a:p>
            <a:pPr marL="0" indent="0" algn="ctr">
              <a:lnSpc>
                <a:spcPts val="1620"/>
              </a:lnSpc>
              <a:buNone/>
            </a:pPr>
            <a:r>
              <a:rPr lang="en-US" sz="1200" b="1" dirty="0">
                <a:solidFill>
                  <a:srgbClr val="2F5597"/>
                </a:solidFill>
                <a:latin typeface="Lato" pitchFamily="34" charset="0"/>
                <a:ea typeface="Lato" pitchFamily="34" charset="-122"/>
                <a:cs typeface="Lato" pitchFamily="34" charset="-120"/>
              </a:rPr>
              <a:t>FFN</a:t>
            </a:r>
            <a:endParaRPr lang="en-US" sz="1200" dirty="0"/>
          </a:p>
        </p:txBody>
      </p:sp>
      <p:sp>
        <p:nvSpPr>
          <p:cNvPr id="44" name="Text 30"/>
          <p:cNvSpPr/>
          <p:nvPr/>
        </p:nvSpPr>
        <p:spPr>
          <a:xfrm>
            <a:off x="6096000" y="2573586"/>
            <a:ext cx="381000" cy="231130"/>
          </a:xfrm>
          <a:prstGeom prst="rect">
            <a:avLst/>
          </a:prstGeom>
          <a:noFill/>
          <a:ln/>
        </p:spPr>
        <p:txBody>
          <a:bodyPr wrap="square" lIns="0" tIns="0" rIns="0" bIns="0" rtlCol="0" anchor="t">
            <a:normAutofit/>
          </a:bodyPr>
          <a:lstStyle/>
          <a:p>
            <a:pPr marL="0" indent="0" algn="ctr">
              <a:lnSpc>
                <a:spcPts val="1620"/>
              </a:lnSpc>
              <a:buNone/>
            </a:pPr>
            <a:r>
              <a:rPr lang="en-US" sz="1200" b="1" dirty="0">
                <a:solidFill>
                  <a:srgbClr val="FFFFFF"/>
                </a:solidFill>
                <a:latin typeface="Lato" pitchFamily="34" charset="0"/>
                <a:ea typeface="Lato" pitchFamily="34" charset="-122"/>
                <a:cs typeface="Lato" pitchFamily="34" charset="-120"/>
              </a:rPr>
              <a:t>×32</a:t>
            </a:r>
            <a:endParaRPr lang="en-US" sz="1200" dirty="0"/>
          </a:p>
        </p:txBody>
      </p:sp>
      <p:sp>
        <p:nvSpPr>
          <p:cNvPr id="45" name="Shape 31"/>
          <p:cNvSpPr/>
          <p:nvPr/>
        </p:nvSpPr>
        <p:spPr>
          <a:xfrm>
            <a:off x="7181850" y="1730970"/>
            <a:ext cx="3543300" cy="704800"/>
          </a:xfrm>
          <a:prstGeom prst="roundRect">
            <a:avLst>
              <a:gd name="adj" fmla="val 11713"/>
            </a:avLst>
          </a:prstGeom>
          <a:solidFill>
            <a:srgbClr val="FFFFFF"/>
          </a:solidFill>
          <a:ln w="12700">
            <a:solidFill>
              <a:srgbClr val="888888"/>
            </a:solidFill>
            <a:prstDash val="solid"/>
          </a:ln>
        </p:spPr>
        <p:txBody>
          <a:bodyPr/>
          <a:lstStyle/>
          <a:p>
            <a:endParaRPr lang="en-US"/>
          </a:p>
        </p:txBody>
      </p:sp>
      <p:sp>
        <p:nvSpPr>
          <p:cNvPr id="46" name="Text 32"/>
          <p:cNvSpPr/>
          <p:nvPr/>
        </p:nvSpPr>
        <p:spPr>
          <a:xfrm>
            <a:off x="7327900" y="1813520"/>
            <a:ext cx="3348736" cy="26541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555555"/>
                </a:solidFill>
                <a:latin typeface="Lato" pitchFamily="34" charset="0"/>
                <a:ea typeface="Lato" pitchFamily="34" charset="-122"/>
                <a:cs typeface="Lato" pitchFamily="34" charset="-120"/>
              </a:rPr>
              <a:t>Question</a:t>
            </a:r>
            <a:endParaRPr lang="en-US" sz="1400" dirty="0"/>
          </a:p>
        </p:txBody>
      </p:sp>
      <p:sp>
        <p:nvSpPr>
          <p:cNvPr id="47" name="Text 33"/>
          <p:cNvSpPr/>
          <p:nvPr/>
        </p:nvSpPr>
        <p:spPr>
          <a:xfrm>
            <a:off x="7327900" y="2078930"/>
            <a:ext cx="3348736" cy="299690"/>
          </a:xfrm>
          <a:prstGeom prst="rect">
            <a:avLst/>
          </a:prstGeom>
          <a:noFill/>
          <a:ln/>
        </p:spPr>
        <p:txBody>
          <a:bodyPr wrap="square" lIns="0" tIns="0" rIns="0" bIns="0" rtlCol="0" anchor="t">
            <a:normAutofit/>
          </a:bodyPr>
          <a:lstStyle/>
          <a:p>
            <a:pPr marL="0" indent="0" algn="l">
              <a:lnSpc>
                <a:spcPts val="2160"/>
              </a:lnSpc>
              <a:buNone/>
            </a:pPr>
            <a:r>
              <a:rPr lang="en-US" sz="1600" i="1" dirty="0">
                <a:solidFill>
                  <a:srgbClr val="000000"/>
                </a:solidFill>
                <a:latin typeface="Lato" pitchFamily="34" charset="0"/>
                <a:ea typeface="Lato" pitchFamily="34" charset="-122"/>
                <a:cs typeface="Lato" pitchFamily="34" charset="-120"/>
              </a:rPr>
              <a:t>"Please describe the image in detail."</a:t>
            </a:r>
            <a:endParaRPr lang="en-US" sz="1600" dirty="0"/>
          </a:p>
        </p:txBody>
      </p:sp>
      <p:pic>
        <p:nvPicPr>
          <p:cNvPr id="48" name="Image 12" descr="User (woman) icon"/>
          <p:cNvPicPr>
            <a:picLocks noChangeAspect="1"/>
          </p:cNvPicPr>
          <p:nvPr/>
        </p:nvPicPr>
        <p:blipFill>
          <a:blip r:embed="rId15"/>
          <a:srcRect/>
          <a:stretch/>
        </p:blipFill>
        <p:spPr>
          <a:xfrm>
            <a:off x="10820400" y="1737320"/>
            <a:ext cx="609600" cy="609600"/>
          </a:xfrm>
          <a:prstGeom prst="rect">
            <a:avLst/>
          </a:prstGeom>
        </p:spPr>
      </p:pic>
      <p:pic>
        <p:nvPicPr>
          <p:cNvPr id="49" name="Image 13" descr="AI assistant (robot) icon"/>
          <p:cNvPicPr>
            <a:picLocks noChangeAspect="1"/>
          </p:cNvPicPr>
          <p:nvPr/>
        </p:nvPicPr>
        <p:blipFill>
          <a:blip r:embed="rId16"/>
          <a:srcRect/>
          <a:stretch/>
        </p:blipFill>
        <p:spPr>
          <a:xfrm>
            <a:off x="7175500" y="2562820"/>
            <a:ext cx="609600" cy="609600"/>
          </a:xfrm>
          <a:prstGeom prst="rect">
            <a:avLst/>
          </a:prstGeom>
        </p:spPr>
      </p:pic>
      <p:sp>
        <p:nvSpPr>
          <p:cNvPr id="50" name="Shape 34"/>
          <p:cNvSpPr/>
          <p:nvPr/>
        </p:nvSpPr>
        <p:spPr>
          <a:xfrm>
            <a:off x="7893050" y="2531070"/>
            <a:ext cx="3530600" cy="2551410"/>
          </a:xfrm>
          <a:prstGeom prst="roundRect">
            <a:avLst>
              <a:gd name="adj" fmla="val 3235"/>
            </a:avLst>
          </a:prstGeom>
          <a:solidFill>
            <a:srgbClr val="FFFFFF"/>
          </a:solidFill>
          <a:ln w="12700">
            <a:solidFill>
              <a:srgbClr val="C00000"/>
            </a:solidFill>
            <a:prstDash val="solid"/>
          </a:ln>
        </p:spPr>
        <p:txBody>
          <a:bodyPr/>
          <a:lstStyle/>
          <a:p>
            <a:endParaRPr lang="en-US"/>
          </a:p>
        </p:txBody>
      </p:sp>
      <p:sp>
        <p:nvSpPr>
          <p:cNvPr id="51" name="Text 35"/>
          <p:cNvSpPr/>
          <p:nvPr/>
        </p:nvSpPr>
        <p:spPr>
          <a:xfrm>
            <a:off x="8051800" y="2639020"/>
            <a:ext cx="3309493" cy="26541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555555"/>
                </a:solidFill>
                <a:latin typeface="Lato" pitchFamily="34" charset="0"/>
                <a:ea typeface="Lato" pitchFamily="34" charset="-122"/>
                <a:cs typeface="Lato" pitchFamily="34" charset="-120"/>
              </a:rPr>
              <a:t>Answer (LLaVA-1.5)</a:t>
            </a:r>
            <a:endParaRPr lang="en-US" sz="1400" dirty="0"/>
          </a:p>
        </p:txBody>
      </p:sp>
      <p:sp>
        <p:nvSpPr>
          <p:cNvPr id="52" name="Text 36"/>
          <p:cNvSpPr/>
          <p:nvPr/>
        </p:nvSpPr>
        <p:spPr>
          <a:xfrm>
            <a:off x="8051800" y="2917130"/>
            <a:ext cx="3309493" cy="2082800"/>
          </a:xfrm>
          <a:prstGeom prst="rect">
            <a:avLst/>
          </a:prstGeom>
          <a:noFill/>
          <a:ln/>
        </p:spPr>
        <p:txBody>
          <a:bodyPr wrap="square" lIns="0" tIns="0" rIns="0" bIns="0" rtlCol="0" anchor="t">
            <a:normAutofit/>
          </a:bodyPr>
          <a:lstStyle/>
          <a:p>
            <a:pPr marL="0" indent="0" algn="l">
              <a:lnSpc>
                <a:spcPts val="2025"/>
              </a:lnSpc>
              <a:buNone/>
            </a:pPr>
            <a:r>
              <a:rPr lang="en-US" sz="1500" i="1" dirty="0">
                <a:solidFill>
                  <a:srgbClr val="000000"/>
                </a:solidFill>
                <a:latin typeface="Lato" pitchFamily="34" charset="0"/>
                <a:ea typeface="Lato" pitchFamily="34" charset="-122"/>
                <a:cs typeface="Lato" pitchFamily="34" charset="-120"/>
              </a:rPr>
              <a:t>"The image showcases a fruit stand at a grocery store, featuring a variety of fruits on display. There are several bunches of bananas … A large number of </a:t>
            </a:r>
            <a:r>
              <a:rPr lang="en-US" sz="1500" b="1" i="1" dirty="0">
                <a:solidFill>
                  <a:srgbClr val="C00000"/>
                </a:solidFill>
                <a:latin typeface="Lato" pitchFamily="34" charset="0"/>
                <a:ea typeface="Lato" pitchFamily="34" charset="-122"/>
                <a:cs typeface="Lato" pitchFamily="34" charset="-120"/>
              </a:rPr>
              <a:t>apples</a:t>
            </a:r>
            <a:r>
              <a:rPr lang="en-US" sz="1500" i="1" dirty="0">
                <a:solidFill>
                  <a:srgbClr val="000000"/>
                </a:solidFill>
                <a:latin typeface="Lato" pitchFamily="34" charset="0"/>
                <a:ea typeface="Lato" pitchFamily="34" charset="-122"/>
                <a:cs typeface="Lato" pitchFamily="34" charset="-120"/>
              </a:rPr>
              <a:t> are also present, with some located near the top left corner of the image … there are also a few </a:t>
            </a:r>
            <a:r>
              <a:rPr lang="en-US" sz="1500" b="1" i="1" dirty="0">
                <a:solidFill>
                  <a:srgbClr val="C00000"/>
                </a:solidFill>
                <a:latin typeface="Lato" pitchFamily="34" charset="0"/>
                <a:ea typeface="Lato" pitchFamily="34" charset="-122"/>
                <a:cs typeface="Lato" pitchFamily="34" charset="-120"/>
              </a:rPr>
              <a:t>oranges</a:t>
            </a:r>
            <a:r>
              <a:rPr lang="en-US" sz="1500" i="1" dirty="0">
                <a:solidFill>
                  <a:srgbClr val="000000"/>
                </a:solidFill>
                <a:latin typeface="Lato" pitchFamily="34" charset="0"/>
                <a:ea typeface="Lato" pitchFamily="34" charset="-122"/>
                <a:cs typeface="Lato" pitchFamily="34" charset="-120"/>
              </a:rPr>
              <a:t> visible in the middle of the scene."</a:t>
            </a:r>
            <a:endParaRPr lang="en-US" sz="1500" dirty="0"/>
          </a:p>
        </p:txBody>
      </p:sp>
      <p:sp>
        <p:nvSpPr>
          <p:cNvPr id="53" name="Text 37"/>
          <p:cNvSpPr/>
          <p:nvPr/>
        </p:nvSpPr>
        <p:spPr>
          <a:xfrm>
            <a:off x="7175500" y="5458420"/>
            <a:ext cx="4382135" cy="355600"/>
          </a:xfrm>
          <a:prstGeom prst="rect">
            <a:avLst/>
          </a:prstGeom>
          <a:noFill/>
          <a:ln/>
        </p:spPr>
        <p:txBody>
          <a:bodyPr wrap="square" lIns="0" tIns="0" rIns="0" bIns="0" rtlCol="0" anchor="t">
            <a:normAutofit/>
          </a:bodyPr>
          <a:lstStyle/>
          <a:p>
            <a:pPr marL="0" indent="0" algn="l">
              <a:lnSpc>
                <a:spcPts val="2600"/>
              </a:lnSpc>
              <a:buNone/>
            </a:pPr>
            <a:r>
              <a:rPr lang="en-US" sz="2000" b="1" u="sng" dirty="0">
                <a:solidFill>
                  <a:srgbClr val="C00000"/>
                </a:solidFill>
                <a:latin typeface="Lato" pitchFamily="34" charset="0"/>
                <a:ea typeface="Lato" pitchFamily="34" charset="-122"/>
                <a:cs typeface="Lato" pitchFamily="34" charset="-120"/>
              </a:rPr>
              <a:t>The image has no apples or oranges</a:t>
            </a:r>
            <a:endParaRPr lang="en-US" sz="2000" dirty="0"/>
          </a:p>
        </p:txBody>
      </p:sp>
      <p:pic>
        <p:nvPicPr>
          <p:cNvPr id="54" name="Image 14" descr="connector"/>
          <p:cNvPicPr>
            <a:picLocks noChangeAspect="1"/>
          </p:cNvPicPr>
          <p:nvPr/>
        </p:nvPicPr>
        <p:blipFill>
          <a:blip r:embed="rId17"/>
          <a:srcRect/>
          <a:stretch/>
        </p:blipFill>
        <p:spPr>
          <a:xfrm>
            <a:off x="3619500" y="4969470"/>
            <a:ext cx="635000" cy="127000"/>
          </a:xfrm>
          <a:prstGeom prst="rect">
            <a:avLst/>
          </a:prstGeom>
        </p:spPr>
      </p:pic>
      <p:pic>
        <p:nvPicPr>
          <p:cNvPr id="55" name="Image 15" descr="connector"/>
          <p:cNvPicPr>
            <a:picLocks noChangeAspect="1"/>
          </p:cNvPicPr>
          <p:nvPr/>
        </p:nvPicPr>
        <p:blipFill>
          <a:blip r:embed="rId18"/>
          <a:srcRect/>
          <a:stretch/>
        </p:blipFill>
        <p:spPr>
          <a:xfrm>
            <a:off x="6540500" y="2016720"/>
            <a:ext cx="698500" cy="127000"/>
          </a:xfrm>
          <a:prstGeom prst="rect">
            <a:avLst/>
          </a:prstGeom>
        </p:spPr>
      </p:pic>
      <p:pic>
        <p:nvPicPr>
          <p:cNvPr id="56" name="Image 16" descr="connector"/>
          <p:cNvPicPr>
            <a:picLocks noChangeAspect="1"/>
          </p:cNvPicPr>
          <p:nvPr/>
        </p:nvPicPr>
        <p:blipFill>
          <a:blip r:embed="rId19"/>
          <a:srcRect/>
          <a:stretch/>
        </p:blipFill>
        <p:spPr>
          <a:xfrm>
            <a:off x="6540500" y="2804120"/>
            <a:ext cx="698500" cy="127000"/>
          </a:xfrm>
          <a:prstGeom prst="rect">
            <a:avLst/>
          </a:prstGeom>
        </p:spPr>
      </p:pic>
      <p:sp>
        <p:nvSpPr>
          <p:cNvPr id="57" name="Text 38"/>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58" name="Text 39"/>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4 / 33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Hallucinated Objects Across Scenes and Models</a:t>
            </a:r>
            <a:endParaRPr lang="en-US" sz="3200" dirty="0"/>
          </a:p>
        </p:txBody>
      </p:sp>
      <p:sp>
        <p:nvSpPr>
          <p:cNvPr id="4" name="Text 2"/>
          <p:cNvSpPr/>
          <p:nvPr/>
        </p:nvSpPr>
        <p:spPr>
          <a:xfrm>
            <a:off x="508000" y="1026120"/>
            <a:ext cx="11511280" cy="368300"/>
          </a:xfrm>
          <a:prstGeom prst="rect">
            <a:avLst/>
          </a:prstGeom>
          <a:noFill/>
          <a:ln/>
        </p:spPr>
        <p:txBody>
          <a:bodyPr wrap="square" lIns="0" tIns="0" rIns="0" bIns="0" rtlCol="0" anchor="t">
            <a:normAutofit/>
          </a:bodyPr>
          <a:lstStyle/>
          <a:p>
            <a:pPr marL="0" indent="0" algn="l">
              <a:lnSpc>
                <a:spcPts val="2700"/>
              </a:lnSpc>
              <a:buNone/>
            </a:pPr>
            <a:r>
              <a:rPr lang="en-US" sz="2000" b="1" dirty="0">
                <a:solidFill>
                  <a:srgbClr val="000000"/>
                </a:solidFill>
                <a:latin typeface="Lato" pitchFamily="34" charset="0"/>
                <a:ea typeface="Lato" pitchFamily="34" charset="-122"/>
                <a:cs typeface="Lato" pitchFamily="34" charset="-120"/>
              </a:rPr>
              <a:t>More examples:</a:t>
            </a:r>
            <a:r>
              <a:rPr lang="en-US" sz="2000" dirty="0">
                <a:solidFill>
                  <a:srgbClr val="000000"/>
                </a:solidFill>
                <a:latin typeface="Lato" pitchFamily="34" charset="0"/>
                <a:ea typeface="Lato" pitchFamily="34" charset="-122"/>
                <a:cs typeface="Lato" pitchFamily="34" charset="-120"/>
              </a:rPr>
              <a:t> hallucinated objects appear </a:t>
            </a:r>
            <a:r>
              <a:rPr lang="en-US" sz="2000" u="sng" dirty="0">
                <a:solidFill>
                  <a:srgbClr val="C00000"/>
                </a:solidFill>
                <a:latin typeface="Lato" pitchFamily="34" charset="0"/>
                <a:ea typeface="Lato" pitchFamily="34" charset="-122"/>
                <a:cs typeface="Lato" pitchFamily="34" charset="-120"/>
              </a:rPr>
              <a:t>across different scenes and models</a:t>
            </a:r>
            <a:endParaRPr lang="en-US" sz="2000" dirty="0"/>
          </a:p>
        </p:txBody>
      </p:sp>
      <p:sp>
        <p:nvSpPr>
          <p:cNvPr id="5" name="Text 3"/>
          <p:cNvSpPr/>
          <p:nvPr/>
        </p:nvSpPr>
        <p:spPr>
          <a:xfrm>
            <a:off x="6033939" y="1652836"/>
            <a:ext cx="2293293"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55555"/>
                </a:solidFill>
                <a:latin typeface="Lato" pitchFamily="34" charset="0"/>
                <a:ea typeface="Lato" pitchFamily="34" charset="-122"/>
                <a:cs typeface="Lato" pitchFamily="34" charset="-120"/>
              </a:rPr>
              <a:t>Same question for all four images</a:t>
            </a:r>
            <a:endParaRPr lang="en-US" sz="1200" dirty="0"/>
          </a:p>
        </p:txBody>
      </p:sp>
      <p:sp>
        <p:nvSpPr>
          <p:cNvPr id="6" name="Text 4"/>
          <p:cNvSpPr/>
          <p:nvPr/>
        </p:nvSpPr>
        <p:spPr>
          <a:xfrm>
            <a:off x="8333581" y="1578570"/>
            <a:ext cx="2886869" cy="354310"/>
          </a:xfrm>
          <a:prstGeom prst="roundRect">
            <a:avLst>
              <a:gd name="adj" fmla="val 23299"/>
            </a:avLst>
          </a:prstGeom>
          <a:solidFill>
            <a:srgbClr val="FFFFFF"/>
          </a:solidFill>
          <a:ln w="12700">
            <a:solidFill>
              <a:srgbClr val="888888"/>
            </a:solidFill>
            <a:prstDash val="solid"/>
          </a:ln>
        </p:spPr>
        <p:txBody>
          <a:bodyPr wrap="none" lIns="0" tIns="0" rIns="0" bIns="0" rtlCol="0" anchor="ctr">
            <a:normAutofit/>
          </a:bodyPr>
          <a:lstStyle/>
          <a:p>
            <a:pPr marL="0" indent="0" algn="ctr">
              <a:lnSpc>
                <a:spcPts val="1890"/>
              </a:lnSpc>
              <a:buNone/>
            </a:pPr>
            <a:r>
              <a:rPr lang="en-US" sz="1400" i="1" dirty="0">
                <a:solidFill>
                  <a:srgbClr val="000000"/>
                </a:solidFill>
                <a:latin typeface="Lato" pitchFamily="34" charset="0"/>
                <a:ea typeface="Lato" pitchFamily="34" charset="-122"/>
                <a:cs typeface="Lato" pitchFamily="34" charset="-120"/>
              </a:rPr>
              <a:t>"Please describe the image in detail."</a:t>
            </a:r>
            <a:endParaRPr lang="en-US" sz="1400" dirty="0"/>
          </a:p>
        </p:txBody>
      </p:sp>
      <p:pic>
        <p:nvPicPr>
          <p:cNvPr id="7" name="Image 0" descr="User (woman) icon"/>
          <p:cNvPicPr>
            <a:picLocks noChangeAspect="1"/>
          </p:cNvPicPr>
          <p:nvPr/>
        </p:nvPicPr>
        <p:blipFill>
          <a:blip r:embed="rId3"/>
          <a:srcRect/>
          <a:stretch/>
        </p:blipFill>
        <p:spPr>
          <a:xfrm>
            <a:off x="11328400" y="1577925"/>
            <a:ext cx="355600" cy="355600"/>
          </a:xfrm>
          <a:prstGeom prst="rect">
            <a:avLst/>
          </a:prstGeom>
        </p:spPr>
      </p:pic>
      <p:pic>
        <p:nvPicPr>
          <p:cNvPr id="8" name="Image 1" descr="Airport tarmac with a small cargo vehicle, workers and an airplane"/>
          <p:cNvPicPr>
            <a:picLocks noChangeAspect="1"/>
          </p:cNvPicPr>
          <p:nvPr/>
        </p:nvPicPr>
        <p:blipFill>
          <a:blip r:embed="rId4"/>
          <a:srcRect/>
          <a:stretch/>
        </p:blipFill>
        <p:spPr>
          <a:xfrm>
            <a:off x="508000" y="2117030"/>
            <a:ext cx="1778000" cy="1778000"/>
          </a:xfrm>
          <a:prstGeom prst="roundRect">
            <a:avLst>
              <a:gd name="adj" fmla="val 2857"/>
            </a:avLst>
          </a:prstGeom>
        </p:spPr>
      </p:pic>
      <p:sp>
        <p:nvSpPr>
          <p:cNvPr id="9" name="Shape 5"/>
          <p:cNvSpPr/>
          <p:nvPr/>
        </p:nvSpPr>
        <p:spPr>
          <a:xfrm>
            <a:off x="2419350" y="2327275"/>
            <a:ext cx="3543300" cy="1357511"/>
          </a:xfrm>
          <a:prstGeom prst="roundRect">
            <a:avLst>
              <a:gd name="adj" fmla="val 6081"/>
            </a:avLst>
          </a:prstGeom>
          <a:solidFill>
            <a:srgbClr val="FFFFFF"/>
          </a:solidFill>
          <a:ln w="12700">
            <a:solidFill>
              <a:srgbClr val="C00000"/>
            </a:solidFill>
            <a:prstDash val="solid"/>
          </a:ln>
        </p:spPr>
        <p:txBody>
          <a:bodyPr/>
          <a:lstStyle/>
          <a:p>
            <a:endParaRPr lang="en-US"/>
          </a:p>
        </p:txBody>
      </p:sp>
      <p:pic>
        <p:nvPicPr>
          <p:cNvPr id="10" name="Image 2" descr="AI assistant (robot) icon"/>
          <p:cNvPicPr>
            <a:picLocks noChangeAspect="1"/>
          </p:cNvPicPr>
          <p:nvPr/>
        </p:nvPicPr>
        <p:blipFill>
          <a:blip r:embed="rId5"/>
          <a:srcRect/>
          <a:stretch/>
        </p:blipFill>
        <p:spPr>
          <a:xfrm>
            <a:off x="2540000" y="2409825"/>
            <a:ext cx="228600" cy="228600"/>
          </a:xfrm>
          <a:prstGeom prst="rect">
            <a:avLst/>
          </a:prstGeom>
        </p:spPr>
      </p:pic>
      <p:sp>
        <p:nvSpPr>
          <p:cNvPr id="11" name="Text 6"/>
          <p:cNvSpPr/>
          <p:nvPr/>
        </p:nvSpPr>
        <p:spPr>
          <a:xfrm>
            <a:off x="2832100" y="2421235"/>
            <a:ext cx="841891" cy="23113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555555"/>
                </a:solidFill>
                <a:latin typeface="Lato" pitchFamily="34" charset="0"/>
                <a:ea typeface="Lato" pitchFamily="34" charset="-122"/>
                <a:cs typeface="Lato" pitchFamily="34" charset="-120"/>
              </a:rPr>
              <a:t>LLaVA-1.5</a:t>
            </a:r>
            <a:endParaRPr lang="en-US" sz="1200" dirty="0"/>
          </a:p>
        </p:txBody>
      </p:sp>
      <p:sp>
        <p:nvSpPr>
          <p:cNvPr id="12" name="Text 7"/>
          <p:cNvSpPr/>
          <p:nvPr/>
        </p:nvSpPr>
        <p:spPr>
          <a:xfrm>
            <a:off x="2540000" y="2676525"/>
            <a:ext cx="3401060" cy="951111"/>
          </a:xfrm>
          <a:prstGeom prst="rect">
            <a:avLst/>
          </a:prstGeom>
          <a:noFill/>
          <a:ln/>
        </p:spPr>
        <p:txBody>
          <a:bodyPr wrap="square" lIns="0" tIns="0" rIns="0" bIns="0" rtlCol="0" anchor="t">
            <a:normAutofit/>
          </a:bodyPr>
          <a:lstStyle/>
          <a:p>
            <a:pPr marL="0" indent="0" algn="l">
              <a:lnSpc>
                <a:spcPts val="1823"/>
              </a:lnSpc>
              <a:buNone/>
            </a:pPr>
            <a:r>
              <a:rPr lang="en-US" sz="1350" i="1" dirty="0">
                <a:solidFill>
                  <a:srgbClr val="000000"/>
                </a:solidFill>
                <a:latin typeface="Lato" pitchFamily="34" charset="0"/>
                <a:ea typeface="Lato" pitchFamily="34" charset="-122"/>
                <a:cs typeface="Lato" pitchFamily="34" charset="-120"/>
              </a:rPr>
              <a:t>"The image features a large airport tarmac with several airport workers and vehicles … there are two </a:t>
            </a:r>
            <a:r>
              <a:rPr lang="en-US" sz="1350" b="1" i="1" dirty="0">
                <a:solidFill>
                  <a:srgbClr val="C00000"/>
                </a:solidFill>
                <a:latin typeface="Lato" pitchFamily="34" charset="0"/>
                <a:ea typeface="Lato" pitchFamily="34" charset="-122"/>
                <a:cs typeface="Lato" pitchFamily="34" charset="-120"/>
              </a:rPr>
              <a:t>motorcycles</a:t>
            </a:r>
            <a:r>
              <a:rPr lang="en-US" sz="1350" i="1" dirty="0">
                <a:solidFill>
                  <a:srgbClr val="000000"/>
                </a:solidFill>
                <a:latin typeface="Lato" pitchFamily="34" charset="0"/>
                <a:ea typeface="Lato" pitchFamily="34" charset="-122"/>
                <a:cs typeface="Lato" pitchFamily="34" charset="-120"/>
              </a:rPr>
              <a:t> on the tarmac … A </a:t>
            </a:r>
            <a:r>
              <a:rPr lang="en-US" sz="1350" b="1" i="1" dirty="0">
                <a:solidFill>
                  <a:srgbClr val="C00000"/>
                </a:solidFill>
                <a:latin typeface="Lato" pitchFamily="34" charset="0"/>
                <a:ea typeface="Lato" pitchFamily="34" charset="-122"/>
                <a:cs typeface="Lato" pitchFamily="34" charset="-120"/>
              </a:rPr>
              <a:t>truck</a:t>
            </a:r>
            <a:r>
              <a:rPr lang="en-US" sz="1350" i="1" dirty="0">
                <a:solidFill>
                  <a:srgbClr val="000000"/>
                </a:solidFill>
                <a:latin typeface="Lato" pitchFamily="34" charset="0"/>
                <a:ea typeface="Lato" pitchFamily="34" charset="-122"/>
                <a:cs typeface="Lato" pitchFamily="34" charset="-120"/>
              </a:rPr>
              <a:t> can also be seen in the background."</a:t>
            </a:r>
            <a:endParaRPr lang="en-US" sz="1350" dirty="0"/>
          </a:p>
        </p:txBody>
      </p:sp>
      <p:pic>
        <p:nvPicPr>
          <p:cNvPr id="13" name="Image 3" descr="Window with a yellow curtain and a potted plant on the sill"/>
          <p:cNvPicPr>
            <a:picLocks noChangeAspect="1"/>
          </p:cNvPicPr>
          <p:nvPr/>
        </p:nvPicPr>
        <p:blipFill>
          <a:blip r:embed="rId6"/>
          <a:srcRect/>
          <a:stretch/>
        </p:blipFill>
        <p:spPr>
          <a:xfrm>
            <a:off x="6223000" y="2117030"/>
            <a:ext cx="1778000" cy="1778000"/>
          </a:xfrm>
          <a:prstGeom prst="roundRect">
            <a:avLst>
              <a:gd name="adj" fmla="val 2857"/>
            </a:avLst>
          </a:prstGeom>
        </p:spPr>
      </p:pic>
      <p:sp>
        <p:nvSpPr>
          <p:cNvPr id="14" name="Shape 8"/>
          <p:cNvSpPr/>
          <p:nvPr/>
        </p:nvSpPr>
        <p:spPr>
          <a:xfrm>
            <a:off x="8134350" y="2327275"/>
            <a:ext cx="3543300" cy="1357511"/>
          </a:xfrm>
          <a:prstGeom prst="roundRect">
            <a:avLst>
              <a:gd name="adj" fmla="val 6081"/>
            </a:avLst>
          </a:prstGeom>
          <a:solidFill>
            <a:srgbClr val="FFFFFF"/>
          </a:solidFill>
          <a:ln w="12700">
            <a:solidFill>
              <a:srgbClr val="C00000"/>
            </a:solidFill>
            <a:prstDash val="solid"/>
          </a:ln>
        </p:spPr>
        <p:txBody>
          <a:bodyPr/>
          <a:lstStyle/>
          <a:p>
            <a:endParaRPr lang="en-US"/>
          </a:p>
        </p:txBody>
      </p:sp>
      <p:pic>
        <p:nvPicPr>
          <p:cNvPr id="15" name="Image 4" descr="AI assistant (robot) icon"/>
          <p:cNvPicPr>
            <a:picLocks noChangeAspect="1"/>
          </p:cNvPicPr>
          <p:nvPr/>
        </p:nvPicPr>
        <p:blipFill>
          <a:blip r:embed="rId5"/>
          <a:srcRect/>
          <a:stretch/>
        </p:blipFill>
        <p:spPr>
          <a:xfrm>
            <a:off x="8255000" y="2409825"/>
            <a:ext cx="228600" cy="228600"/>
          </a:xfrm>
          <a:prstGeom prst="rect">
            <a:avLst/>
          </a:prstGeom>
        </p:spPr>
      </p:pic>
      <p:sp>
        <p:nvSpPr>
          <p:cNvPr id="16" name="Text 9"/>
          <p:cNvSpPr/>
          <p:nvPr/>
        </p:nvSpPr>
        <p:spPr>
          <a:xfrm>
            <a:off x="8547100" y="2421235"/>
            <a:ext cx="841891" cy="23113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555555"/>
                </a:solidFill>
                <a:latin typeface="Lato" pitchFamily="34" charset="0"/>
                <a:ea typeface="Lato" pitchFamily="34" charset="-122"/>
                <a:cs typeface="Lato" pitchFamily="34" charset="-120"/>
              </a:rPr>
              <a:t>LLaVA-1.5</a:t>
            </a:r>
            <a:endParaRPr lang="en-US" sz="1200" dirty="0"/>
          </a:p>
        </p:txBody>
      </p:sp>
      <p:sp>
        <p:nvSpPr>
          <p:cNvPr id="17" name="Text 10"/>
          <p:cNvSpPr/>
          <p:nvPr/>
        </p:nvSpPr>
        <p:spPr>
          <a:xfrm>
            <a:off x="8255000" y="2676525"/>
            <a:ext cx="3401060" cy="951111"/>
          </a:xfrm>
          <a:prstGeom prst="rect">
            <a:avLst/>
          </a:prstGeom>
          <a:noFill/>
          <a:ln/>
        </p:spPr>
        <p:txBody>
          <a:bodyPr wrap="square" lIns="0" tIns="0" rIns="0" bIns="0" rtlCol="0" anchor="t">
            <a:normAutofit/>
          </a:bodyPr>
          <a:lstStyle/>
          <a:p>
            <a:pPr marL="0" indent="0" algn="l">
              <a:lnSpc>
                <a:spcPts val="1823"/>
              </a:lnSpc>
              <a:buNone/>
            </a:pPr>
            <a:r>
              <a:rPr lang="en-US" sz="1350" i="1" dirty="0">
                <a:solidFill>
                  <a:srgbClr val="000000"/>
                </a:solidFill>
                <a:latin typeface="Lato" pitchFamily="34" charset="0"/>
                <a:ea typeface="Lato" pitchFamily="34" charset="-122"/>
                <a:cs typeface="Lato" pitchFamily="34" charset="-120"/>
              </a:rPr>
              <a:t>"The image features a window with a potted plant placed on a window sill … In the background, there is a </a:t>
            </a:r>
            <a:r>
              <a:rPr lang="en-US" sz="1350" b="1" i="1" dirty="0">
                <a:solidFill>
                  <a:srgbClr val="C00000"/>
                </a:solidFill>
                <a:latin typeface="Lato" pitchFamily="34" charset="0"/>
                <a:ea typeface="Lato" pitchFamily="34" charset="-122"/>
                <a:cs typeface="Lato" pitchFamily="34" charset="-120"/>
              </a:rPr>
              <a:t>person</a:t>
            </a:r>
            <a:r>
              <a:rPr lang="en-US" sz="1350" i="1" dirty="0">
                <a:solidFill>
                  <a:srgbClr val="000000"/>
                </a:solidFill>
                <a:latin typeface="Lato" pitchFamily="34" charset="0"/>
                <a:ea typeface="Lato" pitchFamily="34" charset="-122"/>
                <a:cs typeface="Lato" pitchFamily="34" charset="-120"/>
              </a:rPr>
              <a:t> partially visible, standing near the window."</a:t>
            </a:r>
            <a:endParaRPr lang="en-US" sz="1350" dirty="0"/>
          </a:p>
        </p:txBody>
      </p:sp>
      <p:pic>
        <p:nvPicPr>
          <p:cNvPr id="18" name="Image 5" descr="Snowy street corner with a one-way sign, a traffic light and steps"/>
          <p:cNvPicPr>
            <a:picLocks noChangeAspect="1"/>
          </p:cNvPicPr>
          <p:nvPr/>
        </p:nvPicPr>
        <p:blipFill>
          <a:blip r:embed="rId7"/>
          <a:srcRect/>
          <a:stretch/>
        </p:blipFill>
        <p:spPr>
          <a:xfrm>
            <a:off x="508000" y="4072830"/>
            <a:ext cx="1778000" cy="1778000"/>
          </a:xfrm>
          <a:prstGeom prst="roundRect">
            <a:avLst>
              <a:gd name="adj" fmla="val 2857"/>
            </a:avLst>
          </a:prstGeom>
        </p:spPr>
      </p:pic>
      <p:sp>
        <p:nvSpPr>
          <p:cNvPr id="19" name="Shape 11"/>
          <p:cNvSpPr/>
          <p:nvPr/>
        </p:nvSpPr>
        <p:spPr>
          <a:xfrm>
            <a:off x="2419350" y="4283075"/>
            <a:ext cx="3543300" cy="1357511"/>
          </a:xfrm>
          <a:prstGeom prst="roundRect">
            <a:avLst>
              <a:gd name="adj" fmla="val 6081"/>
            </a:avLst>
          </a:prstGeom>
          <a:solidFill>
            <a:srgbClr val="FFFFFF"/>
          </a:solidFill>
          <a:ln w="12700">
            <a:solidFill>
              <a:srgbClr val="C00000"/>
            </a:solidFill>
            <a:prstDash val="solid"/>
          </a:ln>
        </p:spPr>
        <p:txBody>
          <a:bodyPr/>
          <a:lstStyle/>
          <a:p>
            <a:endParaRPr lang="en-US"/>
          </a:p>
        </p:txBody>
      </p:sp>
      <p:pic>
        <p:nvPicPr>
          <p:cNvPr id="20" name="Image 6" descr="AI assistant (robot) icon"/>
          <p:cNvPicPr>
            <a:picLocks noChangeAspect="1"/>
          </p:cNvPicPr>
          <p:nvPr/>
        </p:nvPicPr>
        <p:blipFill>
          <a:blip r:embed="rId5"/>
          <a:srcRect/>
          <a:stretch/>
        </p:blipFill>
        <p:spPr>
          <a:xfrm>
            <a:off x="2540000" y="4365625"/>
            <a:ext cx="228600" cy="228600"/>
          </a:xfrm>
          <a:prstGeom prst="rect">
            <a:avLst/>
          </a:prstGeom>
        </p:spPr>
      </p:pic>
      <p:sp>
        <p:nvSpPr>
          <p:cNvPr id="21" name="Text 12"/>
          <p:cNvSpPr/>
          <p:nvPr/>
        </p:nvSpPr>
        <p:spPr>
          <a:xfrm>
            <a:off x="2832100" y="4377035"/>
            <a:ext cx="841891" cy="23113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555555"/>
                </a:solidFill>
                <a:latin typeface="Lato" pitchFamily="34" charset="0"/>
                <a:ea typeface="Lato" pitchFamily="34" charset="-122"/>
                <a:cs typeface="Lato" pitchFamily="34" charset="-120"/>
              </a:rPr>
              <a:t>LLaVA-1.5</a:t>
            </a:r>
            <a:endParaRPr lang="en-US" sz="1200" dirty="0"/>
          </a:p>
        </p:txBody>
      </p:sp>
      <p:sp>
        <p:nvSpPr>
          <p:cNvPr id="22" name="Text 13"/>
          <p:cNvSpPr/>
          <p:nvPr/>
        </p:nvSpPr>
        <p:spPr>
          <a:xfrm>
            <a:off x="2540000" y="4632325"/>
            <a:ext cx="3401060" cy="951111"/>
          </a:xfrm>
          <a:prstGeom prst="rect">
            <a:avLst/>
          </a:prstGeom>
          <a:noFill/>
          <a:ln/>
        </p:spPr>
        <p:txBody>
          <a:bodyPr wrap="square" lIns="0" tIns="0" rIns="0" bIns="0" rtlCol="0" anchor="t">
            <a:normAutofit/>
          </a:bodyPr>
          <a:lstStyle/>
          <a:p>
            <a:pPr marL="0" indent="0" algn="l">
              <a:lnSpc>
                <a:spcPts val="1823"/>
              </a:lnSpc>
              <a:buNone/>
            </a:pPr>
            <a:r>
              <a:rPr lang="en-US" sz="1350" i="1" dirty="0">
                <a:solidFill>
                  <a:srgbClr val="000000"/>
                </a:solidFill>
                <a:latin typeface="Lato" pitchFamily="34" charset="0"/>
                <a:ea typeface="Lato" pitchFamily="34" charset="-122"/>
                <a:cs typeface="Lato" pitchFamily="34" charset="-120"/>
              </a:rPr>
              <a:t>"The image features a snowy street corner with a traffic light and a one-way sign … there is a </a:t>
            </a:r>
            <a:r>
              <a:rPr lang="en-US" sz="1350" b="1" i="1" dirty="0">
                <a:solidFill>
                  <a:srgbClr val="C00000"/>
                </a:solidFill>
                <a:latin typeface="Lato" pitchFamily="34" charset="0"/>
                <a:ea typeface="Lato" pitchFamily="34" charset="-122"/>
                <a:cs typeface="Lato" pitchFamily="34" charset="-120"/>
              </a:rPr>
              <a:t>car</a:t>
            </a:r>
            <a:r>
              <a:rPr lang="en-US" sz="1350" i="1" dirty="0">
                <a:solidFill>
                  <a:srgbClr val="000000"/>
                </a:solidFill>
                <a:latin typeface="Lato" pitchFamily="34" charset="0"/>
                <a:ea typeface="Lato" pitchFamily="34" charset="-122"/>
                <a:cs typeface="Lato" pitchFamily="34" charset="-120"/>
              </a:rPr>
              <a:t> parked on the side of the street, and a </a:t>
            </a:r>
            <a:r>
              <a:rPr lang="en-US" sz="1350" b="1" i="1" dirty="0">
                <a:solidFill>
                  <a:srgbClr val="C00000"/>
                </a:solidFill>
                <a:latin typeface="Lato" pitchFamily="34" charset="0"/>
                <a:ea typeface="Lato" pitchFamily="34" charset="-122"/>
                <a:cs typeface="Lato" pitchFamily="34" charset="-120"/>
              </a:rPr>
              <a:t>person</a:t>
            </a:r>
            <a:r>
              <a:rPr lang="en-US" sz="1350" i="1" dirty="0">
                <a:solidFill>
                  <a:srgbClr val="000000"/>
                </a:solidFill>
                <a:latin typeface="Lato" pitchFamily="34" charset="0"/>
                <a:ea typeface="Lato" pitchFamily="34" charset="-122"/>
                <a:cs typeface="Lato" pitchFamily="34" charset="-120"/>
              </a:rPr>
              <a:t> can be seen standing further back."</a:t>
            </a:r>
            <a:endParaRPr lang="en-US" sz="1350" dirty="0"/>
          </a:p>
        </p:txBody>
      </p:sp>
      <p:pic>
        <p:nvPicPr>
          <p:cNvPr id="23" name="Image 7" descr="Night city skyline with a lit clock tower on the left"/>
          <p:cNvPicPr>
            <a:picLocks noChangeAspect="1"/>
          </p:cNvPicPr>
          <p:nvPr/>
        </p:nvPicPr>
        <p:blipFill>
          <a:blip r:embed="rId8"/>
          <a:srcRect/>
          <a:stretch/>
        </p:blipFill>
        <p:spPr>
          <a:xfrm>
            <a:off x="6223000" y="4072830"/>
            <a:ext cx="1778000" cy="1778000"/>
          </a:xfrm>
          <a:prstGeom prst="roundRect">
            <a:avLst>
              <a:gd name="adj" fmla="val 2857"/>
            </a:avLst>
          </a:prstGeom>
        </p:spPr>
      </p:pic>
      <p:sp>
        <p:nvSpPr>
          <p:cNvPr id="24" name="Shape 14"/>
          <p:cNvSpPr/>
          <p:nvPr/>
        </p:nvSpPr>
        <p:spPr>
          <a:xfrm>
            <a:off x="8134350" y="4283075"/>
            <a:ext cx="3543300" cy="1357511"/>
          </a:xfrm>
          <a:prstGeom prst="roundRect">
            <a:avLst>
              <a:gd name="adj" fmla="val 6081"/>
            </a:avLst>
          </a:prstGeom>
          <a:solidFill>
            <a:srgbClr val="FFFFFF"/>
          </a:solidFill>
          <a:ln w="12700">
            <a:solidFill>
              <a:srgbClr val="C00000"/>
            </a:solidFill>
            <a:prstDash val="solid"/>
          </a:ln>
        </p:spPr>
        <p:txBody>
          <a:bodyPr/>
          <a:lstStyle/>
          <a:p>
            <a:endParaRPr lang="en-US"/>
          </a:p>
        </p:txBody>
      </p:sp>
      <p:pic>
        <p:nvPicPr>
          <p:cNvPr id="25" name="Image 8" descr="AI assistant (robot) icon"/>
          <p:cNvPicPr>
            <a:picLocks noChangeAspect="1"/>
          </p:cNvPicPr>
          <p:nvPr/>
        </p:nvPicPr>
        <p:blipFill>
          <a:blip r:embed="rId5"/>
          <a:srcRect/>
          <a:stretch/>
        </p:blipFill>
        <p:spPr>
          <a:xfrm>
            <a:off x="8255000" y="4365625"/>
            <a:ext cx="228600" cy="228600"/>
          </a:xfrm>
          <a:prstGeom prst="rect">
            <a:avLst/>
          </a:prstGeom>
        </p:spPr>
      </p:pic>
      <p:sp>
        <p:nvSpPr>
          <p:cNvPr id="26" name="Text 15"/>
          <p:cNvSpPr/>
          <p:nvPr/>
        </p:nvSpPr>
        <p:spPr>
          <a:xfrm>
            <a:off x="8547100" y="4377035"/>
            <a:ext cx="520303" cy="23113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555555"/>
                </a:solidFill>
                <a:latin typeface="Lato" pitchFamily="34" charset="0"/>
                <a:ea typeface="Lato" pitchFamily="34" charset="-122"/>
                <a:cs typeface="Lato" pitchFamily="34" charset="-120"/>
              </a:rPr>
              <a:t>Shikra</a:t>
            </a:r>
            <a:endParaRPr lang="en-US" sz="1200" dirty="0"/>
          </a:p>
        </p:txBody>
      </p:sp>
      <p:sp>
        <p:nvSpPr>
          <p:cNvPr id="27" name="Text 16"/>
          <p:cNvSpPr/>
          <p:nvPr/>
        </p:nvSpPr>
        <p:spPr>
          <a:xfrm>
            <a:off x="8255000" y="4632325"/>
            <a:ext cx="3401060" cy="951111"/>
          </a:xfrm>
          <a:prstGeom prst="rect">
            <a:avLst/>
          </a:prstGeom>
          <a:noFill/>
          <a:ln/>
        </p:spPr>
        <p:txBody>
          <a:bodyPr wrap="square" lIns="0" tIns="0" rIns="0" bIns="0" rtlCol="0" anchor="t">
            <a:normAutofit/>
          </a:bodyPr>
          <a:lstStyle/>
          <a:p>
            <a:pPr marL="0" indent="0" algn="l">
              <a:lnSpc>
                <a:spcPts val="1823"/>
              </a:lnSpc>
              <a:buNone/>
            </a:pPr>
            <a:r>
              <a:rPr lang="en-US" sz="1350" i="1" dirty="0">
                <a:solidFill>
                  <a:srgbClr val="000000"/>
                </a:solidFill>
                <a:latin typeface="Lato" pitchFamily="34" charset="0"/>
                <a:ea typeface="Lato" pitchFamily="34" charset="-122"/>
                <a:cs typeface="Lato" pitchFamily="34" charset="-120"/>
              </a:rPr>
              <a:t>"The image captures a nighttime view of a city skyline with a lit-up clock tower … In the foreground, a </a:t>
            </a:r>
            <a:r>
              <a:rPr lang="en-US" sz="1350" b="1" i="1" dirty="0">
                <a:solidFill>
                  <a:srgbClr val="C00000"/>
                </a:solidFill>
                <a:latin typeface="Lato" pitchFamily="34" charset="0"/>
                <a:ea typeface="Lato" pitchFamily="34" charset="-122"/>
                <a:cs typeface="Lato" pitchFamily="34" charset="-120"/>
              </a:rPr>
              <a:t>car</a:t>
            </a:r>
            <a:r>
              <a:rPr lang="en-US" sz="1350" i="1" dirty="0">
                <a:solidFill>
                  <a:srgbClr val="000000"/>
                </a:solidFill>
                <a:latin typeface="Lato" pitchFamily="34" charset="0"/>
                <a:ea typeface="Lato" pitchFamily="34" charset="-122"/>
                <a:cs typeface="Lato" pitchFamily="34" charset="-120"/>
              </a:rPr>
              <a:t> can be seen … where </a:t>
            </a:r>
            <a:r>
              <a:rPr lang="en-US" sz="1350" b="1" i="1" dirty="0">
                <a:solidFill>
                  <a:srgbClr val="C00000"/>
                </a:solidFill>
                <a:latin typeface="Lato" pitchFamily="34" charset="0"/>
                <a:ea typeface="Lato" pitchFamily="34" charset="-122"/>
                <a:cs typeface="Lato" pitchFamily="34" charset="-120"/>
              </a:rPr>
              <a:t>people</a:t>
            </a:r>
            <a:r>
              <a:rPr lang="en-US" sz="1350" i="1" dirty="0">
                <a:solidFill>
                  <a:srgbClr val="000000"/>
                </a:solidFill>
                <a:latin typeface="Lato" pitchFamily="34" charset="0"/>
                <a:ea typeface="Lato" pitchFamily="34" charset="-122"/>
                <a:cs typeface="Lato" pitchFamily="34" charset="-120"/>
              </a:rPr>
              <a:t> are enjoying their time …"</a:t>
            </a:r>
            <a:endParaRPr lang="en-US" sz="1350" dirty="0"/>
          </a:p>
        </p:txBody>
      </p:sp>
      <p:sp>
        <p:nvSpPr>
          <p:cNvPr id="28" name="Text 17"/>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29" name="Text 18"/>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5 / 33</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Prior Work: Blaming the Language Model</a:t>
            </a:r>
            <a:endParaRPr lang="en-US" sz="3200" dirty="0"/>
          </a:p>
        </p:txBody>
      </p:sp>
      <p:sp>
        <p:nvSpPr>
          <p:cNvPr id="4" name="Text 2"/>
          <p:cNvSpPr/>
          <p:nvPr/>
        </p:nvSpPr>
        <p:spPr>
          <a:xfrm>
            <a:off x="508000" y="1026120"/>
            <a:ext cx="11511280" cy="368300"/>
          </a:xfrm>
          <a:prstGeom prst="rect">
            <a:avLst/>
          </a:prstGeom>
          <a:noFill/>
          <a:ln/>
        </p:spPr>
        <p:txBody>
          <a:bodyPr wrap="square" lIns="0" tIns="0" rIns="0" bIns="0" rtlCol="0" anchor="t">
            <a:normAutofit/>
          </a:bodyPr>
          <a:lstStyle/>
          <a:p>
            <a:pPr marL="0" indent="0" algn="l">
              <a:lnSpc>
                <a:spcPts val="2700"/>
              </a:lnSpc>
              <a:buNone/>
            </a:pPr>
            <a:r>
              <a:rPr lang="en-US" sz="2000" b="1" dirty="0">
                <a:solidFill>
                  <a:srgbClr val="000000"/>
                </a:solidFill>
                <a:latin typeface="Lato" pitchFamily="34" charset="0"/>
                <a:ea typeface="Lato" pitchFamily="34" charset="-122"/>
                <a:cs typeface="Lato" pitchFamily="34" charset="-120"/>
              </a:rPr>
              <a:t>Common view:</a:t>
            </a:r>
            <a:r>
              <a:rPr lang="en-US" sz="2000" dirty="0">
                <a:solidFill>
                  <a:srgbClr val="000000"/>
                </a:solidFill>
                <a:latin typeface="Lato" pitchFamily="34" charset="0"/>
                <a:ea typeface="Lato" pitchFamily="34" charset="-122"/>
                <a:cs typeface="Lato" pitchFamily="34" charset="-120"/>
              </a:rPr>
              <a:t> hallucinations come from the </a:t>
            </a:r>
            <a:r>
              <a:rPr lang="en-US" sz="2000" u="sng" dirty="0">
                <a:solidFill>
                  <a:srgbClr val="C00000"/>
                </a:solidFill>
                <a:latin typeface="Lato" pitchFamily="34" charset="0"/>
                <a:ea typeface="Lato" pitchFamily="34" charset="-122"/>
                <a:cs typeface="Lato" pitchFamily="34" charset="-120"/>
              </a:rPr>
              <a:t>language side</a:t>
            </a:r>
            <a:r>
              <a:rPr lang="en-US" sz="2000" dirty="0">
                <a:solidFill>
                  <a:srgbClr val="000000"/>
                </a:solidFill>
                <a:latin typeface="Lato" pitchFamily="34" charset="0"/>
                <a:ea typeface="Lato" pitchFamily="34" charset="-122"/>
                <a:cs typeface="Lato" pitchFamily="34" charset="-120"/>
              </a:rPr>
              <a:t>, so the fixes act on decoding</a:t>
            </a:r>
            <a:endParaRPr lang="en-US" sz="2000" dirty="0"/>
          </a:p>
        </p:txBody>
      </p:sp>
      <p:sp>
        <p:nvSpPr>
          <p:cNvPr id="5" name="Shape 3"/>
          <p:cNvSpPr/>
          <p:nvPr/>
        </p:nvSpPr>
        <p:spPr>
          <a:xfrm>
            <a:off x="571500" y="1994545"/>
            <a:ext cx="5334000" cy="2965450"/>
          </a:xfrm>
          <a:prstGeom prst="roundRect">
            <a:avLst>
              <a:gd name="adj" fmla="val 1713"/>
            </a:avLst>
          </a:prstGeom>
          <a:solidFill>
            <a:srgbClr val="FFFFFF"/>
          </a:solidFill>
          <a:ln/>
        </p:spPr>
        <p:txBody>
          <a:bodyPr/>
          <a:lstStyle/>
          <a:p>
            <a:endParaRPr lang="en-US"/>
          </a:p>
        </p:txBody>
      </p:sp>
      <p:pic>
        <p:nvPicPr>
          <p:cNvPr id="6" name="Image 0" descr="VCD Figure 2: as noise is added to an image of a black banana, the model's probability for black drops and yellow or green rise"/>
          <p:cNvPicPr>
            <a:picLocks noChangeAspect="1"/>
          </p:cNvPicPr>
          <p:nvPr/>
        </p:nvPicPr>
        <p:blipFill>
          <a:blip r:embed="rId3"/>
          <a:srcRect l="-48" r="-48"/>
          <a:stretch/>
        </p:blipFill>
        <p:spPr>
          <a:xfrm>
            <a:off x="571500" y="1994545"/>
            <a:ext cx="5334000" cy="2965450"/>
          </a:xfrm>
          <a:prstGeom prst="roundRect">
            <a:avLst>
              <a:gd name="adj" fmla="val 1713"/>
            </a:avLst>
          </a:prstGeom>
        </p:spPr>
      </p:pic>
      <p:sp>
        <p:nvSpPr>
          <p:cNvPr id="7" name="Text 4"/>
          <p:cNvSpPr/>
          <p:nvPr/>
        </p:nvSpPr>
        <p:spPr>
          <a:xfrm>
            <a:off x="1165417" y="5061595"/>
            <a:ext cx="4146166" cy="573980"/>
          </a:xfrm>
          <a:prstGeom prst="rect">
            <a:avLst/>
          </a:prstGeom>
          <a:noFill/>
          <a:ln/>
        </p:spPr>
        <p:txBody>
          <a:bodyPr wrap="square" lIns="0" tIns="0" rIns="0" bIns="0" rtlCol="0" anchor="t">
            <a:normAutofit/>
          </a:bodyPr>
          <a:lstStyle/>
          <a:p>
            <a:pPr marL="0" indent="0" algn="ctr">
              <a:lnSpc>
                <a:spcPts val="2160"/>
              </a:lnSpc>
              <a:buNone/>
            </a:pPr>
            <a:r>
              <a:rPr lang="en-US" sz="1600" dirty="0">
                <a:solidFill>
                  <a:srgbClr val="000000"/>
                </a:solidFill>
                <a:latin typeface="Lato" pitchFamily="34" charset="0"/>
                <a:ea typeface="Lato" pitchFamily="34" charset="-122"/>
                <a:cs typeface="Lato" pitchFamily="34" charset="-120"/>
              </a:rPr>
              <a:t>As noise blurs the image, a black banana turns</a:t>
            </a:r>
            <a:endParaRPr lang="en-US" sz="1600" dirty="0"/>
          </a:p>
          <a:p>
            <a:pPr marL="0" indent="0" algn="ctr">
              <a:lnSpc>
                <a:spcPts val="2160"/>
              </a:lnSpc>
              <a:buNone/>
            </a:pPr>
            <a:r>
              <a:rPr lang="en-US" sz="1600" dirty="0">
                <a:solidFill>
                  <a:srgbClr val="000000"/>
                </a:solidFill>
                <a:latin typeface="Lato" pitchFamily="34" charset="0"/>
                <a:ea typeface="Lato" pitchFamily="34" charset="-122"/>
                <a:cs typeface="Lato" pitchFamily="34" charset="-120"/>
              </a:rPr>
              <a:t>"yellow" or "green"</a:t>
            </a:r>
            <a:endParaRPr lang="en-US" sz="1600" dirty="0"/>
          </a:p>
        </p:txBody>
      </p:sp>
      <p:sp>
        <p:nvSpPr>
          <p:cNvPr id="8" name="Shape 5"/>
          <p:cNvSpPr/>
          <p:nvPr/>
        </p:nvSpPr>
        <p:spPr>
          <a:xfrm>
            <a:off x="6286500" y="1994545"/>
            <a:ext cx="5334000" cy="2965450"/>
          </a:xfrm>
          <a:prstGeom prst="roundRect">
            <a:avLst>
              <a:gd name="adj" fmla="val 1713"/>
            </a:avLst>
          </a:prstGeom>
          <a:solidFill>
            <a:srgbClr val="FFFFFF"/>
          </a:solidFill>
          <a:ln/>
        </p:spPr>
        <p:txBody>
          <a:bodyPr/>
          <a:lstStyle/>
          <a:p>
            <a:endParaRPr lang="en-US"/>
          </a:p>
        </p:txBody>
      </p:sp>
      <p:pic>
        <p:nvPicPr>
          <p:cNvPr id="9" name="Image 1" descr="PAI Figure 3: average attention ratio by content type as generation proceeds; image tokens stay low while attention to the generated text grows"/>
          <p:cNvPicPr>
            <a:picLocks noChangeAspect="1"/>
          </p:cNvPicPr>
          <p:nvPr/>
        </p:nvPicPr>
        <p:blipFill>
          <a:blip r:embed="rId4"/>
          <a:stretch>
            <a:fillRect/>
          </a:stretch>
        </p:blipFill>
        <p:spPr>
          <a:xfrm>
            <a:off x="6286500" y="2350018"/>
            <a:ext cx="5334000" cy="2254504"/>
          </a:xfrm>
          <a:prstGeom prst="rect">
            <a:avLst/>
          </a:prstGeom>
        </p:spPr>
      </p:pic>
      <p:pic>
        <p:nvPicPr>
          <p:cNvPr id="10" name="Image 2" descr="Arrow under the x axis pointing right: as tokens are generated"/>
          <p:cNvPicPr>
            <a:picLocks noChangeAspect="1"/>
          </p:cNvPicPr>
          <p:nvPr/>
        </p:nvPicPr>
        <p:blipFill>
          <a:blip r:embed="rId5"/>
          <a:srcRect/>
          <a:stretch/>
        </p:blipFill>
        <p:spPr>
          <a:xfrm>
            <a:off x="7448550" y="4445645"/>
            <a:ext cx="3429000" cy="152400"/>
          </a:xfrm>
          <a:prstGeom prst="rect">
            <a:avLst/>
          </a:prstGeom>
        </p:spPr>
      </p:pic>
      <p:sp>
        <p:nvSpPr>
          <p:cNvPr id="11" name="Text 6"/>
          <p:cNvSpPr/>
          <p:nvPr/>
        </p:nvSpPr>
        <p:spPr>
          <a:xfrm>
            <a:off x="7397877" y="4610745"/>
            <a:ext cx="3479546" cy="223490"/>
          </a:xfrm>
          <a:prstGeom prst="rect">
            <a:avLst/>
          </a:prstGeom>
          <a:noFill/>
          <a:ln/>
        </p:spPr>
        <p:txBody>
          <a:bodyPr wrap="none" lIns="0" tIns="0" rIns="0" bIns="0" rtlCol="0" anchor="t">
            <a:normAutofit/>
          </a:bodyPr>
          <a:lstStyle/>
          <a:p>
            <a:pPr marL="0" indent="0" algn="ctr">
              <a:lnSpc>
                <a:spcPts val="1560"/>
              </a:lnSpc>
              <a:buNone/>
            </a:pPr>
            <a:r>
              <a:rPr lang="en-US" sz="1200" dirty="0">
                <a:solidFill>
                  <a:srgbClr val="555555"/>
                </a:solidFill>
                <a:latin typeface="Lato" pitchFamily="34" charset="0"/>
                <a:ea typeface="Lato" pitchFamily="34" charset="-122"/>
                <a:cs typeface="Lato" pitchFamily="34" charset="-120"/>
              </a:rPr>
              <a:t>as tokens are generated</a:t>
            </a:r>
            <a:endParaRPr lang="en-US" sz="1200" dirty="0"/>
          </a:p>
        </p:txBody>
      </p:sp>
      <p:sp>
        <p:nvSpPr>
          <p:cNvPr id="12" name="Text 7"/>
          <p:cNvSpPr/>
          <p:nvPr/>
        </p:nvSpPr>
        <p:spPr>
          <a:xfrm>
            <a:off x="6206490" y="5061595"/>
            <a:ext cx="5494020" cy="573980"/>
          </a:xfrm>
          <a:prstGeom prst="rect">
            <a:avLst/>
          </a:prstGeom>
          <a:noFill/>
          <a:ln/>
        </p:spPr>
        <p:txBody>
          <a:bodyPr wrap="square" lIns="0" tIns="0" rIns="0" bIns="0" rtlCol="0" anchor="t">
            <a:normAutofit/>
          </a:bodyPr>
          <a:lstStyle/>
          <a:p>
            <a:pPr marL="0" indent="0" algn="ctr">
              <a:lnSpc>
                <a:spcPts val="2160"/>
              </a:lnSpc>
              <a:buNone/>
            </a:pPr>
            <a:r>
              <a:rPr lang="en-US" sz="1600" dirty="0">
                <a:solidFill>
                  <a:srgbClr val="000000"/>
                </a:solidFill>
                <a:latin typeface="Lato" pitchFamily="34" charset="0"/>
                <a:ea typeface="Lato" pitchFamily="34" charset="-122"/>
                <a:cs typeface="Lato" pitchFamily="34" charset="-120"/>
              </a:rPr>
              <a:t>Image tokens get little attention, while attention to the generated text grows</a:t>
            </a:r>
            <a:endParaRPr lang="en-US" sz="1600" dirty="0"/>
          </a:p>
        </p:txBody>
      </p:sp>
      <p:sp>
        <p:nvSpPr>
          <p:cNvPr id="13" name="Text 8"/>
          <p:cNvSpPr/>
          <p:nvPr/>
        </p:nvSpPr>
        <p:spPr>
          <a:xfrm>
            <a:off x="508000" y="6045200"/>
            <a:ext cx="111188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Lato" pitchFamily="34" charset="0"/>
                <a:ea typeface="Lato" pitchFamily="34" charset="-122"/>
                <a:cs typeface="Lato" pitchFamily="34" charset="-120"/>
              </a:rPr>
              <a:t>Left: VCD, Leng et al., CVPR 2024 · Right: PAI, Liu et al., ECCV 2024</a:t>
            </a:r>
            <a:endParaRPr lang="en-US" sz="1200" dirty="0"/>
          </a:p>
        </p:txBody>
      </p:sp>
      <p:sp>
        <p:nvSpPr>
          <p:cNvPr id="14" name="Text 9"/>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15" name="Text 10"/>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6 / 33</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Our Question: What About the Visual Side?</a:t>
            </a:r>
            <a:endParaRPr lang="en-US" sz="3200" dirty="0"/>
          </a:p>
        </p:txBody>
      </p:sp>
      <p:sp>
        <p:nvSpPr>
          <p:cNvPr id="4" name="Text 2"/>
          <p:cNvSpPr/>
          <p:nvPr/>
        </p:nvSpPr>
        <p:spPr>
          <a:xfrm>
            <a:off x="508000" y="1026120"/>
            <a:ext cx="11511280" cy="368300"/>
          </a:xfrm>
          <a:prstGeom prst="rect">
            <a:avLst/>
          </a:prstGeom>
          <a:noFill/>
          <a:ln/>
        </p:spPr>
        <p:txBody>
          <a:bodyPr wrap="square" lIns="0" tIns="0" rIns="0" bIns="0" rtlCol="0" anchor="t">
            <a:normAutofit/>
          </a:bodyPr>
          <a:lstStyle/>
          <a:p>
            <a:pPr marL="0" indent="0" algn="l">
              <a:lnSpc>
                <a:spcPts val="2700"/>
              </a:lnSpc>
              <a:buNone/>
            </a:pPr>
            <a:r>
              <a:rPr lang="en-US" sz="2000" b="1" dirty="0">
                <a:solidFill>
                  <a:srgbClr val="000000"/>
                </a:solidFill>
                <a:latin typeface="Lato" pitchFamily="34" charset="0"/>
                <a:ea typeface="Lato" pitchFamily="34" charset="-122"/>
                <a:cs typeface="Lato" pitchFamily="34" charset="-120"/>
              </a:rPr>
              <a:t>Question:</a:t>
            </a:r>
            <a:r>
              <a:rPr lang="en-US" sz="2000" dirty="0">
                <a:solidFill>
                  <a:srgbClr val="000000"/>
                </a:solidFill>
                <a:latin typeface="Lato" pitchFamily="34" charset="0"/>
                <a:ea typeface="Lato" pitchFamily="34" charset="-122"/>
                <a:cs typeface="Lato" pitchFamily="34" charset="-120"/>
              </a:rPr>
              <a:t> the image holds the full information, but </a:t>
            </a:r>
            <a:r>
              <a:rPr lang="en-US" sz="2000" u="sng" dirty="0">
                <a:solidFill>
                  <a:srgbClr val="C00000"/>
                </a:solidFill>
                <a:latin typeface="Lato" pitchFamily="34" charset="0"/>
                <a:ea typeface="Lato" pitchFamily="34" charset="-122"/>
                <a:cs typeface="Lato" pitchFamily="34" charset="-120"/>
              </a:rPr>
              <a:t>does the model get the right information?</a:t>
            </a:r>
            <a:endParaRPr lang="en-US" sz="2000" dirty="0"/>
          </a:p>
        </p:txBody>
      </p:sp>
      <p:sp>
        <p:nvSpPr>
          <p:cNvPr id="5" name="Text 3"/>
          <p:cNvSpPr/>
          <p:nvPr/>
        </p:nvSpPr>
        <p:spPr>
          <a:xfrm>
            <a:off x="508000" y="1572220"/>
            <a:ext cx="6667500" cy="4356100"/>
          </a:xfrm>
          <a:prstGeom prst="roundRect">
            <a:avLst>
              <a:gd name="adj" fmla="val 3499"/>
            </a:avLst>
          </a:prstGeom>
          <a:solidFill>
            <a:srgbClr val="FBE9EC"/>
          </a:solidFill>
          <a:ln/>
        </p:spPr>
        <p:txBody>
          <a:bodyPr wrap="square" lIns="145864" tIns="56964" rIns="0" bIns="56964" rtlCol="0" anchor="t">
            <a:normAutofit/>
          </a:bodyPr>
          <a:lstStyle/>
          <a:p>
            <a:pPr marL="0" indent="0" algn="l">
              <a:lnSpc>
                <a:spcPts val="1890"/>
              </a:lnSpc>
              <a:buNone/>
            </a:pPr>
            <a:r>
              <a:rPr lang="en-US" sz="1400" b="1" dirty="0">
                <a:solidFill>
                  <a:srgbClr val="C00000"/>
                </a:solidFill>
                <a:latin typeface="Lato" pitchFamily="34" charset="0"/>
                <a:ea typeface="Lato" pitchFamily="34" charset="-122"/>
                <a:cs typeface="Lato" pitchFamily="34" charset="-120"/>
              </a:rPr>
              <a:t>Our focus: the visual side, traced back to image patches</a:t>
            </a:r>
            <a:endParaRPr lang="en-US" sz="1400" dirty="0"/>
          </a:p>
        </p:txBody>
      </p:sp>
      <p:sp>
        <p:nvSpPr>
          <p:cNvPr id="6" name="Shape 4"/>
          <p:cNvSpPr/>
          <p:nvPr/>
        </p:nvSpPr>
        <p:spPr>
          <a:xfrm>
            <a:off x="7302500" y="1572220"/>
            <a:ext cx="4381500" cy="4356100"/>
          </a:xfrm>
          <a:prstGeom prst="roundRect">
            <a:avLst>
              <a:gd name="adj" fmla="val 3499"/>
            </a:avLst>
          </a:prstGeom>
          <a:solidFill>
            <a:srgbClr val="DCE6F2"/>
          </a:solidFill>
          <a:ln/>
        </p:spPr>
        <p:txBody>
          <a:bodyPr/>
          <a:lstStyle/>
          <a:p>
            <a:endParaRPr lang="en-US"/>
          </a:p>
        </p:txBody>
      </p:sp>
      <p:sp>
        <p:nvSpPr>
          <p:cNvPr id="7" name="Text 5"/>
          <p:cNvSpPr/>
          <p:nvPr/>
        </p:nvSpPr>
        <p:spPr>
          <a:xfrm>
            <a:off x="7454900" y="1648420"/>
            <a:ext cx="4199001" cy="26541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2F5597"/>
                </a:solidFill>
                <a:latin typeface="Lato" pitchFamily="34" charset="0"/>
                <a:ea typeface="Lato" pitchFamily="34" charset="-122"/>
                <a:cs typeface="Lato" pitchFamily="34" charset="-120"/>
              </a:rPr>
              <a:t>Prior work: the language model</a:t>
            </a:r>
            <a:endParaRPr lang="en-US" sz="1400" dirty="0"/>
          </a:p>
        </p:txBody>
      </p:sp>
      <p:sp>
        <p:nvSpPr>
          <p:cNvPr id="8" name="Text 6"/>
          <p:cNvSpPr/>
          <p:nvPr/>
        </p:nvSpPr>
        <p:spPr>
          <a:xfrm>
            <a:off x="7454900" y="1888430"/>
            <a:ext cx="4199001"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2F5597"/>
                </a:solidFill>
                <a:latin typeface="Lato" pitchFamily="34" charset="0"/>
                <a:ea typeface="Lato" pitchFamily="34" charset="-122"/>
                <a:cs typeface="Lato" pitchFamily="34" charset="-120"/>
              </a:rPr>
              <a:t>VCD, OPERA, PAI</a:t>
            </a:r>
            <a:endParaRPr lang="en-US" sz="1200" dirty="0"/>
          </a:p>
        </p:txBody>
      </p:sp>
      <p:sp>
        <p:nvSpPr>
          <p:cNvPr id="9" name="Text 7"/>
          <p:cNvSpPr/>
          <p:nvPr/>
        </p:nvSpPr>
        <p:spPr>
          <a:xfrm>
            <a:off x="673100" y="2505670"/>
            <a:ext cx="1701800" cy="231130"/>
          </a:xfrm>
          <a:prstGeom prst="rect">
            <a:avLst/>
          </a:prstGeom>
          <a:noFill/>
          <a:ln/>
        </p:spPr>
        <p:txBody>
          <a:bodyPr wrap="square" lIns="0" tIns="0" rIns="0" bIns="0" rtlCol="0" anchor="t">
            <a:normAutofit/>
          </a:bodyPr>
          <a:lstStyle/>
          <a:p>
            <a:pPr marL="0" indent="0" algn="ctr">
              <a:lnSpc>
                <a:spcPts val="1620"/>
              </a:lnSpc>
              <a:buNone/>
            </a:pPr>
            <a:r>
              <a:rPr lang="en-US" sz="1200" b="1" dirty="0">
                <a:solidFill>
                  <a:srgbClr val="000000"/>
                </a:solidFill>
                <a:latin typeface="Lato" pitchFamily="34" charset="0"/>
                <a:ea typeface="Lato" pitchFamily="34" charset="-122"/>
                <a:cs typeface="Lato" pitchFamily="34" charset="-120"/>
              </a:rPr>
              <a:t>Input image</a:t>
            </a:r>
            <a:endParaRPr lang="en-US" sz="1200" dirty="0"/>
          </a:p>
        </p:txBody>
      </p:sp>
      <p:pic>
        <p:nvPicPr>
          <p:cNvPr id="10" name="Image 0" descr="Input image: the fruit stand, split into patches"/>
          <p:cNvPicPr>
            <a:picLocks noChangeAspect="1"/>
          </p:cNvPicPr>
          <p:nvPr/>
        </p:nvPicPr>
        <p:blipFill>
          <a:blip r:embed="rId3"/>
          <a:srcRect/>
          <a:stretch/>
        </p:blipFill>
        <p:spPr>
          <a:xfrm>
            <a:off x="698500" y="2772370"/>
            <a:ext cx="1651000" cy="1651000"/>
          </a:xfrm>
          <a:prstGeom prst="roundRect">
            <a:avLst>
              <a:gd name="adj" fmla="val 4615"/>
            </a:avLst>
          </a:prstGeom>
        </p:spPr>
      </p:pic>
      <p:pic>
        <p:nvPicPr>
          <p:cNvPr id="11" name="Image 1" descr="24 by 24 patch grid over the image"/>
          <p:cNvPicPr>
            <a:picLocks noChangeAspect="1"/>
          </p:cNvPicPr>
          <p:nvPr/>
        </p:nvPicPr>
        <p:blipFill>
          <a:blip r:embed="rId4"/>
          <a:srcRect/>
          <a:stretch/>
        </p:blipFill>
        <p:spPr>
          <a:xfrm>
            <a:off x="698500" y="2772370"/>
            <a:ext cx="1651000" cy="1651000"/>
          </a:xfrm>
          <a:prstGeom prst="rect">
            <a:avLst/>
          </a:prstGeom>
        </p:spPr>
      </p:pic>
      <p:sp>
        <p:nvSpPr>
          <p:cNvPr id="12" name="Shape 8"/>
          <p:cNvSpPr/>
          <p:nvPr/>
        </p:nvSpPr>
        <p:spPr>
          <a:xfrm>
            <a:off x="2613025" y="2807295"/>
            <a:ext cx="2076450" cy="1758950"/>
          </a:xfrm>
          <a:prstGeom prst="roundRect">
            <a:avLst>
              <a:gd name="adj" fmla="val 4513"/>
            </a:avLst>
          </a:prstGeom>
          <a:solidFill>
            <a:srgbClr val="FFFFFF"/>
          </a:solidFill>
          <a:ln w="19050">
            <a:solidFill>
              <a:srgbClr val="2F5597"/>
            </a:solidFill>
            <a:prstDash val="solid"/>
          </a:ln>
        </p:spPr>
        <p:txBody>
          <a:bodyPr/>
          <a:lstStyle/>
          <a:p>
            <a:endParaRPr lang="en-US"/>
          </a:p>
        </p:txBody>
      </p:sp>
      <p:sp>
        <p:nvSpPr>
          <p:cNvPr id="13" name="Text 9"/>
          <p:cNvSpPr/>
          <p:nvPr/>
        </p:nvSpPr>
        <p:spPr>
          <a:xfrm>
            <a:off x="2683256" y="3105100"/>
            <a:ext cx="1935988" cy="265410"/>
          </a:xfrm>
          <a:prstGeom prst="rect">
            <a:avLst/>
          </a:prstGeom>
          <a:noFill/>
          <a:ln/>
        </p:spPr>
        <p:txBody>
          <a:bodyPr wrap="square" lIns="0" tIns="0" rIns="0" bIns="0" rtlCol="0" anchor="t">
            <a:normAutofit/>
          </a:bodyPr>
          <a:lstStyle/>
          <a:p>
            <a:pPr marL="0" indent="0" algn="ctr">
              <a:lnSpc>
                <a:spcPts val="1890"/>
              </a:lnSpc>
              <a:buNone/>
            </a:pPr>
            <a:r>
              <a:rPr lang="en-US" sz="1400" b="1" dirty="0">
                <a:solidFill>
                  <a:srgbClr val="2F5597"/>
                </a:solidFill>
                <a:latin typeface="Lato" pitchFamily="34" charset="0"/>
                <a:ea typeface="Lato" pitchFamily="34" charset="-122"/>
                <a:cs typeface="Lato" pitchFamily="34" charset="-120"/>
              </a:rPr>
              <a:t>Vision Encoder (ViT)</a:t>
            </a:r>
            <a:endParaRPr lang="en-US" sz="1400" dirty="0"/>
          </a:p>
        </p:txBody>
      </p:sp>
      <p:sp>
        <p:nvSpPr>
          <p:cNvPr id="14" name="Shape 10"/>
          <p:cNvSpPr/>
          <p:nvPr/>
        </p:nvSpPr>
        <p:spPr>
          <a:xfrm>
            <a:off x="2711450" y="3408611"/>
            <a:ext cx="1879600" cy="624830"/>
          </a:xfrm>
          <a:prstGeom prst="roundRect">
            <a:avLst>
              <a:gd name="adj" fmla="val 10163"/>
            </a:avLst>
          </a:prstGeom>
          <a:solidFill>
            <a:srgbClr val="E8EEF8"/>
          </a:solidFill>
          <a:ln/>
        </p:spPr>
        <p:txBody>
          <a:bodyPr/>
          <a:lstStyle/>
          <a:p>
            <a:endParaRPr lang="en-US"/>
          </a:p>
        </p:txBody>
      </p:sp>
      <p:sp>
        <p:nvSpPr>
          <p:cNvPr id="15" name="Text 11"/>
          <p:cNvSpPr/>
          <p:nvPr/>
        </p:nvSpPr>
        <p:spPr>
          <a:xfrm>
            <a:off x="2748661" y="3459411"/>
            <a:ext cx="1805178" cy="231130"/>
          </a:xfrm>
          <a:prstGeom prst="rect">
            <a:avLst/>
          </a:prstGeom>
          <a:noFill/>
          <a:ln/>
        </p:spPr>
        <p:txBody>
          <a:bodyPr wrap="square" lIns="0" tIns="0" rIns="0" bIns="0" rtlCol="0" anchor="t">
            <a:normAutofit/>
          </a:bodyPr>
          <a:lstStyle/>
          <a:p>
            <a:pPr marL="0" indent="0" algn="ctr">
              <a:lnSpc>
                <a:spcPts val="1620"/>
              </a:lnSpc>
              <a:buNone/>
            </a:pPr>
            <a:r>
              <a:rPr lang="en-US" sz="1200" b="1" dirty="0">
                <a:solidFill>
                  <a:srgbClr val="2F5597"/>
                </a:solidFill>
                <a:latin typeface="Lato" pitchFamily="34" charset="0"/>
                <a:ea typeface="Lato" pitchFamily="34" charset="-122"/>
                <a:cs typeface="Lato" pitchFamily="34" charset="-120"/>
              </a:rPr>
              <a:t>Transformer layer ×24</a:t>
            </a:r>
            <a:endParaRPr lang="en-US" sz="1200" dirty="0"/>
          </a:p>
        </p:txBody>
      </p:sp>
      <p:sp>
        <p:nvSpPr>
          <p:cNvPr id="16" name="Text 12"/>
          <p:cNvSpPr/>
          <p:nvPr/>
        </p:nvSpPr>
        <p:spPr>
          <a:xfrm>
            <a:off x="2774950" y="3703241"/>
            <a:ext cx="1244600" cy="279400"/>
          </a:xfrm>
          <a:prstGeom prst="roundRect">
            <a:avLst>
              <a:gd name="adj" fmla="val 18182"/>
            </a:avLst>
          </a:prstGeom>
          <a:solidFill>
            <a:srgbClr val="FFFFFF"/>
          </a:solidFill>
          <a:ln/>
        </p:spPr>
        <p:txBody>
          <a:bodyPr wrap="square" lIns="0" tIns="0" rIns="0" bIns="0" rtlCol="0" anchor="ctr">
            <a:normAutofit/>
          </a:bodyPr>
          <a:lstStyle/>
          <a:p>
            <a:pPr marL="0" indent="0" algn="ctr">
              <a:lnSpc>
                <a:spcPts val="1620"/>
              </a:lnSpc>
              <a:buNone/>
            </a:pPr>
            <a:r>
              <a:rPr lang="en-US" sz="1200" b="1" dirty="0">
                <a:solidFill>
                  <a:srgbClr val="2F5597"/>
                </a:solidFill>
                <a:latin typeface="Lato" pitchFamily="34" charset="0"/>
                <a:ea typeface="Lato" pitchFamily="34" charset="-122"/>
                <a:cs typeface="Lato" pitchFamily="34" charset="-120"/>
              </a:rPr>
              <a:t>Self-Attention</a:t>
            </a:r>
            <a:endParaRPr lang="en-US" sz="1200" dirty="0"/>
          </a:p>
        </p:txBody>
      </p:sp>
      <p:sp>
        <p:nvSpPr>
          <p:cNvPr id="17" name="Text 13"/>
          <p:cNvSpPr/>
          <p:nvPr/>
        </p:nvSpPr>
        <p:spPr>
          <a:xfrm>
            <a:off x="4070350" y="3703241"/>
            <a:ext cx="457200" cy="279400"/>
          </a:xfrm>
          <a:prstGeom prst="roundRect">
            <a:avLst>
              <a:gd name="adj" fmla="val 18182"/>
            </a:avLst>
          </a:prstGeom>
          <a:solidFill>
            <a:srgbClr val="FFFFFF"/>
          </a:solidFill>
          <a:ln/>
        </p:spPr>
        <p:txBody>
          <a:bodyPr wrap="square" lIns="0" tIns="0" rIns="0" bIns="0" rtlCol="0" anchor="ctr">
            <a:normAutofit/>
          </a:bodyPr>
          <a:lstStyle/>
          <a:p>
            <a:pPr marL="0" indent="0" algn="ctr">
              <a:lnSpc>
                <a:spcPts val="1620"/>
              </a:lnSpc>
              <a:buNone/>
            </a:pPr>
            <a:r>
              <a:rPr lang="en-US" sz="1200" b="1" dirty="0">
                <a:solidFill>
                  <a:srgbClr val="2F5597"/>
                </a:solidFill>
                <a:latin typeface="Lato" pitchFamily="34" charset="0"/>
                <a:ea typeface="Lato" pitchFamily="34" charset="-122"/>
                <a:cs typeface="Lato" pitchFamily="34" charset="-120"/>
              </a:rPr>
              <a:t>MLP</a:t>
            </a:r>
            <a:endParaRPr lang="en-US" sz="1200" dirty="0"/>
          </a:p>
        </p:txBody>
      </p:sp>
      <p:pic>
        <p:nvPicPr>
          <p:cNvPr id="18" name="Image 2" descr="preencoded.png"/>
          <p:cNvPicPr>
            <a:picLocks noChangeAspect="1"/>
          </p:cNvPicPr>
          <p:nvPr/>
        </p:nvPicPr>
        <p:blipFill>
          <a:blip r:embed="rId5"/>
          <a:srcRect/>
          <a:stretch/>
        </p:blipFill>
        <p:spPr>
          <a:xfrm>
            <a:off x="2762250" y="4096941"/>
            <a:ext cx="171450" cy="171450"/>
          </a:xfrm>
          <a:prstGeom prst="roundRect">
            <a:avLst>
              <a:gd name="adj" fmla="val 11111"/>
            </a:avLst>
          </a:prstGeom>
        </p:spPr>
      </p:pic>
      <p:pic>
        <p:nvPicPr>
          <p:cNvPr id="19" name="Image 3" descr="preencoded.png"/>
          <p:cNvPicPr>
            <a:picLocks noChangeAspect="1"/>
          </p:cNvPicPr>
          <p:nvPr/>
        </p:nvPicPr>
        <p:blipFill>
          <a:blip r:embed="rId6"/>
          <a:srcRect/>
          <a:stretch/>
        </p:blipFill>
        <p:spPr>
          <a:xfrm>
            <a:off x="2965450" y="4096941"/>
            <a:ext cx="171450" cy="171450"/>
          </a:xfrm>
          <a:prstGeom prst="roundRect">
            <a:avLst>
              <a:gd name="adj" fmla="val 11111"/>
            </a:avLst>
          </a:prstGeom>
        </p:spPr>
      </p:pic>
      <p:pic>
        <p:nvPicPr>
          <p:cNvPr id="20" name="Image 4" descr="preencoded.png"/>
          <p:cNvPicPr>
            <a:picLocks noChangeAspect="1"/>
          </p:cNvPicPr>
          <p:nvPr/>
        </p:nvPicPr>
        <p:blipFill>
          <a:blip r:embed="rId7"/>
          <a:srcRect/>
          <a:stretch/>
        </p:blipFill>
        <p:spPr>
          <a:xfrm>
            <a:off x="3168650" y="4096941"/>
            <a:ext cx="171450" cy="171450"/>
          </a:xfrm>
          <a:prstGeom prst="roundRect">
            <a:avLst>
              <a:gd name="adj" fmla="val 11111"/>
            </a:avLst>
          </a:prstGeom>
        </p:spPr>
      </p:pic>
      <p:pic>
        <p:nvPicPr>
          <p:cNvPr id="21" name="Image 5" descr="preencoded.png"/>
          <p:cNvPicPr>
            <a:picLocks noChangeAspect="1"/>
          </p:cNvPicPr>
          <p:nvPr/>
        </p:nvPicPr>
        <p:blipFill>
          <a:blip r:embed="rId8"/>
          <a:srcRect/>
          <a:stretch/>
        </p:blipFill>
        <p:spPr>
          <a:xfrm>
            <a:off x="3371850" y="4096941"/>
            <a:ext cx="171450" cy="171450"/>
          </a:xfrm>
          <a:prstGeom prst="roundRect">
            <a:avLst>
              <a:gd name="adj" fmla="val 11111"/>
            </a:avLst>
          </a:prstGeom>
        </p:spPr>
      </p:pic>
      <p:sp>
        <p:nvSpPr>
          <p:cNvPr id="22" name="Text 14"/>
          <p:cNvSpPr/>
          <p:nvPr/>
        </p:nvSpPr>
        <p:spPr>
          <a:xfrm>
            <a:off x="3549650" y="4106466"/>
            <a:ext cx="203200" cy="177800"/>
          </a:xfrm>
          <a:prstGeom prst="rect">
            <a:avLst/>
          </a:prstGeom>
          <a:noFill/>
          <a:ln/>
        </p:spPr>
        <p:txBody>
          <a:bodyPr wrap="square" lIns="0" tIns="0" rIns="0" bIns="0" rtlCol="0" anchor="t">
            <a:normAutofit/>
          </a:bodyPr>
          <a:lstStyle/>
          <a:p>
            <a:pPr marL="0" indent="0" algn="ctr">
              <a:lnSpc>
                <a:spcPts val="1200"/>
              </a:lnSpc>
              <a:buNone/>
            </a:pPr>
            <a:r>
              <a:rPr lang="en-US" sz="1200" b="1" dirty="0">
                <a:solidFill>
                  <a:srgbClr val="2F5597"/>
                </a:solidFill>
                <a:latin typeface="Lato" pitchFamily="34" charset="0"/>
                <a:ea typeface="Lato" pitchFamily="34" charset="-122"/>
                <a:cs typeface="Lato" pitchFamily="34" charset="-120"/>
              </a:rPr>
              <a:t>…</a:t>
            </a:r>
            <a:endParaRPr lang="en-US" sz="1200" dirty="0"/>
          </a:p>
        </p:txBody>
      </p:sp>
      <p:pic>
        <p:nvPicPr>
          <p:cNvPr id="23" name="Image 6" descr="preencoded.png"/>
          <p:cNvPicPr>
            <a:picLocks noChangeAspect="1"/>
          </p:cNvPicPr>
          <p:nvPr/>
        </p:nvPicPr>
        <p:blipFill>
          <a:blip r:embed="rId9"/>
          <a:srcRect/>
          <a:stretch/>
        </p:blipFill>
        <p:spPr>
          <a:xfrm>
            <a:off x="3759200" y="4096941"/>
            <a:ext cx="171450" cy="171450"/>
          </a:xfrm>
          <a:prstGeom prst="roundRect">
            <a:avLst>
              <a:gd name="adj" fmla="val 11111"/>
            </a:avLst>
          </a:prstGeom>
        </p:spPr>
      </p:pic>
      <p:pic>
        <p:nvPicPr>
          <p:cNvPr id="24" name="Image 7" descr="preencoded.png"/>
          <p:cNvPicPr>
            <a:picLocks noChangeAspect="1"/>
          </p:cNvPicPr>
          <p:nvPr/>
        </p:nvPicPr>
        <p:blipFill>
          <a:blip r:embed="rId10"/>
          <a:srcRect/>
          <a:stretch/>
        </p:blipFill>
        <p:spPr>
          <a:xfrm>
            <a:off x="3962400" y="4096941"/>
            <a:ext cx="171450" cy="171450"/>
          </a:xfrm>
          <a:prstGeom prst="roundRect">
            <a:avLst>
              <a:gd name="adj" fmla="val 11111"/>
            </a:avLst>
          </a:prstGeom>
        </p:spPr>
      </p:pic>
      <p:pic>
        <p:nvPicPr>
          <p:cNvPr id="25" name="Image 8" descr="preencoded.png"/>
          <p:cNvPicPr>
            <a:picLocks noChangeAspect="1"/>
          </p:cNvPicPr>
          <p:nvPr/>
        </p:nvPicPr>
        <p:blipFill>
          <a:blip r:embed="rId11"/>
          <a:srcRect/>
          <a:stretch/>
        </p:blipFill>
        <p:spPr>
          <a:xfrm>
            <a:off x="4165600" y="4096941"/>
            <a:ext cx="171450" cy="171450"/>
          </a:xfrm>
          <a:prstGeom prst="roundRect">
            <a:avLst>
              <a:gd name="adj" fmla="val 11111"/>
            </a:avLst>
          </a:prstGeom>
        </p:spPr>
      </p:pic>
      <p:pic>
        <p:nvPicPr>
          <p:cNvPr id="26" name="Image 9" descr="preencoded.png"/>
          <p:cNvPicPr>
            <a:picLocks noChangeAspect="1"/>
          </p:cNvPicPr>
          <p:nvPr/>
        </p:nvPicPr>
        <p:blipFill>
          <a:blip r:embed="rId12"/>
          <a:srcRect/>
          <a:stretch/>
        </p:blipFill>
        <p:spPr>
          <a:xfrm>
            <a:off x="4368800" y="4096941"/>
            <a:ext cx="171450" cy="171450"/>
          </a:xfrm>
          <a:prstGeom prst="roundRect">
            <a:avLst>
              <a:gd name="adj" fmla="val 11111"/>
            </a:avLst>
          </a:prstGeom>
        </p:spPr>
      </p:pic>
      <p:pic>
        <p:nvPicPr>
          <p:cNvPr id="27" name="Image 10" descr="Projector drawn as a trapezoid that widens toward the language model"/>
          <p:cNvPicPr>
            <a:picLocks noChangeAspect="1"/>
          </p:cNvPicPr>
          <p:nvPr/>
        </p:nvPicPr>
        <p:blipFill>
          <a:blip r:embed="rId13"/>
          <a:srcRect/>
          <a:stretch/>
        </p:blipFill>
        <p:spPr>
          <a:xfrm>
            <a:off x="4927600" y="3343870"/>
            <a:ext cx="1524000" cy="952500"/>
          </a:xfrm>
          <a:prstGeom prst="rect">
            <a:avLst/>
          </a:prstGeom>
        </p:spPr>
      </p:pic>
      <p:sp>
        <p:nvSpPr>
          <p:cNvPr id="28" name="Text 15"/>
          <p:cNvSpPr/>
          <p:nvPr/>
        </p:nvSpPr>
        <p:spPr>
          <a:xfrm>
            <a:off x="4902200" y="3559770"/>
            <a:ext cx="1574800" cy="265410"/>
          </a:xfrm>
          <a:prstGeom prst="rect">
            <a:avLst/>
          </a:prstGeom>
          <a:noFill/>
          <a:ln/>
        </p:spPr>
        <p:txBody>
          <a:bodyPr wrap="square" lIns="0" tIns="0" rIns="0" bIns="0" rtlCol="0" anchor="t">
            <a:normAutofit/>
          </a:bodyPr>
          <a:lstStyle/>
          <a:p>
            <a:pPr marL="0" indent="0" algn="ctr">
              <a:lnSpc>
                <a:spcPts val="1890"/>
              </a:lnSpc>
              <a:buNone/>
            </a:pPr>
            <a:r>
              <a:rPr lang="en-US" sz="1400" b="1" dirty="0">
                <a:solidFill>
                  <a:srgbClr val="2F5597"/>
                </a:solidFill>
                <a:latin typeface="Lato" pitchFamily="34" charset="0"/>
                <a:ea typeface="Lato" pitchFamily="34" charset="-122"/>
                <a:cs typeface="Lato" pitchFamily="34" charset="-120"/>
              </a:rPr>
              <a:t>Projector</a:t>
            </a:r>
            <a:endParaRPr lang="en-US" sz="1400" dirty="0"/>
          </a:p>
        </p:txBody>
      </p:sp>
      <p:sp>
        <p:nvSpPr>
          <p:cNvPr id="29" name="Text 16"/>
          <p:cNvSpPr/>
          <p:nvPr/>
        </p:nvSpPr>
        <p:spPr>
          <a:xfrm>
            <a:off x="4902200" y="3801070"/>
            <a:ext cx="1574800" cy="231130"/>
          </a:xfrm>
          <a:prstGeom prst="rect">
            <a:avLst/>
          </a:prstGeom>
          <a:noFill/>
          <a:ln/>
        </p:spPr>
        <p:txBody>
          <a:bodyPr wrap="square" lIns="0" tIns="0" rIns="0" bIns="0" rtlCol="0" anchor="t">
            <a:normAutofit/>
          </a:bodyPr>
          <a:lstStyle/>
          <a:p>
            <a:pPr marL="0" indent="0" algn="ctr">
              <a:lnSpc>
                <a:spcPts val="1620"/>
              </a:lnSpc>
              <a:buNone/>
            </a:pPr>
            <a:r>
              <a:rPr lang="en-US" sz="1200" dirty="0">
                <a:solidFill>
                  <a:srgbClr val="2F5597"/>
                </a:solidFill>
                <a:latin typeface="Lato" pitchFamily="34" charset="0"/>
                <a:ea typeface="Lato" pitchFamily="34" charset="-122"/>
                <a:cs typeface="Lato" pitchFamily="34" charset="-120"/>
              </a:rPr>
              <a:t>2-layer MLP</a:t>
            </a:r>
            <a:endParaRPr lang="en-US" sz="1200" dirty="0"/>
          </a:p>
        </p:txBody>
      </p:sp>
      <p:sp>
        <p:nvSpPr>
          <p:cNvPr id="30" name="Text 17"/>
          <p:cNvSpPr/>
          <p:nvPr/>
        </p:nvSpPr>
        <p:spPr>
          <a:xfrm>
            <a:off x="6527800" y="2505670"/>
            <a:ext cx="660400" cy="391120"/>
          </a:xfrm>
          <a:prstGeom prst="rect">
            <a:avLst/>
          </a:prstGeom>
          <a:noFill/>
          <a:ln/>
        </p:spPr>
        <p:txBody>
          <a:bodyPr wrap="square" lIns="0" tIns="0" rIns="0" bIns="0" rtlCol="0" anchor="t">
            <a:normAutofit/>
          </a:bodyPr>
          <a:lstStyle/>
          <a:p>
            <a:pPr marL="0" indent="0" algn="ctr">
              <a:lnSpc>
                <a:spcPts val="1440"/>
              </a:lnSpc>
              <a:buNone/>
            </a:pPr>
            <a:r>
              <a:rPr lang="en-US" sz="1200" b="1" dirty="0">
                <a:solidFill>
                  <a:srgbClr val="C00000"/>
                </a:solidFill>
                <a:latin typeface="Lato" pitchFamily="34" charset="0"/>
                <a:ea typeface="Lato" pitchFamily="34" charset="-122"/>
                <a:cs typeface="Lato" pitchFamily="34" charset="-120"/>
              </a:rPr>
              <a:t>image</a:t>
            </a:r>
            <a:endParaRPr lang="en-US" sz="1200" dirty="0"/>
          </a:p>
          <a:p>
            <a:pPr marL="0" indent="0" algn="ctr">
              <a:lnSpc>
                <a:spcPts val="1440"/>
              </a:lnSpc>
              <a:buNone/>
            </a:pPr>
            <a:r>
              <a:rPr lang="en-US" sz="1200" b="1" dirty="0">
                <a:solidFill>
                  <a:srgbClr val="C00000"/>
                </a:solidFill>
                <a:latin typeface="Lato" pitchFamily="34" charset="0"/>
                <a:ea typeface="Lato" pitchFamily="34" charset="-122"/>
                <a:cs typeface="Lato" pitchFamily="34" charset="-120"/>
              </a:rPr>
              <a:t>tokens</a:t>
            </a:r>
            <a:endParaRPr lang="en-US" sz="1200" dirty="0"/>
          </a:p>
        </p:txBody>
      </p:sp>
      <p:sp>
        <p:nvSpPr>
          <p:cNvPr id="31" name="Shape 18"/>
          <p:cNvSpPr/>
          <p:nvPr/>
        </p:nvSpPr>
        <p:spPr>
          <a:xfrm>
            <a:off x="6762750" y="2899370"/>
            <a:ext cx="215900" cy="215900"/>
          </a:xfrm>
          <a:prstGeom prst="roundRect">
            <a:avLst>
              <a:gd name="adj" fmla="val 17647"/>
            </a:avLst>
          </a:prstGeom>
          <a:solidFill>
            <a:srgbClr val="9DB4D8"/>
          </a:solidFill>
          <a:ln/>
        </p:spPr>
        <p:txBody>
          <a:bodyPr/>
          <a:lstStyle/>
          <a:p>
            <a:endParaRPr lang="en-US"/>
          </a:p>
        </p:txBody>
      </p:sp>
      <p:sp>
        <p:nvSpPr>
          <p:cNvPr id="32" name="Shape 19"/>
          <p:cNvSpPr/>
          <p:nvPr/>
        </p:nvSpPr>
        <p:spPr>
          <a:xfrm>
            <a:off x="6762750" y="3178770"/>
            <a:ext cx="215900" cy="215900"/>
          </a:xfrm>
          <a:prstGeom prst="roundRect">
            <a:avLst>
              <a:gd name="adj" fmla="val 17647"/>
            </a:avLst>
          </a:prstGeom>
          <a:solidFill>
            <a:srgbClr val="9DB4D8"/>
          </a:solidFill>
          <a:ln/>
        </p:spPr>
        <p:txBody>
          <a:bodyPr/>
          <a:lstStyle/>
          <a:p>
            <a:endParaRPr lang="en-US"/>
          </a:p>
        </p:txBody>
      </p:sp>
      <p:sp>
        <p:nvSpPr>
          <p:cNvPr id="33" name="Shape 20"/>
          <p:cNvSpPr/>
          <p:nvPr/>
        </p:nvSpPr>
        <p:spPr>
          <a:xfrm>
            <a:off x="6762750" y="3458170"/>
            <a:ext cx="215900" cy="215900"/>
          </a:xfrm>
          <a:prstGeom prst="roundRect">
            <a:avLst>
              <a:gd name="adj" fmla="val 17647"/>
            </a:avLst>
          </a:prstGeom>
          <a:solidFill>
            <a:srgbClr val="9DB4D8"/>
          </a:solidFill>
          <a:ln/>
        </p:spPr>
        <p:txBody>
          <a:bodyPr/>
          <a:lstStyle/>
          <a:p>
            <a:endParaRPr lang="en-US"/>
          </a:p>
        </p:txBody>
      </p:sp>
      <p:sp>
        <p:nvSpPr>
          <p:cNvPr id="34" name="Text 21"/>
          <p:cNvSpPr/>
          <p:nvPr/>
        </p:nvSpPr>
        <p:spPr>
          <a:xfrm>
            <a:off x="6731000" y="3737570"/>
            <a:ext cx="279400" cy="177800"/>
          </a:xfrm>
          <a:prstGeom prst="rect">
            <a:avLst/>
          </a:prstGeom>
          <a:noFill/>
          <a:ln/>
        </p:spPr>
        <p:txBody>
          <a:bodyPr wrap="square" lIns="0" tIns="0" rIns="0" bIns="0" rtlCol="0" anchor="t">
            <a:normAutofit/>
          </a:bodyPr>
          <a:lstStyle/>
          <a:p>
            <a:pPr marL="0" indent="0" algn="ctr">
              <a:lnSpc>
                <a:spcPts val="1200"/>
              </a:lnSpc>
              <a:buNone/>
            </a:pPr>
            <a:r>
              <a:rPr lang="en-US" sz="1200" b="1" dirty="0">
                <a:solidFill>
                  <a:srgbClr val="2F5597"/>
                </a:solidFill>
                <a:latin typeface="Lato" pitchFamily="34" charset="0"/>
                <a:ea typeface="Lato" pitchFamily="34" charset="-122"/>
                <a:cs typeface="Lato" pitchFamily="34" charset="-120"/>
              </a:rPr>
              <a:t>⋮</a:t>
            </a:r>
            <a:endParaRPr lang="en-US" sz="1200" dirty="0"/>
          </a:p>
        </p:txBody>
      </p:sp>
      <p:sp>
        <p:nvSpPr>
          <p:cNvPr id="35" name="Shape 22"/>
          <p:cNvSpPr/>
          <p:nvPr/>
        </p:nvSpPr>
        <p:spPr>
          <a:xfrm>
            <a:off x="6762750" y="3953470"/>
            <a:ext cx="215900" cy="215900"/>
          </a:xfrm>
          <a:prstGeom prst="roundRect">
            <a:avLst>
              <a:gd name="adj" fmla="val 17647"/>
            </a:avLst>
          </a:prstGeom>
          <a:solidFill>
            <a:srgbClr val="9DB4D8"/>
          </a:solidFill>
          <a:ln/>
        </p:spPr>
        <p:txBody>
          <a:bodyPr/>
          <a:lstStyle/>
          <a:p>
            <a:endParaRPr lang="en-US"/>
          </a:p>
        </p:txBody>
      </p:sp>
      <p:sp>
        <p:nvSpPr>
          <p:cNvPr id="36" name="Shape 23"/>
          <p:cNvSpPr/>
          <p:nvPr/>
        </p:nvSpPr>
        <p:spPr>
          <a:xfrm>
            <a:off x="6762750" y="4232870"/>
            <a:ext cx="215900" cy="215900"/>
          </a:xfrm>
          <a:prstGeom prst="roundRect">
            <a:avLst>
              <a:gd name="adj" fmla="val 17647"/>
            </a:avLst>
          </a:prstGeom>
          <a:solidFill>
            <a:srgbClr val="9DB4D8"/>
          </a:solidFill>
          <a:ln/>
        </p:spPr>
        <p:txBody>
          <a:bodyPr/>
          <a:lstStyle/>
          <a:p>
            <a:endParaRPr lang="en-US"/>
          </a:p>
        </p:txBody>
      </p:sp>
      <p:sp>
        <p:nvSpPr>
          <p:cNvPr id="37" name="Shape 24"/>
          <p:cNvSpPr/>
          <p:nvPr/>
        </p:nvSpPr>
        <p:spPr>
          <a:xfrm>
            <a:off x="6762750" y="4512270"/>
            <a:ext cx="215900" cy="215900"/>
          </a:xfrm>
          <a:prstGeom prst="roundRect">
            <a:avLst>
              <a:gd name="adj" fmla="val 17647"/>
            </a:avLst>
          </a:prstGeom>
          <a:solidFill>
            <a:srgbClr val="9DB4D8"/>
          </a:solidFill>
          <a:ln/>
        </p:spPr>
        <p:txBody>
          <a:bodyPr/>
          <a:lstStyle/>
          <a:p>
            <a:endParaRPr lang="en-US"/>
          </a:p>
        </p:txBody>
      </p:sp>
      <p:sp>
        <p:nvSpPr>
          <p:cNvPr id="38" name="Shape 25"/>
          <p:cNvSpPr/>
          <p:nvPr/>
        </p:nvSpPr>
        <p:spPr>
          <a:xfrm>
            <a:off x="7810500" y="2480270"/>
            <a:ext cx="2349500" cy="2159000"/>
          </a:xfrm>
          <a:prstGeom prst="roundRect">
            <a:avLst>
              <a:gd name="adj" fmla="val 4706"/>
            </a:avLst>
          </a:prstGeom>
          <a:solidFill>
            <a:srgbClr val="2F5597"/>
          </a:solidFill>
          <a:ln/>
        </p:spPr>
        <p:txBody>
          <a:bodyPr/>
          <a:lstStyle/>
          <a:p>
            <a:endParaRPr lang="en-US"/>
          </a:p>
        </p:txBody>
      </p:sp>
      <p:sp>
        <p:nvSpPr>
          <p:cNvPr id="39" name="Text 26"/>
          <p:cNvSpPr/>
          <p:nvPr/>
        </p:nvSpPr>
        <p:spPr>
          <a:xfrm>
            <a:off x="7892987" y="2633315"/>
            <a:ext cx="2184527" cy="265410"/>
          </a:xfrm>
          <a:prstGeom prst="rect">
            <a:avLst/>
          </a:prstGeom>
          <a:noFill/>
          <a:ln/>
        </p:spPr>
        <p:txBody>
          <a:bodyPr wrap="square" lIns="0" tIns="0" rIns="0" bIns="0" rtlCol="0" anchor="t">
            <a:normAutofit/>
          </a:bodyPr>
          <a:lstStyle/>
          <a:p>
            <a:pPr marL="0" indent="0" algn="ctr">
              <a:lnSpc>
                <a:spcPts val="1890"/>
              </a:lnSpc>
              <a:buNone/>
            </a:pPr>
            <a:r>
              <a:rPr lang="en-US" sz="1400" b="1" dirty="0">
                <a:solidFill>
                  <a:srgbClr val="FFFFFF"/>
                </a:solidFill>
                <a:latin typeface="Lato" pitchFamily="34" charset="0"/>
                <a:ea typeface="Lato" pitchFamily="34" charset="-122"/>
                <a:cs typeface="Lato" pitchFamily="34" charset="-120"/>
              </a:rPr>
              <a:t>Language Model</a:t>
            </a:r>
            <a:endParaRPr lang="en-US" sz="1400" dirty="0"/>
          </a:p>
        </p:txBody>
      </p:sp>
      <p:sp>
        <p:nvSpPr>
          <p:cNvPr id="40" name="Text 27"/>
          <p:cNvSpPr/>
          <p:nvPr/>
        </p:nvSpPr>
        <p:spPr>
          <a:xfrm>
            <a:off x="7924800" y="2936825"/>
            <a:ext cx="2120900" cy="304800"/>
          </a:xfrm>
          <a:prstGeom prst="roundRect">
            <a:avLst>
              <a:gd name="adj" fmla="val 20833"/>
            </a:avLst>
          </a:prstGeom>
          <a:solidFill>
            <a:srgbClr val="FFFFFF"/>
          </a:solidFill>
          <a:ln/>
        </p:spPr>
        <p:txBody>
          <a:bodyPr wrap="square" lIns="0" tIns="0" rIns="0" bIns="0" rtlCol="0" anchor="ctr">
            <a:normAutofit/>
          </a:bodyPr>
          <a:lstStyle/>
          <a:p>
            <a:pPr marL="0" indent="0" algn="ctr">
              <a:lnSpc>
                <a:spcPts val="1620"/>
              </a:lnSpc>
              <a:buNone/>
            </a:pPr>
            <a:r>
              <a:rPr lang="en-US" sz="1200" b="1" dirty="0">
                <a:solidFill>
                  <a:srgbClr val="2F5597"/>
                </a:solidFill>
                <a:latin typeface="Lato" pitchFamily="34" charset="0"/>
                <a:ea typeface="Lato" pitchFamily="34" charset="-122"/>
                <a:cs typeface="Lato" pitchFamily="34" charset="-120"/>
              </a:rPr>
              <a:t>Next-token decoding</a:t>
            </a:r>
            <a:endParaRPr lang="en-US" sz="1200" dirty="0"/>
          </a:p>
        </p:txBody>
      </p:sp>
      <p:sp>
        <p:nvSpPr>
          <p:cNvPr id="41" name="Text 28"/>
          <p:cNvSpPr/>
          <p:nvPr/>
        </p:nvSpPr>
        <p:spPr>
          <a:xfrm>
            <a:off x="7924800" y="3341936"/>
            <a:ext cx="381000" cy="23113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FFFFFF"/>
                </a:solidFill>
                <a:latin typeface="Lato" pitchFamily="34" charset="0"/>
                <a:ea typeface="Lato" pitchFamily="34" charset="-122"/>
                <a:cs typeface="Lato" pitchFamily="34" charset="-120"/>
              </a:rPr>
              <a:t>L32</a:t>
            </a:r>
            <a:endParaRPr lang="en-US" sz="1200" dirty="0"/>
          </a:p>
        </p:txBody>
      </p:sp>
      <p:sp>
        <p:nvSpPr>
          <p:cNvPr id="42" name="Text 29"/>
          <p:cNvSpPr/>
          <p:nvPr/>
        </p:nvSpPr>
        <p:spPr>
          <a:xfrm>
            <a:off x="8318500" y="3305125"/>
            <a:ext cx="1206500" cy="279400"/>
          </a:xfrm>
          <a:prstGeom prst="roundRect">
            <a:avLst>
              <a:gd name="adj" fmla="val 18182"/>
            </a:avLst>
          </a:prstGeom>
          <a:solidFill>
            <a:srgbClr val="FFFFFF"/>
          </a:solidFill>
          <a:ln/>
        </p:spPr>
        <p:txBody>
          <a:bodyPr wrap="square" lIns="0" tIns="0" rIns="0" bIns="0" rtlCol="0" anchor="ctr">
            <a:normAutofit/>
          </a:bodyPr>
          <a:lstStyle/>
          <a:p>
            <a:pPr marL="0" indent="0" algn="ctr">
              <a:lnSpc>
                <a:spcPts val="1620"/>
              </a:lnSpc>
              <a:buNone/>
            </a:pPr>
            <a:r>
              <a:rPr lang="en-US" sz="1200" b="1" dirty="0">
                <a:solidFill>
                  <a:srgbClr val="2F5597"/>
                </a:solidFill>
                <a:latin typeface="Lato" pitchFamily="34" charset="0"/>
                <a:ea typeface="Lato" pitchFamily="34" charset="-122"/>
                <a:cs typeface="Lato" pitchFamily="34" charset="-120"/>
              </a:rPr>
              <a:t>Self-Attention</a:t>
            </a:r>
            <a:endParaRPr lang="en-US" sz="1200" dirty="0"/>
          </a:p>
        </p:txBody>
      </p:sp>
      <p:sp>
        <p:nvSpPr>
          <p:cNvPr id="43" name="Text 30"/>
          <p:cNvSpPr/>
          <p:nvPr/>
        </p:nvSpPr>
        <p:spPr>
          <a:xfrm>
            <a:off x="9588500" y="3305125"/>
            <a:ext cx="457200" cy="279400"/>
          </a:xfrm>
          <a:prstGeom prst="roundRect">
            <a:avLst>
              <a:gd name="adj" fmla="val 18182"/>
            </a:avLst>
          </a:prstGeom>
          <a:solidFill>
            <a:srgbClr val="FFFFFF"/>
          </a:solidFill>
          <a:ln/>
        </p:spPr>
        <p:txBody>
          <a:bodyPr wrap="square" lIns="0" tIns="0" rIns="0" bIns="0" rtlCol="0" anchor="ctr">
            <a:normAutofit/>
          </a:bodyPr>
          <a:lstStyle/>
          <a:p>
            <a:pPr marL="0" indent="0" algn="ctr">
              <a:lnSpc>
                <a:spcPts val="1620"/>
              </a:lnSpc>
              <a:buNone/>
            </a:pPr>
            <a:r>
              <a:rPr lang="en-US" sz="1200" b="1" dirty="0">
                <a:solidFill>
                  <a:srgbClr val="2F5597"/>
                </a:solidFill>
                <a:latin typeface="Lato" pitchFamily="34" charset="0"/>
                <a:ea typeface="Lato" pitchFamily="34" charset="-122"/>
                <a:cs typeface="Lato" pitchFamily="34" charset="-120"/>
              </a:rPr>
              <a:t>FFN</a:t>
            </a:r>
            <a:endParaRPr lang="en-US" sz="1200" dirty="0"/>
          </a:p>
        </p:txBody>
      </p:sp>
      <p:sp>
        <p:nvSpPr>
          <p:cNvPr id="44" name="Text 31"/>
          <p:cNvSpPr/>
          <p:nvPr/>
        </p:nvSpPr>
        <p:spPr>
          <a:xfrm>
            <a:off x="7892987" y="3648025"/>
            <a:ext cx="2184527" cy="177800"/>
          </a:xfrm>
          <a:prstGeom prst="rect">
            <a:avLst/>
          </a:prstGeom>
          <a:noFill/>
          <a:ln/>
        </p:spPr>
        <p:txBody>
          <a:bodyPr wrap="square" lIns="0" tIns="0" rIns="0" bIns="0" rtlCol="0" anchor="t">
            <a:normAutofit/>
          </a:bodyPr>
          <a:lstStyle/>
          <a:p>
            <a:pPr marL="0" indent="0" algn="ctr">
              <a:lnSpc>
                <a:spcPts val="1200"/>
              </a:lnSpc>
              <a:buNone/>
            </a:pPr>
            <a:r>
              <a:rPr lang="en-US" sz="1200" dirty="0">
                <a:solidFill>
                  <a:srgbClr val="FFFFFF"/>
                </a:solidFill>
                <a:latin typeface="Lato" pitchFamily="34" charset="0"/>
                <a:ea typeface="Lato" pitchFamily="34" charset="-122"/>
                <a:cs typeface="Lato" pitchFamily="34" charset="-120"/>
              </a:rPr>
              <a:t>⋮</a:t>
            </a:r>
            <a:endParaRPr lang="en-US" sz="1200" dirty="0"/>
          </a:p>
        </p:txBody>
      </p:sp>
      <p:sp>
        <p:nvSpPr>
          <p:cNvPr id="45" name="Text 32"/>
          <p:cNvSpPr/>
          <p:nvPr/>
        </p:nvSpPr>
        <p:spPr>
          <a:xfrm>
            <a:off x="7924800" y="3900736"/>
            <a:ext cx="381000" cy="23113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FFFFFF"/>
                </a:solidFill>
                <a:latin typeface="Lato" pitchFamily="34" charset="0"/>
                <a:ea typeface="Lato" pitchFamily="34" charset="-122"/>
                <a:cs typeface="Lato" pitchFamily="34" charset="-120"/>
              </a:rPr>
              <a:t>L2</a:t>
            </a:r>
            <a:endParaRPr lang="en-US" sz="1200" dirty="0"/>
          </a:p>
        </p:txBody>
      </p:sp>
      <p:sp>
        <p:nvSpPr>
          <p:cNvPr id="46" name="Text 33"/>
          <p:cNvSpPr/>
          <p:nvPr/>
        </p:nvSpPr>
        <p:spPr>
          <a:xfrm>
            <a:off x="8318500" y="3863925"/>
            <a:ext cx="1206500" cy="279400"/>
          </a:xfrm>
          <a:prstGeom prst="roundRect">
            <a:avLst>
              <a:gd name="adj" fmla="val 18182"/>
            </a:avLst>
          </a:prstGeom>
          <a:solidFill>
            <a:srgbClr val="FFFFFF"/>
          </a:solidFill>
          <a:ln/>
        </p:spPr>
        <p:txBody>
          <a:bodyPr wrap="square" lIns="0" tIns="0" rIns="0" bIns="0" rtlCol="0" anchor="ctr">
            <a:normAutofit/>
          </a:bodyPr>
          <a:lstStyle/>
          <a:p>
            <a:pPr marL="0" indent="0" algn="ctr">
              <a:lnSpc>
                <a:spcPts val="1620"/>
              </a:lnSpc>
              <a:buNone/>
            </a:pPr>
            <a:r>
              <a:rPr lang="en-US" sz="1200" b="1" dirty="0">
                <a:solidFill>
                  <a:srgbClr val="2F5597"/>
                </a:solidFill>
                <a:latin typeface="Lato" pitchFamily="34" charset="0"/>
                <a:ea typeface="Lato" pitchFamily="34" charset="-122"/>
                <a:cs typeface="Lato" pitchFamily="34" charset="-120"/>
              </a:rPr>
              <a:t>Self-Attention</a:t>
            </a:r>
            <a:endParaRPr lang="en-US" sz="1200" dirty="0"/>
          </a:p>
        </p:txBody>
      </p:sp>
      <p:sp>
        <p:nvSpPr>
          <p:cNvPr id="47" name="Text 34"/>
          <p:cNvSpPr/>
          <p:nvPr/>
        </p:nvSpPr>
        <p:spPr>
          <a:xfrm>
            <a:off x="9588500" y="3863925"/>
            <a:ext cx="457200" cy="279400"/>
          </a:xfrm>
          <a:prstGeom prst="roundRect">
            <a:avLst>
              <a:gd name="adj" fmla="val 18182"/>
            </a:avLst>
          </a:prstGeom>
          <a:solidFill>
            <a:srgbClr val="FFFFFF"/>
          </a:solidFill>
          <a:ln/>
        </p:spPr>
        <p:txBody>
          <a:bodyPr wrap="square" lIns="0" tIns="0" rIns="0" bIns="0" rtlCol="0" anchor="ctr">
            <a:normAutofit/>
          </a:bodyPr>
          <a:lstStyle/>
          <a:p>
            <a:pPr marL="0" indent="0" algn="ctr">
              <a:lnSpc>
                <a:spcPts val="1620"/>
              </a:lnSpc>
              <a:buNone/>
            </a:pPr>
            <a:r>
              <a:rPr lang="en-US" sz="1200" b="1" dirty="0">
                <a:solidFill>
                  <a:srgbClr val="2F5597"/>
                </a:solidFill>
                <a:latin typeface="Lato" pitchFamily="34" charset="0"/>
                <a:ea typeface="Lato" pitchFamily="34" charset="-122"/>
                <a:cs typeface="Lato" pitchFamily="34" charset="-120"/>
              </a:rPr>
              <a:t>FFN</a:t>
            </a:r>
            <a:endParaRPr lang="en-US" sz="1200" dirty="0"/>
          </a:p>
        </p:txBody>
      </p:sp>
      <p:sp>
        <p:nvSpPr>
          <p:cNvPr id="48" name="Text 35"/>
          <p:cNvSpPr/>
          <p:nvPr/>
        </p:nvSpPr>
        <p:spPr>
          <a:xfrm>
            <a:off x="7924800" y="4243636"/>
            <a:ext cx="381000" cy="23113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FFFFFF"/>
                </a:solidFill>
                <a:latin typeface="Lato" pitchFamily="34" charset="0"/>
                <a:ea typeface="Lato" pitchFamily="34" charset="-122"/>
                <a:cs typeface="Lato" pitchFamily="34" charset="-120"/>
              </a:rPr>
              <a:t>L1</a:t>
            </a:r>
            <a:endParaRPr lang="en-US" sz="1200" dirty="0"/>
          </a:p>
        </p:txBody>
      </p:sp>
      <p:sp>
        <p:nvSpPr>
          <p:cNvPr id="49" name="Text 36"/>
          <p:cNvSpPr/>
          <p:nvPr/>
        </p:nvSpPr>
        <p:spPr>
          <a:xfrm>
            <a:off x="8318500" y="4206825"/>
            <a:ext cx="1206500" cy="279400"/>
          </a:xfrm>
          <a:prstGeom prst="roundRect">
            <a:avLst>
              <a:gd name="adj" fmla="val 18182"/>
            </a:avLst>
          </a:prstGeom>
          <a:solidFill>
            <a:srgbClr val="FFFFFF"/>
          </a:solidFill>
          <a:ln/>
        </p:spPr>
        <p:txBody>
          <a:bodyPr wrap="square" lIns="0" tIns="0" rIns="0" bIns="0" rtlCol="0" anchor="ctr">
            <a:normAutofit/>
          </a:bodyPr>
          <a:lstStyle/>
          <a:p>
            <a:pPr marL="0" indent="0" algn="ctr">
              <a:lnSpc>
                <a:spcPts val="1620"/>
              </a:lnSpc>
              <a:buNone/>
            </a:pPr>
            <a:r>
              <a:rPr lang="en-US" sz="1200" b="1" dirty="0">
                <a:solidFill>
                  <a:srgbClr val="2F5597"/>
                </a:solidFill>
                <a:latin typeface="Lato" pitchFamily="34" charset="0"/>
                <a:ea typeface="Lato" pitchFamily="34" charset="-122"/>
                <a:cs typeface="Lato" pitchFamily="34" charset="-120"/>
              </a:rPr>
              <a:t>Self-Attention</a:t>
            </a:r>
            <a:endParaRPr lang="en-US" sz="1200" dirty="0"/>
          </a:p>
        </p:txBody>
      </p:sp>
      <p:sp>
        <p:nvSpPr>
          <p:cNvPr id="50" name="Text 37"/>
          <p:cNvSpPr/>
          <p:nvPr/>
        </p:nvSpPr>
        <p:spPr>
          <a:xfrm>
            <a:off x="9588500" y="4206825"/>
            <a:ext cx="457200" cy="279400"/>
          </a:xfrm>
          <a:prstGeom prst="roundRect">
            <a:avLst>
              <a:gd name="adj" fmla="val 18182"/>
            </a:avLst>
          </a:prstGeom>
          <a:solidFill>
            <a:srgbClr val="FFFFFF"/>
          </a:solidFill>
          <a:ln/>
        </p:spPr>
        <p:txBody>
          <a:bodyPr wrap="square" lIns="0" tIns="0" rIns="0" bIns="0" rtlCol="0" anchor="ctr">
            <a:normAutofit/>
          </a:bodyPr>
          <a:lstStyle/>
          <a:p>
            <a:pPr marL="0" indent="0" algn="ctr">
              <a:lnSpc>
                <a:spcPts val="1620"/>
              </a:lnSpc>
              <a:buNone/>
            </a:pPr>
            <a:r>
              <a:rPr lang="en-US" sz="1200" b="1" dirty="0">
                <a:solidFill>
                  <a:srgbClr val="2F5597"/>
                </a:solidFill>
                <a:latin typeface="Lato" pitchFamily="34" charset="0"/>
                <a:ea typeface="Lato" pitchFamily="34" charset="-122"/>
                <a:cs typeface="Lato" pitchFamily="34" charset="-120"/>
              </a:rPr>
              <a:t>FFN</a:t>
            </a:r>
            <a:endParaRPr lang="en-US" sz="1200" dirty="0"/>
          </a:p>
        </p:txBody>
      </p:sp>
      <p:sp>
        <p:nvSpPr>
          <p:cNvPr id="51" name="Text 38"/>
          <p:cNvSpPr/>
          <p:nvPr/>
        </p:nvSpPr>
        <p:spPr>
          <a:xfrm>
            <a:off x="7816850" y="4847530"/>
            <a:ext cx="971153" cy="320030"/>
          </a:xfrm>
          <a:prstGeom prst="roundRect">
            <a:avLst>
              <a:gd name="adj" fmla="val 21826"/>
            </a:avLst>
          </a:prstGeom>
          <a:solidFill>
            <a:srgbClr val="FFFFFF"/>
          </a:solidFill>
          <a:ln w="12700">
            <a:solidFill>
              <a:srgbClr val="888888"/>
            </a:solidFill>
            <a:prstDash val="solid"/>
          </a:ln>
        </p:spPr>
        <p:txBody>
          <a:bodyPr wrap="none" lIns="0" tIns="0" rIns="0" bIns="0" rtlCol="0" anchor="ctr">
            <a:normAutofit/>
          </a:bodyPr>
          <a:lstStyle/>
          <a:p>
            <a:pPr marL="0" indent="0" algn="ctr">
              <a:lnSpc>
                <a:spcPts val="1620"/>
              </a:lnSpc>
              <a:buNone/>
            </a:pPr>
            <a:r>
              <a:rPr lang="en-US" sz="1200" b="1" dirty="0">
                <a:solidFill>
                  <a:srgbClr val="555555"/>
                </a:solidFill>
                <a:latin typeface="Lato" pitchFamily="34" charset="0"/>
                <a:ea typeface="Lato" pitchFamily="34" charset="-122"/>
                <a:cs typeface="Lato" pitchFamily="34" charset="-120"/>
              </a:rPr>
              <a:t>Instruction</a:t>
            </a:r>
            <a:endParaRPr lang="en-US" sz="1200" dirty="0"/>
          </a:p>
        </p:txBody>
      </p:sp>
      <p:pic>
        <p:nvPicPr>
          <p:cNvPr id="52" name="Image 11" descr="User (woman) icon"/>
          <p:cNvPicPr>
            <a:picLocks noChangeAspect="1"/>
          </p:cNvPicPr>
          <p:nvPr/>
        </p:nvPicPr>
        <p:blipFill>
          <a:blip r:embed="rId14"/>
          <a:srcRect/>
          <a:stretch/>
        </p:blipFill>
        <p:spPr>
          <a:xfrm>
            <a:off x="8870553" y="4829770"/>
            <a:ext cx="355600" cy="355600"/>
          </a:xfrm>
          <a:prstGeom prst="rect">
            <a:avLst/>
          </a:prstGeom>
        </p:spPr>
      </p:pic>
      <p:pic>
        <p:nvPicPr>
          <p:cNvPr id="53" name="Image 12" descr="AI assistant (robot) icon"/>
          <p:cNvPicPr>
            <a:picLocks noChangeAspect="1"/>
          </p:cNvPicPr>
          <p:nvPr/>
        </p:nvPicPr>
        <p:blipFill>
          <a:blip r:embed="rId15"/>
          <a:srcRect/>
          <a:stretch/>
        </p:blipFill>
        <p:spPr>
          <a:xfrm>
            <a:off x="10756900" y="2480270"/>
            <a:ext cx="406400" cy="406400"/>
          </a:xfrm>
          <a:prstGeom prst="rect">
            <a:avLst/>
          </a:prstGeom>
        </p:spPr>
      </p:pic>
      <p:sp>
        <p:nvSpPr>
          <p:cNvPr id="54" name="Shape 39"/>
          <p:cNvSpPr/>
          <p:nvPr/>
        </p:nvSpPr>
        <p:spPr>
          <a:xfrm>
            <a:off x="10344150" y="2943820"/>
            <a:ext cx="1231900" cy="744190"/>
          </a:xfrm>
          <a:prstGeom prst="roundRect">
            <a:avLst>
              <a:gd name="adj" fmla="val 9386"/>
            </a:avLst>
          </a:prstGeom>
          <a:solidFill>
            <a:srgbClr val="FFFFFF"/>
          </a:solidFill>
          <a:ln w="12700">
            <a:solidFill>
              <a:srgbClr val="C00000"/>
            </a:solidFill>
            <a:prstDash val="solid"/>
          </a:ln>
        </p:spPr>
        <p:txBody>
          <a:bodyPr/>
          <a:lstStyle/>
          <a:p>
            <a:endParaRPr lang="en-US"/>
          </a:p>
        </p:txBody>
      </p:sp>
      <p:sp>
        <p:nvSpPr>
          <p:cNvPr id="55" name="Text 40"/>
          <p:cNvSpPr/>
          <p:nvPr/>
        </p:nvSpPr>
        <p:spPr>
          <a:xfrm>
            <a:off x="10426700" y="3000970"/>
            <a:ext cx="1117600" cy="23113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555555"/>
                </a:solidFill>
                <a:latin typeface="Lato" pitchFamily="34" charset="0"/>
                <a:ea typeface="Lato" pitchFamily="34" charset="-122"/>
                <a:cs typeface="Lato" pitchFamily="34" charset="-120"/>
              </a:rPr>
              <a:t>Answer</a:t>
            </a:r>
            <a:endParaRPr lang="en-US" sz="1200" dirty="0"/>
          </a:p>
        </p:txBody>
      </p:sp>
      <p:sp>
        <p:nvSpPr>
          <p:cNvPr id="56" name="Text 41"/>
          <p:cNvSpPr/>
          <p:nvPr/>
        </p:nvSpPr>
        <p:spPr>
          <a:xfrm>
            <a:off x="10426700" y="3219400"/>
            <a:ext cx="1117600" cy="436860"/>
          </a:xfrm>
          <a:prstGeom prst="rect">
            <a:avLst/>
          </a:prstGeom>
          <a:noFill/>
          <a:ln/>
        </p:spPr>
        <p:txBody>
          <a:bodyPr wrap="square" lIns="0" tIns="0" rIns="0" bIns="0" rtlCol="0" anchor="t">
            <a:normAutofit/>
          </a:bodyPr>
          <a:lstStyle/>
          <a:p>
            <a:pPr marL="0" indent="0" algn="l">
              <a:lnSpc>
                <a:spcPts val="1620"/>
              </a:lnSpc>
              <a:buNone/>
            </a:pPr>
            <a:r>
              <a:rPr lang="en-US" sz="1200" i="1" dirty="0">
                <a:solidFill>
                  <a:srgbClr val="000000"/>
                </a:solidFill>
                <a:latin typeface="Lato" pitchFamily="34" charset="0"/>
                <a:ea typeface="Lato" pitchFamily="34" charset="-122"/>
                <a:cs typeface="Lato" pitchFamily="34" charset="-120"/>
              </a:rPr>
              <a:t>"… a few </a:t>
            </a:r>
            <a:r>
              <a:rPr lang="en-US" sz="1200" b="1" i="1" dirty="0">
                <a:solidFill>
                  <a:srgbClr val="C00000"/>
                </a:solidFill>
                <a:latin typeface="Lato" pitchFamily="34" charset="0"/>
                <a:ea typeface="Lato" pitchFamily="34" charset="-122"/>
                <a:cs typeface="Lato" pitchFamily="34" charset="-120"/>
              </a:rPr>
              <a:t>apples</a:t>
            </a:r>
            <a:r>
              <a:rPr lang="en-US" sz="1200" i="1" dirty="0">
                <a:solidFill>
                  <a:srgbClr val="000000"/>
                </a:solidFill>
                <a:latin typeface="Lato" pitchFamily="34" charset="0"/>
                <a:ea typeface="Lato" pitchFamily="34" charset="-122"/>
                <a:cs typeface="Lato" pitchFamily="34" charset="-120"/>
              </a:rPr>
              <a:t> …"</a:t>
            </a:r>
            <a:endParaRPr lang="en-US" sz="1200" dirty="0"/>
          </a:p>
        </p:txBody>
      </p:sp>
      <p:pic>
        <p:nvPicPr>
          <p:cNvPr id="57" name="Image 13" descr="connector"/>
          <p:cNvPicPr>
            <a:picLocks noChangeAspect="1"/>
          </p:cNvPicPr>
          <p:nvPr/>
        </p:nvPicPr>
        <p:blipFill>
          <a:blip r:embed="rId16"/>
          <a:srcRect/>
          <a:stretch/>
        </p:blipFill>
        <p:spPr>
          <a:xfrm>
            <a:off x="2286000" y="4118570"/>
            <a:ext cx="381000" cy="127000"/>
          </a:xfrm>
          <a:prstGeom prst="rect">
            <a:avLst/>
          </a:prstGeom>
        </p:spPr>
      </p:pic>
      <p:pic>
        <p:nvPicPr>
          <p:cNvPr id="58" name="Image 14" descr="connector"/>
          <p:cNvPicPr>
            <a:picLocks noChangeAspect="1"/>
          </p:cNvPicPr>
          <p:nvPr/>
        </p:nvPicPr>
        <p:blipFill>
          <a:blip r:embed="rId17"/>
          <a:srcRect/>
          <a:stretch/>
        </p:blipFill>
        <p:spPr>
          <a:xfrm>
            <a:off x="4635500" y="3750270"/>
            <a:ext cx="355600" cy="127000"/>
          </a:xfrm>
          <a:prstGeom prst="rect">
            <a:avLst/>
          </a:prstGeom>
        </p:spPr>
      </p:pic>
      <p:pic>
        <p:nvPicPr>
          <p:cNvPr id="59" name="Image 15" descr="connector"/>
          <p:cNvPicPr>
            <a:picLocks noChangeAspect="1"/>
          </p:cNvPicPr>
          <p:nvPr/>
        </p:nvPicPr>
        <p:blipFill>
          <a:blip r:embed="rId18"/>
          <a:srcRect/>
          <a:stretch/>
        </p:blipFill>
        <p:spPr>
          <a:xfrm>
            <a:off x="6388100" y="3750270"/>
            <a:ext cx="431800" cy="127000"/>
          </a:xfrm>
          <a:prstGeom prst="rect">
            <a:avLst/>
          </a:prstGeom>
        </p:spPr>
      </p:pic>
      <p:pic>
        <p:nvPicPr>
          <p:cNvPr id="60" name="Image 16" descr="connector"/>
          <p:cNvPicPr>
            <a:picLocks noChangeAspect="1"/>
          </p:cNvPicPr>
          <p:nvPr/>
        </p:nvPicPr>
        <p:blipFill>
          <a:blip r:embed="rId19"/>
          <a:srcRect/>
          <a:stretch/>
        </p:blipFill>
        <p:spPr>
          <a:xfrm>
            <a:off x="6921500" y="3750270"/>
            <a:ext cx="952500" cy="127000"/>
          </a:xfrm>
          <a:prstGeom prst="rect">
            <a:avLst/>
          </a:prstGeom>
        </p:spPr>
      </p:pic>
      <p:pic>
        <p:nvPicPr>
          <p:cNvPr id="61" name="Image 17" descr="connector"/>
          <p:cNvPicPr>
            <a:picLocks noChangeAspect="1"/>
          </p:cNvPicPr>
          <p:nvPr/>
        </p:nvPicPr>
        <p:blipFill>
          <a:blip r:embed="rId20"/>
          <a:srcRect/>
          <a:stretch/>
        </p:blipFill>
        <p:spPr>
          <a:xfrm>
            <a:off x="8223250" y="4575770"/>
            <a:ext cx="127000" cy="317500"/>
          </a:xfrm>
          <a:prstGeom prst="rect">
            <a:avLst/>
          </a:prstGeom>
        </p:spPr>
      </p:pic>
      <p:pic>
        <p:nvPicPr>
          <p:cNvPr id="62" name="Image 18" descr="connector"/>
          <p:cNvPicPr>
            <a:picLocks noChangeAspect="1"/>
          </p:cNvPicPr>
          <p:nvPr/>
        </p:nvPicPr>
        <p:blipFill>
          <a:blip r:embed="rId21"/>
          <a:srcRect/>
          <a:stretch/>
        </p:blipFill>
        <p:spPr>
          <a:xfrm>
            <a:off x="10096500" y="3026370"/>
            <a:ext cx="304800" cy="127000"/>
          </a:xfrm>
          <a:prstGeom prst="rect">
            <a:avLst/>
          </a:prstGeom>
        </p:spPr>
      </p:pic>
      <p:pic>
        <p:nvPicPr>
          <p:cNvPr id="63" name="Image 19" descr="Red dashed trace-back path: from the hallucinated word apples, back through the language model to the image tokens, and on to a region of image patches"/>
          <p:cNvPicPr>
            <a:picLocks noChangeAspect="1"/>
          </p:cNvPicPr>
          <p:nvPr/>
        </p:nvPicPr>
        <p:blipFill>
          <a:blip r:embed="rId22"/>
          <a:srcRect t="-13" b="-13"/>
          <a:stretch/>
        </p:blipFill>
        <p:spPr>
          <a:xfrm>
            <a:off x="508000" y="1845270"/>
            <a:ext cx="11176000" cy="3810000"/>
          </a:xfrm>
          <a:prstGeom prst="rect">
            <a:avLst/>
          </a:prstGeom>
        </p:spPr>
      </p:pic>
      <p:sp>
        <p:nvSpPr>
          <p:cNvPr id="64" name="Text 42"/>
          <p:cNvSpPr/>
          <p:nvPr/>
        </p:nvSpPr>
        <p:spPr>
          <a:xfrm>
            <a:off x="2546350" y="5274270"/>
            <a:ext cx="3924300" cy="231130"/>
          </a:xfrm>
          <a:prstGeom prst="rect">
            <a:avLst/>
          </a:prstGeom>
          <a:noFill/>
          <a:ln/>
        </p:spPr>
        <p:txBody>
          <a:bodyPr wrap="square" lIns="0" tIns="0" rIns="0" bIns="0" rtlCol="0" anchor="t">
            <a:normAutofit/>
          </a:bodyPr>
          <a:lstStyle/>
          <a:p>
            <a:pPr marL="0" indent="0" algn="ctr">
              <a:lnSpc>
                <a:spcPts val="1620"/>
              </a:lnSpc>
              <a:buNone/>
            </a:pPr>
            <a:r>
              <a:rPr lang="en-US" sz="1200" b="1" i="1" dirty="0">
                <a:solidFill>
                  <a:srgbClr val="C00000"/>
                </a:solidFill>
                <a:latin typeface="Lato" pitchFamily="34" charset="0"/>
                <a:ea typeface="Lato" pitchFamily="34" charset="-122"/>
                <a:cs typeface="Lato" pitchFamily="34" charset="-120"/>
              </a:rPr>
              <a:t>Trace back: which image patches cause "apples"?</a:t>
            </a:r>
            <a:endParaRPr lang="en-US" sz="1200" dirty="0"/>
          </a:p>
        </p:txBody>
      </p:sp>
      <p:sp>
        <p:nvSpPr>
          <p:cNvPr id="65" name="Text 43"/>
          <p:cNvSpPr/>
          <p:nvPr/>
        </p:nvSpPr>
        <p:spPr>
          <a:xfrm>
            <a:off x="508000" y="6045200"/>
            <a:ext cx="111188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Lato" pitchFamily="34" charset="0"/>
                <a:ea typeface="Lato" pitchFamily="34" charset="-122"/>
                <a:cs typeface="Lato" pitchFamily="34" charset="-120"/>
              </a:rPr>
              <a:t>VCD: Leng et al., CVPR 2024 · OPERA: Huang et al., CVPR 2024 · PAI: Liu et al., ECCV 2024</a:t>
            </a:r>
            <a:endParaRPr lang="en-US" sz="1200" dirty="0"/>
          </a:p>
        </p:txBody>
      </p:sp>
      <p:sp>
        <p:nvSpPr>
          <p:cNvPr id="66" name="Text 44"/>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67" name="Text 45"/>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7 / 33</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Where Does the Model Look?</a:t>
            </a:r>
            <a:endParaRPr lang="en-US" sz="3200" dirty="0"/>
          </a:p>
        </p:txBody>
      </p:sp>
      <p:sp>
        <p:nvSpPr>
          <p:cNvPr id="4" name="Text 2"/>
          <p:cNvSpPr/>
          <p:nvPr/>
        </p:nvSpPr>
        <p:spPr>
          <a:xfrm>
            <a:off x="508000" y="1026120"/>
            <a:ext cx="11511280" cy="368300"/>
          </a:xfrm>
          <a:prstGeom prst="rect">
            <a:avLst/>
          </a:prstGeom>
          <a:noFill/>
          <a:ln/>
        </p:spPr>
        <p:txBody>
          <a:bodyPr wrap="square" lIns="0" tIns="0" rIns="0" bIns="0" rtlCol="0" anchor="t">
            <a:normAutofit/>
          </a:bodyPr>
          <a:lstStyle/>
          <a:p>
            <a:pPr marL="0" indent="0" algn="l">
              <a:lnSpc>
                <a:spcPts val="2700"/>
              </a:lnSpc>
              <a:buNone/>
            </a:pPr>
            <a:r>
              <a:rPr lang="en-US" sz="2000" b="1" dirty="0">
                <a:solidFill>
                  <a:srgbClr val="000000"/>
                </a:solidFill>
                <a:latin typeface="Lato" pitchFamily="34" charset="0"/>
                <a:ea typeface="Lato" pitchFamily="34" charset="-122"/>
                <a:cs typeface="Lato" pitchFamily="34" charset="-120"/>
              </a:rPr>
              <a:t>Layer 15:</a:t>
            </a:r>
            <a:r>
              <a:rPr lang="en-US" sz="2000" dirty="0">
                <a:solidFill>
                  <a:srgbClr val="000000"/>
                </a:solidFill>
                <a:latin typeface="Lato" pitchFamily="34" charset="0"/>
                <a:ea typeface="Lato" pitchFamily="34" charset="-122"/>
                <a:cs typeface="Lato" pitchFamily="34" charset="-120"/>
              </a:rPr>
              <a:t> each generated word looks at </a:t>
            </a:r>
            <a:r>
              <a:rPr lang="en-US" sz="2000" u="sng" dirty="0">
                <a:solidFill>
                  <a:srgbClr val="C00000"/>
                </a:solidFill>
                <a:latin typeface="Lato" pitchFamily="34" charset="0"/>
                <a:ea typeface="Lato" pitchFamily="34" charset="-122"/>
                <a:cs typeface="Lato" pitchFamily="34" charset="-120"/>
              </a:rPr>
              <a:t>specific image regions</a:t>
            </a:r>
            <a:endParaRPr lang="en-US" sz="2000" dirty="0"/>
          </a:p>
        </p:txBody>
      </p:sp>
      <p:pic>
        <p:nvPicPr>
          <p:cNvPr id="5" name="Image 0" descr="Layer 15 token-wise attention heatmap of LLaVA-1.5: rows are generated words, columns are input tokens; bright spots inside the image-token block and a bright lower triangle over the text tokens"/>
          <p:cNvPicPr>
            <a:picLocks noChangeAspect="1"/>
          </p:cNvPicPr>
          <p:nvPr/>
        </p:nvPicPr>
        <p:blipFill>
          <a:blip r:embed="rId3"/>
          <a:srcRect/>
          <a:stretch/>
        </p:blipFill>
        <p:spPr>
          <a:xfrm>
            <a:off x="952500" y="2207220"/>
            <a:ext cx="7239000" cy="2959100"/>
          </a:xfrm>
          <a:prstGeom prst="rect">
            <a:avLst/>
          </a:prstGeom>
        </p:spPr>
      </p:pic>
      <p:sp>
        <p:nvSpPr>
          <p:cNvPr id="6" name="Text 3"/>
          <p:cNvSpPr/>
          <p:nvPr/>
        </p:nvSpPr>
        <p:spPr>
          <a:xfrm>
            <a:off x="266700" y="3286720"/>
            <a:ext cx="584200" cy="817761"/>
          </a:xfrm>
          <a:prstGeom prst="rect">
            <a:avLst/>
          </a:prstGeom>
          <a:noFill/>
          <a:ln/>
        </p:spPr>
        <p:txBody>
          <a:bodyPr wrap="none" lIns="0" tIns="0" rIns="0" bIns="0" rtlCol="0" anchor="t">
            <a:normAutofit/>
          </a:bodyPr>
          <a:lstStyle/>
          <a:p>
            <a:pPr marL="0" indent="0" algn="r">
              <a:lnSpc>
                <a:spcPts val="1560"/>
              </a:lnSpc>
              <a:buNone/>
            </a:pPr>
            <a:r>
              <a:rPr lang="en-US" sz="1200" b="1" dirty="0">
                <a:solidFill>
                  <a:srgbClr val="555555"/>
                </a:solidFill>
                <a:latin typeface="Lato" pitchFamily="34" charset="0"/>
                <a:ea typeface="Lato" pitchFamily="34" charset="-122"/>
                <a:cs typeface="Lato" pitchFamily="34" charset="-120"/>
              </a:rPr>
              <a:t>Rows:</a:t>
            </a:r>
            <a:endParaRPr lang="en-US" sz="1200" dirty="0"/>
          </a:p>
          <a:p>
            <a:pPr marL="0" indent="0" algn="r">
              <a:lnSpc>
                <a:spcPts val="1560"/>
              </a:lnSpc>
              <a:buNone/>
            </a:pPr>
            <a:r>
              <a:rPr lang="en-US" sz="1200" b="1" dirty="0">
                <a:solidFill>
                  <a:srgbClr val="555555"/>
                </a:solidFill>
                <a:latin typeface="Lato" pitchFamily="34" charset="0"/>
                <a:ea typeface="Lato" pitchFamily="34" charset="-122"/>
                <a:cs typeface="Lato" pitchFamily="34" charset="-120"/>
              </a:rPr>
              <a:t>answer</a:t>
            </a:r>
            <a:endParaRPr lang="en-US" sz="1200" dirty="0"/>
          </a:p>
          <a:p>
            <a:pPr marL="0" indent="0" algn="r">
              <a:lnSpc>
                <a:spcPts val="1560"/>
              </a:lnSpc>
              <a:buNone/>
            </a:pPr>
            <a:r>
              <a:rPr lang="en-US" sz="1200" b="1" dirty="0">
                <a:solidFill>
                  <a:srgbClr val="555555"/>
                </a:solidFill>
                <a:latin typeface="Lato" pitchFamily="34" charset="0"/>
                <a:ea typeface="Lato" pitchFamily="34" charset="-122"/>
                <a:cs typeface="Lato" pitchFamily="34" charset="-120"/>
              </a:rPr>
              <a:t>words,</a:t>
            </a:r>
            <a:endParaRPr lang="en-US" sz="1200" dirty="0"/>
          </a:p>
          <a:p>
            <a:pPr marL="0" indent="0" algn="r">
              <a:lnSpc>
                <a:spcPts val="1560"/>
              </a:lnSpc>
              <a:buNone/>
            </a:pPr>
            <a:r>
              <a:rPr lang="en-US" sz="1200" b="1" dirty="0">
                <a:solidFill>
                  <a:srgbClr val="555555"/>
                </a:solidFill>
                <a:latin typeface="Lato" pitchFamily="34" charset="0"/>
                <a:ea typeface="Lato" pitchFamily="34" charset="-122"/>
                <a:cs typeface="Lato" pitchFamily="34" charset="-120"/>
              </a:rPr>
              <a:t>in order</a:t>
            </a:r>
            <a:endParaRPr lang="en-US" sz="1200" dirty="0"/>
          </a:p>
        </p:txBody>
      </p:sp>
      <p:pic>
        <p:nvPicPr>
          <p:cNvPr id="7" name="Image 1" descr="connector"/>
          <p:cNvPicPr>
            <a:picLocks noChangeAspect="1"/>
          </p:cNvPicPr>
          <p:nvPr/>
        </p:nvPicPr>
        <p:blipFill>
          <a:blip r:embed="rId4"/>
          <a:srcRect/>
          <a:stretch/>
        </p:blipFill>
        <p:spPr>
          <a:xfrm>
            <a:off x="850900" y="2181820"/>
            <a:ext cx="101600" cy="3009900"/>
          </a:xfrm>
          <a:prstGeom prst="rect">
            <a:avLst/>
          </a:prstGeom>
        </p:spPr>
      </p:pic>
      <p:sp>
        <p:nvSpPr>
          <p:cNvPr id="8" name="Text 4"/>
          <p:cNvSpPr/>
          <p:nvPr/>
        </p:nvSpPr>
        <p:spPr>
          <a:xfrm>
            <a:off x="2609850" y="5712420"/>
            <a:ext cx="3924300" cy="223490"/>
          </a:xfrm>
          <a:prstGeom prst="rect">
            <a:avLst/>
          </a:prstGeom>
          <a:noFill/>
          <a:ln/>
        </p:spPr>
        <p:txBody>
          <a:bodyPr wrap="none" lIns="0" tIns="0" rIns="0" bIns="0" rtlCol="0" anchor="t">
            <a:normAutofit/>
          </a:bodyPr>
          <a:lstStyle/>
          <a:p>
            <a:pPr marL="0" indent="0" algn="ctr">
              <a:lnSpc>
                <a:spcPts val="1560"/>
              </a:lnSpc>
              <a:buNone/>
            </a:pPr>
            <a:r>
              <a:rPr lang="en-US" sz="1200" b="1" dirty="0">
                <a:solidFill>
                  <a:srgbClr val="555555"/>
                </a:solidFill>
                <a:latin typeface="Lato" pitchFamily="34" charset="0"/>
                <a:ea typeface="Lato" pitchFamily="34" charset="-122"/>
                <a:cs typeface="Lato" pitchFamily="34" charset="-120"/>
              </a:rPr>
              <a:t>Columns: input tokens</a:t>
            </a:r>
            <a:endParaRPr lang="en-US" sz="1200" dirty="0"/>
          </a:p>
        </p:txBody>
      </p:sp>
      <p:pic>
        <p:nvPicPr>
          <p:cNvPr id="9" name="Image 2" descr="Brackets under the heatmap marking the column groups: system prompt, 576 image tokens, question and answer text"/>
          <p:cNvPicPr>
            <a:picLocks noChangeAspect="1"/>
          </p:cNvPicPr>
          <p:nvPr/>
        </p:nvPicPr>
        <p:blipFill>
          <a:blip r:embed="rId5"/>
          <a:srcRect t="-135" b="-135"/>
          <a:stretch/>
        </p:blipFill>
        <p:spPr>
          <a:xfrm>
            <a:off x="317500" y="5204420"/>
            <a:ext cx="8191500" cy="152400"/>
          </a:xfrm>
          <a:prstGeom prst="rect">
            <a:avLst/>
          </a:prstGeom>
        </p:spPr>
      </p:pic>
      <p:sp>
        <p:nvSpPr>
          <p:cNvPr id="10" name="Text 5"/>
          <p:cNvSpPr/>
          <p:nvPr/>
        </p:nvSpPr>
        <p:spPr>
          <a:xfrm>
            <a:off x="939800" y="5394920"/>
            <a:ext cx="1320800" cy="208260"/>
          </a:xfrm>
          <a:prstGeom prst="rect">
            <a:avLst/>
          </a:prstGeom>
          <a:noFill/>
          <a:ln/>
        </p:spPr>
        <p:txBody>
          <a:bodyPr wrap="none" lIns="0" tIns="0" rIns="0" bIns="0" rtlCol="0" anchor="t">
            <a:normAutofit/>
          </a:bodyPr>
          <a:lstStyle/>
          <a:p>
            <a:pPr marL="0" indent="0" algn="l">
              <a:lnSpc>
                <a:spcPts val="1440"/>
              </a:lnSpc>
              <a:buNone/>
            </a:pPr>
            <a:r>
              <a:rPr lang="en-US" sz="1200" dirty="0">
                <a:solidFill>
                  <a:srgbClr val="555555"/>
                </a:solidFill>
                <a:latin typeface="Lato" pitchFamily="34" charset="0"/>
                <a:ea typeface="Lato" pitchFamily="34" charset="-122"/>
                <a:cs typeface="Lato" pitchFamily="34" charset="-120"/>
              </a:rPr>
              <a:t>system prompt</a:t>
            </a:r>
            <a:endParaRPr lang="en-US" sz="1200" dirty="0"/>
          </a:p>
        </p:txBody>
      </p:sp>
      <p:sp>
        <p:nvSpPr>
          <p:cNvPr id="11" name="Text 6"/>
          <p:cNvSpPr/>
          <p:nvPr/>
        </p:nvSpPr>
        <p:spPr>
          <a:xfrm>
            <a:off x="2749550" y="5382220"/>
            <a:ext cx="2616200" cy="265410"/>
          </a:xfrm>
          <a:prstGeom prst="rect">
            <a:avLst/>
          </a:prstGeom>
          <a:noFill/>
          <a:ln/>
        </p:spPr>
        <p:txBody>
          <a:bodyPr wrap="square" lIns="0" tIns="0" rIns="0" bIns="0" rtlCol="0" anchor="t">
            <a:normAutofit/>
          </a:bodyPr>
          <a:lstStyle/>
          <a:p>
            <a:pPr marL="0" indent="0" algn="ctr">
              <a:lnSpc>
                <a:spcPts val="1890"/>
              </a:lnSpc>
              <a:buNone/>
            </a:pPr>
            <a:r>
              <a:rPr lang="en-US" sz="1400" b="1" dirty="0">
                <a:solidFill>
                  <a:srgbClr val="2F5597"/>
                </a:solidFill>
                <a:latin typeface="Lato" pitchFamily="34" charset="0"/>
                <a:ea typeface="Lato" pitchFamily="34" charset="-122"/>
                <a:cs typeface="Lato" pitchFamily="34" charset="-120"/>
              </a:rPr>
              <a:t>576 image tokens</a:t>
            </a:r>
            <a:endParaRPr lang="en-US" sz="1400" dirty="0"/>
          </a:p>
        </p:txBody>
      </p:sp>
      <p:sp>
        <p:nvSpPr>
          <p:cNvPr id="12" name="Text 7"/>
          <p:cNvSpPr/>
          <p:nvPr/>
        </p:nvSpPr>
        <p:spPr>
          <a:xfrm>
            <a:off x="6845300" y="5394920"/>
            <a:ext cx="1358900" cy="391120"/>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555555"/>
                </a:solidFill>
                <a:latin typeface="Lato" pitchFamily="34" charset="0"/>
                <a:ea typeface="Lato" pitchFamily="34" charset="-122"/>
                <a:cs typeface="Lato" pitchFamily="34" charset="-120"/>
              </a:rPr>
              <a:t>question + answer text</a:t>
            </a:r>
            <a:endParaRPr lang="en-US" sz="1200" dirty="0"/>
          </a:p>
        </p:txBody>
      </p:sp>
      <p:sp>
        <p:nvSpPr>
          <p:cNvPr id="13" name="Text 8"/>
          <p:cNvSpPr/>
          <p:nvPr/>
        </p:nvSpPr>
        <p:spPr>
          <a:xfrm>
            <a:off x="1016000" y="1623020"/>
            <a:ext cx="2877820" cy="22349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555555"/>
                </a:solidFill>
                <a:latin typeface="Lato" pitchFamily="34" charset="0"/>
                <a:ea typeface="Lato" pitchFamily="34" charset="-122"/>
                <a:cs typeface="Lato" pitchFamily="34" charset="-120"/>
              </a:rPr>
              <a:t>Attention sinks: bright in every row</a:t>
            </a:r>
            <a:endParaRPr lang="en-US" sz="1200" dirty="0"/>
          </a:p>
        </p:txBody>
      </p:sp>
      <p:pic>
        <p:nvPicPr>
          <p:cNvPr id="14" name="Image 3" descr="connector"/>
          <p:cNvPicPr>
            <a:picLocks noChangeAspect="1"/>
          </p:cNvPicPr>
          <p:nvPr/>
        </p:nvPicPr>
        <p:blipFill>
          <a:blip r:embed="rId6"/>
          <a:srcRect/>
          <a:stretch/>
        </p:blipFill>
        <p:spPr>
          <a:xfrm>
            <a:off x="1013420" y="1800820"/>
            <a:ext cx="101600" cy="533400"/>
          </a:xfrm>
          <a:prstGeom prst="rect">
            <a:avLst/>
          </a:prstGeom>
        </p:spPr>
      </p:pic>
      <p:sp>
        <p:nvSpPr>
          <p:cNvPr id="15" name="Text 9"/>
          <p:cNvSpPr/>
          <p:nvPr/>
        </p:nvSpPr>
        <p:spPr>
          <a:xfrm>
            <a:off x="4013200" y="1623020"/>
            <a:ext cx="2616200" cy="421580"/>
          </a:xfrm>
          <a:prstGeom prst="rect">
            <a:avLst/>
          </a:prstGeom>
          <a:noFill/>
          <a:ln/>
        </p:spPr>
        <p:txBody>
          <a:bodyPr wrap="square" lIns="0" tIns="0" rIns="0" bIns="0" rtlCol="0" anchor="t">
            <a:normAutofit/>
          </a:bodyPr>
          <a:lstStyle/>
          <a:p>
            <a:pPr marL="0" indent="0" algn="r">
              <a:lnSpc>
                <a:spcPts val="1560"/>
              </a:lnSpc>
              <a:buNone/>
            </a:pPr>
            <a:r>
              <a:rPr lang="en-US" sz="1200" b="1" dirty="0">
                <a:solidFill>
                  <a:srgbClr val="C00000"/>
                </a:solidFill>
                <a:latin typeface="Lato" pitchFamily="34" charset="0"/>
                <a:ea typeface="Lato" pitchFamily="34" charset="-122"/>
                <a:cs typeface="Lato" pitchFamily="34" charset="-120"/>
              </a:rPr>
              <a:t>Bright spots: a word reading a specific image region</a:t>
            </a:r>
            <a:endParaRPr lang="en-US" sz="1200" dirty="0"/>
          </a:p>
        </p:txBody>
      </p:sp>
      <p:pic>
        <p:nvPicPr>
          <p:cNvPr id="16" name="Image 4" descr="connector"/>
          <p:cNvPicPr>
            <a:picLocks noChangeAspect="1"/>
          </p:cNvPicPr>
          <p:nvPr/>
        </p:nvPicPr>
        <p:blipFill>
          <a:blip r:embed="rId7"/>
          <a:srcRect/>
          <a:stretch/>
        </p:blipFill>
        <p:spPr>
          <a:xfrm>
            <a:off x="5942955" y="2016720"/>
            <a:ext cx="101600" cy="488950"/>
          </a:xfrm>
          <a:prstGeom prst="rect">
            <a:avLst/>
          </a:prstGeom>
        </p:spPr>
      </p:pic>
      <p:sp>
        <p:nvSpPr>
          <p:cNvPr id="17" name="Text 10"/>
          <p:cNvSpPr/>
          <p:nvPr/>
        </p:nvSpPr>
        <p:spPr>
          <a:xfrm>
            <a:off x="6724650" y="1623020"/>
            <a:ext cx="1447800" cy="421580"/>
          </a:xfrm>
          <a:prstGeom prst="rect">
            <a:avLst/>
          </a:prstGeom>
          <a:noFill/>
          <a:ln/>
        </p:spPr>
        <p:txBody>
          <a:bodyPr wrap="square" lIns="0" tIns="0" rIns="0" bIns="0" rtlCol="0" anchor="t">
            <a:normAutofit/>
          </a:bodyPr>
          <a:lstStyle/>
          <a:p>
            <a:pPr marL="0" indent="0" algn="r">
              <a:lnSpc>
                <a:spcPts val="1560"/>
              </a:lnSpc>
              <a:buNone/>
            </a:pPr>
            <a:r>
              <a:rPr lang="en-US" sz="1200" b="1" dirty="0">
                <a:solidFill>
                  <a:srgbClr val="555555"/>
                </a:solidFill>
                <a:latin typeface="Lato" pitchFamily="34" charset="0"/>
                <a:ea typeface="Lato" pitchFamily="34" charset="-122"/>
                <a:cs typeface="Lato" pitchFamily="34" charset="-120"/>
              </a:rPr>
              <a:t>Earlier words of the answer</a:t>
            </a:r>
            <a:endParaRPr lang="en-US" sz="1200" dirty="0"/>
          </a:p>
        </p:txBody>
      </p:sp>
      <p:pic>
        <p:nvPicPr>
          <p:cNvPr id="18" name="Image 5" descr="connector"/>
          <p:cNvPicPr>
            <a:picLocks noChangeAspect="1"/>
          </p:cNvPicPr>
          <p:nvPr/>
        </p:nvPicPr>
        <p:blipFill>
          <a:blip r:embed="rId8"/>
          <a:srcRect/>
          <a:stretch/>
        </p:blipFill>
        <p:spPr>
          <a:xfrm>
            <a:off x="7614245" y="2016720"/>
            <a:ext cx="101600" cy="2578100"/>
          </a:xfrm>
          <a:prstGeom prst="rect">
            <a:avLst/>
          </a:prstGeom>
        </p:spPr>
      </p:pic>
      <p:sp>
        <p:nvSpPr>
          <p:cNvPr id="19" name="Text 11"/>
          <p:cNvSpPr/>
          <p:nvPr/>
        </p:nvSpPr>
        <p:spPr>
          <a:xfrm>
            <a:off x="8407400" y="2207220"/>
            <a:ext cx="3374898" cy="26541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C00000"/>
                </a:solidFill>
                <a:latin typeface="Lato" pitchFamily="34" charset="0"/>
                <a:ea typeface="Lato" pitchFamily="34" charset="-122"/>
                <a:cs typeface="Lato" pitchFamily="34" charset="-120"/>
              </a:rPr>
              <a:t>Example</a:t>
            </a:r>
            <a:endParaRPr lang="en-US" sz="1400" dirty="0"/>
          </a:p>
        </p:txBody>
      </p:sp>
      <p:sp>
        <p:nvSpPr>
          <p:cNvPr id="20" name="Text 12"/>
          <p:cNvSpPr/>
          <p:nvPr/>
        </p:nvSpPr>
        <p:spPr>
          <a:xfrm>
            <a:off x="8413750" y="2492970"/>
            <a:ext cx="3263900" cy="525760"/>
          </a:xfrm>
          <a:prstGeom prst="roundRect">
            <a:avLst>
              <a:gd name="adj" fmla="val 13286"/>
            </a:avLst>
          </a:prstGeom>
          <a:solidFill>
            <a:srgbClr val="FFFFFF"/>
          </a:solidFill>
          <a:ln w="12700">
            <a:solidFill>
              <a:srgbClr val="888888"/>
            </a:solidFill>
            <a:prstDash val="solid"/>
          </a:ln>
        </p:spPr>
        <p:txBody>
          <a:bodyPr wrap="square" lIns="62092" tIns="36692" rIns="0" bIns="11292" rtlCol="0" anchor="t">
            <a:normAutofit/>
          </a:bodyPr>
          <a:lstStyle/>
          <a:p>
            <a:pPr marL="0" indent="0" algn="l">
              <a:lnSpc>
                <a:spcPts val="1620"/>
              </a:lnSpc>
              <a:buNone/>
            </a:pPr>
            <a:r>
              <a:rPr lang="en-US" sz="1200" i="1" dirty="0">
                <a:solidFill>
                  <a:srgbClr val="000000"/>
                </a:solidFill>
                <a:latin typeface="Lato" pitchFamily="34" charset="0"/>
                <a:ea typeface="Lato" pitchFamily="34" charset="-122"/>
                <a:cs typeface="Lato" pitchFamily="34" charset="-120"/>
              </a:rPr>
              <a:t>"The image features a white </a:t>
            </a:r>
            <a:r>
              <a:rPr lang="en-US" sz="1200" b="1" i="1" dirty="0">
                <a:solidFill>
                  <a:srgbClr val="C00000"/>
                </a:solidFill>
                <a:latin typeface="Lato" pitchFamily="34" charset="0"/>
                <a:ea typeface="Lato" pitchFamily="34" charset="-122"/>
                <a:cs typeface="Lato" pitchFamily="34" charset="-120"/>
              </a:rPr>
              <a:t>dog</a:t>
            </a:r>
            <a:r>
              <a:rPr lang="en-US" sz="1200" i="1" dirty="0">
                <a:solidFill>
                  <a:srgbClr val="000000"/>
                </a:solidFill>
                <a:latin typeface="Lato" pitchFamily="34" charset="0"/>
                <a:ea typeface="Lato" pitchFamily="34" charset="-122"/>
                <a:cs typeface="Lato" pitchFamily="34" charset="-120"/>
              </a:rPr>
              <a:t> lying on a sidewalk …"</a:t>
            </a:r>
            <a:endParaRPr lang="en-US" sz="1200" dirty="0"/>
          </a:p>
        </p:txBody>
      </p:sp>
      <p:pic>
        <p:nvPicPr>
          <p:cNvPr id="21" name="Image 6" descr="Layer 15 attention of the word dog over the image: bright cells concentrate on the dog in the lower left"/>
          <p:cNvPicPr>
            <a:picLocks noChangeAspect="1"/>
          </p:cNvPicPr>
          <p:nvPr/>
        </p:nvPicPr>
        <p:blipFill>
          <a:blip r:embed="rId9"/>
          <a:srcRect/>
          <a:stretch/>
        </p:blipFill>
        <p:spPr>
          <a:xfrm>
            <a:off x="8407400" y="3578820"/>
            <a:ext cx="1587500" cy="1587500"/>
          </a:xfrm>
          <a:prstGeom prst="roundRect">
            <a:avLst>
              <a:gd name="adj" fmla="val 3200"/>
            </a:avLst>
          </a:prstGeom>
        </p:spPr>
      </p:pic>
      <p:pic>
        <p:nvPicPr>
          <p:cNvPr id="22" name="Image 7" descr="Input image: a white dog lying on a cobblestone sidewalk next to a bicycle"/>
          <p:cNvPicPr>
            <a:picLocks noChangeAspect="1"/>
          </p:cNvPicPr>
          <p:nvPr/>
        </p:nvPicPr>
        <p:blipFill>
          <a:blip r:embed="rId10"/>
          <a:srcRect l="342" r="342"/>
          <a:stretch/>
        </p:blipFill>
        <p:spPr>
          <a:xfrm>
            <a:off x="10096500" y="3578820"/>
            <a:ext cx="1587500" cy="1587500"/>
          </a:xfrm>
          <a:prstGeom prst="roundRect">
            <a:avLst>
              <a:gd name="adj" fmla="val 3200"/>
            </a:avLst>
          </a:prstGeom>
        </p:spPr>
      </p:pic>
      <p:sp>
        <p:nvSpPr>
          <p:cNvPr id="23" name="Text 13"/>
          <p:cNvSpPr/>
          <p:nvPr/>
        </p:nvSpPr>
        <p:spPr>
          <a:xfrm>
            <a:off x="8382000" y="5217120"/>
            <a:ext cx="1638300" cy="208260"/>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555555"/>
                </a:solidFill>
                <a:latin typeface="Lato" pitchFamily="34" charset="0"/>
                <a:ea typeface="Lato" pitchFamily="34" charset="-122"/>
                <a:cs typeface="Lato" pitchFamily="34" charset="-120"/>
              </a:rPr>
              <a:t>Attention of "dog"</a:t>
            </a:r>
            <a:endParaRPr lang="en-US" sz="1200" dirty="0"/>
          </a:p>
        </p:txBody>
      </p:sp>
      <p:sp>
        <p:nvSpPr>
          <p:cNvPr id="24" name="Text 14"/>
          <p:cNvSpPr/>
          <p:nvPr/>
        </p:nvSpPr>
        <p:spPr>
          <a:xfrm>
            <a:off x="10071100" y="5217120"/>
            <a:ext cx="1638300" cy="208260"/>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555555"/>
                </a:solidFill>
                <a:latin typeface="Lato" pitchFamily="34" charset="0"/>
                <a:ea typeface="Lato" pitchFamily="34" charset="-122"/>
                <a:cs typeface="Lato" pitchFamily="34" charset="-120"/>
              </a:rPr>
              <a:t>Input image</a:t>
            </a:r>
            <a:endParaRPr lang="en-US" sz="1200" dirty="0"/>
          </a:p>
        </p:txBody>
      </p:sp>
      <p:sp>
        <p:nvSpPr>
          <p:cNvPr id="25" name="Text 15"/>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26" name="Text 16"/>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8 / 33</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Middle Layers Localize Objects</a:t>
            </a:r>
            <a:endParaRPr lang="en-US" sz="3200" dirty="0"/>
          </a:p>
        </p:txBody>
      </p:sp>
      <p:sp>
        <p:nvSpPr>
          <p:cNvPr id="4" name="Text 2"/>
          <p:cNvSpPr/>
          <p:nvPr/>
        </p:nvSpPr>
        <p:spPr>
          <a:xfrm>
            <a:off x="508000" y="1026120"/>
            <a:ext cx="11511280" cy="368300"/>
          </a:xfrm>
          <a:prstGeom prst="rect">
            <a:avLst/>
          </a:prstGeom>
          <a:noFill/>
          <a:ln/>
        </p:spPr>
        <p:txBody>
          <a:bodyPr wrap="square" lIns="0" tIns="0" rIns="0" bIns="0" rtlCol="0" anchor="t">
            <a:normAutofit/>
          </a:bodyPr>
          <a:lstStyle/>
          <a:p>
            <a:pPr marL="0" indent="0" algn="l">
              <a:lnSpc>
                <a:spcPts val="2700"/>
              </a:lnSpc>
              <a:buNone/>
            </a:pPr>
            <a:r>
              <a:rPr lang="en-US" sz="2000" b="1" dirty="0">
                <a:solidFill>
                  <a:srgbClr val="000000"/>
                </a:solidFill>
                <a:latin typeface="Lato" pitchFamily="34" charset="0"/>
                <a:ea typeface="Lato" pitchFamily="34" charset="-122"/>
                <a:cs typeface="Lato" pitchFamily="34" charset="-120"/>
              </a:rPr>
              <a:t>Middle layers:</a:t>
            </a:r>
            <a:r>
              <a:rPr lang="en-US" sz="2000" dirty="0">
                <a:solidFill>
                  <a:srgbClr val="000000"/>
                </a:solidFill>
                <a:latin typeface="Lato" pitchFamily="34" charset="0"/>
                <a:ea typeface="Lato" pitchFamily="34" charset="-122"/>
                <a:cs typeface="Lato" pitchFamily="34" charset="-120"/>
              </a:rPr>
              <a:t> an object word puts over half its attention </a:t>
            </a:r>
            <a:r>
              <a:rPr lang="en-US" sz="2000" u="sng" dirty="0">
                <a:solidFill>
                  <a:srgbClr val="C00000"/>
                </a:solidFill>
                <a:latin typeface="Lato" pitchFamily="34" charset="0"/>
                <a:ea typeface="Lato" pitchFamily="34" charset="-122"/>
                <a:cs typeface="Lato" pitchFamily="34" charset="-120"/>
              </a:rPr>
              <a:t>on that object in the image</a:t>
            </a:r>
            <a:endParaRPr lang="en-US" sz="2000" dirty="0"/>
          </a:p>
        </p:txBody>
      </p:sp>
      <p:sp>
        <p:nvSpPr>
          <p:cNvPr id="5" name="Shape 3"/>
          <p:cNvSpPr/>
          <p:nvPr/>
        </p:nvSpPr>
        <p:spPr>
          <a:xfrm>
            <a:off x="619125" y="2119610"/>
            <a:ext cx="5873750" cy="3365500"/>
          </a:xfrm>
          <a:prstGeom prst="roundRect">
            <a:avLst>
              <a:gd name="adj" fmla="val 2642"/>
            </a:avLst>
          </a:prstGeom>
          <a:solidFill>
            <a:srgbClr val="FFFFFF"/>
          </a:solidFill>
          <a:ln/>
        </p:spPr>
        <p:txBody>
          <a:bodyPr/>
          <a:lstStyle/>
          <a:p>
            <a:endParaRPr lang="en-US"/>
          </a:p>
        </p:txBody>
      </p:sp>
      <p:sp>
        <p:nvSpPr>
          <p:cNvPr id="6" name="Shape 4"/>
          <p:cNvSpPr/>
          <p:nvPr/>
        </p:nvSpPr>
        <p:spPr>
          <a:xfrm>
            <a:off x="695325" y="2900660"/>
            <a:ext cx="3714750" cy="1619250"/>
          </a:xfrm>
          <a:prstGeom prst="roundRect">
            <a:avLst>
              <a:gd name="adj" fmla="val 5098"/>
            </a:avLst>
          </a:prstGeom>
          <a:solidFill>
            <a:srgbClr val="FBE9EC"/>
          </a:solidFill>
          <a:ln w="12700">
            <a:solidFill>
              <a:srgbClr val="CC0033"/>
            </a:solidFill>
            <a:prstDash val="dash"/>
          </a:ln>
        </p:spPr>
        <p:txBody>
          <a:bodyPr/>
          <a:lstStyle/>
          <a:p>
            <a:endParaRPr lang="en-US"/>
          </a:p>
        </p:txBody>
      </p:sp>
      <p:pic>
        <p:nvPicPr>
          <p:cNvPr id="7" name="Image 0" descr="Attention arcs from the object word to two image tokens at layer 15"/>
          <p:cNvPicPr>
            <a:picLocks noChangeAspect="1"/>
          </p:cNvPicPr>
          <p:nvPr/>
        </p:nvPicPr>
        <p:blipFill>
          <a:blip r:embed="rId3"/>
          <a:srcRect/>
          <a:stretch/>
        </p:blipFill>
        <p:spPr>
          <a:xfrm>
            <a:off x="619125" y="2119610"/>
            <a:ext cx="5873750" cy="3365500"/>
          </a:xfrm>
          <a:prstGeom prst="rect">
            <a:avLst/>
          </a:prstGeom>
        </p:spPr>
      </p:pic>
      <p:sp>
        <p:nvSpPr>
          <p:cNvPr id="8" name="Text 5"/>
          <p:cNvSpPr/>
          <p:nvPr/>
        </p:nvSpPr>
        <p:spPr>
          <a:xfrm>
            <a:off x="3400425" y="2151360"/>
            <a:ext cx="1485900" cy="248245"/>
          </a:xfrm>
          <a:prstGeom prst="rect">
            <a:avLst/>
          </a:prstGeom>
          <a:noFill/>
          <a:ln/>
        </p:spPr>
        <p:txBody>
          <a:bodyPr wrap="square" lIns="0" tIns="0" rIns="0" bIns="0" rtlCol="0" anchor="t">
            <a:normAutofit/>
          </a:bodyPr>
          <a:lstStyle/>
          <a:p>
            <a:pPr marL="0" indent="0" algn="ctr">
              <a:lnSpc>
                <a:spcPts val="1755"/>
              </a:lnSpc>
              <a:buNone/>
            </a:pPr>
            <a:r>
              <a:rPr lang="en-US" sz="1350" b="1" dirty="0">
                <a:solidFill>
                  <a:srgbClr val="C00000"/>
                </a:solidFill>
                <a:latin typeface="Lato" pitchFamily="34" charset="0"/>
                <a:ea typeface="Lato" pitchFamily="34" charset="-122"/>
                <a:cs typeface="Lato" pitchFamily="34" charset="-120"/>
              </a:rPr>
              <a:t>object word</a:t>
            </a:r>
            <a:endParaRPr lang="en-US" sz="1350" dirty="0"/>
          </a:p>
        </p:txBody>
      </p:sp>
      <p:sp>
        <p:nvSpPr>
          <p:cNvPr id="9" name="Text 6"/>
          <p:cNvSpPr/>
          <p:nvPr/>
        </p:nvSpPr>
        <p:spPr>
          <a:xfrm>
            <a:off x="765175" y="2432496"/>
            <a:ext cx="552450" cy="256828"/>
          </a:xfrm>
          <a:prstGeom prst="rect">
            <a:avLst/>
          </a:prstGeom>
          <a:noFill/>
          <a:ln/>
        </p:spPr>
        <p:txBody>
          <a:bodyPr wrap="square" lIns="0" tIns="0" rIns="0" bIns="0" rtlCol="0" anchor="t">
            <a:normAutofit/>
          </a:bodyPr>
          <a:lstStyle/>
          <a:p>
            <a:pPr marL="0" indent="0" algn="l">
              <a:lnSpc>
                <a:spcPts val="1823"/>
              </a:lnSpc>
              <a:buNone/>
            </a:pPr>
            <a:r>
              <a:rPr lang="en-US" sz="1350" dirty="0">
                <a:solidFill>
                  <a:srgbClr val="555555"/>
                </a:solidFill>
                <a:latin typeface="Lato" pitchFamily="34" charset="0"/>
                <a:ea typeface="Lato" pitchFamily="34" charset="-122"/>
                <a:cs typeface="Lato" pitchFamily="34" charset="-120"/>
              </a:rPr>
              <a:t>L32</a:t>
            </a:r>
            <a:endParaRPr lang="en-US" sz="1350" dirty="0"/>
          </a:p>
        </p:txBody>
      </p:sp>
      <p:sp>
        <p:nvSpPr>
          <p:cNvPr id="10" name="Shape 7"/>
          <p:cNvSpPr/>
          <p:nvPr/>
        </p:nvSpPr>
        <p:spPr>
          <a:xfrm>
            <a:off x="1368425" y="2433935"/>
            <a:ext cx="285750" cy="228600"/>
          </a:xfrm>
          <a:prstGeom prst="roundRect">
            <a:avLst>
              <a:gd name="adj" fmla="val 19444"/>
            </a:avLst>
          </a:prstGeom>
          <a:solidFill>
            <a:srgbClr val="9DB4D8"/>
          </a:solidFill>
          <a:ln/>
        </p:spPr>
        <p:txBody>
          <a:bodyPr/>
          <a:lstStyle/>
          <a:p>
            <a:endParaRPr lang="en-US"/>
          </a:p>
        </p:txBody>
      </p:sp>
      <p:sp>
        <p:nvSpPr>
          <p:cNvPr id="11" name="Shape 8"/>
          <p:cNvSpPr/>
          <p:nvPr/>
        </p:nvSpPr>
        <p:spPr>
          <a:xfrm>
            <a:off x="1755775" y="2433935"/>
            <a:ext cx="285750" cy="228600"/>
          </a:xfrm>
          <a:prstGeom prst="roundRect">
            <a:avLst>
              <a:gd name="adj" fmla="val 19444"/>
            </a:avLst>
          </a:prstGeom>
          <a:solidFill>
            <a:srgbClr val="9DB4D8"/>
          </a:solidFill>
          <a:ln/>
        </p:spPr>
        <p:txBody>
          <a:bodyPr/>
          <a:lstStyle/>
          <a:p>
            <a:endParaRPr lang="en-US"/>
          </a:p>
        </p:txBody>
      </p:sp>
      <p:sp>
        <p:nvSpPr>
          <p:cNvPr id="12" name="Shape 9"/>
          <p:cNvSpPr/>
          <p:nvPr/>
        </p:nvSpPr>
        <p:spPr>
          <a:xfrm>
            <a:off x="2143125" y="2433935"/>
            <a:ext cx="285750" cy="228600"/>
          </a:xfrm>
          <a:prstGeom prst="roundRect">
            <a:avLst>
              <a:gd name="adj" fmla="val 19444"/>
            </a:avLst>
          </a:prstGeom>
          <a:solidFill>
            <a:srgbClr val="9DB4D8"/>
          </a:solidFill>
          <a:ln/>
        </p:spPr>
        <p:txBody>
          <a:bodyPr/>
          <a:lstStyle/>
          <a:p>
            <a:endParaRPr lang="en-US"/>
          </a:p>
        </p:txBody>
      </p:sp>
      <p:sp>
        <p:nvSpPr>
          <p:cNvPr id="13" name="Shape 10"/>
          <p:cNvSpPr/>
          <p:nvPr/>
        </p:nvSpPr>
        <p:spPr>
          <a:xfrm>
            <a:off x="2530475" y="2433935"/>
            <a:ext cx="285750" cy="228600"/>
          </a:xfrm>
          <a:prstGeom prst="roundRect">
            <a:avLst>
              <a:gd name="adj" fmla="val 19444"/>
            </a:avLst>
          </a:prstGeom>
          <a:solidFill>
            <a:srgbClr val="9DB4D8"/>
          </a:solidFill>
          <a:ln/>
        </p:spPr>
        <p:txBody>
          <a:bodyPr/>
          <a:lstStyle/>
          <a:p>
            <a:endParaRPr lang="en-US"/>
          </a:p>
        </p:txBody>
      </p:sp>
      <p:sp>
        <p:nvSpPr>
          <p:cNvPr id="14" name="Text 11"/>
          <p:cNvSpPr/>
          <p:nvPr/>
        </p:nvSpPr>
        <p:spPr>
          <a:xfrm>
            <a:off x="2892425" y="2432496"/>
            <a:ext cx="266700" cy="256828"/>
          </a:xfrm>
          <a:prstGeom prst="rect">
            <a:avLst/>
          </a:prstGeom>
          <a:noFill/>
          <a:ln/>
        </p:spPr>
        <p:txBody>
          <a:bodyPr wrap="square" lIns="0" tIns="0" rIns="0" bIns="0" rtlCol="0" anchor="t">
            <a:normAutofit/>
          </a:bodyPr>
          <a:lstStyle/>
          <a:p>
            <a:pPr marL="0" indent="0" algn="ctr">
              <a:lnSpc>
                <a:spcPts val="1823"/>
              </a:lnSpc>
              <a:buNone/>
            </a:pPr>
            <a:r>
              <a:rPr lang="en-US" sz="1350" dirty="0">
                <a:solidFill>
                  <a:srgbClr val="888888"/>
                </a:solidFill>
                <a:latin typeface="Lato" pitchFamily="34" charset="0"/>
                <a:ea typeface="Lato" pitchFamily="34" charset="-122"/>
                <a:cs typeface="Lato" pitchFamily="34" charset="-120"/>
              </a:rPr>
              <a:t>…</a:t>
            </a:r>
            <a:endParaRPr lang="en-US" sz="1350" dirty="0"/>
          </a:p>
        </p:txBody>
      </p:sp>
      <p:sp>
        <p:nvSpPr>
          <p:cNvPr id="15" name="Shape 12"/>
          <p:cNvSpPr/>
          <p:nvPr/>
        </p:nvSpPr>
        <p:spPr>
          <a:xfrm>
            <a:off x="3241675" y="2440285"/>
            <a:ext cx="273050" cy="215900"/>
          </a:xfrm>
          <a:prstGeom prst="roundRect">
            <a:avLst>
              <a:gd name="adj" fmla="val 17647"/>
            </a:avLst>
          </a:prstGeom>
          <a:solidFill>
            <a:srgbClr val="FFFFFF"/>
          </a:solidFill>
          <a:ln w="12700">
            <a:solidFill>
              <a:srgbClr val="888888"/>
            </a:solidFill>
            <a:prstDash val="solid"/>
          </a:ln>
        </p:spPr>
        <p:txBody>
          <a:bodyPr/>
          <a:lstStyle/>
          <a:p>
            <a:endParaRPr lang="en-US"/>
          </a:p>
        </p:txBody>
      </p:sp>
      <p:sp>
        <p:nvSpPr>
          <p:cNvPr id="16" name="Shape 13"/>
          <p:cNvSpPr/>
          <p:nvPr/>
        </p:nvSpPr>
        <p:spPr>
          <a:xfrm>
            <a:off x="3629025" y="2440285"/>
            <a:ext cx="273050" cy="215900"/>
          </a:xfrm>
          <a:prstGeom prst="roundRect">
            <a:avLst>
              <a:gd name="adj" fmla="val 17647"/>
            </a:avLst>
          </a:prstGeom>
          <a:solidFill>
            <a:srgbClr val="FFFFFF"/>
          </a:solidFill>
          <a:ln w="12700">
            <a:solidFill>
              <a:srgbClr val="888888"/>
            </a:solidFill>
            <a:prstDash val="solid"/>
          </a:ln>
        </p:spPr>
        <p:txBody>
          <a:bodyPr/>
          <a:lstStyle/>
          <a:p>
            <a:endParaRPr lang="en-US"/>
          </a:p>
        </p:txBody>
      </p:sp>
      <p:sp>
        <p:nvSpPr>
          <p:cNvPr id="17" name="Shape 14"/>
          <p:cNvSpPr/>
          <p:nvPr/>
        </p:nvSpPr>
        <p:spPr>
          <a:xfrm>
            <a:off x="4016375" y="2440285"/>
            <a:ext cx="273050" cy="215900"/>
          </a:xfrm>
          <a:prstGeom prst="roundRect">
            <a:avLst>
              <a:gd name="adj" fmla="val 17647"/>
            </a:avLst>
          </a:prstGeom>
          <a:solidFill>
            <a:srgbClr val="FFFFFF"/>
          </a:solidFill>
          <a:ln w="12700">
            <a:solidFill>
              <a:srgbClr val="888888"/>
            </a:solidFill>
            <a:prstDash val="solid"/>
          </a:ln>
        </p:spPr>
        <p:txBody>
          <a:bodyPr/>
          <a:lstStyle/>
          <a:p>
            <a:endParaRPr lang="en-US"/>
          </a:p>
        </p:txBody>
      </p:sp>
      <p:sp>
        <p:nvSpPr>
          <p:cNvPr id="18" name="Text 15"/>
          <p:cNvSpPr/>
          <p:nvPr/>
        </p:nvSpPr>
        <p:spPr>
          <a:xfrm>
            <a:off x="739775" y="2722860"/>
            <a:ext cx="552450" cy="196850"/>
          </a:xfrm>
          <a:prstGeom prst="rect">
            <a:avLst/>
          </a:prstGeom>
          <a:noFill/>
          <a:ln/>
        </p:spPr>
        <p:txBody>
          <a:bodyPr wrap="square" lIns="0" tIns="0" rIns="0" bIns="0" rtlCol="0" anchor="t">
            <a:normAutofit/>
          </a:bodyPr>
          <a:lstStyle/>
          <a:p>
            <a:pPr marL="0" indent="0" algn="ctr">
              <a:lnSpc>
                <a:spcPts val="1350"/>
              </a:lnSpc>
              <a:buNone/>
            </a:pPr>
            <a:r>
              <a:rPr lang="en-US" sz="1350" dirty="0">
                <a:solidFill>
                  <a:srgbClr val="888888"/>
                </a:solidFill>
                <a:latin typeface="Lato" pitchFamily="34" charset="0"/>
                <a:ea typeface="Lato" pitchFamily="34" charset="-122"/>
                <a:cs typeface="Lato" pitchFamily="34" charset="-120"/>
              </a:rPr>
              <a:t>⋮</a:t>
            </a:r>
            <a:endParaRPr lang="en-US" sz="1350" dirty="0"/>
          </a:p>
        </p:txBody>
      </p:sp>
      <p:sp>
        <p:nvSpPr>
          <p:cNvPr id="19" name="Text 16"/>
          <p:cNvSpPr/>
          <p:nvPr/>
        </p:nvSpPr>
        <p:spPr>
          <a:xfrm>
            <a:off x="765175" y="3003996"/>
            <a:ext cx="552450" cy="256828"/>
          </a:xfrm>
          <a:prstGeom prst="rect">
            <a:avLst/>
          </a:prstGeom>
          <a:noFill/>
          <a:ln/>
        </p:spPr>
        <p:txBody>
          <a:bodyPr wrap="square" lIns="0" tIns="0" rIns="0" bIns="0" rtlCol="0" anchor="t">
            <a:normAutofit/>
          </a:bodyPr>
          <a:lstStyle/>
          <a:p>
            <a:pPr marL="0" indent="0" algn="l">
              <a:lnSpc>
                <a:spcPts val="1823"/>
              </a:lnSpc>
              <a:buNone/>
            </a:pPr>
            <a:r>
              <a:rPr lang="en-US" sz="1350" dirty="0">
                <a:solidFill>
                  <a:srgbClr val="555555"/>
                </a:solidFill>
                <a:latin typeface="Lato" pitchFamily="34" charset="0"/>
                <a:ea typeface="Lato" pitchFamily="34" charset="-122"/>
                <a:cs typeface="Lato" pitchFamily="34" charset="-120"/>
              </a:rPr>
              <a:t>L25</a:t>
            </a:r>
            <a:endParaRPr lang="en-US" sz="1350" dirty="0"/>
          </a:p>
        </p:txBody>
      </p:sp>
      <p:sp>
        <p:nvSpPr>
          <p:cNvPr id="20" name="Shape 17"/>
          <p:cNvSpPr/>
          <p:nvPr/>
        </p:nvSpPr>
        <p:spPr>
          <a:xfrm>
            <a:off x="1368425" y="3005435"/>
            <a:ext cx="285750" cy="228600"/>
          </a:xfrm>
          <a:prstGeom prst="roundRect">
            <a:avLst>
              <a:gd name="adj" fmla="val 19444"/>
            </a:avLst>
          </a:prstGeom>
          <a:solidFill>
            <a:srgbClr val="9DB4D8"/>
          </a:solidFill>
          <a:ln/>
        </p:spPr>
        <p:txBody>
          <a:bodyPr/>
          <a:lstStyle/>
          <a:p>
            <a:endParaRPr lang="en-US"/>
          </a:p>
        </p:txBody>
      </p:sp>
      <p:sp>
        <p:nvSpPr>
          <p:cNvPr id="21" name="Shape 18"/>
          <p:cNvSpPr/>
          <p:nvPr/>
        </p:nvSpPr>
        <p:spPr>
          <a:xfrm>
            <a:off x="1755775" y="3005435"/>
            <a:ext cx="285750" cy="228600"/>
          </a:xfrm>
          <a:prstGeom prst="roundRect">
            <a:avLst>
              <a:gd name="adj" fmla="val 19444"/>
            </a:avLst>
          </a:prstGeom>
          <a:solidFill>
            <a:srgbClr val="9DB4D8"/>
          </a:solidFill>
          <a:ln/>
        </p:spPr>
        <p:txBody>
          <a:bodyPr/>
          <a:lstStyle/>
          <a:p>
            <a:endParaRPr lang="en-US"/>
          </a:p>
        </p:txBody>
      </p:sp>
      <p:sp>
        <p:nvSpPr>
          <p:cNvPr id="22" name="Shape 19"/>
          <p:cNvSpPr/>
          <p:nvPr/>
        </p:nvSpPr>
        <p:spPr>
          <a:xfrm>
            <a:off x="2143125" y="3005435"/>
            <a:ext cx="285750" cy="228600"/>
          </a:xfrm>
          <a:prstGeom prst="roundRect">
            <a:avLst>
              <a:gd name="adj" fmla="val 19444"/>
            </a:avLst>
          </a:prstGeom>
          <a:solidFill>
            <a:srgbClr val="9DB4D8"/>
          </a:solidFill>
          <a:ln/>
        </p:spPr>
        <p:txBody>
          <a:bodyPr/>
          <a:lstStyle/>
          <a:p>
            <a:endParaRPr lang="en-US"/>
          </a:p>
        </p:txBody>
      </p:sp>
      <p:sp>
        <p:nvSpPr>
          <p:cNvPr id="23" name="Shape 20"/>
          <p:cNvSpPr/>
          <p:nvPr/>
        </p:nvSpPr>
        <p:spPr>
          <a:xfrm>
            <a:off x="2530475" y="3005435"/>
            <a:ext cx="285750" cy="228600"/>
          </a:xfrm>
          <a:prstGeom prst="roundRect">
            <a:avLst>
              <a:gd name="adj" fmla="val 19444"/>
            </a:avLst>
          </a:prstGeom>
          <a:solidFill>
            <a:srgbClr val="9DB4D8"/>
          </a:solidFill>
          <a:ln/>
        </p:spPr>
        <p:txBody>
          <a:bodyPr/>
          <a:lstStyle/>
          <a:p>
            <a:endParaRPr lang="en-US"/>
          </a:p>
        </p:txBody>
      </p:sp>
      <p:sp>
        <p:nvSpPr>
          <p:cNvPr id="24" name="Text 21"/>
          <p:cNvSpPr/>
          <p:nvPr/>
        </p:nvSpPr>
        <p:spPr>
          <a:xfrm>
            <a:off x="2892425" y="3003996"/>
            <a:ext cx="266700" cy="256828"/>
          </a:xfrm>
          <a:prstGeom prst="rect">
            <a:avLst/>
          </a:prstGeom>
          <a:noFill/>
          <a:ln/>
        </p:spPr>
        <p:txBody>
          <a:bodyPr wrap="square" lIns="0" tIns="0" rIns="0" bIns="0" rtlCol="0" anchor="t">
            <a:normAutofit/>
          </a:bodyPr>
          <a:lstStyle/>
          <a:p>
            <a:pPr marL="0" indent="0" algn="ctr">
              <a:lnSpc>
                <a:spcPts val="1823"/>
              </a:lnSpc>
              <a:buNone/>
            </a:pPr>
            <a:r>
              <a:rPr lang="en-US" sz="1350" dirty="0">
                <a:solidFill>
                  <a:srgbClr val="888888"/>
                </a:solidFill>
                <a:latin typeface="Lato" pitchFamily="34" charset="0"/>
                <a:ea typeface="Lato" pitchFamily="34" charset="-122"/>
                <a:cs typeface="Lato" pitchFamily="34" charset="-120"/>
              </a:rPr>
              <a:t>…</a:t>
            </a:r>
            <a:endParaRPr lang="en-US" sz="1350" dirty="0"/>
          </a:p>
        </p:txBody>
      </p:sp>
      <p:sp>
        <p:nvSpPr>
          <p:cNvPr id="25" name="Shape 22"/>
          <p:cNvSpPr/>
          <p:nvPr/>
        </p:nvSpPr>
        <p:spPr>
          <a:xfrm>
            <a:off x="3241675" y="3011785"/>
            <a:ext cx="273050" cy="215900"/>
          </a:xfrm>
          <a:prstGeom prst="roundRect">
            <a:avLst>
              <a:gd name="adj" fmla="val 17647"/>
            </a:avLst>
          </a:prstGeom>
          <a:solidFill>
            <a:srgbClr val="FFFFFF"/>
          </a:solidFill>
          <a:ln w="12700">
            <a:solidFill>
              <a:srgbClr val="888888"/>
            </a:solidFill>
            <a:prstDash val="solid"/>
          </a:ln>
        </p:spPr>
        <p:txBody>
          <a:bodyPr/>
          <a:lstStyle/>
          <a:p>
            <a:endParaRPr lang="en-US"/>
          </a:p>
        </p:txBody>
      </p:sp>
      <p:sp>
        <p:nvSpPr>
          <p:cNvPr id="26" name="Shape 23"/>
          <p:cNvSpPr/>
          <p:nvPr/>
        </p:nvSpPr>
        <p:spPr>
          <a:xfrm>
            <a:off x="3629025" y="3011785"/>
            <a:ext cx="273050" cy="215900"/>
          </a:xfrm>
          <a:prstGeom prst="roundRect">
            <a:avLst>
              <a:gd name="adj" fmla="val 17647"/>
            </a:avLst>
          </a:prstGeom>
          <a:solidFill>
            <a:srgbClr val="FFFFFF"/>
          </a:solidFill>
          <a:ln w="12700">
            <a:solidFill>
              <a:srgbClr val="888888"/>
            </a:solidFill>
            <a:prstDash val="solid"/>
          </a:ln>
        </p:spPr>
        <p:txBody>
          <a:bodyPr/>
          <a:lstStyle/>
          <a:p>
            <a:endParaRPr lang="en-US"/>
          </a:p>
        </p:txBody>
      </p:sp>
      <p:sp>
        <p:nvSpPr>
          <p:cNvPr id="27" name="Shape 24"/>
          <p:cNvSpPr/>
          <p:nvPr/>
        </p:nvSpPr>
        <p:spPr>
          <a:xfrm>
            <a:off x="4016375" y="3011785"/>
            <a:ext cx="273050" cy="215900"/>
          </a:xfrm>
          <a:prstGeom prst="roundRect">
            <a:avLst>
              <a:gd name="adj" fmla="val 17647"/>
            </a:avLst>
          </a:prstGeom>
          <a:solidFill>
            <a:srgbClr val="FFFFFF"/>
          </a:solidFill>
          <a:ln w="12700">
            <a:solidFill>
              <a:srgbClr val="888888"/>
            </a:solidFill>
            <a:prstDash val="solid"/>
          </a:ln>
        </p:spPr>
        <p:txBody>
          <a:bodyPr/>
          <a:lstStyle/>
          <a:p>
            <a:endParaRPr lang="en-US"/>
          </a:p>
        </p:txBody>
      </p:sp>
      <p:sp>
        <p:nvSpPr>
          <p:cNvPr id="28" name="Text 25"/>
          <p:cNvSpPr/>
          <p:nvPr/>
        </p:nvSpPr>
        <p:spPr>
          <a:xfrm>
            <a:off x="765175" y="3581846"/>
            <a:ext cx="552450" cy="256828"/>
          </a:xfrm>
          <a:prstGeom prst="rect">
            <a:avLst/>
          </a:prstGeom>
          <a:noFill/>
          <a:ln/>
        </p:spPr>
        <p:txBody>
          <a:bodyPr wrap="square" lIns="0" tIns="0" rIns="0" bIns="0" rtlCol="0" anchor="t">
            <a:normAutofit/>
          </a:bodyPr>
          <a:lstStyle/>
          <a:p>
            <a:pPr marL="0" indent="0" algn="l">
              <a:lnSpc>
                <a:spcPts val="1823"/>
              </a:lnSpc>
              <a:buNone/>
            </a:pPr>
            <a:r>
              <a:rPr lang="en-US" sz="1350" b="1" dirty="0">
                <a:solidFill>
                  <a:srgbClr val="C00000"/>
                </a:solidFill>
                <a:latin typeface="Lato" pitchFamily="34" charset="0"/>
                <a:ea typeface="Lato" pitchFamily="34" charset="-122"/>
                <a:cs typeface="Lato" pitchFamily="34" charset="-120"/>
              </a:rPr>
              <a:t>L15</a:t>
            </a:r>
            <a:endParaRPr lang="en-US" sz="1350" dirty="0"/>
          </a:p>
        </p:txBody>
      </p:sp>
      <p:sp>
        <p:nvSpPr>
          <p:cNvPr id="29" name="Shape 26"/>
          <p:cNvSpPr/>
          <p:nvPr/>
        </p:nvSpPr>
        <p:spPr>
          <a:xfrm>
            <a:off x="1368425" y="3583285"/>
            <a:ext cx="285750" cy="228600"/>
          </a:xfrm>
          <a:prstGeom prst="roundRect">
            <a:avLst>
              <a:gd name="adj" fmla="val 19444"/>
            </a:avLst>
          </a:prstGeom>
          <a:solidFill>
            <a:srgbClr val="9DB4D8"/>
          </a:solidFill>
          <a:ln/>
        </p:spPr>
        <p:txBody>
          <a:bodyPr/>
          <a:lstStyle/>
          <a:p>
            <a:endParaRPr lang="en-US"/>
          </a:p>
        </p:txBody>
      </p:sp>
      <p:sp>
        <p:nvSpPr>
          <p:cNvPr id="30" name="Shape 27"/>
          <p:cNvSpPr/>
          <p:nvPr/>
        </p:nvSpPr>
        <p:spPr>
          <a:xfrm>
            <a:off x="1755775" y="3583285"/>
            <a:ext cx="285750" cy="228600"/>
          </a:xfrm>
          <a:prstGeom prst="roundRect">
            <a:avLst>
              <a:gd name="adj" fmla="val 19444"/>
            </a:avLst>
          </a:prstGeom>
          <a:solidFill>
            <a:srgbClr val="2F5597"/>
          </a:solidFill>
          <a:ln/>
        </p:spPr>
        <p:txBody>
          <a:bodyPr/>
          <a:lstStyle/>
          <a:p>
            <a:endParaRPr lang="en-US"/>
          </a:p>
        </p:txBody>
      </p:sp>
      <p:sp>
        <p:nvSpPr>
          <p:cNvPr id="31" name="Shape 28"/>
          <p:cNvSpPr/>
          <p:nvPr/>
        </p:nvSpPr>
        <p:spPr>
          <a:xfrm>
            <a:off x="2143125" y="3583285"/>
            <a:ext cx="285750" cy="228600"/>
          </a:xfrm>
          <a:prstGeom prst="roundRect">
            <a:avLst>
              <a:gd name="adj" fmla="val 19444"/>
            </a:avLst>
          </a:prstGeom>
          <a:solidFill>
            <a:srgbClr val="9DB4D8"/>
          </a:solidFill>
          <a:ln/>
        </p:spPr>
        <p:txBody>
          <a:bodyPr/>
          <a:lstStyle/>
          <a:p>
            <a:endParaRPr lang="en-US"/>
          </a:p>
        </p:txBody>
      </p:sp>
      <p:sp>
        <p:nvSpPr>
          <p:cNvPr id="32" name="Shape 29"/>
          <p:cNvSpPr/>
          <p:nvPr/>
        </p:nvSpPr>
        <p:spPr>
          <a:xfrm>
            <a:off x="2530475" y="3583285"/>
            <a:ext cx="285750" cy="228600"/>
          </a:xfrm>
          <a:prstGeom prst="roundRect">
            <a:avLst>
              <a:gd name="adj" fmla="val 19444"/>
            </a:avLst>
          </a:prstGeom>
          <a:solidFill>
            <a:srgbClr val="2F5597"/>
          </a:solidFill>
          <a:ln/>
        </p:spPr>
        <p:txBody>
          <a:bodyPr/>
          <a:lstStyle/>
          <a:p>
            <a:endParaRPr lang="en-US"/>
          </a:p>
        </p:txBody>
      </p:sp>
      <p:sp>
        <p:nvSpPr>
          <p:cNvPr id="33" name="Text 30"/>
          <p:cNvSpPr/>
          <p:nvPr/>
        </p:nvSpPr>
        <p:spPr>
          <a:xfrm>
            <a:off x="2892425" y="3581846"/>
            <a:ext cx="266700" cy="256828"/>
          </a:xfrm>
          <a:prstGeom prst="rect">
            <a:avLst/>
          </a:prstGeom>
          <a:noFill/>
          <a:ln/>
        </p:spPr>
        <p:txBody>
          <a:bodyPr wrap="square" lIns="0" tIns="0" rIns="0" bIns="0" rtlCol="0" anchor="t">
            <a:normAutofit/>
          </a:bodyPr>
          <a:lstStyle/>
          <a:p>
            <a:pPr marL="0" indent="0" algn="ctr">
              <a:lnSpc>
                <a:spcPts val="1823"/>
              </a:lnSpc>
              <a:buNone/>
            </a:pPr>
            <a:r>
              <a:rPr lang="en-US" sz="1350" dirty="0">
                <a:solidFill>
                  <a:srgbClr val="888888"/>
                </a:solidFill>
                <a:latin typeface="Lato" pitchFamily="34" charset="0"/>
                <a:ea typeface="Lato" pitchFamily="34" charset="-122"/>
                <a:cs typeface="Lato" pitchFamily="34" charset="-120"/>
              </a:rPr>
              <a:t>…</a:t>
            </a:r>
            <a:endParaRPr lang="en-US" sz="1350" dirty="0"/>
          </a:p>
        </p:txBody>
      </p:sp>
      <p:sp>
        <p:nvSpPr>
          <p:cNvPr id="34" name="Shape 31"/>
          <p:cNvSpPr/>
          <p:nvPr/>
        </p:nvSpPr>
        <p:spPr>
          <a:xfrm>
            <a:off x="3241675" y="3589635"/>
            <a:ext cx="273050" cy="215900"/>
          </a:xfrm>
          <a:prstGeom prst="roundRect">
            <a:avLst>
              <a:gd name="adj" fmla="val 17647"/>
            </a:avLst>
          </a:prstGeom>
          <a:solidFill>
            <a:srgbClr val="FFFFFF"/>
          </a:solidFill>
          <a:ln w="12700">
            <a:solidFill>
              <a:srgbClr val="888888"/>
            </a:solidFill>
            <a:prstDash val="solid"/>
          </a:ln>
        </p:spPr>
        <p:txBody>
          <a:bodyPr/>
          <a:lstStyle/>
          <a:p>
            <a:endParaRPr lang="en-US"/>
          </a:p>
        </p:txBody>
      </p:sp>
      <p:sp>
        <p:nvSpPr>
          <p:cNvPr id="35" name="Shape 32"/>
          <p:cNvSpPr/>
          <p:nvPr/>
        </p:nvSpPr>
        <p:spPr>
          <a:xfrm>
            <a:off x="3629025" y="3589635"/>
            <a:ext cx="273050" cy="215900"/>
          </a:xfrm>
          <a:prstGeom prst="roundRect">
            <a:avLst>
              <a:gd name="adj" fmla="val 17647"/>
            </a:avLst>
          </a:prstGeom>
          <a:solidFill>
            <a:srgbClr val="FFFFFF"/>
          </a:solidFill>
          <a:ln w="12700">
            <a:solidFill>
              <a:srgbClr val="888888"/>
            </a:solidFill>
            <a:prstDash val="solid"/>
          </a:ln>
        </p:spPr>
        <p:txBody>
          <a:bodyPr/>
          <a:lstStyle/>
          <a:p>
            <a:endParaRPr lang="en-US"/>
          </a:p>
        </p:txBody>
      </p:sp>
      <p:sp>
        <p:nvSpPr>
          <p:cNvPr id="36" name="Shape 33"/>
          <p:cNvSpPr/>
          <p:nvPr/>
        </p:nvSpPr>
        <p:spPr>
          <a:xfrm>
            <a:off x="4010025" y="3583285"/>
            <a:ext cx="285750" cy="228600"/>
          </a:xfrm>
          <a:prstGeom prst="roundRect">
            <a:avLst>
              <a:gd name="adj" fmla="val 19444"/>
            </a:avLst>
          </a:prstGeom>
          <a:solidFill>
            <a:srgbClr val="CC0033"/>
          </a:solidFill>
          <a:ln/>
        </p:spPr>
        <p:txBody>
          <a:bodyPr/>
          <a:lstStyle/>
          <a:p>
            <a:endParaRPr lang="en-US"/>
          </a:p>
        </p:txBody>
      </p:sp>
      <p:sp>
        <p:nvSpPr>
          <p:cNvPr id="37" name="Text 34"/>
          <p:cNvSpPr/>
          <p:nvPr/>
        </p:nvSpPr>
        <p:spPr>
          <a:xfrm>
            <a:off x="765175" y="4153346"/>
            <a:ext cx="552450" cy="256828"/>
          </a:xfrm>
          <a:prstGeom prst="rect">
            <a:avLst/>
          </a:prstGeom>
          <a:noFill/>
          <a:ln/>
        </p:spPr>
        <p:txBody>
          <a:bodyPr wrap="square" lIns="0" tIns="0" rIns="0" bIns="0" rtlCol="0" anchor="t">
            <a:normAutofit/>
          </a:bodyPr>
          <a:lstStyle/>
          <a:p>
            <a:pPr marL="0" indent="0" algn="l">
              <a:lnSpc>
                <a:spcPts val="1823"/>
              </a:lnSpc>
              <a:buNone/>
            </a:pPr>
            <a:r>
              <a:rPr lang="en-US" sz="1350" dirty="0">
                <a:solidFill>
                  <a:srgbClr val="555555"/>
                </a:solidFill>
                <a:latin typeface="Lato" pitchFamily="34" charset="0"/>
                <a:ea typeface="Lato" pitchFamily="34" charset="-122"/>
                <a:cs typeface="Lato" pitchFamily="34" charset="-120"/>
              </a:rPr>
              <a:t>L10</a:t>
            </a:r>
            <a:endParaRPr lang="en-US" sz="1350" dirty="0"/>
          </a:p>
        </p:txBody>
      </p:sp>
      <p:sp>
        <p:nvSpPr>
          <p:cNvPr id="38" name="Shape 35"/>
          <p:cNvSpPr/>
          <p:nvPr/>
        </p:nvSpPr>
        <p:spPr>
          <a:xfrm>
            <a:off x="1368425" y="4154785"/>
            <a:ext cx="285750" cy="228600"/>
          </a:xfrm>
          <a:prstGeom prst="roundRect">
            <a:avLst>
              <a:gd name="adj" fmla="val 19444"/>
            </a:avLst>
          </a:prstGeom>
          <a:solidFill>
            <a:srgbClr val="9DB4D8"/>
          </a:solidFill>
          <a:ln/>
        </p:spPr>
        <p:txBody>
          <a:bodyPr/>
          <a:lstStyle/>
          <a:p>
            <a:endParaRPr lang="en-US"/>
          </a:p>
        </p:txBody>
      </p:sp>
      <p:sp>
        <p:nvSpPr>
          <p:cNvPr id="39" name="Shape 36"/>
          <p:cNvSpPr/>
          <p:nvPr/>
        </p:nvSpPr>
        <p:spPr>
          <a:xfrm>
            <a:off x="1755775" y="4154785"/>
            <a:ext cx="285750" cy="228600"/>
          </a:xfrm>
          <a:prstGeom prst="roundRect">
            <a:avLst>
              <a:gd name="adj" fmla="val 19444"/>
            </a:avLst>
          </a:prstGeom>
          <a:solidFill>
            <a:srgbClr val="9DB4D8"/>
          </a:solidFill>
          <a:ln/>
        </p:spPr>
        <p:txBody>
          <a:bodyPr/>
          <a:lstStyle/>
          <a:p>
            <a:endParaRPr lang="en-US"/>
          </a:p>
        </p:txBody>
      </p:sp>
      <p:sp>
        <p:nvSpPr>
          <p:cNvPr id="40" name="Shape 37"/>
          <p:cNvSpPr/>
          <p:nvPr/>
        </p:nvSpPr>
        <p:spPr>
          <a:xfrm>
            <a:off x="2143125" y="4154785"/>
            <a:ext cx="285750" cy="228600"/>
          </a:xfrm>
          <a:prstGeom prst="roundRect">
            <a:avLst>
              <a:gd name="adj" fmla="val 19444"/>
            </a:avLst>
          </a:prstGeom>
          <a:solidFill>
            <a:srgbClr val="9DB4D8"/>
          </a:solidFill>
          <a:ln/>
        </p:spPr>
        <p:txBody>
          <a:bodyPr/>
          <a:lstStyle/>
          <a:p>
            <a:endParaRPr lang="en-US"/>
          </a:p>
        </p:txBody>
      </p:sp>
      <p:sp>
        <p:nvSpPr>
          <p:cNvPr id="41" name="Shape 38"/>
          <p:cNvSpPr/>
          <p:nvPr/>
        </p:nvSpPr>
        <p:spPr>
          <a:xfrm>
            <a:off x="2530475" y="4154785"/>
            <a:ext cx="285750" cy="228600"/>
          </a:xfrm>
          <a:prstGeom prst="roundRect">
            <a:avLst>
              <a:gd name="adj" fmla="val 19444"/>
            </a:avLst>
          </a:prstGeom>
          <a:solidFill>
            <a:srgbClr val="9DB4D8"/>
          </a:solidFill>
          <a:ln/>
        </p:spPr>
        <p:txBody>
          <a:bodyPr/>
          <a:lstStyle/>
          <a:p>
            <a:endParaRPr lang="en-US"/>
          </a:p>
        </p:txBody>
      </p:sp>
      <p:sp>
        <p:nvSpPr>
          <p:cNvPr id="42" name="Text 39"/>
          <p:cNvSpPr/>
          <p:nvPr/>
        </p:nvSpPr>
        <p:spPr>
          <a:xfrm>
            <a:off x="2892425" y="4153346"/>
            <a:ext cx="266700" cy="256828"/>
          </a:xfrm>
          <a:prstGeom prst="rect">
            <a:avLst/>
          </a:prstGeom>
          <a:noFill/>
          <a:ln/>
        </p:spPr>
        <p:txBody>
          <a:bodyPr wrap="square" lIns="0" tIns="0" rIns="0" bIns="0" rtlCol="0" anchor="t">
            <a:normAutofit/>
          </a:bodyPr>
          <a:lstStyle/>
          <a:p>
            <a:pPr marL="0" indent="0" algn="ctr">
              <a:lnSpc>
                <a:spcPts val="1823"/>
              </a:lnSpc>
              <a:buNone/>
            </a:pPr>
            <a:r>
              <a:rPr lang="en-US" sz="1350" dirty="0">
                <a:solidFill>
                  <a:srgbClr val="888888"/>
                </a:solidFill>
                <a:latin typeface="Lato" pitchFamily="34" charset="0"/>
                <a:ea typeface="Lato" pitchFamily="34" charset="-122"/>
                <a:cs typeface="Lato" pitchFamily="34" charset="-120"/>
              </a:rPr>
              <a:t>…</a:t>
            </a:r>
            <a:endParaRPr lang="en-US" sz="1350" dirty="0"/>
          </a:p>
        </p:txBody>
      </p:sp>
      <p:sp>
        <p:nvSpPr>
          <p:cNvPr id="43" name="Shape 40"/>
          <p:cNvSpPr/>
          <p:nvPr/>
        </p:nvSpPr>
        <p:spPr>
          <a:xfrm>
            <a:off x="3241675" y="4161135"/>
            <a:ext cx="273050" cy="215900"/>
          </a:xfrm>
          <a:prstGeom prst="roundRect">
            <a:avLst>
              <a:gd name="adj" fmla="val 17647"/>
            </a:avLst>
          </a:prstGeom>
          <a:solidFill>
            <a:srgbClr val="FFFFFF"/>
          </a:solidFill>
          <a:ln w="12700">
            <a:solidFill>
              <a:srgbClr val="888888"/>
            </a:solidFill>
            <a:prstDash val="solid"/>
          </a:ln>
        </p:spPr>
        <p:txBody>
          <a:bodyPr/>
          <a:lstStyle/>
          <a:p>
            <a:endParaRPr lang="en-US"/>
          </a:p>
        </p:txBody>
      </p:sp>
      <p:sp>
        <p:nvSpPr>
          <p:cNvPr id="44" name="Shape 41"/>
          <p:cNvSpPr/>
          <p:nvPr/>
        </p:nvSpPr>
        <p:spPr>
          <a:xfrm>
            <a:off x="3629025" y="4161135"/>
            <a:ext cx="273050" cy="215900"/>
          </a:xfrm>
          <a:prstGeom prst="roundRect">
            <a:avLst>
              <a:gd name="adj" fmla="val 17647"/>
            </a:avLst>
          </a:prstGeom>
          <a:solidFill>
            <a:srgbClr val="FFFFFF"/>
          </a:solidFill>
          <a:ln w="12700">
            <a:solidFill>
              <a:srgbClr val="888888"/>
            </a:solidFill>
            <a:prstDash val="solid"/>
          </a:ln>
        </p:spPr>
        <p:txBody>
          <a:bodyPr/>
          <a:lstStyle/>
          <a:p>
            <a:endParaRPr lang="en-US"/>
          </a:p>
        </p:txBody>
      </p:sp>
      <p:sp>
        <p:nvSpPr>
          <p:cNvPr id="45" name="Shape 42"/>
          <p:cNvSpPr/>
          <p:nvPr/>
        </p:nvSpPr>
        <p:spPr>
          <a:xfrm>
            <a:off x="4016375" y="4161135"/>
            <a:ext cx="273050" cy="215900"/>
          </a:xfrm>
          <a:prstGeom prst="roundRect">
            <a:avLst>
              <a:gd name="adj" fmla="val 17647"/>
            </a:avLst>
          </a:prstGeom>
          <a:solidFill>
            <a:srgbClr val="FFFFFF"/>
          </a:solidFill>
          <a:ln w="12700">
            <a:solidFill>
              <a:srgbClr val="888888"/>
            </a:solidFill>
            <a:prstDash val="solid"/>
          </a:ln>
        </p:spPr>
        <p:txBody>
          <a:bodyPr/>
          <a:lstStyle/>
          <a:p>
            <a:endParaRPr lang="en-US"/>
          </a:p>
        </p:txBody>
      </p:sp>
      <p:sp>
        <p:nvSpPr>
          <p:cNvPr id="46" name="Text 43"/>
          <p:cNvSpPr/>
          <p:nvPr/>
        </p:nvSpPr>
        <p:spPr>
          <a:xfrm>
            <a:off x="739775" y="4583410"/>
            <a:ext cx="552450" cy="196850"/>
          </a:xfrm>
          <a:prstGeom prst="rect">
            <a:avLst/>
          </a:prstGeom>
          <a:noFill/>
          <a:ln/>
        </p:spPr>
        <p:txBody>
          <a:bodyPr wrap="square" lIns="0" tIns="0" rIns="0" bIns="0" rtlCol="0" anchor="t">
            <a:normAutofit/>
          </a:bodyPr>
          <a:lstStyle/>
          <a:p>
            <a:pPr marL="0" indent="0" algn="ctr">
              <a:lnSpc>
                <a:spcPts val="1350"/>
              </a:lnSpc>
              <a:buNone/>
            </a:pPr>
            <a:r>
              <a:rPr lang="en-US" sz="1350" dirty="0">
                <a:solidFill>
                  <a:srgbClr val="888888"/>
                </a:solidFill>
                <a:latin typeface="Lato" pitchFamily="34" charset="0"/>
                <a:ea typeface="Lato" pitchFamily="34" charset="-122"/>
                <a:cs typeface="Lato" pitchFamily="34" charset="-120"/>
              </a:rPr>
              <a:t>⋮</a:t>
            </a:r>
            <a:endParaRPr lang="en-US" sz="1350" dirty="0"/>
          </a:p>
        </p:txBody>
      </p:sp>
      <p:sp>
        <p:nvSpPr>
          <p:cNvPr id="47" name="Text 44"/>
          <p:cNvSpPr/>
          <p:nvPr/>
        </p:nvSpPr>
        <p:spPr>
          <a:xfrm>
            <a:off x="765175" y="4908996"/>
            <a:ext cx="552450" cy="256828"/>
          </a:xfrm>
          <a:prstGeom prst="rect">
            <a:avLst/>
          </a:prstGeom>
          <a:noFill/>
          <a:ln/>
        </p:spPr>
        <p:txBody>
          <a:bodyPr wrap="square" lIns="0" tIns="0" rIns="0" bIns="0" rtlCol="0" anchor="t">
            <a:normAutofit/>
          </a:bodyPr>
          <a:lstStyle/>
          <a:p>
            <a:pPr marL="0" indent="0" algn="l">
              <a:lnSpc>
                <a:spcPts val="1823"/>
              </a:lnSpc>
              <a:buNone/>
            </a:pPr>
            <a:r>
              <a:rPr lang="en-US" sz="1350" dirty="0">
                <a:solidFill>
                  <a:srgbClr val="555555"/>
                </a:solidFill>
                <a:latin typeface="Lato" pitchFamily="34" charset="0"/>
                <a:ea typeface="Lato" pitchFamily="34" charset="-122"/>
                <a:cs typeface="Lato" pitchFamily="34" charset="-120"/>
              </a:rPr>
              <a:t>L1</a:t>
            </a:r>
            <a:endParaRPr lang="en-US" sz="1350" dirty="0"/>
          </a:p>
        </p:txBody>
      </p:sp>
      <p:sp>
        <p:nvSpPr>
          <p:cNvPr id="48" name="Shape 45"/>
          <p:cNvSpPr/>
          <p:nvPr/>
        </p:nvSpPr>
        <p:spPr>
          <a:xfrm>
            <a:off x="1368425" y="4910435"/>
            <a:ext cx="285750" cy="228600"/>
          </a:xfrm>
          <a:prstGeom prst="roundRect">
            <a:avLst>
              <a:gd name="adj" fmla="val 19444"/>
            </a:avLst>
          </a:prstGeom>
          <a:solidFill>
            <a:srgbClr val="9DB4D8"/>
          </a:solidFill>
          <a:ln/>
        </p:spPr>
        <p:txBody>
          <a:bodyPr/>
          <a:lstStyle/>
          <a:p>
            <a:endParaRPr lang="en-US"/>
          </a:p>
        </p:txBody>
      </p:sp>
      <p:sp>
        <p:nvSpPr>
          <p:cNvPr id="49" name="Shape 46"/>
          <p:cNvSpPr/>
          <p:nvPr/>
        </p:nvSpPr>
        <p:spPr>
          <a:xfrm>
            <a:off x="1755775" y="4910435"/>
            <a:ext cx="285750" cy="228600"/>
          </a:xfrm>
          <a:prstGeom prst="roundRect">
            <a:avLst>
              <a:gd name="adj" fmla="val 19444"/>
            </a:avLst>
          </a:prstGeom>
          <a:solidFill>
            <a:srgbClr val="9DB4D8"/>
          </a:solidFill>
          <a:ln/>
        </p:spPr>
        <p:txBody>
          <a:bodyPr/>
          <a:lstStyle/>
          <a:p>
            <a:endParaRPr lang="en-US"/>
          </a:p>
        </p:txBody>
      </p:sp>
      <p:sp>
        <p:nvSpPr>
          <p:cNvPr id="50" name="Shape 47"/>
          <p:cNvSpPr/>
          <p:nvPr/>
        </p:nvSpPr>
        <p:spPr>
          <a:xfrm>
            <a:off x="2143125" y="4910435"/>
            <a:ext cx="285750" cy="228600"/>
          </a:xfrm>
          <a:prstGeom prst="roundRect">
            <a:avLst>
              <a:gd name="adj" fmla="val 19444"/>
            </a:avLst>
          </a:prstGeom>
          <a:solidFill>
            <a:srgbClr val="9DB4D8"/>
          </a:solidFill>
          <a:ln/>
        </p:spPr>
        <p:txBody>
          <a:bodyPr/>
          <a:lstStyle/>
          <a:p>
            <a:endParaRPr lang="en-US"/>
          </a:p>
        </p:txBody>
      </p:sp>
      <p:sp>
        <p:nvSpPr>
          <p:cNvPr id="51" name="Shape 48"/>
          <p:cNvSpPr/>
          <p:nvPr/>
        </p:nvSpPr>
        <p:spPr>
          <a:xfrm>
            <a:off x="2530475" y="4910435"/>
            <a:ext cx="285750" cy="228600"/>
          </a:xfrm>
          <a:prstGeom prst="roundRect">
            <a:avLst>
              <a:gd name="adj" fmla="val 19444"/>
            </a:avLst>
          </a:prstGeom>
          <a:solidFill>
            <a:srgbClr val="9DB4D8"/>
          </a:solidFill>
          <a:ln/>
        </p:spPr>
        <p:txBody>
          <a:bodyPr/>
          <a:lstStyle/>
          <a:p>
            <a:endParaRPr lang="en-US"/>
          </a:p>
        </p:txBody>
      </p:sp>
      <p:sp>
        <p:nvSpPr>
          <p:cNvPr id="52" name="Text 49"/>
          <p:cNvSpPr/>
          <p:nvPr/>
        </p:nvSpPr>
        <p:spPr>
          <a:xfrm>
            <a:off x="2892425" y="4908996"/>
            <a:ext cx="266700" cy="256828"/>
          </a:xfrm>
          <a:prstGeom prst="rect">
            <a:avLst/>
          </a:prstGeom>
          <a:noFill/>
          <a:ln/>
        </p:spPr>
        <p:txBody>
          <a:bodyPr wrap="square" lIns="0" tIns="0" rIns="0" bIns="0" rtlCol="0" anchor="t">
            <a:normAutofit/>
          </a:bodyPr>
          <a:lstStyle/>
          <a:p>
            <a:pPr marL="0" indent="0" algn="ctr">
              <a:lnSpc>
                <a:spcPts val="1823"/>
              </a:lnSpc>
              <a:buNone/>
            </a:pPr>
            <a:r>
              <a:rPr lang="en-US" sz="1350" dirty="0">
                <a:solidFill>
                  <a:srgbClr val="888888"/>
                </a:solidFill>
                <a:latin typeface="Lato" pitchFamily="34" charset="0"/>
                <a:ea typeface="Lato" pitchFamily="34" charset="-122"/>
                <a:cs typeface="Lato" pitchFamily="34" charset="-120"/>
              </a:rPr>
              <a:t>…</a:t>
            </a:r>
            <a:endParaRPr lang="en-US" sz="1350" dirty="0"/>
          </a:p>
        </p:txBody>
      </p:sp>
      <p:sp>
        <p:nvSpPr>
          <p:cNvPr id="53" name="Shape 50"/>
          <p:cNvSpPr/>
          <p:nvPr/>
        </p:nvSpPr>
        <p:spPr>
          <a:xfrm>
            <a:off x="3241675" y="4916785"/>
            <a:ext cx="273050" cy="215900"/>
          </a:xfrm>
          <a:prstGeom prst="roundRect">
            <a:avLst>
              <a:gd name="adj" fmla="val 17647"/>
            </a:avLst>
          </a:prstGeom>
          <a:solidFill>
            <a:srgbClr val="FFFFFF"/>
          </a:solidFill>
          <a:ln w="12700">
            <a:solidFill>
              <a:srgbClr val="888888"/>
            </a:solidFill>
            <a:prstDash val="solid"/>
          </a:ln>
        </p:spPr>
        <p:txBody>
          <a:bodyPr/>
          <a:lstStyle/>
          <a:p>
            <a:endParaRPr lang="en-US"/>
          </a:p>
        </p:txBody>
      </p:sp>
      <p:sp>
        <p:nvSpPr>
          <p:cNvPr id="54" name="Shape 51"/>
          <p:cNvSpPr/>
          <p:nvPr/>
        </p:nvSpPr>
        <p:spPr>
          <a:xfrm>
            <a:off x="3629025" y="4916785"/>
            <a:ext cx="273050" cy="215900"/>
          </a:xfrm>
          <a:prstGeom prst="roundRect">
            <a:avLst>
              <a:gd name="adj" fmla="val 17647"/>
            </a:avLst>
          </a:prstGeom>
          <a:solidFill>
            <a:srgbClr val="FFFFFF"/>
          </a:solidFill>
          <a:ln w="12700">
            <a:solidFill>
              <a:srgbClr val="888888"/>
            </a:solidFill>
            <a:prstDash val="solid"/>
          </a:ln>
        </p:spPr>
        <p:txBody>
          <a:bodyPr/>
          <a:lstStyle/>
          <a:p>
            <a:endParaRPr lang="en-US"/>
          </a:p>
        </p:txBody>
      </p:sp>
      <p:sp>
        <p:nvSpPr>
          <p:cNvPr id="55" name="Shape 52"/>
          <p:cNvSpPr/>
          <p:nvPr/>
        </p:nvSpPr>
        <p:spPr>
          <a:xfrm>
            <a:off x="4016375" y="4916785"/>
            <a:ext cx="273050" cy="215900"/>
          </a:xfrm>
          <a:prstGeom prst="roundRect">
            <a:avLst>
              <a:gd name="adj" fmla="val 17647"/>
            </a:avLst>
          </a:prstGeom>
          <a:solidFill>
            <a:srgbClr val="FFFFFF"/>
          </a:solidFill>
          <a:ln w="12700">
            <a:solidFill>
              <a:srgbClr val="888888"/>
            </a:solidFill>
            <a:prstDash val="solid"/>
          </a:ln>
        </p:spPr>
        <p:txBody>
          <a:bodyPr/>
          <a:lstStyle/>
          <a:p>
            <a:endParaRPr lang="en-US"/>
          </a:p>
        </p:txBody>
      </p:sp>
      <p:sp>
        <p:nvSpPr>
          <p:cNvPr id="56" name="Text 53"/>
          <p:cNvSpPr/>
          <p:nvPr/>
        </p:nvSpPr>
        <p:spPr>
          <a:xfrm>
            <a:off x="1336675" y="5212060"/>
            <a:ext cx="1498600" cy="248245"/>
          </a:xfrm>
          <a:prstGeom prst="rect">
            <a:avLst/>
          </a:prstGeom>
          <a:noFill/>
          <a:ln/>
        </p:spPr>
        <p:txBody>
          <a:bodyPr wrap="square" lIns="0" tIns="0" rIns="0" bIns="0" rtlCol="0" anchor="t">
            <a:normAutofit/>
          </a:bodyPr>
          <a:lstStyle/>
          <a:p>
            <a:pPr marL="0" indent="0" algn="ctr">
              <a:lnSpc>
                <a:spcPts val="1755"/>
              </a:lnSpc>
              <a:buNone/>
            </a:pPr>
            <a:r>
              <a:rPr lang="en-US" sz="1350" dirty="0">
                <a:solidFill>
                  <a:srgbClr val="2F5597"/>
                </a:solidFill>
                <a:latin typeface="Lato" pitchFamily="34" charset="0"/>
                <a:ea typeface="Lato" pitchFamily="34" charset="-122"/>
                <a:cs typeface="Lato" pitchFamily="34" charset="-120"/>
              </a:rPr>
              <a:t>image tokens</a:t>
            </a:r>
            <a:endParaRPr lang="en-US" sz="1350" dirty="0"/>
          </a:p>
        </p:txBody>
      </p:sp>
      <p:sp>
        <p:nvSpPr>
          <p:cNvPr id="57" name="Text 54"/>
          <p:cNvSpPr/>
          <p:nvPr/>
        </p:nvSpPr>
        <p:spPr>
          <a:xfrm>
            <a:off x="3203575" y="5212060"/>
            <a:ext cx="1111250" cy="248245"/>
          </a:xfrm>
          <a:prstGeom prst="rect">
            <a:avLst/>
          </a:prstGeom>
          <a:noFill/>
          <a:ln/>
        </p:spPr>
        <p:txBody>
          <a:bodyPr wrap="square" lIns="0" tIns="0" rIns="0" bIns="0" rtlCol="0" anchor="t">
            <a:normAutofit/>
          </a:bodyPr>
          <a:lstStyle/>
          <a:p>
            <a:pPr marL="0" indent="0" algn="ctr">
              <a:lnSpc>
                <a:spcPts val="1755"/>
              </a:lnSpc>
              <a:buNone/>
            </a:pPr>
            <a:r>
              <a:rPr lang="en-US" sz="1350" dirty="0">
                <a:solidFill>
                  <a:srgbClr val="555555"/>
                </a:solidFill>
                <a:latin typeface="Lato" pitchFamily="34" charset="0"/>
                <a:ea typeface="Lato" pitchFamily="34" charset="-122"/>
                <a:cs typeface="Lato" pitchFamily="34" charset="-120"/>
              </a:rPr>
              <a:t>text tokens</a:t>
            </a:r>
            <a:endParaRPr lang="en-US" sz="1350" dirty="0"/>
          </a:p>
        </p:txBody>
      </p:sp>
      <p:sp>
        <p:nvSpPr>
          <p:cNvPr id="58" name="Text 55"/>
          <p:cNvSpPr/>
          <p:nvPr/>
        </p:nvSpPr>
        <p:spPr>
          <a:xfrm>
            <a:off x="4543425" y="3192760"/>
            <a:ext cx="1857502" cy="951111"/>
          </a:xfrm>
          <a:prstGeom prst="rect">
            <a:avLst/>
          </a:prstGeom>
          <a:noFill/>
          <a:ln/>
        </p:spPr>
        <p:txBody>
          <a:bodyPr wrap="square" lIns="0" tIns="0" rIns="0" bIns="0" rtlCol="0" anchor="t">
            <a:normAutofit/>
          </a:bodyPr>
          <a:lstStyle/>
          <a:p>
            <a:pPr marL="0" indent="0" algn="l">
              <a:lnSpc>
                <a:spcPts val="1823"/>
              </a:lnSpc>
              <a:buNone/>
            </a:pPr>
            <a:r>
              <a:rPr lang="en-US" sz="1350" b="1" dirty="0">
                <a:solidFill>
                  <a:srgbClr val="C00000"/>
                </a:solidFill>
                <a:latin typeface="Lato" pitchFamily="34" charset="0"/>
                <a:ea typeface="Lato" pitchFamily="34" charset="-122"/>
                <a:cs typeface="Lato" pitchFamily="34" charset="-120"/>
              </a:rPr>
              <a:t>Middle layers (L10 to L25):</a:t>
            </a:r>
            <a:r>
              <a:rPr lang="en-US" sz="1350" dirty="0">
                <a:solidFill>
                  <a:srgbClr val="C00000"/>
                </a:solidFill>
                <a:latin typeface="Lato" pitchFamily="34" charset="0"/>
                <a:ea typeface="Lato" pitchFamily="34" charset="-122"/>
                <a:cs typeface="Lato" pitchFamily="34" charset="-120"/>
              </a:rPr>
              <a:t> the object word attends to the image tokens of its object</a:t>
            </a:r>
            <a:endParaRPr lang="en-US" sz="1350" dirty="0"/>
          </a:p>
        </p:txBody>
      </p:sp>
      <p:sp>
        <p:nvSpPr>
          <p:cNvPr id="59" name="Shape 56"/>
          <p:cNvSpPr/>
          <p:nvPr/>
        </p:nvSpPr>
        <p:spPr>
          <a:xfrm>
            <a:off x="6746875" y="2119610"/>
            <a:ext cx="4826000" cy="1968500"/>
          </a:xfrm>
          <a:prstGeom prst="roundRect">
            <a:avLst>
              <a:gd name="adj" fmla="val 3871"/>
            </a:avLst>
          </a:prstGeom>
          <a:solidFill>
            <a:srgbClr val="FFFFFF"/>
          </a:solidFill>
          <a:ln/>
        </p:spPr>
        <p:txBody>
          <a:bodyPr/>
          <a:lstStyle/>
          <a:p>
            <a:endParaRPr lang="en-US"/>
          </a:p>
        </p:txBody>
      </p:sp>
      <p:pic>
        <p:nvPicPr>
          <p:cNvPr id="60" name="Image 1" descr="Paper Figure 2: mean OL-VAR across the 32 layers of LLaVA-1.5 and LLaVA-Next, rising in the middle layers"/>
          <p:cNvPicPr>
            <a:picLocks noChangeAspect="1"/>
          </p:cNvPicPr>
          <p:nvPr/>
        </p:nvPicPr>
        <p:blipFill>
          <a:blip r:embed="rId4"/>
          <a:srcRect t="-46" b="-46"/>
          <a:stretch/>
        </p:blipFill>
        <p:spPr>
          <a:xfrm>
            <a:off x="6746875" y="2119610"/>
            <a:ext cx="4826000" cy="1968500"/>
          </a:xfrm>
          <a:prstGeom prst="roundRect">
            <a:avLst>
              <a:gd name="adj" fmla="val 3871"/>
            </a:avLst>
          </a:prstGeom>
        </p:spPr>
      </p:pic>
      <p:pic>
        <p:nvPicPr>
          <p:cNvPr id="61" name="Image 2" descr="OL-VAR of object word i at layer l: its attention summed over image tokens inside the object box, divided by its attention summed over all image tokens"/>
          <p:cNvPicPr>
            <a:picLocks noChangeAspect="1"/>
          </p:cNvPicPr>
          <p:nvPr/>
        </p:nvPicPr>
        <p:blipFill>
          <a:blip r:embed="rId5"/>
          <a:srcRect t="-87" b="-87"/>
          <a:stretch/>
        </p:blipFill>
        <p:spPr>
          <a:xfrm>
            <a:off x="6746875" y="4278610"/>
            <a:ext cx="2057400" cy="1206500"/>
          </a:xfrm>
          <a:prstGeom prst="rect">
            <a:avLst/>
          </a:prstGeom>
        </p:spPr>
      </p:pic>
      <p:sp>
        <p:nvSpPr>
          <p:cNvPr id="62" name="Text 57"/>
          <p:cNvSpPr/>
          <p:nvPr/>
        </p:nvSpPr>
        <p:spPr>
          <a:xfrm>
            <a:off x="8982075" y="4392910"/>
            <a:ext cx="2668524" cy="256530"/>
          </a:xfrm>
          <a:prstGeom prst="rect">
            <a:avLst/>
          </a:prstGeom>
          <a:noFill/>
          <a:ln/>
        </p:spPr>
        <p:txBody>
          <a:bodyPr wrap="none" lIns="0" tIns="0" rIns="0" bIns="0" rtlCol="0" anchor="t">
            <a:normAutofit/>
          </a:bodyPr>
          <a:lstStyle/>
          <a:p>
            <a:pPr marL="0" indent="0" algn="l">
              <a:lnSpc>
                <a:spcPts val="1820"/>
              </a:lnSpc>
              <a:buNone/>
            </a:pPr>
            <a:r>
              <a:rPr lang="en-US" sz="1400" dirty="0">
                <a:solidFill>
                  <a:srgbClr val="C00000"/>
                </a:solidFill>
                <a:latin typeface="Lato" pitchFamily="34" charset="0"/>
                <a:ea typeface="Lato" pitchFamily="34" charset="-122"/>
                <a:cs typeface="Lato" pitchFamily="34" charset="-120"/>
              </a:rPr>
              <a:t>attention on the object</a:t>
            </a:r>
            <a:endParaRPr lang="en-US" sz="1400" dirty="0"/>
          </a:p>
        </p:txBody>
      </p:sp>
      <p:sp>
        <p:nvSpPr>
          <p:cNvPr id="63" name="Shape 58"/>
          <p:cNvSpPr/>
          <p:nvPr/>
        </p:nvSpPr>
        <p:spPr>
          <a:xfrm>
            <a:off x="8982075" y="4875510"/>
            <a:ext cx="2413000" cy="12700"/>
          </a:xfrm>
          <a:prstGeom prst="rect">
            <a:avLst/>
          </a:prstGeom>
          <a:solidFill>
            <a:srgbClr val="BBBBBB"/>
          </a:solidFill>
          <a:ln/>
        </p:spPr>
        <p:txBody>
          <a:bodyPr/>
          <a:lstStyle/>
          <a:p>
            <a:endParaRPr lang="en-US"/>
          </a:p>
        </p:txBody>
      </p:sp>
      <p:sp>
        <p:nvSpPr>
          <p:cNvPr id="64" name="Text 59"/>
          <p:cNvSpPr/>
          <p:nvPr/>
        </p:nvSpPr>
        <p:spPr>
          <a:xfrm>
            <a:off x="8982075" y="5078710"/>
            <a:ext cx="2668524" cy="256530"/>
          </a:xfrm>
          <a:prstGeom prst="rect">
            <a:avLst/>
          </a:prstGeom>
          <a:noFill/>
          <a:ln/>
        </p:spPr>
        <p:txBody>
          <a:bodyPr wrap="none" lIns="0" tIns="0" rIns="0" bIns="0" rtlCol="0" anchor="t">
            <a:normAutofit/>
          </a:bodyPr>
          <a:lstStyle/>
          <a:p>
            <a:pPr marL="0" indent="0" algn="l">
              <a:lnSpc>
                <a:spcPts val="1820"/>
              </a:lnSpc>
              <a:buNone/>
            </a:pPr>
            <a:r>
              <a:rPr lang="en-US" sz="1400" dirty="0">
                <a:solidFill>
                  <a:srgbClr val="2F5597"/>
                </a:solidFill>
                <a:latin typeface="Lato" pitchFamily="34" charset="0"/>
                <a:ea typeface="Lato" pitchFamily="34" charset="-122"/>
                <a:cs typeface="Lato" pitchFamily="34" charset="-120"/>
              </a:rPr>
              <a:t>attention on all image tokens</a:t>
            </a:r>
            <a:endParaRPr lang="en-US" sz="1400" dirty="0"/>
          </a:p>
        </p:txBody>
      </p:sp>
      <p:sp>
        <p:nvSpPr>
          <p:cNvPr id="65" name="Text 60"/>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66" name="Text 61"/>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9 / 33</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Where Do Hallucinations Look?</a:t>
            </a:r>
            <a:endParaRPr lang="en-US" sz="3200" dirty="0"/>
          </a:p>
        </p:txBody>
      </p:sp>
      <p:sp>
        <p:nvSpPr>
          <p:cNvPr id="4" name="Text 2"/>
          <p:cNvSpPr/>
          <p:nvPr/>
        </p:nvSpPr>
        <p:spPr>
          <a:xfrm>
            <a:off x="508000" y="1026120"/>
            <a:ext cx="11511280" cy="368300"/>
          </a:xfrm>
          <a:prstGeom prst="rect">
            <a:avLst/>
          </a:prstGeom>
          <a:noFill/>
          <a:ln/>
        </p:spPr>
        <p:txBody>
          <a:bodyPr wrap="square" lIns="0" tIns="0" rIns="0" bIns="0" rtlCol="0" anchor="t">
            <a:normAutofit/>
          </a:bodyPr>
          <a:lstStyle/>
          <a:p>
            <a:pPr marL="0" indent="0" algn="l">
              <a:lnSpc>
                <a:spcPts val="2700"/>
              </a:lnSpc>
              <a:buNone/>
            </a:pPr>
            <a:r>
              <a:rPr lang="en-US" sz="2000" b="1" dirty="0">
                <a:solidFill>
                  <a:srgbClr val="000000"/>
                </a:solidFill>
                <a:latin typeface="Lato" pitchFamily="34" charset="0"/>
                <a:ea typeface="Lato" pitchFamily="34" charset="-122"/>
                <a:cs typeface="Lato" pitchFamily="34" charset="-120"/>
              </a:rPr>
              <a:t>Real vs. hallucinated:</a:t>
            </a:r>
            <a:r>
              <a:rPr lang="en-US" sz="2000" dirty="0">
                <a:solidFill>
                  <a:srgbClr val="000000"/>
                </a:solidFill>
                <a:latin typeface="Lato" pitchFamily="34" charset="0"/>
                <a:ea typeface="Lato" pitchFamily="34" charset="-122"/>
                <a:cs typeface="Lato" pitchFamily="34" charset="-120"/>
              </a:rPr>
              <a:t> a hallucinated object looks at </a:t>
            </a:r>
            <a:r>
              <a:rPr lang="en-US" sz="2000" u="sng" dirty="0">
                <a:solidFill>
                  <a:srgbClr val="C00000"/>
                </a:solidFill>
                <a:latin typeface="Lato" pitchFamily="34" charset="0"/>
                <a:ea typeface="Lato" pitchFamily="34" charset="-122"/>
                <a:cs typeface="Lato" pitchFamily="34" charset="-120"/>
              </a:rPr>
              <a:t>a few tokens of objects that resemble it</a:t>
            </a:r>
            <a:endParaRPr lang="en-US" sz="2000" dirty="0"/>
          </a:p>
        </p:txBody>
      </p:sp>
      <p:sp>
        <p:nvSpPr>
          <p:cNvPr id="5" name="Text 3"/>
          <p:cNvSpPr/>
          <p:nvPr/>
        </p:nvSpPr>
        <p:spPr>
          <a:xfrm>
            <a:off x="977225" y="1572220"/>
            <a:ext cx="966549" cy="231130"/>
          </a:xfrm>
          <a:prstGeom prst="rect">
            <a:avLst/>
          </a:prstGeom>
          <a:noFill/>
          <a:ln/>
        </p:spPr>
        <p:txBody>
          <a:bodyPr wrap="square" lIns="0" tIns="0" rIns="0" bIns="0" rtlCol="0" anchor="t">
            <a:normAutofit/>
          </a:bodyPr>
          <a:lstStyle/>
          <a:p>
            <a:pPr marL="0" indent="0" algn="ctr">
              <a:lnSpc>
                <a:spcPts val="1620"/>
              </a:lnSpc>
              <a:buNone/>
            </a:pPr>
            <a:r>
              <a:rPr lang="en-US" sz="1200" b="1" dirty="0">
                <a:solidFill>
                  <a:srgbClr val="555555"/>
                </a:solidFill>
                <a:latin typeface="Lato" pitchFamily="34" charset="0"/>
                <a:ea typeface="Lato" pitchFamily="34" charset="-122"/>
                <a:cs typeface="Lato" pitchFamily="34" charset="-120"/>
              </a:rPr>
              <a:t>Input image</a:t>
            </a:r>
            <a:endParaRPr lang="en-US" sz="1200" dirty="0"/>
          </a:p>
        </p:txBody>
      </p:sp>
      <p:pic>
        <p:nvPicPr>
          <p:cNvPr id="6" name="Image 0" descr="The fruit stand input image: bananas, plantains, kiwis and papayas"/>
          <p:cNvPicPr>
            <a:picLocks noChangeAspect="1"/>
          </p:cNvPicPr>
          <p:nvPr/>
        </p:nvPicPr>
        <p:blipFill>
          <a:blip r:embed="rId3"/>
          <a:srcRect/>
          <a:stretch/>
        </p:blipFill>
        <p:spPr>
          <a:xfrm>
            <a:off x="539750" y="1803350"/>
            <a:ext cx="1841500" cy="1841500"/>
          </a:xfrm>
          <a:prstGeom prst="roundRect">
            <a:avLst>
              <a:gd name="adj" fmla="val 2759"/>
            </a:avLst>
          </a:prstGeom>
        </p:spPr>
      </p:pic>
      <p:sp>
        <p:nvSpPr>
          <p:cNvPr id="7" name="Text 4"/>
          <p:cNvSpPr/>
          <p:nvPr/>
        </p:nvSpPr>
        <p:spPr>
          <a:xfrm>
            <a:off x="2717264" y="1572220"/>
            <a:ext cx="1296472" cy="231130"/>
          </a:xfrm>
          <a:prstGeom prst="rect">
            <a:avLst/>
          </a:prstGeom>
          <a:noFill/>
          <a:ln/>
        </p:spPr>
        <p:txBody>
          <a:bodyPr wrap="square" lIns="0" tIns="0" rIns="0" bIns="0" rtlCol="0" anchor="t">
            <a:normAutofit/>
          </a:bodyPr>
          <a:lstStyle/>
          <a:p>
            <a:pPr marL="0" indent="0" algn="ctr">
              <a:lnSpc>
                <a:spcPts val="1620"/>
              </a:lnSpc>
              <a:buNone/>
            </a:pPr>
            <a:r>
              <a:rPr lang="en-US" sz="1200" b="1" dirty="0">
                <a:solidFill>
                  <a:srgbClr val="2F5597"/>
                </a:solidFill>
                <a:latin typeface="Lato" pitchFamily="34" charset="0"/>
                <a:ea typeface="Lato" pitchFamily="34" charset="-122"/>
                <a:cs typeface="Lato" pitchFamily="34" charset="-120"/>
              </a:rPr>
              <a:t>"bananas" (real)</a:t>
            </a:r>
            <a:endParaRPr lang="en-US" sz="1200" dirty="0"/>
          </a:p>
        </p:txBody>
      </p:sp>
      <p:pic>
        <p:nvPicPr>
          <p:cNvPr id="8" name="Image 1" descr="Layer 15 attention of the real object bananas, spread over the bananas"/>
          <p:cNvPicPr>
            <a:picLocks noChangeAspect="1"/>
          </p:cNvPicPr>
          <p:nvPr/>
        </p:nvPicPr>
        <p:blipFill>
          <a:blip r:embed="rId4"/>
          <a:srcRect/>
          <a:stretch/>
        </p:blipFill>
        <p:spPr>
          <a:xfrm>
            <a:off x="2444750" y="1803350"/>
            <a:ext cx="1841500" cy="1841500"/>
          </a:xfrm>
          <a:prstGeom prst="roundRect">
            <a:avLst>
              <a:gd name="adj" fmla="val 2759"/>
            </a:avLst>
          </a:prstGeom>
        </p:spPr>
      </p:pic>
      <p:sp>
        <p:nvSpPr>
          <p:cNvPr id="9" name="Text 5"/>
          <p:cNvSpPr/>
          <p:nvPr/>
        </p:nvSpPr>
        <p:spPr>
          <a:xfrm>
            <a:off x="4352885" y="1572220"/>
            <a:ext cx="1835229" cy="231130"/>
          </a:xfrm>
          <a:prstGeom prst="rect">
            <a:avLst/>
          </a:prstGeom>
          <a:noFill/>
          <a:ln/>
        </p:spPr>
        <p:txBody>
          <a:bodyPr wrap="square" lIns="0" tIns="0" rIns="0" bIns="0" rtlCol="0" anchor="t">
            <a:normAutofit/>
          </a:bodyPr>
          <a:lstStyle/>
          <a:p>
            <a:pPr marL="0" indent="0" algn="ctr">
              <a:lnSpc>
                <a:spcPts val="1620"/>
              </a:lnSpc>
              <a:buNone/>
            </a:pPr>
            <a:r>
              <a:rPr lang="en-US" sz="1200" b="1" dirty="0">
                <a:solidFill>
                  <a:srgbClr val="C00000"/>
                </a:solidFill>
                <a:latin typeface="Lato" pitchFamily="34" charset="0"/>
                <a:ea typeface="Lato" pitchFamily="34" charset="-122"/>
                <a:cs typeface="Lato" pitchFamily="34" charset="-120"/>
              </a:rPr>
              <a:t>"apples" (hallucinated)</a:t>
            </a:r>
            <a:endParaRPr lang="en-US" sz="1200" dirty="0"/>
          </a:p>
        </p:txBody>
      </p:sp>
      <p:pic>
        <p:nvPicPr>
          <p:cNvPr id="10" name="Image 2" descr="Layer 15 attention of the hallucinated object apples, on the papaya and kiwi regions"/>
          <p:cNvPicPr>
            <a:picLocks noChangeAspect="1"/>
          </p:cNvPicPr>
          <p:nvPr/>
        </p:nvPicPr>
        <p:blipFill>
          <a:blip r:embed="rId5"/>
          <a:srcRect/>
          <a:stretch/>
        </p:blipFill>
        <p:spPr>
          <a:xfrm>
            <a:off x="4349750" y="1803350"/>
            <a:ext cx="1841500" cy="1841500"/>
          </a:xfrm>
          <a:prstGeom prst="roundRect">
            <a:avLst>
              <a:gd name="adj" fmla="val 2759"/>
            </a:avLst>
          </a:prstGeom>
        </p:spPr>
      </p:pic>
      <p:sp>
        <p:nvSpPr>
          <p:cNvPr id="11" name="Text 6"/>
          <p:cNvSpPr/>
          <p:nvPr/>
        </p:nvSpPr>
        <p:spPr>
          <a:xfrm>
            <a:off x="977225" y="3797250"/>
            <a:ext cx="966549" cy="231130"/>
          </a:xfrm>
          <a:prstGeom prst="rect">
            <a:avLst/>
          </a:prstGeom>
          <a:noFill/>
          <a:ln/>
        </p:spPr>
        <p:txBody>
          <a:bodyPr wrap="square" lIns="0" tIns="0" rIns="0" bIns="0" rtlCol="0" anchor="t">
            <a:normAutofit/>
          </a:bodyPr>
          <a:lstStyle/>
          <a:p>
            <a:pPr marL="0" indent="0" algn="ctr">
              <a:lnSpc>
                <a:spcPts val="1620"/>
              </a:lnSpc>
              <a:buNone/>
            </a:pPr>
            <a:r>
              <a:rPr lang="en-US" sz="1200" b="1" dirty="0">
                <a:solidFill>
                  <a:srgbClr val="555555"/>
                </a:solidFill>
                <a:latin typeface="Lato" pitchFamily="34" charset="0"/>
                <a:ea typeface="Lato" pitchFamily="34" charset="-122"/>
                <a:cs typeface="Lato" pitchFamily="34" charset="-120"/>
              </a:rPr>
              <a:t>Input image</a:t>
            </a:r>
            <a:endParaRPr lang="en-US" sz="1200" dirty="0"/>
          </a:p>
        </p:txBody>
      </p:sp>
      <p:pic>
        <p:nvPicPr>
          <p:cNvPr id="12" name="Image 3" descr="The desk input image: cats lying on a desk in front of a monitor and keyboard"/>
          <p:cNvPicPr>
            <a:picLocks noChangeAspect="1"/>
          </p:cNvPicPr>
          <p:nvPr/>
        </p:nvPicPr>
        <p:blipFill>
          <a:blip r:embed="rId6"/>
          <a:srcRect/>
          <a:stretch/>
        </p:blipFill>
        <p:spPr>
          <a:xfrm>
            <a:off x="539750" y="4028380"/>
            <a:ext cx="1841500" cy="1841500"/>
          </a:xfrm>
          <a:prstGeom prst="roundRect">
            <a:avLst>
              <a:gd name="adj" fmla="val 2759"/>
            </a:avLst>
          </a:prstGeom>
        </p:spPr>
      </p:pic>
      <p:sp>
        <p:nvSpPr>
          <p:cNvPr id="13" name="Text 7"/>
          <p:cNvSpPr/>
          <p:nvPr/>
        </p:nvSpPr>
        <p:spPr>
          <a:xfrm>
            <a:off x="2894489" y="3797250"/>
            <a:ext cx="942023" cy="231130"/>
          </a:xfrm>
          <a:prstGeom prst="rect">
            <a:avLst/>
          </a:prstGeom>
          <a:noFill/>
          <a:ln/>
        </p:spPr>
        <p:txBody>
          <a:bodyPr wrap="square" lIns="0" tIns="0" rIns="0" bIns="0" rtlCol="0" anchor="t">
            <a:normAutofit/>
          </a:bodyPr>
          <a:lstStyle/>
          <a:p>
            <a:pPr marL="0" indent="0" algn="ctr">
              <a:lnSpc>
                <a:spcPts val="1620"/>
              </a:lnSpc>
              <a:buNone/>
            </a:pPr>
            <a:r>
              <a:rPr lang="en-US" sz="1200" b="1" dirty="0">
                <a:solidFill>
                  <a:srgbClr val="2F5597"/>
                </a:solidFill>
                <a:latin typeface="Lato" pitchFamily="34" charset="0"/>
                <a:ea typeface="Lato" pitchFamily="34" charset="-122"/>
                <a:cs typeface="Lato" pitchFamily="34" charset="-120"/>
              </a:rPr>
              <a:t>"cats" (real)</a:t>
            </a:r>
            <a:endParaRPr lang="en-US" sz="1200" dirty="0"/>
          </a:p>
        </p:txBody>
      </p:sp>
      <p:pic>
        <p:nvPicPr>
          <p:cNvPr id="14" name="Image 4" descr="Layer 15 attention of the real object cats, spread over the cats"/>
          <p:cNvPicPr>
            <a:picLocks noChangeAspect="1"/>
          </p:cNvPicPr>
          <p:nvPr/>
        </p:nvPicPr>
        <p:blipFill>
          <a:blip r:embed="rId7"/>
          <a:srcRect/>
          <a:stretch/>
        </p:blipFill>
        <p:spPr>
          <a:xfrm>
            <a:off x="2444750" y="4028380"/>
            <a:ext cx="1841500" cy="1841500"/>
          </a:xfrm>
          <a:prstGeom prst="roundRect">
            <a:avLst>
              <a:gd name="adj" fmla="val 2759"/>
            </a:avLst>
          </a:prstGeom>
        </p:spPr>
      </p:pic>
      <p:sp>
        <p:nvSpPr>
          <p:cNvPr id="15" name="Text 8"/>
          <p:cNvSpPr/>
          <p:nvPr/>
        </p:nvSpPr>
        <p:spPr>
          <a:xfrm>
            <a:off x="4400396" y="3797250"/>
            <a:ext cx="1740158" cy="231130"/>
          </a:xfrm>
          <a:prstGeom prst="rect">
            <a:avLst/>
          </a:prstGeom>
          <a:noFill/>
          <a:ln/>
        </p:spPr>
        <p:txBody>
          <a:bodyPr wrap="square" lIns="0" tIns="0" rIns="0" bIns="0" rtlCol="0" anchor="t">
            <a:normAutofit/>
          </a:bodyPr>
          <a:lstStyle/>
          <a:p>
            <a:pPr marL="0" indent="0" algn="ctr">
              <a:lnSpc>
                <a:spcPts val="1620"/>
              </a:lnSpc>
              <a:buNone/>
            </a:pPr>
            <a:r>
              <a:rPr lang="en-US" sz="1200" b="1" dirty="0">
                <a:solidFill>
                  <a:srgbClr val="C00000"/>
                </a:solidFill>
                <a:latin typeface="Lato" pitchFamily="34" charset="0"/>
                <a:ea typeface="Lato" pitchFamily="34" charset="-122"/>
                <a:cs typeface="Lato" pitchFamily="34" charset="-120"/>
              </a:rPr>
              <a:t>"glove" (hallucinated)</a:t>
            </a:r>
            <a:endParaRPr lang="en-US" sz="1200" dirty="0"/>
          </a:p>
        </p:txBody>
      </p:sp>
      <p:pic>
        <p:nvPicPr>
          <p:cNvPr id="16" name="Image 5" descr="Layer 15 attention of the hallucinated object glove, concentrated on a few tokens on the baseball"/>
          <p:cNvPicPr>
            <a:picLocks noChangeAspect="1"/>
          </p:cNvPicPr>
          <p:nvPr/>
        </p:nvPicPr>
        <p:blipFill>
          <a:blip r:embed="rId8"/>
          <a:srcRect/>
          <a:stretch/>
        </p:blipFill>
        <p:spPr>
          <a:xfrm>
            <a:off x="4349750" y="4028380"/>
            <a:ext cx="1841500" cy="1841500"/>
          </a:xfrm>
          <a:prstGeom prst="roundRect">
            <a:avLst>
              <a:gd name="adj" fmla="val 2759"/>
            </a:avLst>
          </a:prstGeom>
        </p:spPr>
      </p:pic>
      <p:pic>
        <p:nvPicPr>
          <p:cNvPr id="17" name="Image 6" descr="Paper Figure 5 right: fraction of objects removed versus the number of zeroed tokens K; hallucinated objects rise to about 80 percent, real objects stay near 10 percent"/>
          <p:cNvPicPr>
            <a:picLocks noChangeAspect="1"/>
          </p:cNvPicPr>
          <p:nvPr/>
        </p:nvPicPr>
        <p:blipFill>
          <a:blip r:embed="rId9"/>
          <a:srcRect t="-22" b="-22"/>
          <a:stretch/>
        </p:blipFill>
        <p:spPr>
          <a:xfrm>
            <a:off x="6572250" y="1631900"/>
            <a:ext cx="5080000" cy="4178300"/>
          </a:xfrm>
          <a:prstGeom prst="rect">
            <a:avLst/>
          </a:prstGeom>
        </p:spPr>
      </p:pic>
      <p:sp>
        <p:nvSpPr>
          <p:cNvPr id="18" name="Text 9"/>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19" name="Text 10"/>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10 / 33</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a:spLocks noGrp="1"/>
          </p:cNvSpPr>
          <p:nvPr>
            <p:ph type="title"/>
          </p:nvPr>
        </p:nvSpPr>
        <p:spPr>
          <a:xfrm>
            <a:off x="508000" y="355600"/>
            <a:ext cx="11511280" cy="452586"/>
          </a:xfrm>
          <a:prstGeom prst="rect">
            <a:avLst/>
          </a:prstGeom>
          <a:noFill/>
          <a:ln/>
        </p:spPr>
        <p:txBody>
          <a:bodyPr wrap="square" lIns="0" tIns="0" rIns="0" bIns="0" rtlCol="0" anchor="t">
            <a:normAutofit/>
          </a:bodyPr>
          <a:lstStyle/>
          <a:p>
            <a:pPr marL="0" indent="0" algn="l">
              <a:lnSpc>
                <a:spcPts val="3370"/>
              </a:lnSpc>
              <a:buNone/>
            </a:pPr>
            <a:r>
              <a:rPr lang="en-US" sz="2930" b="1" i="0" dirty="0">
                <a:solidFill>
                  <a:srgbClr val="000000"/>
                </a:solidFill>
                <a:latin typeface="Lato" pitchFamily="34" charset="0"/>
                <a:ea typeface="Lato" pitchFamily="34" charset="-122"/>
                <a:cs typeface="Lato" pitchFamily="34" charset="-120"/>
              </a:rPr>
              <a:t>From Latent Space to Output Words</a:t>
            </a:r>
            <a:endParaRPr lang="en-US" sz="2930" dirty="0"/>
          </a:p>
        </p:txBody>
      </p:sp>
      <p:sp>
        <p:nvSpPr>
          <p:cNvPr id="4" name="Text 2"/>
          <p:cNvSpPr/>
          <p:nvPr/>
        </p:nvSpPr>
        <p:spPr>
          <a:xfrm>
            <a:off x="508000" y="985986"/>
            <a:ext cx="11511280" cy="338882"/>
          </a:xfrm>
          <a:prstGeom prst="rect">
            <a:avLst/>
          </a:prstGeom>
          <a:noFill/>
          <a:ln/>
        </p:spPr>
        <p:txBody>
          <a:bodyPr wrap="square" lIns="0" tIns="0" rIns="0" bIns="0" rtlCol="0" anchor="t">
            <a:normAutofit/>
          </a:bodyPr>
          <a:lstStyle/>
          <a:p>
            <a:pPr marL="0" indent="0" algn="l">
              <a:lnSpc>
                <a:spcPts val="2472"/>
              </a:lnSpc>
              <a:buNone/>
            </a:pPr>
            <a:r>
              <a:rPr lang="en-US" sz="1831" b="1" dirty="0">
                <a:solidFill>
                  <a:srgbClr val="000000"/>
                </a:solidFill>
                <a:latin typeface="Lato" pitchFamily="34" charset="0"/>
                <a:ea typeface="Lato" pitchFamily="34" charset="-122"/>
                <a:cs typeface="Lato" pitchFamily="34" charset="-120"/>
              </a:rPr>
              <a:t>Goal:</a:t>
            </a:r>
            <a:r>
              <a:rPr lang="en-US" sz="1831" dirty="0">
                <a:solidFill>
                  <a:srgbClr val="000000"/>
                </a:solidFill>
                <a:latin typeface="Lato" pitchFamily="34" charset="0"/>
                <a:ea typeface="Lato" pitchFamily="34" charset="-122"/>
                <a:cs typeface="Lato" pitchFamily="34" charset="-120"/>
              </a:rPr>
              <a:t> read </a:t>
            </a:r>
            <a:r>
              <a:rPr lang="en-US" sz="1831" u="sng" dirty="0">
                <a:solidFill>
                  <a:srgbClr val="C00000"/>
                </a:solidFill>
                <a:latin typeface="Lato" pitchFamily="34" charset="0"/>
                <a:ea typeface="Lato" pitchFamily="34" charset="-122"/>
                <a:cs typeface="Lato" pitchFamily="34" charset="-120"/>
              </a:rPr>
              <a:t>what each image token means in words</a:t>
            </a:r>
            <a:r>
              <a:rPr lang="en-US" sz="1831" dirty="0">
                <a:solidFill>
                  <a:srgbClr val="000000"/>
                </a:solidFill>
                <a:latin typeface="Lato" pitchFamily="34" charset="0"/>
                <a:ea typeface="Lato" pitchFamily="34" charset="-122"/>
                <a:cs typeface="Lato" pitchFamily="34" charset="-120"/>
              </a:rPr>
              <a:t>, at any layer</a:t>
            </a:r>
            <a:endParaRPr lang="en-US" sz="1831" dirty="0"/>
          </a:p>
        </p:txBody>
      </p:sp>
      <p:pic>
        <p:nvPicPr>
          <p:cNvPr id="5" name="Image 0" descr="Schematic: the papaya embedding enters a latent space, drawn as a cloud of embeddings; the readout maps it to a ranked list of output tokens"/>
          <p:cNvPicPr>
            <a:picLocks noChangeAspect="1"/>
          </p:cNvPicPr>
          <p:nvPr/>
        </p:nvPicPr>
        <p:blipFill>
          <a:blip r:embed="rId3"/>
          <a:srcRect t="-36" b="-36"/>
          <a:stretch/>
        </p:blipFill>
        <p:spPr>
          <a:xfrm>
            <a:off x="508000" y="1426468"/>
            <a:ext cx="11176000" cy="2730500"/>
          </a:xfrm>
          <a:prstGeom prst="rect">
            <a:avLst/>
          </a:prstGeom>
        </p:spPr>
      </p:pic>
      <p:sp>
        <p:nvSpPr>
          <p:cNvPr id="6" name="Text 3"/>
          <p:cNvSpPr/>
          <p:nvPr/>
        </p:nvSpPr>
        <p:spPr>
          <a:xfrm>
            <a:off x="454660" y="1426468"/>
            <a:ext cx="3662680" cy="265410"/>
          </a:xfrm>
          <a:prstGeom prst="rect">
            <a:avLst/>
          </a:prstGeom>
          <a:noFill/>
          <a:ln/>
        </p:spPr>
        <p:txBody>
          <a:bodyPr wrap="square" lIns="0" tIns="0" rIns="0" bIns="0" rtlCol="0" anchor="t">
            <a:normAutofit/>
          </a:bodyPr>
          <a:lstStyle/>
          <a:p>
            <a:pPr marL="0" indent="0" algn="ctr">
              <a:lnSpc>
                <a:spcPts val="1890"/>
              </a:lnSpc>
              <a:buNone/>
            </a:pPr>
            <a:r>
              <a:rPr lang="en-US" sz="1400" b="1" dirty="0">
                <a:solidFill>
                  <a:srgbClr val="000000"/>
                </a:solidFill>
                <a:latin typeface="Lato" pitchFamily="34" charset="0"/>
                <a:ea typeface="Lato" pitchFamily="34" charset="-122"/>
                <a:cs typeface="Lato" pitchFamily="34" charset="-120"/>
              </a:rPr>
              <a:t>Image tokens become embeddings</a:t>
            </a:r>
            <a:endParaRPr lang="en-US" sz="1400" dirty="0"/>
          </a:p>
        </p:txBody>
      </p:sp>
      <p:sp>
        <p:nvSpPr>
          <p:cNvPr id="7" name="Text 4"/>
          <p:cNvSpPr/>
          <p:nvPr/>
        </p:nvSpPr>
        <p:spPr>
          <a:xfrm>
            <a:off x="4266565" y="1426468"/>
            <a:ext cx="3531870" cy="265410"/>
          </a:xfrm>
          <a:prstGeom prst="rect">
            <a:avLst/>
          </a:prstGeom>
          <a:noFill/>
          <a:ln/>
        </p:spPr>
        <p:txBody>
          <a:bodyPr wrap="square" lIns="0" tIns="0" rIns="0" bIns="0" rtlCol="0" anchor="t">
            <a:normAutofit/>
          </a:bodyPr>
          <a:lstStyle/>
          <a:p>
            <a:pPr marL="0" indent="0" algn="ctr">
              <a:lnSpc>
                <a:spcPts val="1890"/>
              </a:lnSpc>
              <a:buNone/>
            </a:pPr>
            <a:r>
              <a:rPr lang="en-US" sz="1400" b="1" dirty="0">
                <a:solidFill>
                  <a:srgbClr val="000000"/>
                </a:solidFill>
                <a:latin typeface="Lato" pitchFamily="34" charset="0"/>
                <a:ea typeface="Lato" pitchFamily="34" charset="-122"/>
                <a:cs typeface="Lato" pitchFamily="34" charset="-120"/>
              </a:rPr>
              <a:t>Latent space → output space</a:t>
            </a:r>
            <a:endParaRPr lang="en-US" sz="1400" dirty="0"/>
          </a:p>
        </p:txBody>
      </p:sp>
      <p:sp>
        <p:nvSpPr>
          <p:cNvPr id="8" name="Text 5"/>
          <p:cNvSpPr/>
          <p:nvPr/>
        </p:nvSpPr>
        <p:spPr>
          <a:xfrm>
            <a:off x="8719185" y="1426468"/>
            <a:ext cx="3008630" cy="265410"/>
          </a:xfrm>
          <a:prstGeom prst="rect">
            <a:avLst/>
          </a:prstGeom>
          <a:noFill/>
          <a:ln/>
        </p:spPr>
        <p:txBody>
          <a:bodyPr wrap="square" lIns="0" tIns="0" rIns="0" bIns="0" rtlCol="0" anchor="t">
            <a:normAutofit/>
          </a:bodyPr>
          <a:lstStyle/>
          <a:p>
            <a:pPr marL="0" indent="0" algn="ctr">
              <a:lnSpc>
                <a:spcPts val="1890"/>
              </a:lnSpc>
              <a:buNone/>
            </a:pPr>
            <a:r>
              <a:rPr lang="en-US" sz="1400" b="1" dirty="0">
                <a:solidFill>
                  <a:srgbClr val="000000"/>
                </a:solidFill>
                <a:latin typeface="Lato" pitchFamily="34" charset="0"/>
                <a:ea typeface="Lato" pitchFamily="34" charset="-122"/>
                <a:cs typeface="Lato" pitchFamily="34" charset="-120"/>
              </a:rPr>
              <a:t>Two challenges in reading </a:t>
            </a:r>
            <a:r>
              <a:rPr lang="en-US" sz="1400" b="1" i="1" dirty="0">
                <a:solidFill>
                  <a:srgbClr val="000000"/>
                </a:solidFill>
                <a:latin typeface="Lato" pitchFamily="34" charset="0"/>
                <a:ea typeface="Lato" pitchFamily="34" charset="-122"/>
                <a:cs typeface="Lato" pitchFamily="34" charset="-120"/>
              </a:rPr>
              <a:t>h</a:t>
            </a:r>
            <a:endParaRPr lang="en-US" sz="1400" dirty="0"/>
          </a:p>
        </p:txBody>
      </p:sp>
      <p:sp>
        <p:nvSpPr>
          <p:cNvPr id="9" name="Shape 6"/>
          <p:cNvSpPr/>
          <p:nvPr/>
        </p:nvSpPr>
        <p:spPr>
          <a:xfrm>
            <a:off x="768350" y="1813818"/>
            <a:ext cx="2146300" cy="203200"/>
          </a:xfrm>
          <a:prstGeom prst="roundRect">
            <a:avLst>
              <a:gd name="adj" fmla="val 28125"/>
            </a:avLst>
          </a:prstGeom>
          <a:solidFill>
            <a:srgbClr val="F2F2F2"/>
          </a:solidFill>
          <a:ln w="12700">
            <a:solidFill>
              <a:srgbClr val="AAAAAA"/>
            </a:solidFill>
            <a:prstDash val="dash"/>
          </a:ln>
        </p:spPr>
        <p:txBody>
          <a:bodyPr/>
          <a:lstStyle/>
          <a:p>
            <a:endParaRPr lang="en-US"/>
          </a:p>
        </p:txBody>
      </p:sp>
      <p:sp>
        <p:nvSpPr>
          <p:cNvPr id="10" name="Text 7"/>
          <p:cNvSpPr/>
          <p:nvPr/>
        </p:nvSpPr>
        <p:spPr>
          <a:xfrm>
            <a:off x="1387376" y="1803995"/>
            <a:ext cx="959048"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888888"/>
                </a:solidFill>
                <a:latin typeface="Lato" pitchFamily="34" charset="0"/>
                <a:ea typeface="Lato" pitchFamily="34" charset="-122"/>
                <a:cs typeface="Lato" pitchFamily="34" charset="-120"/>
              </a:rPr>
              <a:t>Layer L (last)</a:t>
            </a:r>
            <a:endParaRPr lang="en-US" sz="1300" dirty="0"/>
          </a:p>
        </p:txBody>
      </p:sp>
      <p:sp>
        <p:nvSpPr>
          <p:cNvPr id="11" name="Text 8"/>
          <p:cNvSpPr/>
          <p:nvPr/>
        </p:nvSpPr>
        <p:spPr>
          <a:xfrm>
            <a:off x="729615" y="2074168"/>
            <a:ext cx="2223770" cy="177800"/>
          </a:xfrm>
          <a:prstGeom prst="rect">
            <a:avLst/>
          </a:prstGeom>
          <a:noFill/>
          <a:ln/>
        </p:spPr>
        <p:txBody>
          <a:bodyPr wrap="square" lIns="0" tIns="0" rIns="0" bIns="0" rtlCol="0" anchor="t">
            <a:normAutofit/>
          </a:bodyPr>
          <a:lstStyle/>
          <a:p>
            <a:pPr marL="0" indent="0" algn="ctr">
              <a:lnSpc>
                <a:spcPts val="1200"/>
              </a:lnSpc>
              <a:buNone/>
            </a:pPr>
            <a:r>
              <a:rPr lang="en-US" sz="1200" dirty="0">
                <a:solidFill>
                  <a:srgbClr val="AAAAAA"/>
                </a:solidFill>
                <a:latin typeface="Lato" pitchFamily="34" charset="0"/>
                <a:ea typeface="Lato" pitchFamily="34" charset="-122"/>
                <a:cs typeface="Lato" pitchFamily="34" charset="-120"/>
              </a:rPr>
              <a:t>⋮</a:t>
            </a:r>
            <a:endParaRPr lang="en-US" sz="1200" dirty="0"/>
          </a:p>
        </p:txBody>
      </p:sp>
      <p:sp>
        <p:nvSpPr>
          <p:cNvPr id="12" name="Shape 9"/>
          <p:cNvSpPr/>
          <p:nvPr/>
        </p:nvSpPr>
        <p:spPr>
          <a:xfrm>
            <a:off x="768350" y="2264668"/>
            <a:ext cx="190500" cy="190500"/>
          </a:xfrm>
          <a:prstGeom prst="roundRect">
            <a:avLst>
              <a:gd name="adj" fmla="val 20000"/>
            </a:avLst>
          </a:prstGeom>
          <a:solidFill>
            <a:srgbClr val="9DB4D8"/>
          </a:solidFill>
          <a:ln/>
        </p:spPr>
        <p:txBody>
          <a:bodyPr/>
          <a:lstStyle/>
          <a:p>
            <a:endParaRPr lang="en-US"/>
          </a:p>
        </p:txBody>
      </p:sp>
      <p:sp>
        <p:nvSpPr>
          <p:cNvPr id="13" name="Shape 10"/>
          <p:cNvSpPr/>
          <p:nvPr/>
        </p:nvSpPr>
        <p:spPr>
          <a:xfrm>
            <a:off x="1047750" y="2264668"/>
            <a:ext cx="190500" cy="190500"/>
          </a:xfrm>
          <a:prstGeom prst="roundRect">
            <a:avLst>
              <a:gd name="adj" fmla="val 20000"/>
            </a:avLst>
          </a:prstGeom>
          <a:solidFill>
            <a:srgbClr val="9DB4D8"/>
          </a:solidFill>
          <a:ln/>
        </p:spPr>
        <p:txBody>
          <a:bodyPr/>
          <a:lstStyle/>
          <a:p>
            <a:endParaRPr lang="en-US"/>
          </a:p>
        </p:txBody>
      </p:sp>
      <p:sp>
        <p:nvSpPr>
          <p:cNvPr id="14" name="Shape 11"/>
          <p:cNvSpPr/>
          <p:nvPr/>
        </p:nvSpPr>
        <p:spPr>
          <a:xfrm>
            <a:off x="1327150" y="2264668"/>
            <a:ext cx="190500" cy="190500"/>
          </a:xfrm>
          <a:prstGeom prst="roundRect">
            <a:avLst>
              <a:gd name="adj" fmla="val 20000"/>
            </a:avLst>
          </a:prstGeom>
          <a:solidFill>
            <a:srgbClr val="9DB4D8"/>
          </a:solidFill>
          <a:ln/>
        </p:spPr>
        <p:txBody>
          <a:bodyPr/>
          <a:lstStyle/>
          <a:p>
            <a:endParaRPr lang="en-US"/>
          </a:p>
        </p:txBody>
      </p:sp>
      <p:sp>
        <p:nvSpPr>
          <p:cNvPr id="15" name="Shape 12"/>
          <p:cNvSpPr/>
          <p:nvPr/>
        </p:nvSpPr>
        <p:spPr>
          <a:xfrm>
            <a:off x="1606550" y="2264668"/>
            <a:ext cx="190500" cy="190500"/>
          </a:xfrm>
          <a:prstGeom prst="roundRect">
            <a:avLst>
              <a:gd name="adj" fmla="val 20000"/>
            </a:avLst>
          </a:prstGeom>
          <a:solidFill>
            <a:srgbClr val="9DB4D8"/>
          </a:solidFill>
          <a:ln/>
        </p:spPr>
        <p:txBody>
          <a:bodyPr/>
          <a:lstStyle/>
          <a:p>
            <a:endParaRPr lang="en-US"/>
          </a:p>
        </p:txBody>
      </p:sp>
      <p:sp>
        <p:nvSpPr>
          <p:cNvPr id="16" name="Shape 13"/>
          <p:cNvSpPr/>
          <p:nvPr/>
        </p:nvSpPr>
        <p:spPr>
          <a:xfrm>
            <a:off x="1885950" y="2264668"/>
            <a:ext cx="190500" cy="190500"/>
          </a:xfrm>
          <a:prstGeom prst="roundRect">
            <a:avLst>
              <a:gd name="adj" fmla="val 20000"/>
            </a:avLst>
          </a:prstGeom>
          <a:solidFill>
            <a:srgbClr val="9DB4D8"/>
          </a:solidFill>
          <a:ln/>
        </p:spPr>
        <p:txBody>
          <a:bodyPr/>
          <a:lstStyle/>
          <a:p>
            <a:endParaRPr lang="en-US"/>
          </a:p>
        </p:txBody>
      </p:sp>
      <p:sp>
        <p:nvSpPr>
          <p:cNvPr id="17" name="Shape 14"/>
          <p:cNvSpPr/>
          <p:nvPr/>
        </p:nvSpPr>
        <p:spPr>
          <a:xfrm>
            <a:off x="2165350" y="2264668"/>
            <a:ext cx="190500" cy="190500"/>
          </a:xfrm>
          <a:prstGeom prst="roundRect">
            <a:avLst>
              <a:gd name="adj" fmla="val 20000"/>
            </a:avLst>
          </a:prstGeom>
          <a:solidFill>
            <a:srgbClr val="9DB4D8"/>
          </a:solidFill>
          <a:ln/>
        </p:spPr>
        <p:txBody>
          <a:bodyPr/>
          <a:lstStyle/>
          <a:p>
            <a:endParaRPr lang="en-US"/>
          </a:p>
        </p:txBody>
      </p:sp>
      <p:sp>
        <p:nvSpPr>
          <p:cNvPr id="18" name="Shape 15"/>
          <p:cNvSpPr/>
          <p:nvPr/>
        </p:nvSpPr>
        <p:spPr>
          <a:xfrm>
            <a:off x="2444750" y="2264668"/>
            <a:ext cx="190500" cy="190500"/>
          </a:xfrm>
          <a:prstGeom prst="roundRect">
            <a:avLst>
              <a:gd name="adj" fmla="val 20000"/>
            </a:avLst>
          </a:prstGeom>
          <a:solidFill>
            <a:srgbClr val="9DB4D8"/>
          </a:solidFill>
          <a:ln/>
        </p:spPr>
        <p:txBody>
          <a:bodyPr/>
          <a:lstStyle/>
          <a:p>
            <a:endParaRPr lang="en-US"/>
          </a:p>
        </p:txBody>
      </p:sp>
      <p:sp>
        <p:nvSpPr>
          <p:cNvPr id="19" name="Shape 16"/>
          <p:cNvSpPr/>
          <p:nvPr/>
        </p:nvSpPr>
        <p:spPr>
          <a:xfrm>
            <a:off x="2724150" y="2264668"/>
            <a:ext cx="190500" cy="190500"/>
          </a:xfrm>
          <a:prstGeom prst="roundRect">
            <a:avLst>
              <a:gd name="adj" fmla="val 20000"/>
            </a:avLst>
          </a:prstGeom>
          <a:solidFill>
            <a:srgbClr val="2E8B57"/>
          </a:solidFill>
          <a:ln/>
        </p:spPr>
        <p:txBody>
          <a:bodyPr/>
          <a:lstStyle/>
          <a:p>
            <a:endParaRPr lang="en-US"/>
          </a:p>
        </p:txBody>
      </p:sp>
      <p:sp>
        <p:nvSpPr>
          <p:cNvPr id="20" name="Text 17"/>
          <p:cNvSpPr/>
          <p:nvPr/>
        </p:nvSpPr>
        <p:spPr>
          <a:xfrm>
            <a:off x="762000" y="2518668"/>
            <a:ext cx="2159000" cy="254000"/>
          </a:xfrm>
          <a:prstGeom prst="roundRect">
            <a:avLst>
              <a:gd name="adj" fmla="val 25000"/>
            </a:avLst>
          </a:prstGeom>
          <a:solidFill>
            <a:srgbClr val="2F5597"/>
          </a:solidFill>
          <a:ln/>
        </p:spPr>
        <p:txBody>
          <a:bodyPr wrap="square" lIns="0" tIns="0" rIns="0" bIns="0" rtlCol="0" anchor="ctr">
            <a:normAutofit/>
          </a:bodyPr>
          <a:lstStyle/>
          <a:p>
            <a:pPr marL="0" indent="0" algn="ctr">
              <a:lnSpc>
                <a:spcPts val="1755"/>
              </a:lnSpc>
              <a:buNone/>
            </a:pPr>
            <a:r>
              <a:rPr lang="en-US" sz="1300" b="1" dirty="0">
                <a:solidFill>
                  <a:srgbClr val="FFFFFF"/>
                </a:solidFill>
                <a:latin typeface="Lato" pitchFamily="34" charset="0"/>
                <a:ea typeface="Lato" pitchFamily="34" charset="-122"/>
                <a:cs typeface="Lato" pitchFamily="34" charset="-120"/>
              </a:rPr>
              <a:t>Layer ℓ</a:t>
            </a:r>
            <a:endParaRPr lang="en-US" sz="1300" dirty="0"/>
          </a:p>
        </p:txBody>
      </p:sp>
      <p:sp>
        <p:nvSpPr>
          <p:cNvPr id="21" name="Text 18"/>
          <p:cNvSpPr/>
          <p:nvPr/>
        </p:nvSpPr>
        <p:spPr>
          <a:xfrm>
            <a:off x="729615" y="2823468"/>
            <a:ext cx="2223770" cy="177800"/>
          </a:xfrm>
          <a:prstGeom prst="rect">
            <a:avLst/>
          </a:prstGeom>
          <a:noFill/>
          <a:ln/>
        </p:spPr>
        <p:txBody>
          <a:bodyPr wrap="square" lIns="0" tIns="0" rIns="0" bIns="0" rtlCol="0" anchor="t">
            <a:normAutofit/>
          </a:bodyPr>
          <a:lstStyle/>
          <a:p>
            <a:pPr marL="0" indent="0" algn="ctr">
              <a:lnSpc>
                <a:spcPts val="1200"/>
              </a:lnSpc>
              <a:buNone/>
            </a:pPr>
            <a:r>
              <a:rPr lang="en-US" sz="1200" dirty="0">
                <a:solidFill>
                  <a:srgbClr val="9DB4D8"/>
                </a:solidFill>
                <a:latin typeface="Lato" pitchFamily="34" charset="0"/>
                <a:ea typeface="Lato" pitchFamily="34" charset="-122"/>
                <a:cs typeface="Lato" pitchFamily="34" charset="-120"/>
              </a:rPr>
              <a:t>⋮</a:t>
            </a:r>
            <a:endParaRPr lang="en-US" sz="1200" dirty="0"/>
          </a:p>
        </p:txBody>
      </p:sp>
      <p:sp>
        <p:nvSpPr>
          <p:cNvPr id="22" name="Shape 19"/>
          <p:cNvSpPr/>
          <p:nvPr/>
        </p:nvSpPr>
        <p:spPr>
          <a:xfrm>
            <a:off x="774700" y="3020318"/>
            <a:ext cx="177800" cy="177800"/>
          </a:xfrm>
          <a:prstGeom prst="roundRect">
            <a:avLst>
              <a:gd name="adj" fmla="val 17857"/>
            </a:avLst>
          </a:prstGeom>
          <a:solidFill>
            <a:srgbClr val="D5DFEF"/>
          </a:solidFill>
          <a:ln w="12700">
            <a:solidFill>
              <a:srgbClr val="9DB4D8"/>
            </a:solidFill>
            <a:prstDash val="solid"/>
          </a:ln>
        </p:spPr>
        <p:txBody>
          <a:bodyPr/>
          <a:lstStyle/>
          <a:p>
            <a:endParaRPr lang="en-US"/>
          </a:p>
        </p:txBody>
      </p:sp>
      <p:sp>
        <p:nvSpPr>
          <p:cNvPr id="23" name="Shape 20"/>
          <p:cNvSpPr/>
          <p:nvPr/>
        </p:nvSpPr>
        <p:spPr>
          <a:xfrm>
            <a:off x="1054100" y="3020318"/>
            <a:ext cx="177800" cy="177800"/>
          </a:xfrm>
          <a:prstGeom prst="roundRect">
            <a:avLst>
              <a:gd name="adj" fmla="val 17857"/>
            </a:avLst>
          </a:prstGeom>
          <a:solidFill>
            <a:srgbClr val="D5DFEF"/>
          </a:solidFill>
          <a:ln w="12700">
            <a:solidFill>
              <a:srgbClr val="9DB4D8"/>
            </a:solidFill>
            <a:prstDash val="solid"/>
          </a:ln>
        </p:spPr>
        <p:txBody>
          <a:bodyPr/>
          <a:lstStyle/>
          <a:p>
            <a:endParaRPr lang="en-US"/>
          </a:p>
        </p:txBody>
      </p:sp>
      <p:sp>
        <p:nvSpPr>
          <p:cNvPr id="24" name="Shape 21"/>
          <p:cNvSpPr/>
          <p:nvPr/>
        </p:nvSpPr>
        <p:spPr>
          <a:xfrm>
            <a:off x="1333500" y="3020318"/>
            <a:ext cx="177800" cy="177800"/>
          </a:xfrm>
          <a:prstGeom prst="roundRect">
            <a:avLst>
              <a:gd name="adj" fmla="val 17857"/>
            </a:avLst>
          </a:prstGeom>
          <a:solidFill>
            <a:srgbClr val="D5DFEF"/>
          </a:solidFill>
          <a:ln w="12700">
            <a:solidFill>
              <a:srgbClr val="9DB4D8"/>
            </a:solidFill>
            <a:prstDash val="solid"/>
          </a:ln>
        </p:spPr>
        <p:txBody>
          <a:bodyPr/>
          <a:lstStyle/>
          <a:p>
            <a:endParaRPr lang="en-US"/>
          </a:p>
        </p:txBody>
      </p:sp>
      <p:sp>
        <p:nvSpPr>
          <p:cNvPr id="25" name="Shape 22"/>
          <p:cNvSpPr/>
          <p:nvPr/>
        </p:nvSpPr>
        <p:spPr>
          <a:xfrm>
            <a:off x="1612900" y="3020318"/>
            <a:ext cx="177800" cy="177800"/>
          </a:xfrm>
          <a:prstGeom prst="roundRect">
            <a:avLst>
              <a:gd name="adj" fmla="val 17857"/>
            </a:avLst>
          </a:prstGeom>
          <a:solidFill>
            <a:srgbClr val="D5DFEF"/>
          </a:solidFill>
          <a:ln w="12700">
            <a:solidFill>
              <a:srgbClr val="9DB4D8"/>
            </a:solidFill>
            <a:prstDash val="solid"/>
          </a:ln>
        </p:spPr>
        <p:txBody>
          <a:bodyPr/>
          <a:lstStyle/>
          <a:p>
            <a:endParaRPr lang="en-US"/>
          </a:p>
        </p:txBody>
      </p:sp>
      <p:sp>
        <p:nvSpPr>
          <p:cNvPr id="26" name="Shape 23"/>
          <p:cNvSpPr/>
          <p:nvPr/>
        </p:nvSpPr>
        <p:spPr>
          <a:xfrm>
            <a:off x="1892300" y="3020318"/>
            <a:ext cx="177800" cy="177800"/>
          </a:xfrm>
          <a:prstGeom prst="roundRect">
            <a:avLst>
              <a:gd name="adj" fmla="val 17857"/>
            </a:avLst>
          </a:prstGeom>
          <a:solidFill>
            <a:srgbClr val="D5DFEF"/>
          </a:solidFill>
          <a:ln w="12700">
            <a:solidFill>
              <a:srgbClr val="9DB4D8"/>
            </a:solidFill>
            <a:prstDash val="solid"/>
          </a:ln>
        </p:spPr>
        <p:txBody>
          <a:bodyPr/>
          <a:lstStyle/>
          <a:p>
            <a:endParaRPr lang="en-US"/>
          </a:p>
        </p:txBody>
      </p:sp>
      <p:sp>
        <p:nvSpPr>
          <p:cNvPr id="27" name="Shape 24"/>
          <p:cNvSpPr/>
          <p:nvPr/>
        </p:nvSpPr>
        <p:spPr>
          <a:xfrm>
            <a:off x="2171700" y="3020318"/>
            <a:ext cx="177800" cy="177800"/>
          </a:xfrm>
          <a:prstGeom prst="roundRect">
            <a:avLst>
              <a:gd name="adj" fmla="val 17857"/>
            </a:avLst>
          </a:prstGeom>
          <a:solidFill>
            <a:srgbClr val="D5DFEF"/>
          </a:solidFill>
          <a:ln w="12700">
            <a:solidFill>
              <a:srgbClr val="9DB4D8"/>
            </a:solidFill>
            <a:prstDash val="solid"/>
          </a:ln>
        </p:spPr>
        <p:txBody>
          <a:bodyPr/>
          <a:lstStyle/>
          <a:p>
            <a:endParaRPr lang="en-US"/>
          </a:p>
        </p:txBody>
      </p:sp>
      <p:sp>
        <p:nvSpPr>
          <p:cNvPr id="28" name="Shape 25"/>
          <p:cNvSpPr/>
          <p:nvPr/>
        </p:nvSpPr>
        <p:spPr>
          <a:xfrm>
            <a:off x="2451100" y="3020318"/>
            <a:ext cx="177800" cy="177800"/>
          </a:xfrm>
          <a:prstGeom prst="roundRect">
            <a:avLst>
              <a:gd name="adj" fmla="val 17857"/>
            </a:avLst>
          </a:prstGeom>
          <a:solidFill>
            <a:srgbClr val="D5DFEF"/>
          </a:solidFill>
          <a:ln w="12700">
            <a:solidFill>
              <a:srgbClr val="9DB4D8"/>
            </a:solidFill>
            <a:prstDash val="solid"/>
          </a:ln>
        </p:spPr>
        <p:txBody>
          <a:bodyPr/>
          <a:lstStyle/>
          <a:p>
            <a:endParaRPr lang="en-US"/>
          </a:p>
        </p:txBody>
      </p:sp>
      <p:sp>
        <p:nvSpPr>
          <p:cNvPr id="29" name="Shape 26"/>
          <p:cNvSpPr/>
          <p:nvPr/>
        </p:nvSpPr>
        <p:spPr>
          <a:xfrm>
            <a:off x="2730500" y="3020318"/>
            <a:ext cx="177800" cy="177800"/>
          </a:xfrm>
          <a:prstGeom prst="roundRect">
            <a:avLst>
              <a:gd name="adj" fmla="val 17857"/>
            </a:avLst>
          </a:prstGeom>
          <a:solidFill>
            <a:srgbClr val="CFE9DA"/>
          </a:solidFill>
          <a:ln w="12700">
            <a:solidFill>
              <a:srgbClr val="2E8B57"/>
            </a:solidFill>
            <a:prstDash val="solid"/>
          </a:ln>
        </p:spPr>
        <p:txBody>
          <a:bodyPr/>
          <a:lstStyle/>
          <a:p>
            <a:endParaRPr lang="en-US"/>
          </a:p>
        </p:txBody>
      </p:sp>
      <p:sp>
        <p:nvSpPr>
          <p:cNvPr id="30" name="Shape 27"/>
          <p:cNvSpPr/>
          <p:nvPr/>
        </p:nvSpPr>
        <p:spPr>
          <a:xfrm>
            <a:off x="768350" y="3274318"/>
            <a:ext cx="2146300" cy="203200"/>
          </a:xfrm>
          <a:prstGeom prst="roundRect">
            <a:avLst>
              <a:gd name="adj" fmla="val 28125"/>
            </a:avLst>
          </a:prstGeom>
          <a:solidFill>
            <a:srgbClr val="E8EEF8"/>
          </a:solidFill>
          <a:ln w="12700">
            <a:solidFill>
              <a:srgbClr val="9DB4D8"/>
            </a:solidFill>
            <a:prstDash val="solid"/>
          </a:ln>
        </p:spPr>
        <p:txBody>
          <a:bodyPr/>
          <a:lstStyle/>
          <a:p>
            <a:endParaRPr lang="en-US"/>
          </a:p>
        </p:txBody>
      </p:sp>
      <p:sp>
        <p:nvSpPr>
          <p:cNvPr id="31" name="Text 28"/>
          <p:cNvSpPr/>
          <p:nvPr/>
        </p:nvSpPr>
        <p:spPr>
          <a:xfrm>
            <a:off x="1576983" y="3264495"/>
            <a:ext cx="579785"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2F5597"/>
                </a:solidFill>
                <a:latin typeface="Lato" pitchFamily="34" charset="0"/>
                <a:ea typeface="Lato" pitchFamily="34" charset="-122"/>
                <a:cs typeface="Lato" pitchFamily="34" charset="-120"/>
              </a:rPr>
              <a:t>Layer 1</a:t>
            </a:r>
            <a:endParaRPr lang="en-US" sz="1300" dirty="0"/>
          </a:p>
        </p:txBody>
      </p:sp>
      <p:pic>
        <p:nvPicPr>
          <p:cNvPr id="32" name="Image 1" descr="preencoded.png"/>
          <p:cNvPicPr>
            <a:picLocks noChangeAspect="1"/>
          </p:cNvPicPr>
          <p:nvPr/>
        </p:nvPicPr>
        <p:blipFill>
          <a:blip r:embed="rId4"/>
          <a:srcRect/>
          <a:stretch/>
        </p:blipFill>
        <p:spPr>
          <a:xfrm>
            <a:off x="749300" y="3839468"/>
            <a:ext cx="228600" cy="228600"/>
          </a:xfrm>
          <a:prstGeom prst="roundRect">
            <a:avLst>
              <a:gd name="adj" fmla="val 11111"/>
            </a:avLst>
          </a:prstGeom>
        </p:spPr>
      </p:pic>
      <p:pic>
        <p:nvPicPr>
          <p:cNvPr id="33" name="Image 2" descr="preencoded.png"/>
          <p:cNvPicPr>
            <a:picLocks noChangeAspect="1"/>
          </p:cNvPicPr>
          <p:nvPr/>
        </p:nvPicPr>
        <p:blipFill>
          <a:blip r:embed="rId5"/>
          <a:srcRect/>
          <a:stretch/>
        </p:blipFill>
        <p:spPr>
          <a:xfrm>
            <a:off x="1028700" y="3839468"/>
            <a:ext cx="228600" cy="228600"/>
          </a:xfrm>
          <a:prstGeom prst="roundRect">
            <a:avLst>
              <a:gd name="adj" fmla="val 11111"/>
            </a:avLst>
          </a:prstGeom>
        </p:spPr>
      </p:pic>
      <p:pic>
        <p:nvPicPr>
          <p:cNvPr id="34" name="Image 3" descr="preencoded.png"/>
          <p:cNvPicPr>
            <a:picLocks noChangeAspect="1"/>
          </p:cNvPicPr>
          <p:nvPr/>
        </p:nvPicPr>
        <p:blipFill>
          <a:blip r:embed="rId6"/>
          <a:srcRect/>
          <a:stretch/>
        </p:blipFill>
        <p:spPr>
          <a:xfrm>
            <a:off x="1308100" y="3839468"/>
            <a:ext cx="228600" cy="228600"/>
          </a:xfrm>
          <a:prstGeom prst="roundRect">
            <a:avLst>
              <a:gd name="adj" fmla="val 11111"/>
            </a:avLst>
          </a:prstGeom>
        </p:spPr>
      </p:pic>
      <p:pic>
        <p:nvPicPr>
          <p:cNvPr id="35" name="Image 4" descr="preencoded.png"/>
          <p:cNvPicPr>
            <a:picLocks noChangeAspect="1"/>
          </p:cNvPicPr>
          <p:nvPr/>
        </p:nvPicPr>
        <p:blipFill>
          <a:blip r:embed="rId7"/>
          <a:srcRect/>
          <a:stretch/>
        </p:blipFill>
        <p:spPr>
          <a:xfrm>
            <a:off x="1587500" y="3839468"/>
            <a:ext cx="228600" cy="228600"/>
          </a:xfrm>
          <a:prstGeom prst="roundRect">
            <a:avLst>
              <a:gd name="adj" fmla="val 11111"/>
            </a:avLst>
          </a:prstGeom>
        </p:spPr>
      </p:pic>
      <p:pic>
        <p:nvPicPr>
          <p:cNvPr id="36" name="Image 5" descr="preencoded.png"/>
          <p:cNvPicPr>
            <a:picLocks noChangeAspect="1"/>
          </p:cNvPicPr>
          <p:nvPr/>
        </p:nvPicPr>
        <p:blipFill>
          <a:blip r:embed="rId8"/>
          <a:srcRect/>
          <a:stretch/>
        </p:blipFill>
        <p:spPr>
          <a:xfrm>
            <a:off x="1866900" y="3839468"/>
            <a:ext cx="228600" cy="228600"/>
          </a:xfrm>
          <a:prstGeom prst="roundRect">
            <a:avLst>
              <a:gd name="adj" fmla="val 11111"/>
            </a:avLst>
          </a:prstGeom>
        </p:spPr>
      </p:pic>
      <p:pic>
        <p:nvPicPr>
          <p:cNvPr id="37" name="Image 6" descr="preencoded.png"/>
          <p:cNvPicPr>
            <a:picLocks noChangeAspect="1"/>
          </p:cNvPicPr>
          <p:nvPr/>
        </p:nvPicPr>
        <p:blipFill>
          <a:blip r:embed="rId9"/>
          <a:srcRect/>
          <a:stretch/>
        </p:blipFill>
        <p:spPr>
          <a:xfrm>
            <a:off x="2146300" y="3839468"/>
            <a:ext cx="228600" cy="228600"/>
          </a:xfrm>
          <a:prstGeom prst="roundRect">
            <a:avLst>
              <a:gd name="adj" fmla="val 11111"/>
            </a:avLst>
          </a:prstGeom>
        </p:spPr>
      </p:pic>
      <p:pic>
        <p:nvPicPr>
          <p:cNvPr id="38" name="Image 7" descr="preencoded.png"/>
          <p:cNvPicPr>
            <a:picLocks noChangeAspect="1"/>
          </p:cNvPicPr>
          <p:nvPr/>
        </p:nvPicPr>
        <p:blipFill>
          <a:blip r:embed="rId10"/>
          <a:srcRect/>
          <a:stretch/>
        </p:blipFill>
        <p:spPr>
          <a:xfrm>
            <a:off x="2425700" y="3839468"/>
            <a:ext cx="228600" cy="228600"/>
          </a:xfrm>
          <a:prstGeom prst="roundRect">
            <a:avLst>
              <a:gd name="adj" fmla="val 11111"/>
            </a:avLst>
          </a:prstGeom>
        </p:spPr>
      </p:pic>
      <p:pic>
        <p:nvPicPr>
          <p:cNvPr id="39" name="Image 8" descr="The papaya image patch"/>
          <p:cNvPicPr>
            <a:picLocks noChangeAspect="1"/>
          </p:cNvPicPr>
          <p:nvPr/>
        </p:nvPicPr>
        <p:blipFill>
          <a:blip r:embed="rId11"/>
          <a:srcRect/>
          <a:stretch/>
        </p:blipFill>
        <p:spPr>
          <a:xfrm>
            <a:off x="2724150" y="3858518"/>
            <a:ext cx="190500" cy="190500"/>
          </a:xfrm>
          <a:prstGeom prst="roundRect">
            <a:avLst>
              <a:gd name="adj" fmla="val 3333"/>
            </a:avLst>
          </a:prstGeom>
        </p:spPr>
      </p:pic>
      <p:sp>
        <p:nvSpPr>
          <p:cNvPr id="40" name="Shape 29"/>
          <p:cNvSpPr/>
          <p:nvPr/>
        </p:nvSpPr>
        <p:spPr>
          <a:xfrm>
            <a:off x="2714625" y="3848993"/>
            <a:ext cx="209550" cy="209550"/>
          </a:xfrm>
          <a:prstGeom prst="roundRect">
            <a:avLst>
              <a:gd name="adj" fmla="val 7576"/>
            </a:avLst>
          </a:prstGeom>
          <a:noFill/>
          <a:ln w="19050">
            <a:solidFill>
              <a:srgbClr val="2E8B57"/>
            </a:solidFill>
            <a:prstDash val="solid"/>
          </a:ln>
        </p:spPr>
        <p:txBody>
          <a:bodyPr/>
          <a:lstStyle/>
          <a:p>
            <a:endParaRPr lang="en-US"/>
          </a:p>
        </p:txBody>
      </p:sp>
      <p:sp>
        <p:nvSpPr>
          <p:cNvPr id="41" name="Text 30"/>
          <p:cNvSpPr/>
          <p:nvPr/>
        </p:nvSpPr>
        <p:spPr>
          <a:xfrm>
            <a:off x="3048000" y="2099568"/>
            <a:ext cx="12573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2E8B57"/>
                </a:solidFill>
                <a:latin typeface="Lato" pitchFamily="34" charset="0"/>
                <a:ea typeface="Lato" pitchFamily="34" charset="-122"/>
                <a:cs typeface="Lato" pitchFamily="34" charset="-120"/>
              </a:rPr>
              <a:t>embedding </a:t>
            </a:r>
            <a:r>
              <a:rPr lang="en-US" sz="1200" b="1" i="1" dirty="0">
                <a:solidFill>
                  <a:srgbClr val="2E8B57"/>
                </a:solidFill>
                <a:latin typeface="Lato" pitchFamily="34" charset="0"/>
                <a:ea typeface="Lato" pitchFamily="34" charset="-122"/>
                <a:cs typeface="Lato" pitchFamily="34" charset="-120"/>
              </a:rPr>
              <a:t>h</a:t>
            </a:r>
            <a:endParaRPr lang="en-US" sz="1200" dirty="0"/>
          </a:p>
        </p:txBody>
      </p:sp>
      <p:pic>
        <p:nvPicPr>
          <p:cNvPr id="42" name="Image 9" descr="connector"/>
          <p:cNvPicPr>
            <a:picLocks noChangeAspect="1"/>
          </p:cNvPicPr>
          <p:nvPr/>
        </p:nvPicPr>
        <p:blipFill>
          <a:blip r:embed="rId12"/>
          <a:srcRect/>
          <a:stretch/>
        </p:blipFill>
        <p:spPr>
          <a:xfrm>
            <a:off x="1790700" y="3445768"/>
            <a:ext cx="101600" cy="444500"/>
          </a:xfrm>
          <a:prstGeom prst="rect">
            <a:avLst/>
          </a:prstGeom>
        </p:spPr>
      </p:pic>
      <p:pic>
        <p:nvPicPr>
          <p:cNvPr id="43" name="Image 10" descr="connector"/>
          <p:cNvPicPr>
            <a:picLocks noChangeAspect="1"/>
          </p:cNvPicPr>
          <p:nvPr/>
        </p:nvPicPr>
        <p:blipFill>
          <a:blip r:embed="rId13"/>
          <a:srcRect/>
          <a:stretch/>
        </p:blipFill>
        <p:spPr>
          <a:xfrm>
            <a:off x="2768600" y="2417068"/>
            <a:ext cx="101600" cy="1473200"/>
          </a:xfrm>
          <a:prstGeom prst="rect">
            <a:avLst/>
          </a:prstGeom>
        </p:spPr>
      </p:pic>
      <p:sp>
        <p:nvSpPr>
          <p:cNvPr id="44" name="Text 31"/>
          <p:cNvSpPr/>
          <p:nvPr/>
        </p:nvSpPr>
        <p:spPr>
          <a:xfrm>
            <a:off x="4483100" y="3687068"/>
            <a:ext cx="1638300" cy="231130"/>
          </a:xfrm>
          <a:prstGeom prst="rect">
            <a:avLst/>
          </a:prstGeom>
          <a:noFill/>
          <a:ln/>
        </p:spPr>
        <p:txBody>
          <a:bodyPr wrap="square" lIns="0" tIns="0" rIns="0" bIns="0" rtlCol="0" anchor="t">
            <a:normAutofit/>
          </a:bodyPr>
          <a:lstStyle/>
          <a:p>
            <a:pPr marL="0" indent="0" algn="ctr">
              <a:lnSpc>
                <a:spcPts val="1620"/>
              </a:lnSpc>
              <a:buNone/>
            </a:pPr>
            <a:r>
              <a:rPr lang="en-US" sz="1200" b="1" dirty="0">
                <a:solidFill>
                  <a:srgbClr val="2E8B57"/>
                </a:solidFill>
                <a:latin typeface="Lato" pitchFamily="34" charset="0"/>
                <a:ea typeface="Lato" pitchFamily="34" charset="-122"/>
                <a:cs typeface="Lato" pitchFamily="34" charset="-120"/>
              </a:rPr>
              <a:t>Latent space (layer ℓ)</a:t>
            </a:r>
            <a:endParaRPr lang="en-US" sz="1200" dirty="0"/>
          </a:p>
        </p:txBody>
      </p:sp>
      <p:sp>
        <p:nvSpPr>
          <p:cNvPr id="45" name="Text 32"/>
          <p:cNvSpPr/>
          <p:nvPr/>
        </p:nvSpPr>
        <p:spPr>
          <a:xfrm>
            <a:off x="5981700" y="2696468"/>
            <a:ext cx="749300" cy="231130"/>
          </a:xfrm>
          <a:prstGeom prst="rect">
            <a:avLst/>
          </a:prstGeom>
          <a:noFill/>
          <a:ln/>
        </p:spPr>
        <p:txBody>
          <a:bodyPr wrap="square" lIns="0" tIns="0" rIns="0" bIns="0" rtlCol="0" anchor="t">
            <a:normAutofit/>
          </a:bodyPr>
          <a:lstStyle/>
          <a:p>
            <a:pPr marL="0" indent="0" algn="ctr">
              <a:lnSpc>
                <a:spcPts val="1620"/>
              </a:lnSpc>
              <a:buNone/>
            </a:pPr>
            <a:r>
              <a:rPr lang="en-US" sz="1200" b="1" dirty="0">
                <a:solidFill>
                  <a:srgbClr val="333333"/>
                </a:solidFill>
                <a:latin typeface="Lato" pitchFamily="34" charset="0"/>
                <a:ea typeface="Lato" pitchFamily="34" charset="-122"/>
                <a:cs typeface="Lato" pitchFamily="34" charset="-120"/>
              </a:rPr>
              <a:t>Readout</a:t>
            </a:r>
            <a:endParaRPr lang="en-US" sz="1200" dirty="0"/>
          </a:p>
        </p:txBody>
      </p:sp>
      <p:sp>
        <p:nvSpPr>
          <p:cNvPr id="46" name="Shape 33"/>
          <p:cNvSpPr/>
          <p:nvPr/>
        </p:nvSpPr>
        <p:spPr>
          <a:xfrm>
            <a:off x="6740525" y="2261493"/>
            <a:ext cx="1581150" cy="1377950"/>
          </a:xfrm>
          <a:prstGeom prst="roundRect">
            <a:avLst>
              <a:gd name="adj" fmla="val 5760"/>
            </a:avLst>
          </a:prstGeom>
          <a:solidFill>
            <a:srgbClr val="FFFFFF"/>
          </a:solidFill>
          <a:ln w="19050">
            <a:solidFill>
              <a:srgbClr val="2F5597"/>
            </a:solidFill>
            <a:prstDash val="solid"/>
          </a:ln>
        </p:spPr>
        <p:txBody>
          <a:bodyPr/>
          <a:lstStyle/>
          <a:p>
            <a:endParaRPr lang="en-US"/>
          </a:p>
        </p:txBody>
      </p:sp>
      <p:sp>
        <p:nvSpPr>
          <p:cNvPr id="47" name="Text 34"/>
          <p:cNvSpPr/>
          <p:nvPr/>
        </p:nvSpPr>
        <p:spPr>
          <a:xfrm>
            <a:off x="6826250" y="2334518"/>
            <a:ext cx="711200" cy="23113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00000"/>
                </a:solidFill>
                <a:latin typeface="Lato" pitchFamily="34" charset="0"/>
                <a:ea typeface="Lato" pitchFamily="34" charset="-122"/>
                <a:cs typeface="Lato" pitchFamily="34" charset="-120"/>
              </a:rPr>
              <a:t>apple</a:t>
            </a:r>
            <a:endParaRPr lang="en-US" sz="1200" dirty="0"/>
          </a:p>
        </p:txBody>
      </p:sp>
      <p:sp>
        <p:nvSpPr>
          <p:cNvPr id="48" name="Shape 35"/>
          <p:cNvSpPr/>
          <p:nvPr/>
        </p:nvSpPr>
        <p:spPr>
          <a:xfrm>
            <a:off x="7524750" y="2386558"/>
            <a:ext cx="355600" cy="101600"/>
          </a:xfrm>
          <a:prstGeom prst="roundRect">
            <a:avLst>
              <a:gd name="adj" fmla="val 25000"/>
            </a:avLst>
          </a:prstGeom>
          <a:solidFill>
            <a:srgbClr val="C00000"/>
          </a:solidFill>
          <a:ln/>
        </p:spPr>
        <p:txBody>
          <a:bodyPr/>
          <a:lstStyle/>
          <a:p>
            <a:endParaRPr lang="en-US"/>
          </a:p>
        </p:txBody>
      </p:sp>
      <p:sp>
        <p:nvSpPr>
          <p:cNvPr id="49" name="Text 36"/>
          <p:cNvSpPr/>
          <p:nvPr/>
        </p:nvSpPr>
        <p:spPr>
          <a:xfrm>
            <a:off x="7867650" y="2334518"/>
            <a:ext cx="355600" cy="231130"/>
          </a:xfrm>
          <a:prstGeom prst="rect">
            <a:avLst/>
          </a:prstGeom>
          <a:noFill/>
          <a:ln/>
        </p:spPr>
        <p:txBody>
          <a:bodyPr wrap="square" lIns="0" tIns="0" rIns="0" bIns="0" rtlCol="0" anchor="t">
            <a:normAutofit/>
          </a:bodyPr>
          <a:lstStyle/>
          <a:p>
            <a:pPr marL="0" indent="0" algn="r">
              <a:lnSpc>
                <a:spcPts val="1620"/>
              </a:lnSpc>
              <a:buNone/>
            </a:pPr>
            <a:r>
              <a:rPr lang="en-US" sz="1200" dirty="0">
                <a:solidFill>
                  <a:srgbClr val="C00000"/>
                </a:solidFill>
                <a:latin typeface="Lato" pitchFamily="34" charset="0"/>
                <a:ea typeface="Lato" pitchFamily="34" charset="-122"/>
                <a:cs typeface="Lato" pitchFamily="34" charset="-120"/>
              </a:rPr>
              <a:t>0.46</a:t>
            </a:r>
            <a:endParaRPr lang="en-US" sz="1200" dirty="0"/>
          </a:p>
        </p:txBody>
      </p:sp>
      <p:sp>
        <p:nvSpPr>
          <p:cNvPr id="50" name="Text 37"/>
          <p:cNvSpPr/>
          <p:nvPr/>
        </p:nvSpPr>
        <p:spPr>
          <a:xfrm>
            <a:off x="6826250" y="2591048"/>
            <a:ext cx="711200" cy="23113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C00000"/>
                </a:solidFill>
                <a:latin typeface="Lato" pitchFamily="34" charset="0"/>
                <a:ea typeface="Lato" pitchFamily="34" charset="-122"/>
                <a:cs typeface="Lato" pitchFamily="34" charset="-120"/>
              </a:rPr>
              <a:t>orange</a:t>
            </a:r>
            <a:endParaRPr lang="en-US" sz="1200" dirty="0"/>
          </a:p>
        </p:txBody>
      </p:sp>
      <p:sp>
        <p:nvSpPr>
          <p:cNvPr id="51" name="Shape 38"/>
          <p:cNvSpPr/>
          <p:nvPr/>
        </p:nvSpPr>
        <p:spPr>
          <a:xfrm>
            <a:off x="7524750" y="2643088"/>
            <a:ext cx="241300" cy="101600"/>
          </a:xfrm>
          <a:prstGeom prst="roundRect">
            <a:avLst>
              <a:gd name="adj" fmla="val 25000"/>
            </a:avLst>
          </a:prstGeom>
          <a:solidFill>
            <a:srgbClr val="C00000"/>
          </a:solidFill>
          <a:ln/>
        </p:spPr>
        <p:txBody>
          <a:bodyPr/>
          <a:lstStyle/>
          <a:p>
            <a:endParaRPr lang="en-US"/>
          </a:p>
        </p:txBody>
      </p:sp>
      <p:sp>
        <p:nvSpPr>
          <p:cNvPr id="52" name="Text 39"/>
          <p:cNvSpPr/>
          <p:nvPr/>
        </p:nvSpPr>
        <p:spPr>
          <a:xfrm>
            <a:off x="7753350" y="2591048"/>
            <a:ext cx="355600" cy="231130"/>
          </a:xfrm>
          <a:prstGeom prst="rect">
            <a:avLst/>
          </a:prstGeom>
          <a:noFill/>
          <a:ln/>
        </p:spPr>
        <p:txBody>
          <a:bodyPr wrap="square" lIns="0" tIns="0" rIns="0" bIns="0" rtlCol="0" anchor="t">
            <a:normAutofit/>
          </a:bodyPr>
          <a:lstStyle/>
          <a:p>
            <a:pPr marL="0" indent="0" algn="r">
              <a:lnSpc>
                <a:spcPts val="1620"/>
              </a:lnSpc>
              <a:buNone/>
            </a:pPr>
            <a:r>
              <a:rPr lang="en-US" sz="1200" dirty="0">
                <a:solidFill>
                  <a:srgbClr val="C00000"/>
                </a:solidFill>
                <a:latin typeface="Lato" pitchFamily="34" charset="0"/>
                <a:ea typeface="Lato" pitchFamily="34" charset="-122"/>
                <a:cs typeface="Lato" pitchFamily="34" charset="-120"/>
              </a:rPr>
              <a:t>0.31</a:t>
            </a:r>
            <a:endParaRPr lang="en-US" sz="1200" dirty="0"/>
          </a:p>
        </p:txBody>
      </p:sp>
      <p:sp>
        <p:nvSpPr>
          <p:cNvPr id="53" name="Text 40"/>
          <p:cNvSpPr/>
          <p:nvPr/>
        </p:nvSpPr>
        <p:spPr>
          <a:xfrm>
            <a:off x="6826250" y="2847578"/>
            <a:ext cx="711200"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2F5597"/>
                </a:solidFill>
                <a:latin typeface="Lato" pitchFamily="34" charset="0"/>
                <a:ea typeface="Lato" pitchFamily="34" charset="-122"/>
                <a:cs typeface="Lato" pitchFamily="34" charset="-120"/>
              </a:rPr>
              <a:t>bananas</a:t>
            </a:r>
            <a:endParaRPr lang="en-US" sz="1200" dirty="0"/>
          </a:p>
        </p:txBody>
      </p:sp>
      <p:sp>
        <p:nvSpPr>
          <p:cNvPr id="54" name="Shape 41"/>
          <p:cNvSpPr/>
          <p:nvPr/>
        </p:nvSpPr>
        <p:spPr>
          <a:xfrm>
            <a:off x="7524750" y="2899618"/>
            <a:ext cx="44450" cy="101600"/>
          </a:xfrm>
          <a:prstGeom prst="roundRect">
            <a:avLst>
              <a:gd name="adj" fmla="val 50000"/>
            </a:avLst>
          </a:prstGeom>
          <a:solidFill>
            <a:srgbClr val="2F5597"/>
          </a:solidFill>
          <a:ln/>
        </p:spPr>
        <p:txBody>
          <a:bodyPr/>
          <a:lstStyle/>
          <a:p>
            <a:endParaRPr lang="en-US"/>
          </a:p>
        </p:txBody>
      </p:sp>
      <p:sp>
        <p:nvSpPr>
          <p:cNvPr id="55" name="Text 42"/>
          <p:cNvSpPr/>
          <p:nvPr/>
        </p:nvSpPr>
        <p:spPr>
          <a:xfrm>
            <a:off x="7556500" y="2847578"/>
            <a:ext cx="355600" cy="231130"/>
          </a:xfrm>
          <a:prstGeom prst="rect">
            <a:avLst/>
          </a:prstGeom>
          <a:noFill/>
          <a:ln/>
        </p:spPr>
        <p:txBody>
          <a:bodyPr wrap="square" lIns="0" tIns="0" rIns="0" bIns="0" rtlCol="0" anchor="t">
            <a:normAutofit/>
          </a:bodyPr>
          <a:lstStyle/>
          <a:p>
            <a:pPr marL="0" indent="0" algn="r">
              <a:lnSpc>
                <a:spcPts val="1620"/>
              </a:lnSpc>
              <a:buNone/>
            </a:pPr>
            <a:r>
              <a:rPr lang="en-US" sz="1200" dirty="0">
                <a:solidFill>
                  <a:srgbClr val="2F5597"/>
                </a:solidFill>
                <a:latin typeface="Lato" pitchFamily="34" charset="0"/>
                <a:ea typeface="Lato" pitchFamily="34" charset="-122"/>
                <a:cs typeface="Lato" pitchFamily="34" charset="-120"/>
              </a:rPr>
              <a:t>0.06</a:t>
            </a:r>
            <a:endParaRPr lang="en-US" sz="1200" dirty="0"/>
          </a:p>
        </p:txBody>
      </p:sp>
      <p:sp>
        <p:nvSpPr>
          <p:cNvPr id="56" name="Text 43"/>
          <p:cNvSpPr/>
          <p:nvPr/>
        </p:nvSpPr>
        <p:spPr>
          <a:xfrm>
            <a:off x="6826250" y="3104108"/>
            <a:ext cx="711200"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2F5597"/>
                </a:solidFill>
                <a:latin typeface="Lato" pitchFamily="34" charset="0"/>
                <a:ea typeface="Lato" pitchFamily="34" charset="-122"/>
                <a:cs typeface="Lato" pitchFamily="34" charset="-120"/>
              </a:rPr>
              <a:t>fruit</a:t>
            </a:r>
            <a:endParaRPr lang="en-US" sz="1200" dirty="0"/>
          </a:p>
        </p:txBody>
      </p:sp>
      <p:sp>
        <p:nvSpPr>
          <p:cNvPr id="57" name="Shape 44"/>
          <p:cNvSpPr/>
          <p:nvPr/>
        </p:nvSpPr>
        <p:spPr>
          <a:xfrm>
            <a:off x="7524750" y="3156148"/>
            <a:ext cx="38100" cy="101600"/>
          </a:xfrm>
          <a:prstGeom prst="roundRect">
            <a:avLst>
              <a:gd name="adj" fmla="val 50000"/>
            </a:avLst>
          </a:prstGeom>
          <a:solidFill>
            <a:srgbClr val="2F5597"/>
          </a:solidFill>
          <a:ln/>
        </p:spPr>
        <p:txBody>
          <a:bodyPr/>
          <a:lstStyle/>
          <a:p>
            <a:endParaRPr lang="en-US"/>
          </a:p>
        </p:txBody>
      </p:sp>
      <p:sp>
        <p:nvSpPr>
          <p:cNvPr id="58" name="Text 45"/>
          <p:cNvSpPr/>
          <p:nvPr/>
        </p:nvSpPr>
        <p:spPr>
          <a:xfrm>
            <a:off x="7550150" y="3104108"/>
            <a:ext cx="355600" cy="231130"/>
          </a:xfrm>
          <a:prstGeom prst="rect">
            <a:avLst/>
          </a:prstGeom>
          <a:noFill/>
          <a:ln/>
        </p:spPr>
        <p:txBody>
          <a:bodyPr wrap="square" lIns="0" tIns="0" rIns="0" bIns="0" rtlCol="0" anchor="t">
            <a:normAutofit/>
          </a:bodyPr>
          <a:lstStyle/>
          <a:p>
            <a:pPr marL="0" indent="0" algn="r">
              <a:lnSpc>
                <a:spcPts val="1620"/>
              </a:lnSpc>
              <a:buNone/>
            </a:pPr>
            <a:r>
              <a:rPr lang="en-US" sz="1200" dirty="0">
                <a:solidFill>
                  <a:srgbClr val="2F5597"/>
                </a:solidFill>
                <a:latin typeface="Lato" pitchFamily="34" charset="0"/>
                <a:ea typeface="Lato" pitchFamily="34" charset="-122"/>
                <a:cs typeface="Lato" pitchFamily="34" charset="-120"/>
              </a:rPr>
              <a:t>0.05</a:t>
            </a:r>
            <a:endParaRPr lang="en-US" sz="1200" dirty="0"/>
          </a:p>
        </p:txBody>
      </p:sp>
      <p:sp>
        <p:nvSpPr>
          <p:cNvPr id="59" name="Text 46"/>
          <p:cNvSpPr/>
          <p:nvPr/>
        </p:nvSpPr>
        <p:spPr>
          <a:xfrm>
            <a:off x="6826250" y="3360638"/>
            <a:ext cx="711200"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2F5597"/>
                </a:solidFill>
                <a:latin typeface="Lato" pitchFamily="34" charset="0"/>
                <a:ea typeface="Lato" pitchFamily="34" charset="-122"/>
                <a:cs typeface="Lato" pitchFamily="34" charset="-120"/>
              </a:rPr>
              <a:t>dog</a:t>
            </a:r>
            <a:endParaRPr lang="en-US" sz="1200" dirty="0"/>
          </a:p>
        </p:txBody>
      </p:sp>
      <p:sp>
        <p:nvSpPr>
          <p:cNvPr id="60" name="Shape 47"/>
          <p:cNvSpPr/>
          <p:nvPr/>
        </p:nvSpPr>
        <p:spPr>
          <a:xfrm>
            <a:off x="7524750" y="3412679"/>
            <a:ext cx="25400" cy="101600"/>
          </a:xfrm>
          <a:prstGeom prst="roundRect">
            <a:avLst>
              <a:gd name="adj" fmla="val 50000"/>
            </a:avLst>
          </a:prstGeom>
          <a:solidFill>
            <a:srgbClr val="2F5597"/>
          </a:solidFill>
          <a:ln/>
        </p:spPr>
        <p:txBody>
          <a:bodyPr/>
          <a:lstStyle/>
          <a:p>
            <a:endParaRPr lang="en-US"/>
          </a:p>
        </p:txBody>
      </p:sp>
      <p:sp>
        <p:nvSpPr>
          <p:cNvPr id="61" name="Text 48"/>
          <p:cNvSpPr/>
          <p:nvPr/>
        </p:nvSpPr>
        <p:spPr>
          <a:xfrm>
            <a:off x="7537450" y="3360638"/>
            <a:ext cx="355600" cy="231130"/>
          </a:xfrm>
          <a:prstGeom prst="rect">
            <a:avLst/>
          </a:prstGeom>
          <a:noFill/>
          <a:ln/>
        </p:spPr>
        <p:txBody>
          <a:bodyPr wrap="square" lIns="0" tIns="0" rIns="0" bIns="0" rtlCol="0" anchor="t">
            <a:normAutofit/>
          </a:bodyPr>
          <a:lstStyle/>
          <a:p>
            <a:pPr marL="0" indent="0" algn="r">
              <a:lnSpc>
                <a:spcPts val="1620"/>
              </a:lnSpc>
              <a:buNone/>
            </a:pPr>
            <a:r>
              <a:rPr lang="en-US" sz="1200" dirty="0">
                <a:solidFill>
                  <a:srgbClr val="2F5597"/>
                </a:solidFill>
                <a:latin typeface="Lato" pitchFamily="34" charset="0"/>
                <a:ea typeface="Lato" pitchFamily="34" charset="-122"/>
                <a:cs typeface="Lato" pitchFamily="34" charset="-120"/>
              </a:rPr>
              <a:t>0.00</a:t>
            </a:r>
            <a:endParaRPr lang="en-US" sz="1200" dirty="0"/>
          </a:p>
        </p:txBody>
      </p:sp>
      <p:sp>
        <p:nvSpPr>
          <p:cNvPr id="62" name="Text 49"/>
          <p:cNvSpPr/>
          <p:nvPr/>
        </p:nvSpPr>
        <p:spPr>
          <a:xfrm>
            <a:off x="6550025" y="3687068"/>
            <a:ext cx="1962150" cy="231130"/>
          </a:xfrm>
          <a:prstGeom prst="rect">
            <a:avLst/>
          </a:prstGeom>
          <a:noFill/>
          <a:ln/>
        </p:spPr>
        <p:txBody>
          <a:bodyPr wrap="square" lIns="0" tIns="0" rIns="0" bIns="0" rtlCol="0" anchor="t">
            <a:normAutofit/>
          </a:bodyPr>
          <a:lstStyle/>
          <a:p>
            <a:pPr marL="0" indent="0" algn="ctr">
              <a:lnSpc>
                <a:spcPts val="1620"/>
              </a:lnSpc>
              <a:buNone/>
            </a:pPr>
            <a:r>
              <a:rPr lang="en-US" sz="1200" b="1" dirty="0">
                <a:solidFill>
                  <a:srgbClr val="2F5597"/>
                </a:solidFill>
                <a:latin typeface="Lato" pitchFamily="34" charset="0"/>
                <a:ea typeface="Lato" pitchFamily="34" charset="-122"/>
                <a:cs typeface="Lato" pitchFamily="34" charset="-120"/>
              </a:rPr>
              <a:t>Output space, ranked</a:t>
            </a:r>
            <a:endParaRPr lang="en-US" sz="1200" dirty="0"/>
          </a:p>
        </p:txBody>
      </p:sp>
      <p:sp>
        <p:nvSpPr>
          <p:cNvPr id="63" name="Text 50"/>
          <p:cNvSpPr/>
          <p:nvPr/>
        </p:nvSpPr>
        <p:spPr>
          <a:xfrm>
            <a:off x="8763000" y="1870968"/>
            <a:ext cx="3008630" cy="7683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00000"/>
                </a:solidFill>
                <a:latin typeface="Lato" pitchFamily="34" charset="0"/>
                <a:ea typeface="Lato" pitchFamily="34" charset="-122"/>
                <a:cs typeface="Lato" pitchFamily="34" charset="-120"/>
              </a:rPr>
              <a:t>Challenge 1</a:t>
            </a:r>
            <a:endParaRPr lang="en-US" sz="1500" dirty="0"/>
          </a:p>
          <a:p>
            <a:pPr marL="0" indent="0" algn="l">
              <a:lnSpc>
                <a:spcPts val="1950"/>
              </a:lnSpc>
              <a:buNone/>
            </a:pPr>
            <a:r>
              <a:rPr lang="en-US" sz="1500" dirty="0">
                <a:solidFill>
                  <a:srgbClr val="000000"/>
                </a:solidFill>
                <a:latin typeface="Lato" pitchFamily="34" charset="0"/>
                <a:ea typeface="Lato" pitchFamily="34" charset="-122"/>
                <a:cs typeface="Lato" pitchFamily="34" charset="-120"/>
              </a:rPr>
              <a:t>The latent space means something different at every layer</a:t>
            </a:r>
            <a:endParaRPr lang="en-US" sz="1500" dirty="0"/>
          </a:p>
        </p:txBody>
      </p:sp>
      <p:sp>
        <p:nvSpPr>
          <p:cNvPr id="64" name="Text 51"/>
          <p:cNvSpPr/>
          <p:nvPr/>
        </p:nvSpPr>
        <p:spPr>
          <a:xfrm>
            <a:off x="8763000" y="2886968"/>
            <a:ext cx="3008630" cy="7683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000000"/>
                </a:solidFill>
                <a:latin typeface="Lato" pitchFamily="34" charset="0"/>
                <a:ea typeface="Lato" pitchFamily="34" charset="-122"/>
                <a:cs typeface="Lato" pitchFamily="34" charset="-120"/>
              </a:rPr>
              <a:t>Challenge 2</a:t>
            </a:r>
            <a:endParaRPr lang="en-US" sz="1500" dirty="0"/>
          </a:p>
          <a:p>
            <a:pPr marL="0" indent="0" algn="l">
              <a:lnSpc>
                <a:spcPts val="1950"/>
              </a:lnSpc>
              <a:buNone/>
            </a:pPr>
            <a:r>
              <a:rPr lang="en-US" sz="1500" b="1" i="1" dirty="0">
                <a:solidFill>
                  <a:srgbClr val="000000"/>
                </a:solidFill>
                <a:latin typeface="Lato" pitchFamily="34" charset="0"/>
                <a:ea typeface="Lato" pitchFamily="34" charset="-122"/>
                <a:cs typeface="Lato" pitchFamily="34" charset="-120"/>
              </a:rPr>
              <a:t>h</a:t>
            </a:r>
            <a:r>
              <a:rPr lang="en-US" sz="1500" dirty="0">
                <a:solidFill>
                  <a:srgbClr val="000000"/>
                </a:solidFill>
                <a:latin typeface="Lato" pitchFamily="34" charset="0"/>
                <a:ea typeface="Lato" pitchFamily="34" charset="-122"/>
                <a:cs typeface="Lato" pitchFamily="34" charset="-120"/>
              </a:rPr>
              <a:t> affects not only the next token but the ones after it</a:t>
            </a:r>
            <a:endParaRPr lang="en-US" sz="1500" dirty="0"/>
          </a:p>
        </p:txBody>
      </p:sp>
      <p:pic>
        <p:nvPicPr>
          <p:cNvPr id="65" name="Image 11" descr="Formula, one line: Readout at layer l of h equals softmax of W_U norm of, the expectation over prompts x, positions t and later positions t prime of, the Jacobian of the last-layer state at t prime with respect to the layer-l state at t, times h. Output layer in blue, expectation in red, Jacobian in orange, hidden state h in green"/>
          <p:cNvPicPr>
            <a:picLocks noChangeAspect="1"/>
          </p:cNvPicPr>
          <p:nvPr/>
        </p:nvPicPr>
        <p:blipFill>
          <a:blip r:embed="rId14"/>
          <a:srcRect t="-47" b="-47"/>
          <a:stretch/>
        </p:blipFill>
        <p:spPr>
          <a:xfrm>
            <a:off x="3238500" y="4283968"/>
            <a:ext cx="5715000" cy="558800"/>
          </a:xfrm>
          <a:prstGeom prst="rect">
            <a:avLst/>
          </a:prstGeom>
        </p:spPr>
      </p:pic>
      <p:pic>
        <p:nvPicPr>
          <p:cNvPr id="66" name="Image 12" descr="Four right-angle arrows from the colored parts of the formula down to their explanation cards"/>
          <p:cNvPicPr>
            <a:picLocks noChangeAspect="1"/>
          </p:cNvPicPr>
          <p:nvPr/>
        </p:nvPicPr>
        <p:blipFill>
          <a:blip r:embed="rId15"/>
          <a:srcRect t="-90" b="-90"/>
          <a:stretch/>
        </p:blipFill>
        <p:spPr>
          <a:xfrm>
            <a:off x="508000" y="4283968"/>
            <a:ext cx="11176000" cy="825500"/>
          </a:xfrm>
          <a:prstGeom prst="rect">
            <a:avLst/>
          </a:prstGeom>
        </p:spPr>
      </p:pic>
      <p:sp>
        <p:nvSpPr>
          <p:cNvPr id="67" name="Text 52"/>
          <p:cNvSpPr/>
          <p:nvPr/>
        </p:nvSpPr>
        <p:spPr>
          <a:xfrm>
            <a:off x="514350" y="5103118"/>
            <a:ext cx="2654300" cy="482600"/>
          </a:xfrm>
          <a:prstGeom prst="roundRect">
            <a:avLst>
              <a:gd name="adj" fmla="val 14474"/>
            </a:avLst>
          </a:prstGeom>
          <a:solidFill>
            <a:srgbClr val="FFFFFF"/>
          </a:solidFill>
          <a:ln w="12700">
            <a:solidFill>
              <a:srgbClr val="E0E0E0"/>
            </a:solidFill>
            <a:prstDash val="solid"/>
          </a:ln>
        </p:spPr>
        <p:txBody>
          <a:bodyPr wrap="square" lIns="37835" tIns="1767" rIns="37835" bIns="1767" rtlCol="0" anchor="ctr">
            <a:normAutofit/>
          </a:bodyPr>
          <a:lstStyle/>
          <a:p>
            <a:pPr marL="0" indent="0" algn="ctr">
              <a:lnSpc>
                <a:spcPts val="1625"/>
              </a:lnSpc>
              <a:buNone/>
            </a:pPr>
            <a:r>
              <a:rPr lang="en-US" sz="1300" b="1" dirty="0">
                <a:solidFill>
                  <a:srgbClr val="2F5597"/>
                </a:solidFill>
                <a:latin typeface="Lato" pitchFamily="34" charset="0"/>
                <a:ea typeface="Lato" pitchFamily="34" charset="-122"/>
                <a:cs typeface="Lato" pitchFamily="34" charset="-120"/>
              </a:rPr>
              <a:t>Output layer: unembed, then softmax</a:t>
            </a:r>
            <a:endParaRPr lang="en-US" sz="1300" dirty="0"/>
          </a:p>
        </p:txBody>
      </p:sp>
      <p:sp>
        <p:nvSpPr>
          <p:cNvPr id="68" name="Text 53"/>
          <p:cNvSpPr/>
          <p:nvPr/>
        </p:nvSpPr>
        <p:spPr>
          <a:xfrm>
            <a:off x="3346450" y="5103118"/>
            <a:ext cx="2654300" cy="482600"/>
          </a:xfrm>
          <a:prstGeom prst="roundRect">
            <a:avLst>
              <a:gd name="adj" fmla="val 14474"/>
            </a:avLst>
          </a:prstGeom>
          <a:solidFill>
            <a:srgbClr val="FFFFFF"/>
          </a:solidFill>
          <a:ln w="12700">
            <a:solidFill>
              <a:srgbClr val="E0E0E0"/>
            </a:solidFill>
            <a:prstDash val="solid"/>
          </a:ln>
        </p:spPr>
        <p:txBody>
          <a:bodyPr wrap="square" lIns="37835" tIns="1767" rIns="37835" bIns="1767" rtlCol="0" anchor="ctr">
            <a:normAutofit/>
          </a:bodyPr>
          <a:lstStyle/>
          <a:p>
            <a:pPr marL="0" indent="0" algn="ctr">
              <a:lnSpc>
                <a:spcPts val="1625"/>
              </a:lnSpc>
              <a:buNone/>
            </a:pPr>
            <a:r>
              <a:rPr lang="en-US" sz="1300" b="1" dirty="0">
                <a:solidFill>
                  <a:srgbClr val="C00000"/>
                </a:solidFill>
                <a:latin typeface="Lato" pitchFamily="34" charset="0"/>
                <a:ea typeface="Lato" pitchFamily="34" charset="-122"/>
                <a:cs typeface="Lato" pitchFamily="34" charset="-120"/>
              </a:rPr>
              <a:t>Average over prompts and all later positions </a:t>
            </a:r>
            <a:r>
              <a:rPr lang="en-US" sz="1300" b="1" i="1" dirty="0">
                <a:solidFill>
                  <a:srgbClr val="C00000"/>
                </a:solidFill>
                <a:latin typeface="Lato" pitchFamily="34" charset="0"/>
                <a:ea typeface="Lato" pitchFamily="34" charset="-122"/>
                <a:cs typeface="Lato" pitchFamily="34" charset="-120"/>
              </a:rPr>
              <a:t>t′ ≥ t</a:t>
            </a:r>
            <a:endParaRPr lang="en-US" sz="1300" dirty="0"/>
          </a:p>
        </p:txBody>
      </p:sp>
      <p:sp>
        <p:nvSpPr>
          <p:cNvPr id="69" name="Text 54"/>
          <p:cNvSpPr/>
          <p:nvPr/>
        </p:nvSpPr>
        <p:spPr>
          <a:xfrm>
            <a:off x="6178550" y="5103118"/>
            <a:ext cx="2654300" cy="482600"/>
          </a:xfrm>
          <a:prstGeom prst="roundRect">
            <a:avLst>
              <a:gd name="adj" fmla="val 14474"/>
            </a:avLst>
          </a:prstGeom>
          <a:solidFill>
            <a:srgbClr val="FFFFFF"/>
          </a:solidFill>
          <a:ln w="12700">
            <a:solidFill>
              <a:srgbClr val="E0E0E0"/>
            </a:solidFill>
            <a:prstDash val="solid"/>
          </a:ln>
        </p:spPr>
        <p:txBody>
          <a:bodyPr wrap="square" lIns="37835" tIns="1767" rIns="37835" bIns="1767" rtlCol="0" anchor="ctr">
            <a:normAutofit/>
          </a:bodyPr>
          <a:lstStyle/>
          <a:p>
            <a:pPr marL="0" indent="0" algn="ctr">
              <a:lnSpc>
                <a:spcPts val="1625"/>
              </a:lnSpc>
              <a:buNone/>
            </a:pPr>
            <a:r>
              <a:rPr lang="en-US" sz="1300" b="1" dirty="0">
                <a:solidFill>
                  <a:srgbClr val="E07B00"/>
                </a:solidFill>
                <a:latin typeface="Lato" pitchFamily="34" charset="0"/>
                <a:ea typeface="Lato" pitchFamily="34" charset="-122"/>
                <a:cs typeface="Lato" pitchFamily="34" charset="-120"/>
              </a:rPr>
              <a:t>Jacobian: how a nudge to </a:t>
            </a:r>
            <a:r>
              <a:rPr lang="en-US" sz="1300" b="1" i="1" dirty="0">
                <a:solidFill>
                  <a:srgbClr val="E07B00"/>
                </a:solidFill>
                <a:latin typeface="Lato" pitchFamily="34" charset="0"/>
                <a:ea typeface="Lato" pitchFamily="34" charset="-122"/>
                <a:cs typeface="Lato" pitchFamily="34" charset="-120"/>
              </a:rPr>
              <a:t>h</a:t>
            </a:r>
            <a:r>
              <a:rPr lang="en-US" sz="1300" b="1" dirty="0">
                <a:solidFill>
                  <a:srgbClr val="E07B00"/>
                </a:solidFill>
                <a:latin typeface="Lato" pitchFamily="34" charset="0"/>
                <a:ea typeface="Lato" pitchFamily="34" charset="-122"/>
                <a:cs typeface="Lato" pitchFamily="34" charset="-120"/>
              </a:rPr>
              <a:t> moves the final state</a:t>
            </a:r>
            <a:endParaRPr lang="en-US" sz="1300" dirty="0"/>
          </a:p>
        </p:txBody>
      </p:sp>
      <p:sp>
        <p:nvSpPr>
          <p:cNvPr id="70" name="Text 55"/>
          <p:cNvSpPr/>
          <p:nvPr/>
        </p:nvSpPr>
        <p:spPr>
          <a:xfrm>
            <a:off x="9010650" y="5103118"/>
            <a:ext cx="2654300" cy="482600"/>
          </a:xfrm>
          <a:prstGeom prst="roundRect">
            <a:avLst>
              <a:gd name="adj" fmla="val 14474"/>
            </a:avLst>
          </a:prstGeom>
          <a:solidFill>
            <a:srgbClr val="FFFFFF"/>
          </a:solidFill>
          <a:ln w="12700">
            <a:solidFill>
              <a:srgbClr val="E0E0E0"/>
            </a:solidFill>
            <a:prstDash val="solid"/>
          </a:ln>
        </p:spPr>
        <p:txBody>
          <a:bodyPr wrap="square" lIns="37835" tIns="1767" rIns="37835" bIns="1767" rtlCol="0" anchor="ctr">
            <a:normAutofit/>
          </a:bodyPr>
          <a:lstStyle/>
          <a:p>
            <a:pPr marL="0" indent="0" algn="ctr">
              <a:lnSpc>
                <a:spcPts val="1625"/>
              </a:lnSpc>
              <a:buNone/>
            </a:pPr>
            <a:r>
              <a:rPr lang="en-US" sz="1300" b="1" i="1" dirty="0">
                <a:solidFill>
                  <a:srgbClr val="2E8B57"/>
                </a:solidFill>
                <a:latin typeface="Lato" pitchFamily="34" charset="0"/>
                <a:ea typeface="Lato" pitchFamily="34" charset="-122"/>
                <a:cs typeface="Lato" pitchFamily="34" charset="-120"/>
              </a:rPr>
              <a:t>h</a:t>
            </a:r>
            <a:r>
              <a:rPr lang="en-US" sz="1300" b="1" dirty="0">
                <a:solidFill>
                  <a:srgbClr val="2E8B57"/>
                </a:solidFill>
                <a:latin typeface="Lato" pitchFamily="34" charset="0"/>
                <a:ea typeface="Lato" pitchFamily="34" charset="-122"/>
                <a:cs typeface="Lato" pitchFamily="34" charset="-120"/>
              </a:rPr>
              <a:t>: embedding of one image token at layer ℓ</a:t>
            </a:r>
            <a:endParaRPr lang="en-US" sz="1300" dirty="0"/>
          </a:p>
        </p:txBody>
      </p:sp>
      <p:sp>
        <p:nvSpPr>
          <p:cNvPr id="71" name="Text 56"/>
          <p:cNvSpPr/>
          <p:nvPr/>
        </p:nvSpPr>
        <p:spPr>
          <a:xfrm>
            <a:off x="340360" y="5719068"/>
            <a:ext cx="11511280" cy="338832"/>
          </a:xfrm>
          <a:prstGeom prst="rect">
            <a:avLst/>
          </a:prstGeom>
          <a:noFill/>
          <a:ln/>
        </p:spPr>
        <p:txBody>
          <a:bodyPr wrap="square" lIns="0" tIns="0" rIns="0" bIns="0" rtlCol="0" anchor="t">
            <a:normAutofit/>
          </a:bodyPr>
          <a:lstStyle/>
          <a:p>
            <a:pPr marL="0" indent="0" algn="ctr">
              <a:lnSpc>
                <a:spcPts val="2472"/>
              </a:lnSpc>
              <a:buNone/>
            </a:pPr>
            <a:r>
              <a:rPr lang="en-US" sz="1831" b="1" dirty="0">
                <a:solidFill>
                  <a:srgbClr val="000000"/>
                </a:solidFill>
                <a:latin typeface="Lato" pitchFamily="34" charset="0"/>
                <a:ea typeface="Lato" pitchFamily="34" charset="-122"/>
                <a:cs typeface="Lato" pitchFamily="34" charset="-120"/>
              </a:rPr>
              <a:t>Nothing is trained:</a:t>
            </a:r>
            <a:r>
              <a:rPr lang="en-US" sz="1831" dirty="0">
                <a:solidFill>
                  <a:srgbClr val="000000"/>
                </a:solidFill>
                <a:latin typeface="Lato" pitchFamily="34" charset="0"/>
                <a:ea typeface="Lato" pitchFamily="34" charset="-122"/>
                <a:cs typeface="Lato" pitchFamily="34" charset="-120"/>
              </a:rPr>
              <a:t> the averaged Jacobian is computed once per layer, then reused for every input</a:t>
            </a:r>
            <a:endParaRPr lang="en-US" sz="1831" dirty="0"/>
          </a:p>
        </p:txBody>
      </p:sp>
      <p:sp>
        <p:nvSpPr>
          <p:cNvPr id="72" name="Text 57"/>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73" name="Text 58"/>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11 / 33</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What Do the Papaya Tokens Encode?</a:t>
            </a:r>
            <a:endParaRPr lang="en-US" sz="3200" dirty="0"/>
          </a:p>
        </p:txBody>
      </p:sp>
      <p:sp>
        <p:nvSpPr>
          <p:cNvPr id="4" name="Text 2"/>
          <p:cNvSpPr/>
          <p:nvPr/>
        </p:nvSpPr>
        <p:spPr>
          <a:xfrm>
            <a:off x="508000" y="1026120"/>
            <a:ext cx="11511280" cy="368300"/>
          </a:xfrm>
          <a:prstGeom prst="rect">
            <a:avLst/>
          </a:prstGeom>
          <a:noFill/>
          <a:ln/>
        </p:spPr>
        <p:txBody>
          <a:bodyPr wrap="square" lIns="0" tIns="0" rIns="0" bIns="0" rtlCol="0" anchor="t">
            <a:normAutofit/>
          </a:bodyPr>
          <a:lstStyle/>
          <a:p>
            <a:pPr marL="0" indent="0" algn="l">
              <a:lnSpc>
                <a:spcPts val="2700"/>
              </a:lnSpc>
              <a:buNone/>
            </a:pPr>
            <a:r>
              <a:rPr lang="en-US" sz="2000" b="1" dirty="0">
                <a:solidFill>
                  <a:srgbClr val="000000"/>
                </a:solidFill>
                <a:latin typeface="Lato" pitchFamily="34" charset="0"/>
                <a:ea typeface="Lato" pitchFamily="34" charset="-122"/>
                <a:cs typeface="Lato" pitchFamily="34" charset="-120"/>
              </a:rPr>
              <a:t>Example:</a:t>
            </a:r>
            <a:r>
              <a:rPr lang="en-US" sz="2000" dirty="0">
                <a:solidFill>
                  <a:srgbClr val="000000"/>
                </a:solidFill>
                <a:latin typeface="Lato" pitchFamily="34" charset="0"/>
                <a:ea typeface="Lato" pitchFamily="34" charset="-122"/>
                <a:cs typeface="Lato" pitchFamily="34" charset="-120"/>
              </a:rPr>
              <a:t> we can read what each token sees, and the papaya reads as </a:t>
            </a:r>
            <a:r>
              <a:rPr lang="en-US" sz="2000" u="sng" dirty="0">
                <a:solidFill>
                  <a:srgbClr val="C00000"/>
                </a:solidFill>
                <a:latin typeface="Lato" pitchFamily="34" charset="0"/>
                <a:ea typeface="Lato" pitchFamily="34" charset="-122"/>
                <a:cs typeface="Lato" pitchFamily="34" charset="-120"/>
              </a:rPr>
              <a:t>"apple" and "orange"</a:t>
            </a:r>
            <a:endParaRPr lang="en-US" sz="2000" dirty="0"/>
          </a:p>
        </p:txBody>
      </p:sp>
      <p:pic>
        <p:nvPicPr>
          <p:cNvPr id="5" name="Image 0" descr="The fruit stand input image cut into 24 by 24 image tokens; tags show what single tokens read as: kiwi, banana, banana, and apple and orange for the papaya strip"/>
          <p:cNvPicPr>
            <a:picLocks noChangeAspect="1"/>
          </p:cNvPicPr>
          <p:nvPr/>
        </p:nvPicPr>
        <p:blipFill>
          <a:blip r:embed="rId3"/>
          <a:srcRect/>
          <a:stretch/>
        </p:blipFill>
        <p:spPr>
          <a:xfrm>
            <a:off x="527050" y="1730970"/>
            <a:ext cx="4064000" cy="4064000"/>
          </a:xfrm>
          <a:prstGeom prst="roundRect">
            <a:avLst>
              <a:gd name="adj" fmla="val 1250"/>
            </a:avLst>
          </a:prstGeom>
        </p:spPr>
      </p:pic>
      <p:pic>
        <p:nvPicPr>
          <p:cNvPr id="6" name="Image 1" descr="24 by 24 patch grid over the image"/>
          <p:cNvPicPr>
            <a:picLocks noChangeAspect="1"/>
          </p:cNvPicPr>
          <p:nvPr/>
        </p:nvPicPr>
        <p:blipFill>
          <a:blip r:embed="rId4"/>
          <a:srcRect/>
          <a:stretch/>
        </p:blipFill>
        <p:spPr>
          <a:xfrm>
            <a:off x="527050" y="1730970"/>
            <a:ext cx="4064000" cy="4064000"/>
          </a:xfrm>
          <a:prstGeom prst="rect">
            <a:avLst/>
          </a:prstGeom>
        </p:spPr>
      </p:pic>
      <p:pic>
        <p:nvPicPr>
          <p:cNvPr id="7" name="Image 2" descr="Marked image tokens with arrows from their tags: one on the kiwis, two on the bananas, and the papaya strip boxed in cyan"/>
          <p:cNvPicPr>
            <a:picLocks noChangeAspect="1"/>
          </p:cNvPicPr>
          <p:nvPr/>
        </p:nvPicPr>
        <p:blipFill>
          <a:blip r:embed="rId5"/>
          <a:srcRect/>
          <a:stretch/>
        </p:blipFill>
        <p:spPr>
          <a:xfrm>
            <a:off x="527050" y="1730970"/>
            <a:ext cx="4064000" cy="4064000"/>
          </a:xfrm>
          <a:prstGeom prst="rect">
            <a:avLst/>
          </a:prstGeom>
        </p:spPr>
      </p:pic>
      <p:sp>
        <p:nvSpPr>
          <p:cNvPr id="8" name="Text 3"/>
          <p:cNvSpPr/>
          <p:nvPr/>
        </p:nvSpPr>
        <p:spPr>
          <a:xfrm>
            <a:off x="1965325" y="1892895"/>
            <a:ext cx="679450" cy="247650"/>
          </a:xfrm>
          <a:custGeom>
            <a:avLst/>
            <a:gdLst/>
            <a:ahLst/>
            <a:cxnLst/>
            <a:rect l="l" t="t" r="r" b="b"/>
            <a:pathLst>
              <a:path w="679450" h="247650">
                <a:moveTo>
                  <a:pt x="53975" y="0"/>
                </a:moveTo>
                <a:lnTo>
                  <a:pt x="625475" y="0"/>
                </a:lnTo>
                <a:arcTo wR="53975" hR="53975" stAng="16200000" swAng="5400000"/>
                <a:lnTo>
                  <a:pt x="679450" y="193675"/>
                </a:lnTo>
                <a:arcTo wR="53975" hR="53975" stAng="0" swAng="5400000"/>
                <a:lnTo>
                  <a:pt x="53975" y="247650"/>
                </a:lnTo>
                <a:arcTo wR="53975" hR="53975" stAng="5400000" swAng="5400000"/>
                <a:lnTo>
                  <a:pt x="0" y="53975"/>
                </a:lnTo>
                <a:arcTo wR="53975" hR="53975" stAng="10800000" swAng="5400000"/>
                <a:close/>
              </a:path>
            </a:pathLst>
          </a:custGeom>
          <a:solidFill>
            <a:srgbClr val="FFFFFF"/>
          </a:solidFill>
          <a:ln w="19050">
            <a:solidFill>
              <a:srgbClr val="1F6FE5"/>
            </a:solidFill>
            <a:prstDash val="solid"/>
          </a:ln>
        </p:spPr>
        <p:txBody>
          <a:bodyPr wrap="square" lIns="9525" tIns="0" rIns="9525" bIns="0" rtlCol="0" anchor="ctr">
            <a:normAutofit/>
          </a:bodyPr>
          <a:lstStyle/>
          <a:p>
            <a:pPr marL="0" indent="0" algn="ctr">
              <a:lnSpc>
                <a:spcPts val="1890"/>
              </a:lnSpc>
              <a:buNone/>
            </a:pPr>
            <a:r>
              <a:rPr lang="en-US" sz="1400" b="1" dirty="0">
                <a:solidFill>
                  <a:srgbClr val="1F6FE5"/>
                </a:solidFill>
                <a:latin typeface="Lato" pitchFamily="34" charset="0"/>
                <a:ea typeface="Lato" pitchFamily="34" charset="-122"/>
                <a:cs typeface="Lato" pitchFamily="34" charset="-120"/>
              </a:rPr>
              <a:t>kiwi</a:t>
            </a:r>
            <a:endParaRPr lang="en-US" sz="1400" dirty="0"/>
          </a:p>
        </p:txBody>
      </p:sp>
      <p:sp>
        <p:nvSpPr>
          <p:cNvPr id="9" name="Text 4"/>
          <p:cNvSpPr/>
          <p:nvPr/>
        </p:nvSpPr>
        <p:spPr>
          <a:xfrm>
            <a:off x="561975" y="3404195"/>
            <a:ext cx="806450" cy="247650"/>
          </a:xfrm>
          <a:custGeom>
            <a:avLst/>
            <a:gdLst/>
            <a:ahLst/>
            <a:cxnLst/>
            <a:rect l="l" t="t" r="r" b="b"/>
            <a:pathLst>
              <a:path w="806450" h="247650">
                <a:moveTo>
                  <a:pt x="53975" y="0"/>
                </a:moveTo>
                <a:lnTo>
                  <a:pt x="752475" y="0"/>
                </a:lnTo>
                <a:arcTo wR="53975" hR="53975" stAng="16200000" swAng="5400000"/>
                <a:lnTo>
                  <a:pt x="806450" y="193675"/>
                </a:lnTo>
                <a:arcTo wR="53975" hR="53975" stAng="0" swAng="5400000"/>
                <a:lnTo>
                  <a:pt x="53975" y="247650"/>
                </a:lnTo>
                <a:arcTo wR="53975" hR="53975" stAng="5400000" swAng="5400000"/>
                <a:lnTo>
                  <a:pt x="0" y="53975"/>
                </a:lnTo>
                <a:arcTo wR="53975" hR="53975" stAng="10800000" swAng="5400000"/>
                <a:close/>
              </a:path>
            </a:pathLst>
          </a:custGeom>
          <a:solidFill>
            <a:srgbClr val="FFFFFF"/>
          </a:solidFill>
          <a:ln w="19050">
            <a:solidFill>
              <a:srgbClr val="1F6FE5"/>
            </a:solidFill>
            <a:prstDash val="solid"/>
          </a:ln>
        </p:spPr>
        <p:txBody>
          <a:bodyPr wrap="square" lIns="9525" tIns="0" rIns="9525" bIns="0" rtlCol="0" anchor="ctr">
            <a:normAutofit/>
          </a:bodyPr>
          <a:lstStyle/>
          <a:p>
            <a:pPr marL="0" indent="0" algn="ctr">
              <a:lnSpc>
                <a:spcPts val="1890"/>
              </a:lnSpc>
              <a:buNone/>
            </a:pPr>
            <a:r>
              <a:rPr lang="en-US" sz="1400" b="1" dirty="0">
                <a:solidFill>
                  <a:srgbClr val="1F6FE5"/>
                </a:solidFill>
                <a:latin typeface="Lato" pitchFamily="34" charset="0"/>
                <a:ea typeface="Lato" pitchFamily="34" charset="-122"/>
                <a:cs typeface="Lato" pitchFamily="34" charset="-120"/>
              </a:rPr>
              <a:t>banana</a:t>
            </a:r>
            <a:endParaRPr lang="en-US" sz="1400" dirty="0"/>
          </a:p>
        </p:txBody>
      </p:sp>
      <p:sp>
        <p:nvSpPr>
          <p:cNvPr id="10" name="Text 5"/>
          <p:cNvSpPr/>
          <p:nvPr/>
        </p:nvSpPr>
        <p:spPr>
          <a:xfrm>
            <a:off x="3762375" y="3835995"/>
            <a:ext cx="806450" cy="247650"/>
          </a:xfrm>
          <a:custGeom>
            <a:avLst/>
            <a:gdLst/>
            <a:ahLst/>
            <a:cxnLst/>
            <a:rect l="l" t="t" r="r" b="b"/>
            <a:pathLst>
              <a:path w="806450" h="247650">
                <a:moveTo>
                  <a:pt x="53975" y="0"/>
                </a:moveTo>
                <a:lnTo>
                  <a:pt x="752475" y="0"/>
                </a:lnTo>
                <a:arcTo wR="53975" hR="53975" stAng="16200000" swAng="5400000"/>
                <a:lnTo>
                  <a:pt x="806450" y="193675"/>
                </a:lnTo>
                <a:arcTo wR="53975" hR="53975" stAng="0" swAng="5400000"/>
                <a:lnTo>
                  <a:pt x="53975" y="247650"/>
                </a:lnTo>
                <a:arcTo wR="53975" hR="53975" stAng="5400000" swAng="5400000"/>
                <a:lnTo>
                  <a:pt x="0" y="53975"/>
                </a:lnTo>
                <a:arcTo wR="53975" hR="53975" stAng="10800000" swAng="5400000"/>
                <a:close/>
              </a:path>
            </a:pathLst>
          </a:custGeom>
          <a:solidFill>
            <a:srgbClr val="FFFFFF"/>
          </a:solidFill>
          <a:ln w="19050">
            <a:solidFill>
              <a:srgbClr val="1F6FE5"/>
            </a:solidFill>
            <a:prstDash val="solid"/>
          </a:ln>
        </p:spPr>
        <p:txBody>
          <a:bodyPr wrap="square" lIns="9525" tIns="0" rIns="9525" bIns="0" rtlCol="0" anchor="ctr">
            <a:normAutofit/>
          </a:bodyPr>
          <a:lstStyle/>
          <a:p>
            <a:pPr marL="0" indent="0" algn="ctr">
              <a:lnSpc>
                <a:spcPts val="1890"/>
              </a:lnSpc>
              <a:buNone/>
            </a:pPr>
            <a:r>
              <a:rPr lang="en-US" sz="1400" b="1" dirty="0">
                <a:solidFill>
                  <a:srgbClr val="1F6FE5"/>
                </a:solidFill>
                <a:latin typeface="Lato" pitchFamily="34" charset="0"/>
                <a:ea typeface="Lato" pitchFamily="34" charset="-122"/>
                <a:cs typeface="Lato" pitchFamily="34" charset="-120"/>
              </a:rPr>
              <a:t>banana</a:t>
            </a:r>
            <a:endParaRPr lang="en-US" sz="1400" dirty="0"/>
          </a:p>
        </p:txBody>
      </p:sp>
      <p:sp>
        <p:nvSpPr>
          <p:cNvPr id="11" name="Text 6"/>
          <p:cNvSpPr/>
          <p:nvPr/>
        </p:nvSpPr>
        <p:spPr>
          <a:xfrm>
            <a:off x="1724025" y="4953595"/>
            <a:ext cx="1441450" cy="247650"/>
          </a:xfrm>
          <a:custGeom>
            <a:avLst/>
            <a:gdLst/>
            <a:ahLst/>
            <a:cxnLst/>
            <a:rect l="l" t="t" r="r" b="b"/>
            <a:pathLst>
              <a:path w="1441450" h="247650">
                <a:moveTo>
                  <a:pt x="53975" y="0"/>
                </a:moveTo>
                <a:lnTo>
                  <a:pt x="1387475" y="0"/>
                </a:lnTo>
                <a:arcTo wR="53975" hR="53975" stAng="16200000" swAng="5400000"/>
                <a:lnTo>
                  <a:pt x="1441450" y="193675"/>
                </a:lnTo>
                <a:arcTo wR="53975" hR="53975" stAng="0" swAng="5400000"/>
                <a:lnTo>
                  <a:pt x="53975" y="247650"/>
                </a:lnTo>
                <a:arcTo wR="53975" hR="53975" stAng="5400000" swAng="5400000"/>
                <a:lnTo>
                  <a:pt x="0" y="53975"/>
                </a:lnTo>
                <a:arcTo wR="53975" hR="53975" stAng="10800000" swAng="5400000"/>
                <a:close/>
              </a:path>
            </a:pathLst>
          </a:custGeom>
          <a:solidFill>
            <a:srgbClr val="FFFFFF"/>
          </a:solidFill>
          <a:ln w="19050">
            <a:solidFill>
              <a:srgbClr val="E8202A"/>
            </a:solidFill>
            <a:prstDash val="solid"/>
          </a:ln>
        </p:spPr>
        <p:txBody>
          <a:bodyPr wrap="square" lIns="9525" tIns="0" rIns="9525" bIns="0" rtlCol="0" anchor="ctr">
            <a:normAutofit/>
          </a:bodyPr>
          <a:lstStyle/>
          <a:p>
            <a:pPr marL="0" indent="0" algn="ctr">
              <a:lnSpc>
                <a:spcPts val="1890"/>
              </a:lnSpc>
              <a:buNone/>
            </a:pPr>
            <a:r>
              <a:rPr lang="en-US" sz="1400" b="1" dirty="0">
                <a:solidFill>
                  <a:srgbClr val="E8202A"/>
                </a:solidFill>
                <a:latin typeface="Lato" pitchFamily="34" charset="0"/>
                <a:ea typeface="Lato" pitchFamily="34" charset="-122"/>
                <a:cs typeface="Lato" pitchFamily="34" charset="-120"/>
              </a:rPr>
              <a:t>apple, orange</a:t>
            </a:r>
            <a:endParaRPr lang="en-US" sz="1400" dirty="0"/>
          </a:p>
        </p:txBody>
      </p:sp>
      <p:pic>
        <p:nvPicPr>
          <p:cNvPr id="12" name="Image 3" descr="Paper Figure 4, left part: the papaya strip enlarged with four tokens marked, and under each token its top-5 words; app, apple and orange appear in red"/>
          <p:cNvPicPr>
            <a:picLocks noChangeAspect="1"/>
          </p:cNvPicPr>
          <p:nvPr/>
        </p:nvPicPr>
        <p:blipFill>
          <a:blip r:embed="rId6"/>
          <a:srcRect l="-17" r="-17"/>
          <a:stretch/>
        </p:blipFill>
        <p:spPr>
          <a:xfrm>
            <a:off x="4972050" y="1572220"/>
            <a:ext cx="6692900" cy="4381500"/>
          </a:xfrm>
          <a:prstGeom prst="rect">
            <a:avLst/>
          </a:prstGeom>
        </p:spPr>
      </p:pic>
      <p:sp>
        <p:nvSpPr>
          <p:cNvPr id="13" name="Text 7"/>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14" name="Text 8"/>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12 / 33</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Zeroing Out Hallucinatory Image Tokens</a:t>
            </a:r>
            <a:endParaRPr lang="en-US" sz="3200" dirty="0"/>
          </a:p>
        </p:txBody>
      </p:sp>
      <p:sp>
        <p:nvSpPr>
          <p:cNvPr id="4" name="Text 2"/>
          <p:cNvSpPr/>
          <p:nvPr/>
        </p:nvSpPr>
        <p:spPr>
          <a:xfrm>
            <a:off x="508000" y="1026120"/>
            <a:ext cx="11511280" cy="368300"/>
          </a:xfrm>
          <a:prstGeom prst="rect">
            <a:avLst/>
          </a:prstGeom>
          <a:noFill/>
          <a:ln/>
        </p:spPr>
        <p:txBody>
          <a:bodyPr wrap="square" lIns="0" tIns="0" rIns="0" bIns="0" rtlCol="0" anchor="t">
            <a:normAutofit/>
          </a:bodyPr>
          <a:lstStyle/>
          <a:p>
            <a:pPr marL="0" indent="0" algn="l">
              <a:lnSpc>
                <a:spcPts val="2700"/>
              </a:lnSpc>
              <a:buNone/>
            </a:pPr>
            <a:r>
              <a:rPr lang="en-US" sz="2000" b="1" dirty="0">
                <a:solidFill>
                  <a:srgbClr val="000000"/>
                </a:solidFill>
                <a:latin typeface="Lato" pitchFamily="34" charset="0"/>
                <a:ea typeface="Lato" pitchFamily="34" charset="-122"/>
                <a:cs typeface="Lato" pitchFamily="34" charset="-120"/>
              </a:rPr>
              <a:t>Overview:</a:t>
            </a:r>
            <a:r>
              <a:rPr lang="en-US" sz="2000" dirty="0">
                <a:solidFill>
                  <a:srgbClr val="000000"/>
                </a:solidFill>
                <a:latin typeface="Lato" pitchFamily="34" charset="0"/>
                <a:ea typeface="Lato" pitchFamily="34" charset="-122"/>
                <a:cs typeface="Lato" pitchFamily="34" charset="-120"/>
              </a:rPr>
              <a:t> EAZY is a training-free method that </a:t>
            </a:r>
            <a:r>
              <a:rPr lang="en-US" sz="2000" u="sng" dirty="0">
                <a:solidFill>
                  <a:srgbClr val="C00000"/>
                </a:solidFill>
                <a:latin typeface="Lato" pitchFamily="34" charset="0"/>
                <a:ea typeface="Lato" pitchFamily="34" charset="-122"/>
                <a:cs typeface="Lato" pitchFamily="34" charset="-120"/>
              </a:rPr>
              <a:t>zeroes out hallucinatory image tokens</a:t>
            </a:r>
            <a:endParaRPr lang="en-US" sz="2000" dirty="0"/>
          </a:p>
        </p:txBody>
      </p:sp>
      <p:pic>
        <p:nvPicPr>
          <p:cNvPr id="5" name="Image 0" descr="Paper Figure 6, step 1: the frozen LVLM answers normally and the object words are extracted; the HIT estimation and final response parts are blurred"/>
          <p:cNvPicPr>
            <a:picLocks noChangeAspect="1"/>
          </p:cNvPicPr>
          <p:nvPr/>
        </p:nvPicPr>
        <p:blipFill>
          <a:blip r:embed="rId3"/>
          <a:srcRect l="-56" r="-56"/>
          <a:stretch/>
        </p:blipFill>
        <p:spPr>
          <a:xfrm>
            <a:off x="1333500" y="1587500"/>
            <a:ext cx="9525000" cy="3822700"/>
          </a:xfrm>
          <a:prstGeom prst="rect">
            <a:avLst/>
          </a:prstGeom>
        </p:spPr>
      </p:pic>
      <p:sp>
        <p:nvSpPr>
          <p:cNvPr id="6" name="Text 3"/>
          <p:cNvSpPr/>
          <p:nvPr/>
        </p:nvSpPr>
        <p:spPr>
          <a:xfrm>
            <a:off x="1016000" y="5499100"/>
            <a:ext cx="3531870"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000000"/>
                </a:solidFill>
                <a:latin typeface="Lato" pitchFamily="34" charset="0"/>
                <a:ea typeface="Lato" pitchFamily="34" charset="-122"/>
                <a:cs typeface="Lato" pitchFamily="34" charset="-120"/>
              </a:rPr>
              <a:t>1 · Initial response:</a:t>
            </a:r>
            <a:r>
              <a:rPr lang="en-US" sz="1300" dirty="0">
                <a:solidFill>
                  <a:srgbClr val="000000"/>
                </a:solidFill>
                <a:latin typeface="Lato" pitchFamily="34" charset="0"/>
                <a:ea typeface="Lato" pitchFamily="34" charset="-122"/>
                <a:cs typeface="Lato" pitchFamily="34" charset="-120"/>
              </a:rPr>
              <a:t> answer as usual and list the object words</a:t>
            </a:r>
            <a:endParaRPr lang="en-US" sz="1300" dirty="0"/>
          </a:p>
        </p:txBody>
      </p:sp>
      <p:sp>
        <p:nvSpPr>
          <p:cNvPr id="7" name="Text 4"/>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8" name="Text 5"/>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13 / 33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Zeroing Out Hallucinatory Image Tokens</a:t>
            </a:r>
            <a:endParaRPr lang="en-US" sz="3200" dirty="0"/>
          </a:p>
        </p:txBody>
      </p:sp>
      <p:sp>
        <p:nvSpPr>
          <p:cNvPr id="4" name="Text 2"/>
          <p:cNvSpPr/>
          <p:nvPr/>
        </p:nvSpPr>
        <p:spPr>
          <a:xfrm>
            <a:off x="508000" y="1026120"/>
            <a:ext cx="11511280" cy="368300"/>
          </a:xfrm>
          <a:prstGeom prst="rect">
            <a:avLst/>
          </a:prstGeom>
          <a:noFill/>
          <a:ln/>
        </p:spPr>
        <p:txBody>
          <a:bodyPr wrap="square" lIns="0" tIns="0" rIns="0" bIns="0" rtlCol="0" anchor="t">
            <a:normAutofit/>
          </a:bodyPr>
          <a:lstStyle/>
          <a:p>
            <a:pPr marL="0" indent="0" algn="l">
              <a:lnSpc>
                <a:spcPts val="2700"/>
              </a:lnSpc>
              <a:buNone/>
            </a:pPr>
            <a:r>
              <a:rPr lang="en-US" sz="2000" b="1" dirty="0">
                <a:solidFill>
                  <a:srgbClr val="000000"/>
                </a:solidFill>
                <a:latin typeface="Lato" pitchFamily="34" charset="0"/>
                <a:ea typeface="Lato" pitchFamily="34" charset="-122"/>
                <a:cs typeface="Lato" pitchFamily="34" charset="-120"/>
              </a:rPr>
              <a:t>Overview:</a:t>
            </a:r>
            <a:r>
              <a:rPr lang="en-US" sz="2000" dirty="0">
                <a:solidFill>
                  <a:srgbClr val="000000"/>
                </a:solidFill>
                <a:latin typeface="Lato" pitchFamily="34" charset="0"/>
                <a:ea typeface="Lato" pitchFamily="34" charset="-122"/>
                <a:cs typeface="Lato" pitchFamily="34" charset="-120"/>
              </a:rPr>
              <a:t> EAZY is a training-free method that </a:t>
            </a:r>
            <a:r>
              <a:rPr lang="en-US" sz="2000" u="sng" dirty="0">
                <a:solidFill>
                  <a:srgbClr val="C00000"/>
                </a:solidFill>
                <a:latin typeface="Lato" pitchFamily="34" charset="0"/>
                <a:ea typeface="Lato" pitchFamily="34" charset="-122"/>
                <a:cs typeface="Lato" pitchFamily="34" charset="-120"/>
              </a:rPr>
              <a:t>zeroes out hallucinatory image tokens</a:t>
            </a:r>
            <a:endParaRPr lang="en-US" sz="2000" dirty="0"/>
          </a:p>
        </p:txBody>
      </p:sp>
      <p:pic>
        <p:nvPicPr>
          <p:cNvPr id="5" name="Image 0" descr="Step 2: text-to-image attention picks each object word's top image tokens, which are zeroed out to test the object; the response parts are blurred"/>
          <p:cNvPicPr>
            <a:picLocks noChangeAspect="1"/>
          </p:cNvPicPr>
          <p:nvPr/>
        </p:nvPicPr>
        <p:blipFill>
          <a:blip r:embed="rId3"/>
          <a:srcRect l="-56" r="-56"/>
          <a:stretch/>
        </p:blipFill>
        <p:spPr>
          <a:xfrm>
            <a:off x="1333500" y="1587500"/>
            <a:ext cx="9525000" cy="3822700"/>
          </a:xfrm>
          <a:prstGeom prst="rect">
            <a:avLst/>
          </a:prstGeom>
        </p:spPr>
      </p:pic>
      <p:sp>
        <p:nvSpPr>
          <p:cNvPr id="6" name="Text 3"/>
          <p:cNvSpPr/>
          <p:nvPr/>
        </p:nvSpPr>
        <p:spPr>
          <a:xfrm>
            <a:off x="1016000" y="5499100"/>
            <a:ext cx="3531870"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000000"/>
                </a:solidFill>
                <a:latin typeface="Lato" pitchFamily="34" charset="0"/>
                <a:ea typeface="Lato" pitchFamily="34" charset="-122"/>
                <a:cs typeface="Lato" pitchFamily="34" charset="-120"/>
              </a:rPr>
              <a:t>1 · Initial response:</a:t>
            </a:r>
            <a:r>
              <a:rPr lang="en-US" sz="1300" dirty="0">
                <a:solidFill>
                  <a:srgbClr val="000000"/>
                </a:solidFill>
                <a:latin typeface="Lato" pitchFamily="34" charset="0"/>
                <a:ea typeface="Lato" pitchFamily="34" charset="-122"/>
                <a:cs typeface="Lato" pitchFamily="34" charset="-120"/>
              </a:rPr>
              <a:t> answer as usual and list the object words</a:t>
            </a:r>
            <a:endParaRPr lang="en-US" sz="1300" dirty="0"/>
          </a:p>
        </p:txBody>
      </p:sp>
      <p:sp>
        <p:nvSpPr>
          <p:cNvPr id="7" name="Text 4"/>
          <p:cNvSpPr/>
          <p:nvPr/>
        </p:nvSpPr>
        <p:spPr>
          <a:xfrm>
            <a:off x="4699000" y="5499100"/>
            <a:ext cx="3531870"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C00000"/>
                </a:solidFill>
                <a:latin typeface="Lato" pitchFamily="34" charset="0"/>
                <a:ea typeface="Lato" pitchFamily="34" charset="-122"/>
                <a:cs typeface="Lato" pitchFamily="34" charset="-120"/>
              </a:rPr>
              <a:t>2 · Find culprits:</a:t>
            </a:r>
            <a:r>
              <a:rPr lang="en-US" sz="1300" dirty="0">
                <a:solidFill>
                  <a:srgbClr val="C00000"/>
                </a:solidFill>
                <a:latin typeface="Lato" pitchFamily="34" charset="0"/>
                <a:ea typeface="Lato" pitchFamily="34" charset="-122"/>
                <a:cs typeface="Lato" pitchFamily="34" charset="-120"/>
              </a:rPr>
              <a:t> zero each object's top tokens and see which objects vanish</a:t>
            </a:r>
            <a:endParaRPr lang="en-US" sz="1300" dirty="0"/>
          </a:p>
        </p:txBody>
      </p:sp>
      <p:sp>
        <p:nvSpPr>
          <p:cNvPr id="8" name="Text 5"/>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9" name="Text 6"/>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13 / 33</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Zeroing Out Hallucinatory Image Tokens</a:t>
            </a:r>
            <a:endParaRPr lang="en-US" sz="3200" dirty="0"/>
          </a:p>
        </p:txBody>
      </p:sp>
      <p:sp>
        <p:nvSpPr>
          <p:cNvPr id="4" name="Text 2"/>
          <p:cNvSpPr/>
          <p:nvPr/>
        </p:nvSpPr>
        <p:spPr>
          <a:xfrm>
            <a:off x="508000" y="1026120"/>
            <a:ext cx="11511280" cy="368300"/>
          </a:xfrm>
          <a:prstGeom prst="rect">
            <a:avLst/>
          </a:prstGeom>
          <a:noFill/>
          <a:ln/>
        </p:spPr>
        <p:txBody>
          <a:bodyPr wrap="square" lIns="0" tIns="0" rIns="0" bIns="0" rtlCol="0" anchor="t">
            <a:normAutofit/>
          </a:bodyPr>
          <a:lstStyle/>
          <a:p>
            <a:pPr marL="0" indent="0" algn="l">
              <a:lnSpc>
                <a:spcPts val="2700"/>
              </a:lnSpc>
              <a:buNone/>
            </a:pPr>
            <a:r>
              <a:rPr lang="en-US" sz="2000" b="1" dirty="0">
                <a:solidFill>
                  <a:srgbClr val="000000"/>
                </a:solidFill>
                <a:latin typeface="Lato" pitchFamily="34" charset="0"/>
                <a:ea typeface="Lato" pitchFamily="34" charset="-122"/>
                <a:cs typeface="Lato" pitchFamily="34" charset="-120"/>
              </a:rPr>
              <a:t>Overview:</a:t>
            </a:r>
            <a:r>
              <a:rPr lang="en-US" sz="2000" dirty="0">
                <a:solidFill>
                  <a:srgbClr val="000000"/>
                </a:solidFill>
                <a:latin typeface="Lato" pitchFamily="34" charset="0"/>
                <a:ea typeface="Lato" pitchFamily="34" charset="-122"/>
                <a:cs typeface="Lato" pitchFamily="34" charset="-120"/>
              </a:rPr>
              <a:t> EAZY is a training-free method that </a:t>
            </a:r>
            <a:r>
              <a:rPr lang="en-US" sz="2000" u="sng" dirty="0">
                <a:solidFill>
                  <a:srgbClr val="C00000"/>
                </a:solidFill>
                <a:latin typeface="Lato" pitchFamily="34" charset="0"/>
                <a:ea typeface="Lato" pitchFamily="34" charset="-122"/>
                <a:cs typeface="Lato" pitchFamily="34" charset="-120"/>
              </a:rPr>
              <a:t>zeroes out hallucinatory image tokens</a:t>
            </a:r>
            <a:endParaRPr lang="en-US" sz="2000" dirty="0"/>
          </a:p>
        </p:txBody>
      </p:sp>
      <p:pic>
        <p:nvPicPr>
          <p:cNvPr id="5" name="Image 0" descr="Step 3: all candidate HITs are zeroed and the model answers again, giving the final response; the other parts are blurred"/>
          <p:cNvPicPr>
            <a:picLocks noChangeAspect="1"/>
          </p:cNvPicPr>
          <p:nvPr/>
        </p:nvPicPr>
        <p:blipFill>
          <a:blip r:embed="rId3"/>
          <a:srcRect l="-56" r="-56"/>
          <a:stretch/>
        </p:blipFill>
        <p:spPr>
          <a:xfrm>
            <a:off x="1333500" y="1587500"/>
            <a:ext cx="9525000" cy="3822700"/>
          </a:xfrm>
          <a:prstGeom prst="rect">
            <a:avLst/>
          </a:prstGeom>
        </p:spPr>
      </p:pic>
      <p:sp>
        <p:nvSpPr>
          <p:cNvPr id="6" name="Text 3"/>
          <p:cNvSpPr/>
          <p:nvPr/>
        </p:nvSpPr>
        <p:spPr>
          <a:xfrm>
            <a:off x="1016000" y="5499100"/>
            <a:ext cx="3531870"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000000"/>
                </a:solidFill>
                <a:latin typeface="Lato" pitchFamily="34" charset="0"/>
                <a:ea typeface="Lato" pitchFamily="34" charset="-122"/>
                <a:cs typeface="Lato" pitchFamily="34" charset="-120"/>
              </a:rPr>
              <a:t>1 · Initial response:</a:t>
            </a:r>
            <a:r>
              <a:rPr lang="en-US" sz="1300" dirty="0">
                <a:solidFill>
                  <a:srgbClr val="000000"/>
                </a:solidFill>
                <a:latin typeface="Lato" pitchFamily="34" charset="0"/>
                <a:ea typeface="Lato" pitchFamily="34" charset="-122"/>
                <a:cs typeface="Lato" pitchFamily="34" charset="-120"/>
              </a:rPr>
              <a:t> answer as usual and list the object words</a:t>
            </a:r>
            <a:endParaRPr lang="en-US" sz="1300" dirty="0"/>
          </a:p>
        </p:txBody>
      </p:sp>
      <p:sp>
        <p:nvSpPr>
          <p:cNvPr id="7" name="Text 4"/>
          <p:cNvSpPr/>
          <p:nvPr/>
        </p:nvSpPr>
        <p:spPr>
          <a:xfrm>
            <a:off x="4699000" y="5499100"/>
            <a:ext cx="3531870"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C00000"/>
                </a:solidFill>
                <a:latin typeface="Lato" pitchFamily="34" charset="0"/>
                <a:ea typeface="Lato" pitchFamily="34" charset="-122"/>
                <a:cs typeface="Lato" pitchFamily="34" charset="-120"/>
              </a:rPr>
              <a:t>2 · Find culprits:</a:t>
            </a:r>
            <a:r>
              <a:rPr lang="en-US" sz="1300" dirty="0">
                <a:solidFill>
                  <a:srgbClr val="C00000"/>
                </a:solidFill>
                <a:latin typeface="Lato" pitchFamily="34" charset="0"/>
                <a:ea typeface="Lato" pitchFamily="34" charset="-122"/>
                <a:cs typeface="Lato" pitchFamily="34" charset="-120"/>
              </a:rPr>
              <a:t> zero each object's top tokens and see which objects vanish</a:t>
            </a:r>
            <a:endParaRPr lang="en-US" sz="1300" dirty="0"/>
          </a:p>
        </p:txBody>
      </p:sp>
      <p:sp>
        <p:nvSpPr>
          <p:cNvPr id="8" name="Text 5"/>
          <p:cNvSpPr/>
          <p:nvPr/>
        </p:nvSpPr>
        <p:spPr>
          <a:xfrm>
            <a:off x="8382000" y="5499100"/>
            <a:ext cx="3531870"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2F5597"/>
                </a:solidFill>
                <a:latin typeface="Lato" pitchFamily="34" charset="0"/>
                <a:ea typeface="Lato" pitchFamily="34" charset="-122"/>
                <a:cs typeface="Lato" pitchFamily="34" charset="-120"/>
              </a:rPr>
              <a:t>3 · Final response:</a:t>
            </a:r>
            <a:r>
              <a:rPr lang="en-US" sz="1300" dirty="0">
                <a:solidFill>
                  <a:srgbClr val="2F5597"/>
                </a:solidFill>
                <a:latin typeface="Lato" pitchFamily="34" charset="0"/>
                <a:ea typeface="Lato" pitchFamily="34" charset="-122"/>
                <a:cs typeface="Lato" pitchFamily="34" charset="-120"/>
              </a:rPr>
              <a:t> zero all candidate HITs and answer again</a:t>
            </a:r>
            <a:endParaRPr lang="en-US" sz="1300" dirty="0"/>
          </a:p>
        </p:txBody>
      </p:sp>
      <p:sp>
        <p:nvSpPr>
          <p:cNvPr id="9" name="Text 6"/>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10" name="Text 7"/>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13 / 33</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Zeroing Out Hallucinatory Image Tokens</a:t>
            </a:r>
            <a:endParaRPr lang="en-US" sz="3200" dirty="0"/>
          </a:p>
        </p:txBody>
      </p:sp>
      <p:sp>
        <p:nvSpPr>
          <p:cNvPr id="4" name="Text 2"/>
          <p:cNvSpPr/>
          <p:nvPr/>
        </p:nvSpPr>
        <p:spPr>
          <a:xfrm>
            <a:off x="508000" y="1026120"/>
            <a:ext cx="11511280" cy="368300"/>
          </a:xfrm>
          <a:prstGeom prst="rect">
            <a:avLst/>
          </a:prstGeom>
          <a:noFill/>
          <a:ln/>
        </p:spPr>
        <p:txBody>
          <a:bodyPr wrap="square" lIns="0" tIns="0" rIns="0" bIns="0" rtlCol="0" anchor="t">
            <a:normAutofit/>
          </a:bodyPr>
          <a:lstStyle/>
          <a:p>
            <a:pPr marL="0" indent="0" algn="l">
              <a:lnSpc>
                <a:spcPts val="2700"/>
              </a:lnSpc>
              <a:buNone/>
            </a:pPr>
            <a:r>
              <a:rPr lang="en-US" sz="2000" b="1" dirty="0">
                <a:solidFill>
                  <a:srgbClr val="000000"/>
                </a:solidFill>
                <a:latin typeface="Lato" pitchFamily="34" charset="0"/>
                <a:ea typeface="Lato" pitchFamily="34" charset="-122"/>
                <a:cs typeface="Lato" pitchFamily="34" charset="-120"/>
              </a:rPr>
              <a:t>Overview:</a:t>
            </a:r>
            <a:r>
              <a:rPr lang="en-US" sz="2000" dirty="0">
                <a:solidFill>
                  <a:srgbClr val="000000"/>
                </a:solidFill>
                <a:latin typeface="Lato" pitchFamily="34" charset="0"/>
                <a:ea typeface="Lato" pitchFamily="34" charset="-122"/>
                <a:cs typeface="Lato" pitchFamily="34" charset="-120"/>
              </a:rPr>
              <a:t> EAZY is a training-free method that </a:t>
            </a:r>
            <a:r>
              <a:rPr lang="en-US" sz="2000" u="sng" dirty="0">
                <a:solidFill>
                  <a:srgbClr val="C00000"/>
                </a:solidFill>
                <a:latin typeface="Lato" pitchFamily="34" charset="0"/>
                <a:ea typeface="Lato" pitchFamily="34" charset="-122"/>
                <a:cs typeface="Lato" pitchFamily="34" charset="-120"/>
              </a:rPr>
              <a:t>zeroes out hallucinatory image tokens</a:t>
            </a:r>
            <a:endParaRPr lang="en-US" sz="2000" dirty="0"/>
          </a:p>
        </p:txBody>
      </p:sp>
      <p:pic>
        <p:nvPicPr>
          <p:cNvPr id="5" name="Image 0" descr="Paper Figure 6: the full EAZY overview with initial response, HIT estimation and final response"/>
          <p:cNvPicPr>
            <a:picLocks noChangeAspect="1"/>
          </p:cNvPicPr>
          <p:nvPr/>
        </p:nvPicPr>
        <p:blipFill>
          <a:blip r:embed="rId3"/>
          <a:srcRect l="-56" r="-56"/>
          <a:stretch/>
        </p:blipFill>
        <p:spPr>
          <a:xfrm>
            <a:off x="1333500" y="1587500"/>
            <a:ext cx="9525000" cy="3822700"/>
          </a:xfrm>
          <a:prstGeom prst="rect">
            <a:avLst/>
          </a:prstGeom>
        </p:spPr>
      </p:pic>
      <p:sp>
        <p:nvSpPr>
          <p:cNvPr id="6" name="Text 3"/>
          <p:cNvSpPr/>
          <p:nvPr/>
        </p:nvSpPr>
        <p:spPr>
          <a:xfrm>
            <a:off x="1016000" y="5499100"/>
            <a:ext cx="3531870"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000000"/>
                </a:solidFill>
                <a:latin typeface="Lato" pitchFamily="34" charset="0"/>
                <a:ea typeface="Lato" pitchFamily="34" charset="-122"/>
                <a:cs typeface="Lato" pitchFamily="34" charset="-120"/>
              </a:rPr>
              <a:t>1 · Initial response:</a:t>
            </a:r>
            <a:r>
              <a:rPr lang="en-US" sz="1300" dirty="0">
                <a:solidFill>
                  <a:srgbClr val="000000"/>
                </a:solidFill>
                <a:latin typeface="Lato" pitchFamily="34" charset="0"/>
                <a:ea typeface="Lato" pitchFamily="34" charset="-122"/>
                <a:cs typeface="Lato" pitchFamily="34" charset="-120"/>
              </a:rPr>
              <a:t> answer as usual and list the object words</a:t>
            </a:r>
            <a:endParaRPr lang="en-US" sz="1300" dirty="0"/>
          </a:p>
        </p:txBody>
      </p:sp>
      <p:sp>
        <p:nvSpPr>
          <p:cNvPr id="7" name="Text 4"/>
          <p:cNvSpPr/>
          <p:nvPr/>
        </p:nvSpPr>
        <p:spPr>
          <a:xfrm>
            <a:off x="4699000" y="5499100"/>
            <a:ext cx="3531870"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C00000"/>
                </a:solidFill>
                <a:latin typeface="Lato" pitchFamily="34" charset="0"/>
                <a:ea typeface="Lato" pitchFamily="34" charset="-122"/>
                <a:cs typeface="Lato" pitchFamily="34" charset="-120"/>
              </a:rPr>
              <a:t>2 · Find culprits:</a:t>
            </a:r>
            <a:r>
              <a:rPr lang="en-US" sz="1300" dirty="0">
                <a:solidFill>
                  <a:srgbClr val="C00000"/>
                </a:solidFill>
                <a:latin typeface="Lato" pitchFamily="34" charset="0"/>
                <a:ea typeface="Lato" pitchFamily="34" charset="-122"/>
                <a:cs typeface="Lato" pitchFamily="34" charset="-120"/>
              </a:rPr>
              <a:t> zero each object's top tokens and see which objects vanish</a:t>
            </a:r>
            <a:endParaRPr lang="en-US" sz="1300" dirty="0"/>
          </a:p>
        </p:txBody>
      </p:sp>
      <p:sp>
        <p:nvSpPr>
          <p:cNvPr id="8" name="Text 5"/>
          <p:cNvSpPr/>
          <p:nvPr/>
        </p:nvSpPr>
        <p:spPr>
          <a:xfrm>
            <a:off x="8382000" y="5499100"/>
            <a:ext cx="3531870"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2F5597"/>
                </a:solidFill>
                <a:latin typeface="Lato" pitchFamily="34" charset="0"/>
                <a:ea typeface="Lato" pitchFamily="34" charset="-122"/>
                <a:cs typeface="Lato" pitchFamily="34" charset="-120"/>
              </a:rPr>
              <a:t>3 · Final response:</a:t>
            </a:r>
            <a:r>
              <a:rPr lang="en-US" sz="1300" dirty="0">
                <a:solidFill>
                  <a:srgbClr val="2F5597"/>
                </a:solidFill>
                <a:latin typeface="Lato" pitchFamily="34" charset="0"/>
                <a:ea typeface="Lato" pitchFamily="34" charset="-122"/>
                <a:cs typeface="Lato" pitchFamily="34" charset="-120"/>
              </a:rPr>
              <a:t> zero all candidate HITs and answer again</a:t>
            </a:r>
            <a:endParaRPr lang="en-US" sz="1300" dirty="0"/>
          </a:p>
        </p:txBody>
      </p:sp>
      <p:sp>
        <p:nvSpPr>
          <p:cNvPr id="9" name="Text 6"/>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10" name="Text 7"/>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13 / 33</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Results: Mitigation and Detection</a:t>
            </a:r>
            <a:endParaRPr lang="en-US" sz="3200" dirty="0"/>
          </a:p>
        </p:txBody>
      </p:sp>
      <p:sp>
        <p:nvSpPr>
          <p:cNvPr id="4" name="Text 2"/>
          <p:cNvSpPr/>
          <p:nvPr/>
        </p:nvSpPr>
        <p:spPr>
          <a:xfrm>
            <a:off x="508000" y="1026120"/>
            <a:ext cx="11511280" cy="368300"/>
          </a:xfrm>
          <a:prstGeom prst="rect">
            <a:avLst/>
          </a:prstGeom>
          <a:noFill/>
          <a:ln/>
        </p:spPr>
        <p:txBody>
          <a:bodyPr wrap="square" lIns="0" tIns="0" rIns="0" bIns="0" rtlCol="0" anchor="t">
            <a:normAutofit/>
          </a:bodyPr>
          <a:lstStyle/>
          <a:p>
            <a:pPr marL="0" indent="0" algn="l">
              <a:lnSpc>
                <a:spcPts val="2700"/>
              </a:lnSpc>
              <a:buNone/>
            </a:pPr>
            <a:r>
              <a:rPr lang="en-US" sz="2000" b="1" dirty="0">
                <a:solidFill>
                  <a:srgbClr val="000000"/>
                </a:solidFill>
                <a:latin typeface="Lato" pitchFamily="34" charset="0"/>
                <a:ea typeface="Lato" pitchFamily="34" charset="-122"/>
                <a:cs typeface="Lato" pitchFamily="34" charset="-120"/>
              </a:rPr>
              <a:t>Results:</a:t>
            </a:r>
            <a:r>
              <a:rPr lang="en-US" sz="2000" dirty="0">
                <a:solidFill>
                  <a:srgbClr val="000000"/>
                </a:solidFill>
                <a:latin typeface="Lato" pitchFamily="34" charset="0"/>
                <a:ea typeface="Lato" pitchFamily="34" charset="-122"/>
                <a:cs typeface="Lato" pitchFamily="34" charset="-120"/>
              </a:rPr>
              <a:t> EAZY achieves </a:t>
            </a:r>
            <a:r>
              <a:rPr lang="en-US" sz="2000" u="sng" dirty="0">
                <a:solidFill>
                  <a:srgbClr val="C00000"/>
                </a:solidFill>
                <a:latin typeface="Lato" pitchFamily="34" charset="0"/>
                <a:ea typeface="Lato" pitchFamily="34" charset="-122"/>
                <a:cs typeface="Lato" pitchFamily="34" charset="-120"/>
              </a:rPr>
              <a:t>state-of-the-art</a:t>
            </a:r>
            <a:r>
              <a:rPr lang="en-US" sz="2000" dirty="0">
                <a:solidFill>
                  <a:srgbClr val="000000"/>
                </a:solidFill>
                <a:latin typeface="Lato" pitchFamily="34" charset="0"/>
                <a:ea typeface="Lato" pitchFamily="34" charset="-122"/>
                <a:cs typeface="Lato" pitchFamily="34" charset="-120"/>
              </a:rPr>
              <a:t> hallucination mitigation and detection</a:t>
            </a:r>
            <a:endParaRPr lang="en-US" sz="2000" dirty="0"/>
          </a:p>
        </p:txBody>
      </p:sp>
      <p:sp>
        <p:nvSpPr>
          <p:cNvPr id="5" name="Text 3"/>
          <p:cNvSpPr/>
          <p:nvPr/>
        </p:nvSpPr>
        <p:spPr>
          <a:xfrm>
            <a:off x="1714500" y="1919089"/>
            <a:ext cx="2032000" cy="240010"/>
          </a:xfrm>
          <a:custGeom>
            <a:avLst/>
            <a:gdLst/>
            <a:ahLst/>
            <a:cxnLst/>
            <a:rect l="l" t="t" r="r" b="b"/>
            <a:pathLst>
              <a:path w="2032000" h="240010">
                <a:moveTo>
                  <a:pt x="50800" y="0"/>
                </a:moveTo>
                <a:lnTo>
                  <a:pt x="1981200" y="0"/>
                </a:lnTo>
                <a:arcTo wR="50800" hR="50800" stAng="16200000" swAng="5400000"/>
                <a:lnTo>
                  <a:pt x="2032000" y="240010"/>
                </a:lnTo>
                <a:lnTo>
                  <a:pt x="0" y="240010"/>
                </a:lnTo>
                <a:lnTo>
                  <a:pt x="0" y="50800"/>
                </a:lnTo>
                <a:arcTo wR="50800" hR="50800" stAng="10800000" swAng="5400000"/>
                <a:close/>
              </a:path>
            </a:pathLst>
          </a:custGeom>
          <a:solidFill>
            <a:srgbClr val="E8EEF8"/>
          </a:solidFill>
          <a:ln/>
        </p:spPr>
        <p:txBody>
          <a:bodyPr wrap="square" lIns="0" tIns="0" rIns="0" bIns="0" rtlCol="0" anchor="t">
            <a:normAutofit/>
          </a:bodyPr>
          <a:lstStyle/>
          <a:p>
            <a:pPr marL="0" indent="0" algn="ctr">
              <a:lnSpc>
                <a:spcPts val="1890"/>
              </a:lnSpc>
              <a:buNone/>
            </a:pPr>
            <a:r>
              <a:rPr lang="en-US" sz="1400" b="1" dirty="0">
                <a:solidFill>
                  <a:srgbClr val="555555"/>
                </a:solidFill>
                <a:latin typeface="Lato" pitchFamily="34" charset="0"/>
                <a:ea typeface="Lato" pitchFamily="34" charset="-122"/>
                <a:cs typeface="Lato" pitchFamily="34" charset="-120"/>
              </a:rPr>
              <a:t>LLaVA-1.5</a:t>
            </a:r>
            <a:endParaRPr lang="en-US" sz="1400" dirty="0"/>
          </a:p>
        </p:txBody>
      </p:sp>
      <p:sp>
        <p:nvSpPr>
          <p:cNvPr id="6" name="Text 4"/>
          <p:cNvSpPr/>
          <p:nvPr/>
        </p:nvSpPr>
        <p:spPr>
          <a:xfrm>
            <a:off x="3740150" y="1919089"/>
            <a:ext cx="2032000" cy="240010"/>
          </a:xfrm>
          <a:custGeom>
            <a:avLst/>
            <a:gdLst/>
            <a:ahLst/>
            <a:cxnLst/>
            <a:rect l="l" t="t" r="r" b="b"/>
            <a:pathLst>
              <a:path w="2032000" h="240010">
                <a:moveTo>
                  <a:pt x="50800" y="0"/>
                </a:moveTo>
                <a:lnTo>
                  <a:pt x="1981200" y="0"/>
                </a:lnTo>
                <a:arcTo wR="50800" hR="50800" stAng="16200000" swAng="5400000"/>
                <a:lnTo>
                  <a:pt x="2032000" y="240010"/>
                </a:lnTo>
                <a:lnTo>
                  <a:pt x="0" y="240010"/>
                </a:lnTo>
                <a:lnTo>
                  <a:pt x="0" y="50800"/>
                </a:lnTo>
                <a:arcTo wR="50800" hR="50800" stAng="10800000" swAng="5400000"/>
                <a:close/>
              </a:path>
            </a:pathLst>
          </a:custGeom>
          <a:solidFill>
            <a:srgbClr val="E8EEF8"/>
          </a:solidFill>
          <a:ln/>
        </p:spPr>
        <p:txBody>
          <a:bodyPr wrap="square" lIns="0" tIns="0" rIns="0" bIns="0" rtlCol="0" anchor="t">
            <a:normAutofit/>
          </a:bodyPr>
          <a:lstStyle/>
          <a:p>
            <a:pPr marL="0" indent="0" algn="ctr">
              <a:lnSpc>
                <a:spcPts val="1890"/>
              </a:lnSpc>
              <a:buNone/>
            </a:pPr>
            <a:r>
              <a:rPr lang="en-US" sz="1400" b="1" dirty="0">
                <a:solidFill>
                  <a:srgbClr val="555555"/>
                </a:solidFill>
                <a:latin typeface="Lato" pitchFamily="34" charset="0"/>
                <a:ea typeface="Lato" pitchFamily="34" charset="-122"/>
                <a:cs typeface="Lato" pitchFamily="34" charset="-120"/>
              </a:rPr>
              <a:t>Shikra</a:t>
            </a:r>
            <a:endParaRPr lang="en-US" sz="1400" dirty="0"/>
          </a:p>
        </p:txBody>
      </p:sp>
      <p:sp>
        <p:nvSpPr>
          <p:cNvPr id="7" name="Text 5"/>
          <p:cNvSpPr/>
          <p:nvPr/>
        </p:nvSpPr>
        <p:spPr>
          <a:xfrm>
            <a:off x="5772150" y="1919089"/>
            <a:ext cx="2032000" cy="240010"/>
          </a:xfrm>
          <a:custGeom>
            <a:avLst/>
            <a:gdLst/>
            <a:ahLst/>
            <a:cxnLst/>
            <a:rect l="l" t="t" r="r" b="b"/>
            <a:pathLst>
              <a:path w="2032000" h="240010">
                <a:moveTo>
                  <a:pt x="50800" y="0"/>
                </a:moveTo>
                <a:lnTo>
                  <a:pt x="1981200" y="0"/>
                </a:lnTo>
                <a:arcTo wR="50800" hR="50800" stAng="16200000" swAng="5400000"/>
                <a:lnTo>
                  <a:pt x="2032000" y="240010"/>
                </a:lnTo>
                <a:lnTo>
                  <a:pt x="0" y="240010"/>
                </a:lnTo>
                <a:lnTo>
                  <a:pt x="0" y="50800"/>
                </a:lnTo>
                <a:arcTo wR="50800" hR="50800" stAng="10800000" swAng="5400000"/>
                <a:close/>
              </a:path>
            </a:pathLst>
          </a:custGeom>
          <a:solidFill>
            <a:srgbClr val="E8EEF8"/>
          </a:solidFill>
          <a:ln/>
        </p:spPr>
        <p:txBody>
          <a:bodyPr wrap="square" lIns="0" tIns="0" rIns="0" bIns="0" rtlCol="0" anchor="t">
            <a:normAutofit/>
          </a:bodyPr>
          <a:lstStyle/>
          <a:p>
            <a:pPr marL="0" indent="0" algn="ctr">
              <a:lnSpc>
                <a:spcPts val="1890"/>
              </a:lnSpc>
              <a:buNone/>
            </a:pPr>
            <a:r>
              <a:rPr lang="en-US" sz="1400" b="1" dirty="0">
                <a:solidFill>
                  <a:srgbClr val="555555"/>
                </a:solidFill>
                <a:latin typeface="Lato" pitchFamily="34" charset="0"/>
                <a:ea typeface="Lato" pitchFamily="34" charset="-122"/>
                <a:cs typeface="Lato" pitchFamily="34" charset="-120"/>
              </a:rPr>
              <a:t>LLaVA-Next</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20700" y="2173089"/>
          <a:ext cx="7289798" cy="3306760"/>
        </p:xfrm>
        <a:graphic>
          <a:graphicData uri="http://schemas.openxmlformats.org/drawingml/2006/table">
            <a:tbl>
              <a:tblPr/>
              <a:tblGrid>
                <a:gridCol w="1226996">
                  <a:extLst>
                    <a:ext uri="{9D8B030D-6E8A-4147-A177-3AD203B41FA5}">
                      <a16:colId xmlns:a16="http://schemas.microsoft.com/office/drawing/2014/main" val="20000"/>
                    </a:ext>
                  </a:extLst>
                </a:gridCol>
                <a:gridCol w="1010467">
                  <a:extLst>
                    <a:ext uri="{9D8B030D-6E8A-4147-A177-3AD203B41FA5}">
                      <a16:colId xmlns:a16="http://schemas.microsoft.com/office/drawing/2014/main" val="20001"/>
                    </a:ext>
                  </a:extLst>
                </a:gridCol>
                <a:gridCol w="1010467">
                  <a:extLst>
                    <a:ext uri="{9D8B030D-6E8A-4147-A177-3AD203B41FA5}">
                      <a16:colId xmlns:a16="http://schemas.microsoft.com/office/drawing/2014/main" val="20002"/>
                    </a:ext>
                  </a:extLst>
                </a:gridCol>
                <a:gridCol w="1010467">
                  <a:extLst>
                    <a:ext uri="{9D8B030D-6E8A-4147-A177-3AD203B41FA5}">
                      <a16:colId xmlns:a16="http://schemas.microsoft.com/office/drawing/2014/main" val="20003"/>
                    </a:ext>
                  </a:extLst>
                </a:gridCol>
                <a:gridCol w="1010467">
                  <a:extLst>
                    <a:ext uri="{9D8B030D-6E8A-4147-A177-3AD203B41FA5}">
                      <a16:colId xmlns:a16="http://schemas.microsoft.com/office/drawing/2014/main" val="20004"/>
                    </a:ext>
                  </a:extLst>
                </a:gridCol>
                <a:gridCol w="1010467">
                  <a:extLst>
                    <a:ext uri="{9D8B030D-6E8A-4147-A177-3AD203B41FA5}">
                      <a16:colId xmlns:a16="http://schemas.microsoft.com/office/drawing/2014/main" val="20005"/>
                    </a:ext>
                  </a:extLst>
                </a:gridCol>
                <a:gridCol w="1010467">
                  <a:extLst>
                    <a:ext uri="{9D8B030D-6E8A-4147-A177-3AD203B41FA5}">
                      <a16:colId xmlns:a16="http://schemas.microsoft.com/office/drawing/2014/main" val="20006"/>
                    </a:ext>
                  </a:extLst>
                </a:gridCol>
              </a:tblGrid>
              <a:tr h="413345">
                <a:tc>
                  <a:txBody>
                    <a:bodyPr/>
                    <a:lstStyle/>
                    <a:p>
                      <a:pPr marL="0" indent="0">
                        <a:lnSpc>
                          <a:spcPts val="1820"/>
                        </a:lnSpc>
                        <a:buNone/>
                      </a:pPr>
                      <a:r>
                        <a:rPr lang="en-US" sz="1300" b="1" dirty="0">
                          <a:solidFill>
                            <a:srgbClr val="000000"/>
                          </a:solidFill>
                          <a:latin typeface="Lato" pitchFamily="34" charset="0"/>
                          <a:ea typeface="Lato" pitchFamily="34" charset="-122"/>
                          <a:cs typeface="Lato" pitchFamily="34" charset="-120"/>
                        </a:rPr>
                        <a:t>Method</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B0B8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8C1"/>
                      </a:solidFill>
                      <a:prstDash val="solid"/>
                      <a:round/>
                      <a:headEnd type="none" w="med" len="med"/>
                      <a:tailEnd type="none" w="med" len="med"/>
                    </a:lnB>
                    <a:solidFill>
                      <a:srgbClr val="DCE6F2"/>
                    </a:solidFill>
                  </a:tcPr>
                </a:tc>
                <a:tc>
                  <a:txBody>
                    <a:bodyPr/>
                    <a:lstStyle/>
                    <a:p>
                      <a:pPr marL="0" indent="0" algn="ctr">
                        <a:lnSpc>
                          <a:spcPts val="1820"/>
                        </a:lnSpc>
                        <a:buNone/>
                      </a:pPr>
                      <a:r>
                        <a:rPr lang="en-US" sz="1300" b="1" dirty="0">
                          <a:solidFill>
                            <a:srgbClr val="000000"/>
                          </a:solidFill>
                          <a:latin typeface="Lato" pitchFamily="34" charset="0"/>
                          <a:ea typeface="Lato" pitchFamily="34" charset="-122"/>
                          <a:cs typeface="Lato" pitchFamily="34" charset="-120"/>
                        </a:rPr>
                        <a:t>CHAIR_S ↓</a:t>
                      </a:r>
                      <a:endParaRPr lang="en-US" sz="1300" dirty="0">
                        <a:latin typeface="Lato" charset="0"/>
                        <a:ea typeface="Lato" charset="0"/>
                        <a:cs typeface="Lato" charset="0"/>
                      </a:endParaRPr>
                    </a:p>
                  </a:txBody>
                  <a:tcPr marL="50800" marR="50800" marT="88900" marB="88900">
                    <a:lnL w="12700" cap="flat" cmpd="sng" algn="ctr">
                      <a:solidFill>
                        <a:srgbClr val="B0B8C1"/>
                      </a:solidFill>
                      <a:prstDash val="solid"/>
                      <a:round/>
                      <a:headEnd type="none" w="med" len="med"/>
                      <a:tailEnd type="none" w="med" len="med"/>
                    </a:lnL>
                    <a:lnR w="12700" cap="flat" cmpd="sng" algn="ctr">
                      <a:solidFill>
                        <a:srgbClr val="B0B8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8C1"/>
                      </a:solidFill>
                      <a:prstDash val="solid"/>
                      <a:round/>
                      <a:headEnd type="none" w="med" len="med"/>
                      <a:tailEnd type="none" w="med" len="med"/>
                    </a:lnB>
                    <a:solidFill>
                      <a:srgbClr val="DCE6F2"/>
                    </a:solidFill>
                  </a:tcPr>
                </a:tc>
                <a:tc>
                  <a:txBody>
                    <a:bodyPr/>
                    <a:lstStyle/>
                    <a:p>
                      <a:pPr marL="0" indent="0" algn="ctr">
                        <a:lnSpc>
                          <a:spcPts val="1820"/>
                        </a:lnSpc>
                        <a:buNone/>
                      </a:pPr>
                      <a:r>
                        <a:rPr lang="en-US" sz="1300" b="1" dirty="0">
                          <a:solidFill>
                            <a:srgbClr val="000000"/>
                          </a:solidFill>
                          <a:latin typeface="Lato" pitchFamily="34" charset="0"/>
                          <a:ea typeface="Lato" pitchFamily="34" charset="-122"/>
                          <a:cs typeface="Lato" pitchFamily="34" charset="-120"/>
                        </a:rPr>
                        <a:t>CHAIR_I ↓</a:t>
                      </a:r>
                      <a:endParaRPr lang="en-US" sz="1300" dirty="0">
                        <a:latin typeface="Lato" charset="0"/>
                        <a:ea typeface="Lato" charset="0"/>
                        <a:cs typeface="Lato" charset="0"/>
                      </a:endParaRPr>
                    </a:p>
                  </a:txBody>
                  <a:tcPr marL="50800" marR="50800" marT="88900" marB="88900">
                    <a:lnL w="12700" cap="flat" cmpd="sng" algn="ctr">
                      <a:solidFill>
                        <a:srgbClr val="B0B8C1"/>
                      </a:solidFill>
                      <a:prstDash val="solid"/>
                      <a:round/>
                      <a:headEnd type="none" w="med" len="med"/>
                      <a:tailEnd type="none" w="med" len="med"/>
                    </a:lnL>
                    <a:lnR w="12700" cap="flat" cmpd="sng" algn="ctr">
                      <a:solidFill>
                        <a:srgbClr val="B0B8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8C1"/>
                      </a:solidFill>
                      <a:prstDash val="solid"/>
                      <a:round/>
                      <a:headEnd type="none" w="med" len="med"/>
                      <a:tailEnd type="none" w="med" len="med"/>
                    </a:lnB>
                    <a:solidFill>
                      <a:srgbClr val="DCE6F2"/>
                    </a:solidFill>
                  </a:tcPr>
                </a:tc>
                <a:tc>
                  <a:txBody>
                    <a:bodyPr/>
                    <a:lstStyle/>
                    <a:p>
                      <a:pPr marL="0" indent="0" algn="ctr">
                        <a:lnSpc>
                          <a:spcPts val="1820"/>
                        </a:lnSpc>
                        <a:buNone/>
                      </a:pPr>
                      <a:r>
                        <a:rPr lang="en-US" sz="1300" b="1" dirty="0">
                          <a:solidFill>
                            <a:srgbClr val="000000"/>
                          </a:solidFill>
                          <a:latin typeface="Lato" pitchFamily="34" charset="0"/>
                          <a:ea typeface="Lato" pitchFamily="34" charset="-122"/>
                          <a:cs typeface="Lato" pitchFamily="34" charset="-120"/>
                        </a:rPr>
                        <a:t>CHAIR_S ↓</a:t>
                      </a:r>
                      <a:endParaRPr lang="en-US" sz="1300" dirty="0">
                        <a:latin typeface="Lato" charset="0"/>
                        <a:ea typeface="Lato" charset="0"/>
                        <a:cs typeface="Lato" charset="0"/>
                      </a:endParaRPr>
                    </a:p>
                  </a:txBody>
                  <a:tcPr marL="50800" marR="50800" marT="88900" marB="88900">
                    <a:lnL w="12700" cap="flat" cmpd="sng" algn="ctr">
                      <a:solidFill>
                        <a:srgbClr val="B0B8C1"/>
                      </a:solidFill>
                      <a:prstDash val="solid"/>
                      <a:round/>
                      <a:headEnd type="none" w="med" len="med"/>
                      <a:tailEnd type="none" w="med" len="med"/>
                    </a:lnL>
                    <a:lnR w="12700" cap="flat" cmpd="sng" algn="ctr">
                      <a:solidFill>
                        <a:srgbClr val="B0B8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8C1"/>
                      </a:solidFill>
                      <a:prstDash val="solid"/>
                      <a:round/>
                      <a:headEnd type="none" w="med" len="med"/>
                      <a:tailEnd type="none" w="med" len="med"/>
                    </a:lnB>
                    <a:solidFill>
                      <a:srgbClr val="DCE6F2"/>
                    </a:solidFill>
                  </a:tcPr>
                </a:tc>
                <a:tc>
                  <a:txBody>
                    <a:bodyPr/>
                    <a:lstStyle/>
                    <a:p>
                      <a:pPr marL="0" indent="0" algn="ctr">
                        <a:lnSpc>
                          <a:spcPts val="1820"/>
                        </a:lnSpc>
                        <a:buNone/>
                      </a:pPr>
                      <a:r>
                        <a:rPr lang="en-US" sz="1300" b="1" dirty="0">
                          <a:solidFill>
                            <a:srgbClr val="000000"/>
                          </a:solidFill>
                          <a:latin typeface="Lato" pitchFamily="34" charset="0"/>
                          <a:ea typeface="Lato" pitchFamily="34" charset="-122"/>
                          <a:cs typeface="Lato" pitchFamily="34" charset="-120"/>
                        </a:rPr>
                        <a:t>CHAIR_I ↓</a:t>
                      </a:r>
                      <a:endParaRPr lang="en-US" sz="1300" dirty="0">
                        <a:latin typeface="Lato" charset="0"/>
                        <a:ea typeface="Lato" charset="0"/>
                        <a:cs typeface="Lato" charset="0"/>
                      </a:endParaRPr>
                    </a:p>
                  </a:txBody>
                  <a:tcPr marL="50800" marR="50800" marT="88900" marB="88900">
                    <a:lnL w="12700" cap="flat" cmpd="sng" algn="ctr">
                      <a:solidFill>
                        <a:srgbClr val="B0B8C1"/>
                      </a:solidFill>
                      <a:prstDash val="solid"/>
                      <a:round/>
                      <a:headEnd type="none" w="med" len="med"/>
                      <a:tailEnd type="none" w="med" len="med"/>
                    </a:lnL>
                    <a:lnR w="12700" cap="flat" cmpd="sng" algn="ctr">
                      <a:solidFill>
                        <a:srgbClr val="B0B8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8C1"/>
                      </a:solidFill>
                      <a:prstDash val="solid"/>
                      <a:round/>
                      <a:headEnd type="none" w="med" len="med"/>
                      <a:tailEnd type="none" w="med" len="med"/>
                    </a:lnB>
                    <a:solidFill>
                      <a:srgbClr val="DCE6F2"/>
                    </a:solidFill>
                  </a:tcPr>
                </a:tc>
                <a:tc>
                  <a:txBody>
                    <a:bodyPr/>
                    <a:lstStyle/>
                    <a:p>
                      <a:pPr marL="0" indent="0" algn="ctr">
                        <a:lnSpc>
                          <a:spcPts val="1820"/>
                        </a:lnSpc>
                        <a:buNone/>
                      </a:pPr>
                      <a:r>
                        <a:rPr lang="en-US" sz="1300" b="1" dirty="0">
                          <a:solidFill>
                            <a:srgbClr val="000000"/>
                          </a:solidFill>
                          <a:latin typeface="Lato" pitchFamily="34" charset="0"/>
                          <a:ea typeface="Lato" pitchFamily="34" charset="-122"/>
                          <a:cs typeface="Lato" pitchFamily="34" charset="-120"/>
                        </a:rPr>
                        <a:t>CHAIR_S ↓</a:t>
                      </a:r>
                      <a:endParaRPr lang="en-US" sz="1300" dirty="0">
                        <a:latin typeface="Lato" charset="0"/>
                        <a:ea typeface="Lato" charset="0"/>
                        <a:cs typeface="Lato" charset="0"/>
                      </a:endParaRPr>
                    </a:p>
                  </a:txBody>
                  <a:tcPr marL="50800" marR="50800" marT="88900" marB="88900">
                    <a:lnL w="12700" cap="flat" cmpd="sng" algn="ctr">
                      <a:solidFill>
                        <a:srgbClr val="B0B8C1"/>
                      </a:solidFill>
                      <a:prstDash val="solid"/>
                      <a:round/>
                      <a:headEnd type="none" w="med" len="med"/>
                      <a:tailEnd type="none" w="med" len="med"/>
                    </a:lnL>
                    <a:lnR w="12700" cap="flat" cmpd="sng" algn="ctr">
                      <a:solidFill>
                        <a:srgbClr val="B0B8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8C1"/>
                      </a:solidFill>
                      <a:prstDash val="solid"/>
                      <a:round/>
                      <a:headEnd type="none" w="med" len="med"/>
                      <a:tailEnd type="none" w="med" len="med"/>
                    </a:lnB>
                    <a:solidFill>
                      <a:srgbClr val="DCE6F2"/>
                    </a:solidFill>
                  </a:tcPr>
                </a:tc>
                <a:tc>
                  <a:txBody>
                    <a:bodyPr/>
                    <a:lstStyle/>
                    <a:p>
                      <a:pPr marL="0" indent="0" algn="ctr">
                        <a:lnSpc>
                          <a:spcPts val="1820"/>
                        </a:lnSpc>
                        <a:buNone/>
                      </a:pPr>
                      <a:r>
                        <a:rPr lang="en-US" sz="1300" b="1" dirty="0">
                          <a:solidFill>
                            <a:srgbClr val="000000"/>
                          </a:solidFill>
                          <a:latin typeface="Lato" pitchFamily="34" charset="0"/>
                          <a:ea typeface="Lato" pitchFamily="34" charset="-122"/>
                          <a:cs typeface="Lato" pitchFamily="34" charset="-120"/>
                        </a:rPr>
                        <a:t>CHAIR_I ↓</a:t>
                      </a:r>
                      <a:endParaRPr lang="en-US" sz="1300" dirty="0">
                        <a:latin typeface="Lato" charset="0"/>
                        <a:ea typeface="Lato" charset="0"/>
                        <a:cs typeface="Lato" charset="0"/>
                      </a:endParaRPr>
                    </a:p>
                  </a:txBody>
                  <a:tcPr marL="50800" marR="50800" marT="88900" marB="88900">
                    <a:lnL w="12700" cap="flat" cmpd="sng" algn="ctr">
                      <a:solidFill>
                        <a:srgbClr val="B0B8C1"/>
                      </a:solidFill>
                      <a:prstDash val="solid"/>
                      <a:round/>
                      <a:headEnd type="none" w="med" len="med"/>
                      <a:tailEnd type="none" w="med" len="med"/>
                    </a:lnL>
                    <a:lnR w="12700" cap="flat" cmpd="sng" algn="ctr">
                      <a:solidFill>
                        <a:srgbClr val="B0B8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8C1"/>
                      </a:solidFill>
                      <a:prstDash val="solid"/>
                      <a:round/>
                      <a:headEnd type="none" w="med" len="med"/>
                      <a:tailEnd type="none" w="med" len="med"/>
                    </a:lnB>
                    <a:solidFill>
                      <a:srgbClr val="DCE6F2"/>
                    </a:solidFill>
                  </a:tcPr>
                </a:tc>
                <a:extLst>
                  <a:ext uri="{0D108BD9-81ED-4DB2-BD59-A6C34878D82A}">
                    <a16:rowId xmlns:a16="http://schemas.microsoft.com/office/drawing/2014/main" val="10000"/>
                  </a:ext>
                </a:extLst>
              </a:tr>
              <a:tr h="413345">
                <a:tc>
                  <a:txBody>
                    <a:bodyPr/>
                    <a:lstStyle/>
                    <a:p>
                      <a:pPr marL="0" indent="0">
                        <a:lnSpc>
                          <a:spcPts val="1820"/>
                        </a:lnSpc>
                        <a:buNone/>
                      </a:pPr>
                      <a:r>
                        <a:rPr lang="en-US" sz="1300" dirty="0">
                          <a:solidFill>
                            <a:srgbClr val="000000"/>
                          </a:solidFill>
                          <a:latin typeface="Lato" pitchFamily="34" charset="0"/>
                          <a:ea typeface="Lato" pitchFamily="34" charset="-122"/>
                          <a:cs typeface="Lato" pitchFamily="34" charset="-120"/>
                        </a:rPr>
                        <a:t>Greedy</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8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49.6</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8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14.4</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8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55.8</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8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15.4</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8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32.8</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8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9.1</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8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413345">
                <a:tc>
                  <a:txBody>
                    <a:bodyPr/>
                    <a:lstStyle/>
                    <a:p>
                      <a:pPr marL="0" indent="0">
                        <a:lnSpc>
                          <a:spcPts val="1820"/>
                        </a:lnSpc>
                        <a:buNone/>
                      </a:pPr>
                      <a:r>
                        <a:rPr lang="en-US" sz="1300" dirty="0">
                          <a:solidFill>
                            <a:srgbClr val="000000"/>
                          </a:solidFill>
                          <a:latin typeface="Lato" pitchFamily="34" charset="0"/>
                          <a:ea typeface="Lato" pitchFamily="34" charset="-122"/>
                          <a:cs typeface="Lato" pitchFamily="34" charset="-120"/>
                        </a:rPr>
                        <a:t>Beam Search</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46.3</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12.9</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50.4</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13.3</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33.0</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9.2</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413345">
                <a:tc>
                  <a:txBody>
                    <a:bodyPr/>
                    <a:lstStyle/>
                    <a:p>
                      <a:pPr marL="0" indent="0">
                        <a:lnSpc>
                          <a:spcPts val="1820"/>
                        </a:lnSpc>
                        <a:buNone/>
                      </a:pPr>
                      <a:r>
                        <a:rPr lang="en-US" sz="1300" dirty="0">
                          <a:solidFill>
                            <a:srgbClr val="000000"/>
                          </a:solidFill>
                          <a:latin typeface="Lato" pitchFamily="34" charset="0"/>
                          <a:ea typeface="Lato" pitchFamily="34" charset="-122"/>
                          <a:cs typeface="Lato" pitchFamily="34" charset="-120"/>
                        </a:rPr>
                        <a:t>DoLa</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47.1</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13.8</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55.4</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15.7</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31.3</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9.0</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413345">
                <a:tc>
                  <a:txBody>
                    <a:bodyPr/>
                    <a:lstStyle/>
                    <a:p>
                      <a:pPr marL="0" indent="0">
                        <a:lnSpc>
                          <a:spcPts val="1820"/>
                        </a:lnSpc>
                        <a:buNone/>
                      </a:pPr>
                      <a:r>
                        <a:rPr lang="en-US" sz="1300" dirty="0">
                          <a:solidFill>
                            <a:srgbClr val="000000"/>
                          </a:solidFill>
                          <a:latin typeface="Lato" pitchFamily="34" charset="0"/>
                          <a:ea typeface="Lato" pitchFamily="34" charset="-122"/>
                          <a:cs typeface="Lato" pitchFamily="34" charset="-120"/>
                        </a:rPr>
                        <a:t>VCD</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49.2</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14.8</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56.4</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15.5</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32.8</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8.9</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413345">
                <a:tc>
                  <a:txBody>
                    <a:bodyPr/>
                    <a:lstStyle/>
                    <a:p>
                      <a:pPr marL="0" indent="0">
                        <a:lnSpc>
                          <a:spcPts val="1820"/>
                        </a:lnSpc>
                        <a:buNone/>
                      </a:pPr>
                      <a:r>
                        <a:rPr lang="en-US" sz="1300" dirty="0">
                          <a:solidFill>
                            <a:srgbClr val="000000"/>
                          </a:solidFill>
                          <a:latin typeface="Lato" pitchFamily="34" charset="0"/>
                          <a:ea typeface="Lato" pitchFamily="34" charset="-122"/>
                          <a:cs typeface="Lato" pitchFamily="34" charset="-120"/>
                        </a:rPr>
                        <a:t>OPERA</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45.4</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12.7</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46.2</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13.1</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34.0</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8.7</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413345">
                <a:tc>
                  <a:txBody>
                    <a:bodyPr/>
                    <a:lstStyle/>
                    <a:p>
                      <a:pPr marL="0" indent="0">
                        <a:lnSpc>
                          <a:spcPts val="1820"/>
                        </a:lnSpc>
                        <a:buNone/>
                      </a:pPr>
                      <a:r>
                        <a:rPr lang="en-US" sz="1300" dirty="0">
                          <a:solidFill>
                            <a:srgbClr val="000000"/>
                          </a:solidFill>
                          <a:latin typeface="Lato" pitchFamily="34" charset="0"/>
                          <a:ea typeface="Lato" pitchFamily="34" charset="-122"/>
                          <a:cs typeface="Lato" pitchFamily="34" charset="-120"/>
                        </a:rPr>
                        <a:t>SID</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44.2</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12.2</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44.8</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12.8</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32.8</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8.3</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6"/>
                  </a:ext>
                </a:extLst>
              </a:tr>
              <a:tr h="413345">
                <a:tc>
                  <a:txBody>
                    <a:bodyPr/>
                    <a:lstStyle/>
                    <a:p>
                      <a:pPr marL="0" indent="0">
                        <a:lnSpc>
                          <a:spcPts val="1820"/>
                        </a:lnSpc>
                        <a:buNone/>
                      </a:pPr>
                      <a:r>
                        <a:rPr lang="en-US" sz="1300" dirty="0">
                          <a:solidFill>
                            <a:srgbClr val="C00000"/>
                          </a:solidFill>
                          <a:latin typeface="Lato" pitchFamily="34" charset="0"/>
                          <a:ea typeface="Lato" pitchFamily="34" charset="-122"/>
                          <a:cs typeface="Lato" pitchFamily="34" charset="-120"/>
                        </a:rPr>
                        <a:t>EAZY</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8BA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8BABC"/>
                      </a:solidFill>
                      <a:prstDash val="solid"/>
                      <a:round/>
                      <a:headEnd type="none" w="med" len="med"/>
                      <a:tailEnd type="none" w="med" len="med"/>
                    </a:lnB>
                    <a:solidFill>
                      <a:srgbClr val="FBE9EC"/>
                    </a:solidFill>
                  </a:tcPr>
                </a:tc>
                <a:tc>
                  <a:txBody>
                    <a:bodyPr/>
                    <a:lstStyle/>
                    <a:p>
                      <a:pPr marL="0" indent="0" algn="ctr">
                        <a:lnSpc>
                          <a:spcPts val="1820"/>
                        </a:lnSpc>
                        <a:buNone/>
                      </a:pPr>
                      <a:r>
                        <a:rPr lang="en-US" sz="1300" dirty="0">
                          <a:solidFill>
                            <a:srgbClr val="C00000"/>
                          </a:solidFill>
                          <a:latin typeface="Lato" pitchFamily="34" charset="0"/>
                          <a:ea typeface="Lato" pitchFamily="34" charset="-122"/>
                          <a:cs typeface="Lato" pitchFamily="34" charset="-120"/>
                        </a:rPr>
                        <a:t>38.8</a:t>
                      </a:r>
                      <a:endParaRPr lang="en-US" sz="1300" dirty="0">
                        <a:latin typeface="Lato" charset="0"/>
                        <a:ea typeface="Lato" charset="0"/>
                        <a:cs typeface="Lato" charset="0"/>
                      </a:endParaRPr>
                    </a:p>
                  </a:txBody>
                  <a:tcPr marL="50800" marR="50800" marT="88900" marB="88900">
                    <a:lnL w="12700" cap="flat" cmpd="sng" algn="ctr">
                      <a:solidFill>
                        <a:srgbClr val="C8BABC"/>
                      </a:solidFill>
                      <a:prstDash val="solid"/>
                      <a:round/>
                      <a:headEnd type="none" w="med" len="med"/>
                      <a:tailEnd type="none" w="med" len="med"/>
                    </a:lnL>
                    <a:lnR w="12700" cap="flat" cmpd="sng" algn="ctr">
                      <a:solidFill>
                        <a:srgbClr val="C8BA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8BABC"/>
                      </a:solidFill>
                      <a:prstDash val="solid"/>
                      <a:round/>
                      <a:headEnd type="none" w="med" len="med"/>
                      <a:tailEnd type="none" w="med" len="med"/>
                    </a:lnB>
                    <a:solidFill>
                      <a:srgbClr val="FBE9EC"/>
                    </a:solidFill>
                  </a:tcPr>
                </a:tc>
                <a:tc>
                  <a:txBody>
                    <a:bodyPr/>
                    <a:lstStyle/>
                    <a:p>
                      <a:pPr marL="0" indent="0" algn="ctr">
                        <a:lnSpc>
                          <a:spcPts val="1820"/>
                        </a:lnSpc>
                        <a:buNone/>
                      </a:pPr>
                      <a:r>
                        <a:rPr lang="en-US" sz="1300" dirty="0">
                          <a:solidFill>
                            <a:srgbClr val="C00000"/>
                          </a:solidFill>
                          <a:latin typeface="Lato" pitchFamily="34" charset="0"/>
                          <a:ea typeface="Lato" pitchFamily="34" charset="-122"/>
                          <a:cs typeface="Lato" pitchFamily="34" charset="-120"/>
                        </a:rPr>
                        <a:t>11.4</a:t>
                      </a:r>
                      <a:endParaRPr lang="en-US" sz="1300" dirty="0">
                        <a:latin typeface="Lato" charset="0"/>
                        <a:ea typeface="Lato" charset="0"/>
                        <a:cs typeface="Lato" charset="0"/>
                      </a:endParaRPr>
                    </a:p>
                  </a:txBody>
                  <a:tcPr marL="50800" marR="50800" marT="88900" marB="88900">
                    <a:lnL w="12700" cap="flat" cmpd="sng" algn="ctr">
                      <a:solidFill>
                        <a:srgbClr val="C8BABC"/>
                      </a:solidFill>
                      <a:prstDash val="solid"/>
                      <a:round/>
                      <a:headEnd type="none" w="med" len="med"/>
                      <a:tailEnd type="none" w="med" len="med"/>
                    </a:lnL>
                    <a:lnR w="12700" cap="flat" cmpd="sng" algn="ctr">
                      <a:solidFill>
                        <a:srgbClr val="C8BA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8BABC"/>
                      </a:solidFill>
                      <a:prstDash val="solid"/>
                      <a:round/>
                      <a:headEnd type="none" w="med" len="med"/>
                      <a:tailEnd type="none" w="med" len="med"/>
                    </a:lnB>
                    <a:solidFill>
                      <a:srgbClr val="FBE9EC"/>
                    </a:solidFill>
                  </a:tcPr>
                </a:tc>
                <a:tc>
                  <a:txBody>
                    <a:bodyPr/>
                    <a:lstStyle/>
                    <a:p>
                      <a:pPr marL="0" indent="0" algn="ctr">
                        <a:lnSpc>
                          <a:spcPts val="1820"/>
                        </a:lnSpc>
                        <a:buNone/>
                      </a:pPr>
                      <a:r>
                        <a:rPr lang="en-US" sz="1300" dirty="0">
                          <a:solidFill>
                            <a:srgbClr val="C00000"/>
                          </a:solidFill>
                          <a:latin typeface="Lato" pitchFamily="34" charset="0"/>
                          <a:ea typeface="Lato" pitchFamily="34" charset="-122"/>
                          <a:cs typeface="Lato" pitchFamily="34" charset="-120"/>
                        </a:rPr>
                        <a:t>26.6</a:t>
                      </a:r>
                      <a:endParaRPr lang="en-US" sz="1300" dirty="0">
                        <a:latin typeface="Lato" charset="0"/>
                        <a:ea typeface="Lato" charset="0"/>
                        <a:cs typeface="Lato" charset="0"/>
                      </a:endParaRPr>
                    </a:p>
                  </a:txBody>
                  <a:tcPr marL="50800" marR="50800" marT="88900" marB="88900">
                    <a:lnL w="12700" cap="flat" cmpd="sng" algn="ctr">
                      <a:solidFill>
                        <a:srgbClr val="C8BABC"/>
                      </a:solidFill>
                      <a:prstDash val="solid"/>
                      <a:round/>
                      <a:headEnd type="none" w="med" len="med"/>
                      <a:tailEnd type="none" w="med" len="med"/>
                    </a:lnL>
                    <a:lnR w="12700" cap="flat" cmpd="sng" algn="ctr">
                      <a:solidFill>
                        <a:srgbClr val="C8BA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8BABC"/>
                      </a:solidFill>
                      <a:prstDash val="solid"/>
                      <a:round/>
                      <a:headEnd type="none" w="med" len="med"/>
                      <a:tailEnd type="none" w="med" len="med"/>
                    </a:lnB>
                    <a:solidFill>
                      <a:srgbClr val="FBE9EC"/>
                    </a:solidFill>
                  </a:tcPr>
                </a:tc>
                <a:tc>
                  <a:txBody>
                    <a:bodyPr/>
                    <a:lstStyle/>
                    <a:p>
                      <a:pPr marL="0" indent="0" algn="ctr">
                        <a:lnSpc>
                          <a:spcPts val="1820"/>
                        </a:lnSpc>
                        <a:buNone/>
                      </a:pPr>
                      <a:r>
                        <a:rPr lang="en-US" sz="1300" dirty="0">
                          <a:solidFill>
                            <a:srgbClr val="C00000"/>
                          </a:solidFill>
                          <a:latin typeface="Lato" pitchFamily="34" charset="0"/>
                          <a:ea typeface="Lato" pitchFamily="34" charset="-122"/>
                          <a:cs typeface="Lato" pitchFamily="34" charset="-120"/>
                        </a:rPr>
                        <a:t>8.9</a:t>
                      </a:r>
                      <a:endParaRPr lang="en-US" sz="1300" dirty="0">
                        <a:latin typeface="Lato" charset="0"/>
                        <a:ea typeface="Lato" charset="0"/>
                        <a:cs typeface="Lato" charset="0"/>
                      </a:endParaRPr>
                    </a:p>
                  </a:txBody>
                  <a:tcPr marL="50800" marR="50800" marT="88900" marB="88900">
                    <a:lnL w="12700" cap="flat" cmpd="sng" algn="ctr">
                      <a:solidFill>
                        <a:srgbClr val="C8BABC"/>
                      </a:solidFill>
                      <a:prstDash val="solid"/>
                      <a:round/>
                      <a:headEnd type="none" w="med" len="med"/>
                      <a:tailEnd type="none" w="med" len="med"/>
                    </a:lnL>
                    <a:lnR w="12700" cap="flat" cmpd="sng" algn="ctr">
                      <a:solidFill>
                        <a:srgbClr val="C8BA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8BABC"/>
                      </a:solidFill>
                      <a:prstDash val="solid"/>
                      <a:round/>
                      <a:headEnd type="none" w="med" len="med"/>
                      <a:tailEnd type="none" w="med" len="med"/>
                    </a:lnB>
                    <a:solidFill>
                      <a:srgbClr val="FBE9EC"/>
                    </a:solidFill>
                  </a:tcPr>
                </a:tc>
                <a:tc>
                  <a:txBody>
                    <a:bodyPr/>
                    <a:lstStyle/>
                    <a:p>
                      <a:pPr marL="0" indent="0" algn="ctr">
                        <a:lnSpc>
                          <a:spcPts val="1820"/>
                        </a:lnSpc>
                        <a:buNone/>
                      </a:pPr>
                      <a:r>
                        <a:rPr lang="en-US" sz="1300" dirty="0">
                          <a:solidFill>
                            <a:srgbClr val="C00000"/>
                          </a:solidFill>
                          <a:latin typeface="Lato" pitchFamily="34" charset="0"/>
                          <a:ea typeface="Lato" pitchFamily="34" charset="-122"/>
                          <a:cs typeface="Lato" pitchFamily="34" charset="-120"/>
                        </a:rPr>
                        <a:t>26.8</a:t>
                      </a:r>
                      <a:endParaRPr lang="en-US" sz="1300" dirty="0">
                        <a:latin typeface="Lato" charset="0"/>
                        <a:ea typeface="Lato" charset="0"/>
                        <a:cs typeface="Lato" charset="0"/>
                      </a:endParaRPr>
                    </a:p>
                  </a:txBody>
                  <a:tcPr marL="50800" marR="50800" marT="88900" marB="88900">
                    <a:lnL w="12700" cap="flat" cmpd="sng" algn="ctr">
                      <a:solidFill>
                        <a:srgbClr val="C8BABC"/>
                      </a:solidFill>
                      <a:prstDash val="solid"/>
                      <a:round/>
                      <a:headEnd type="none" w="med" len="med"/>
                      <a:tailEnd type="none" w="med" len="med"/>
                    </a:lnL>
                    <a:lnR w="12700" cap="flat" cmpd="sng" algn="ctr">
                      <a:solidFill>
                        <a:srgbClr val="C8BA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8BABC"/>
                      </a:solidFill>
                      <a:prstDash val="solid"/>
                      <a:round/>
                      <a:headEnd type="none" w="med" len="med"/>
                      <a:tailEnd type="none" w="med" len="med"/>
                    </a:lnB>
                    <a:solidFill>
                      <a:srgbClr val="FBE9EC"/>
                    </a:solidFill>
                  </a:tcPr>
                </a:tc>
                <a:tc>
                  <a:txBody>
                    <a:bodyPr/>
                    <a:lstStyle/>
                    <a:p>
                      <a:pPr marL="0" indent="0" algn="ctr">
                        <a:lnSpc>
                          <a:spcPts val="1820"/>
                        </a:lnSpc>
                        <a:buNone/>
                      </a:pPr>
                      <a:r>
                        <a:rPr lang="en-US" sz="1300" dirty="0">
                          <a:solidFill>
                            <a:srgbClr val="C00000"/>
                          </a:solidFill>
                          <a:latin typeface="Lato" pitchFamily="34" charset="0"/>
                          <a:ea typeface="Lato" pitchFamily="34" charset="-122"/>
                          <a:cs typeface="Lato" pitchFamily="34" charset="-120"/>
                        </a:rPr>
                        <a:t>8.3</a:t>
                      </a:r>
                      <a:endParaRPr lang="en-US" sz="1300" dirty="0">
                        <a:latin typeface="Lato" charset="0"/>
                        <a:ea typeface="Lato" charset="0"/>
                        <a:cs typeface="Lato" charset="0"/>
                      </a:endParaRPr>
                    </a:p>
                  </a:txBody>
                  <a:tcPr marL="50800" marR="50800" marT="88900" marB="88900">
                    <a:lnL w="12700" cap="flat" cmpd="sng" algn="ctr">
                      <a:solidFill>
                        <a:srgbClr val="C8BABC"/>
                      </a:solidFill>
                      <a:prstDash val="solid"/>
                      <a:round/>
                      <a:headEnd type="none" w="med" len="med"/>
                      <a:tailEnd type="none" w="med" len="med"/>
                    </a:lnL>
                    <a:lnR w="12700" cap="flat" cmpd="sng" algn="ctr">
                      <a:solidFill>
                        <a:srgbClr val="C8BA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8BABC"/>
                      </a:solidFill>
                      <a:prstDash val="solid"/>
                      <a:round/>
                      <a:headEnd type="none" w="med" len="med"/>
                      <a:tailEnd type="none" w="med" len="med"/>
                    </a:lnB>
                    <a:solidFill>
                      <a:srgbClr val="FBE9EC"/>
                    </a:solidFill>
                  </a:tcPr>
                </a:tc>
                <a:extLst>
                  <a:ext uri="{0D108BD9-81ED-4DB2-BD59-A6C34878D82A}">
                    <a16:rowId xmlns:a16="http://schemas.microsoft.com/office/drawing/2014/main" val="10007"/>
                  </a:ext>
                </a:extLst>
              </a:tr>
            </a:tbl>
          </a:graphicData>
        </a:graphic>
      </p:graphicFrame>
      <p:sp>
        <p:nvSpPr>
          <p:cNvPr id="9" name="Text 6"/>
          <p:cNvSpPr/>
          <p:nvPr/>
        </p:nvSpPr>
        <p:spPr>
          <a:xfrm>
            <a:off x="398463" y="5479852"/>
            <a:ext cx="7521575" cy="231130"/>
          </a:xfrm>
          <a:prstGeom prst="rect">
            <a:avLst/>
          </a:prstGeom>
          <a:noFill/>
          <a:ln/>
        </p:spPr>
        <p:txBody>
          <a:bodyPr wrap="square" lIns="0" tIns="0" rIns="0" bIns="0" rtlCol="0" anchor="t">
            <a:normAutofit/>
          </a:bodyPr>
          <a:lstStyle/>
          <a:p>
            <a:pPr marL="0" indent="0" algn="ctr">
              <a:lnSpc>
                <a:spcPts val="1620"/>
              </a:lnSpc>
              <a:buNone/>
            </a:pPr>
            <a:r>
              <a:rPr lang="en-US" sz="1200" dirty="0">
                <a:solidFill>
                  <a:srgbClr val="555555"/>
                </a:solidFill>
                <a:latin typeface="Lato" pitchFamily="34" charset="0"/>
                <a:ea typeface="Lato" pitchFamily="34" charset="-122"/>
                <a:cs typeface="Lato" pitchFamily="34" charset="-120"/>
              </a:rPr>
              <a:t>Mitigation: CHAIR on 500 MSCOCO images</a:t>
            </a:r>
            <a:endParaRPr lang="en-US" sz="1200" dirty="0"/>
          </a:p>
        </p:txBody>
      </p:sp>
      <p:sp>
        <p:nvSpPr>
          <p:cNvPr id="10" name="Text 7"/>
          <p:cNvSpPr/>
          <p:nvPr/>
        </p:nvSpPr>
        <p:spPr>
          <a:xfrm>
            <a:off x="8115300" y="1919089"/>
            <a:ext cx="3568700" cy="240010"/>
          </a:xfrm>
          <a:custGeom>
            <a:avLst/>
            <a:gdLst/>
            <a:ahLst/>
            <a:cxnLst/>
            <a:rect l="l" t="t" r="r" b="b"/>
            <a:pathLst>
              <a:path w="3568700" h="240010">
                <a:moveTo>
                  <a:pt x="50800" y="0"/>
                </a:moveTo>
                <a:lnTo>
                  <a:pt x="3517900" y="0"/>
                </a:lnTo>
                <a:arcTo wR="50800" hR="50800" stAng="16200000" swAng="5400000"/>
                <a:lnTo>
                  <a:pt x="3568700" y="240010"/>
                </a:lnTo>
                <a:lnTo>
                  <a:pt x="0" y="240010"/>
                </a:lnTo>
                <a:lnTo>
                  <a:pt x="0" y="50800"/>
                </a:lnTo>
                <a:arcTo wR="50800" hR="50800" stAng="10800000" swAng="5400000"/>
                <a:close/>
              </a:path>
            </a:pathLst>
          </a:custGeom>
          <a:solidFill>
            <a:srgbClr val="E8EEF8"/>
          </a:solidFill>
          <a:ln/>
        </p:spPr>
        <p:txBody>
          <a:bodyPr wrap="square" lIns="0" tIns="0" rIns="0" bIns="0" rtlCol="0" anchor="t">
            <a:normAutofit/>
          </a:bodyPr>
          <a:lstStyle/>
          <a:p>
            <a:pPr marL="0" indent="0" algn="ctr">
              <a:lnSpc>
                <a:spcPts val="1890"/>
              </a:lnSpc>
              <a:buNone/>
            </a:pPr>
            <a:r>
              <a:rPr lang="en-US" sz="1400" b="1" dirty="0">
                <a:solidFill>
                  <a:srgbClr val="555555"/>
                </a:solidFill>
                <a:latin typeface="Lato" pitchFamily="34" charset="0"/>
                <a:ea typeface="Lato" pitchFamily="34" charset="-122"/>
                <a:cs typeface="Lato" pitchFamily="34" charset="-120"/>
              </a:rPr>
              <a:t>Detection on Hall-COCO, LLaVA-1.5</a:t>
            </a:r>
            <a:endParaRPr lang="en-US" sz="14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8128000" y="2171799"/>
          <a:ext cx="3556001" cy="1653380"/>
        </p:xfrm>
        <a:graphic>
          <a:graphicData uri="http://schemas.openxmlformats.org/drawingml/2006/table">
            <a:tbl>
              <a:tblPr/>
              <a:tblGrid>
                <a:gridCol w="739366">
                  <a:extLst>
                    <a:ext uri="{9D8B030D-6E8A-4147-A177-3AD203B41FA5}">
                      <a16:colId xmlns:a16="http://schemas.microsoft.com/office/drawing/2014/main" val="20000"/>
                    </a:ext>
                  </a:extLst>
                </a:gridCol>
                <a:gridCol w="563327">
                  <a:extLst>
                    <a:ext uri="{9D8B030D-6E8A-4147-A177-3AD203B41FA5}">
                      <a16:colId xmlns:a16="http://schemas.microsoft.com/office/drawing/2014/main" val="20001"/>
                    </a:ext>
                  </a:extLst>
                </a:gridCol>
                <a:gridCol w="563327">
                  <a:extLst>
                    <a:ext uri="{9D8B030D-6E8A-4147-A177-3AD203B41FA5}">
                      <a16:colId xmlns:a16="http://schemas.microsoft.com/office/drawing/2014/main" val="20002"/>
                    </a:ext>
                  </a:extLst>
                </a:gridCol>
                <a:gridCol w="563327">
                  <a:extLst>
                    <a:ext uri="{9D8B030D-6E8A-4147-A177-3AD203B41FA5}">
                      <a16:colId xmlns:a16="http://schemas.microsoft.com/office/drawing/2014/main" val="20003"/>
                    </a:ext>
                  </a:extLst>
                </a:gridCol>
                <a:gridCol w="563327">
                  <a:extLst>
                    <a:ext uri="{9D8B030D-6E8A-4147-A177-3AD203B41FA5}">
                      <a16:colId xmlns:a16="http://schemas.microsoft.com/office/drawing/2014/main" val="20004"/>
                    </a:ext>
                  </a:extLst>
                </a:gridCol>
                <a:gridCol w="563327">
                  <a:extLst>
                    <a:ext uri="{9D8B030D-6E8A-4147-A177-3AD203B41FA5}">
                      <a16:colId xmlns:a16="http://schemas.microsoft.com/office/drawing/2014/main" val="20005"/>
                    </a:ext>
                  </a:extLst>
                </a:gridCol>
              </a:tblGrid>
              <a:tr h="413345">
                <a:tc>
                  <a:txBody>
                    <a:bodyPr/>
                    <a:lstStyle/>
                    <a:p>
                      <a:pPr marL="0" indent="0">
                        <a:lnSpc>
                          <a:spcPts val="1820"/>
                        </a:lnSpc>
                        <a:buNone/>
                      </a:pPr>
                      <a:r>
                        <a:rPr lang="en-US" sz="1300" b="1" dirty="0">
                          <a:solidFill>
                            <a:srgbClr val="000000"/>
                          </a:solidFill>
                          <a:latin typeface="Lato" pitchFamily="34" charset="0"/>
                          <a:ea typeface="Lato" pitchFamily="34" charset="-122"/>
                          <a:cs typeface="Lato" pitchFamily="34" charset="-120"/>
                        </a:rPr>
                        <a:t>Method</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B0B8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8C1"/>
                      </a:solidFill>
                      <a:prstDash val="solid"/>
                      <a:round/>
                      <a:headEnd type="none" w="med" len="med"/>
                      <a:tailEnd type="none" w="med" len="med"/>
                    </a:lnB>
                    <a:solidFill>
                      <a:srgbClr val="DCE6F2"/>
                    </a:solidFill>
                  </a:tcPr>
                </a:tc>
                <a:tc>
                  <a:txBody>
                    <a:bodyPr/>
                    <a:lstStyle/>
                    <a:p>
                      <a:pPr marL="0" indent="0" algn="ctr">
                        <a:lnSpc>
                          <a:spcPts val="1820"/>
                        </a:lnSpc>
                        <a:buNone/>
                      </a:pPr>
                      <a:r>
                        <a:rPr lang="en-US" sz="1300" b="1" dirty="0">
                          <a:solidFill>
                            <a:srgbClr val="000000"/>
                          </a:solidFill>
                          <a:latin typeface="Lato" pitchFamily="34" charset="0"/>
                          <a:ea typeface="Lato" pitchFamily="34" charset="-122"/>
                          <a:cs typeface="Lato" pitchFamily="34" charset="-120"/>
                        </a:rPr>
                        <a:t>Acc ↑</a:t>
                      </a:r>
                      <a:endParaRPr lang="en-US" sz="1300" dirty="0">
                        <a:latin typeface="Lato" charset="0"/>
                        <a:ea typeface="Lato" charset="0"/>
                        <a:cs typeface="Lato" charset="0"/>
                      </a:endParaRPr>
                    </a:p>
                  </a:txBody>
                  <a:tcPr marL="50800" marR="50800" marT="88900" marB="88900">
                    <a:lnL w="12700" cap="flat" cmpd="sng" algn="ctr">
                      <a:solidFill>
                        <a:srgbClr val="B0B8C1"/>
                      </a:solidFill>
                      <a:prstDash val="solid"/>
                      <a:round/>
                      <a:headEnd type="none" w="med" len="med"/>
                      <a:tailEnd type="none" w="med" len="med"/>
                    </a:lnL>
                    <a:lnR w="12700" cap="flat" cmpd="sng" algn="ctr">
                      <a:solidFill>
                        <a:srgbClr val="B0B8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8C1"/>
                      </a:solidFill>
                      <a:prstDash val="solid"/>
                      <a:round/>
                      <a:headEnd type="none" w="med" len="med"/>
                      <a:tailEnd type="none" w="med" len="med"/>
                    </a:lnB>
                    <a:solidFill>
                      <a:srgbClr val="DCE6F2"/>
                    </a:solidFill>
                  </a:tcPr>
                </a:tc>
                <a:tc>
                  <a:txBody>
                    <a:bodyPr/>
                    <a:lstStyle/>
                    <a:p>
                      <a:pPr marL="0" indent="0" algn="ctr">
                        <a:lnSpc>
                          <a:spcPts val="1820"/>
                        </a:lnSpc>
                        <a:buNone/>
                      </a:pPr>
                      <a:r>
                        <a:rPr lang="en-US" sz="1300" b="1" dirty="0">
                          <a:solidFill>
                            <a:srgbClr val="000000"/>
                          </a:solidFill>
                          <a:latin typeface="Lato" pitchFamily="34" charset="0"/>
                          <a:ea typeface="Lato" pitchFamily="34" charset="-122"/>
                          <a:cs typeface="Lato" pitchFamily="34" charset="-120"/>
                        </a:rPr>
                        <a:t>PR ↑</a:t>
                      </a:r>
                      <a:endParaRPr lang="en-US" sz="1300" dirty="0">
                        <a:latin typeface="Lato" charset="0"/>
                        <a:ea typeface="Lato" charset="0"/>
                        <a:cs typeface="Lato" charset="0"/>
                      </a:endParaRPr>
                    </a:p>
                  </a:txBody>
                  <a:tcPr marL="50800" marR="50800" marT="88900" marB="88900">
                    <a:lnL w="12700" cap="flat" cmpd="sng" algn="ctr">
                      <a:solidFill>
                        <a:srgbClr val="B0B8C1"/>
                      </a:solidFill>
                      <a:prstDash val="solid"/>
                      <a:round/>
                      <a:headEnd type="none" w="med" len="med"/>
                      <a:tailEnd type="none" w="med" len="med"/>
                    </a:lnL>
                    <a:lnR w="12700" cap="flat" cmpd="sng" algn="ctr">
                      <a:solidFill>
                        <a:srgbClr val="B0B8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8C1"/>
                      </a:solidFill>
                      <a:prstDash val="solid"/>
                      <a:round/>
                      <a:headEnd type="none" w="med" len="med"/>
                      <a:tailEnd type="none" w="med" len="med"/>
                    </a:lnB>
                    <a:solidFill>
                      <a:srgbClr val="DCE6F2"/>
                    </a:solidFill>
                  </a:tcPr>
                </a:tc>
                <a:tc>
                  <a:txBody>
                    <a:bodyPr/>
                    <a:lstStyle/>
                    <a:p>
                      <a:pPr marL="0" indent="0" algn="ctr">
                        <a:lnSpc>
                          <a:spcPts val="1820"/>
                        </a:lnSpc>
                        <a:buNone/>
                      </a:pPr>
                      <a:r>
                        <a:rPr lang="en-US" sz="1300" b="1" dirty="0">
                          <a:solidFill>
                            <a:srgbClr val="000000"/>
                          </a:solidFill>
                          <a:latin typeface="Lato" pitchFamily="34" charset="0"/>
                          <a:ea typeface="Lato" pitchFamily="34" charset="-122"/>
                          <a:cs typeface="Lato" pitchFamily="34" charset="-120"/>
                        </a:rPr>
                        <a:t>PH ↑</a:t>
                      </a:r>
                      <a:endParaRPr lang="en-US" sz="1300" dirty="0">
                        <a:latin typeface="Lato" charset="0"/>
                        <a:ea typeface="Lato" charset="0"/>
                        <a:cs typeface="Lato" charset="0"/>
                      </a:endParaRPr>
                    </a:p>
                  </a:txBody>
                  <a:tcPr marL="50800" marR="50800" marT="88900" marB="88900">
                    <a:lnL w="12700" cap="flat" cmpd="sng" algn="ctr">
                      <a:solidFill>
                        <a:srgbClr val="B0B8C1"/>
                      </a:solidFill>
                      <a:prstDash val="solid"/>
                      <a:round/>
                      <a:headEnd type="none" w="med" len="med"/>
                      <a:tailEnd type="none" w="med" len="med"/>
                    </a:lnL>
                    <a:lnR w="12700" cap="flat" cmpd="sng" algn="ctr">
                      <a:solidFill>
                        <a:srgbClr val="B0B8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8C1"/>
                      </a:solidFill>
                      <a:prstDash val="solid"/>
                      <a:round/>
                      <a:headEnd type="none" w="med" len="med"/>
                      <a:tailEnd type="none" w="med" len="med"/>
                    </a:lnB>
                    <a:solidFill>
                      <a:srgbClr val="DCE6F2"/>
                    </a:solidFill>
                  </a:tcPr>
                </a:tc>
                <a:tc>
                  <a:txBody>
                    <a:bodyPr/>
                    <a:lstStyle/>
                    <a:p>
                      <a:pPr marL="0" indent="0" algn="ctr">
                        <a:lnSpc>
                          <a:spcPts val="1820"/>
                        </a:lnSpc>
                        <a:buNone/>
                      </a:pPr>
                      <a:r>
                        <a:rPr lang="en-US" sz="1300" b="1" dirty="0">
                          <a:solidFill>
                            <a:srgbClr val="000000"/>
                          </a:solidFill>
                          <a:latin typeface="Lato" pitchFamily="34" charset="0"/>
                          <a:ea typeface="Lato" pitchFamily="34" charset="-122"/>
                          <a:cs typeface="Lato" pitchFamily="34" charset="-120"/>
                        </a:rPr>
                        <a:t>Rec ↑</a:t>
                      </a:r>
                      <a:endParaRPr lang="en-US" sz="1300" dirty="0">
                        <a:latin typeface="Lato" charset="0"/>
                        <a:ea typeface="Lato" charset="0"/>
                        <a:cs typeface="Lato" charset="0"/>
                      </a:endParaRPr>
                    </a:p>
                  </a:txBody>
                  <a:tcPr marL="50800" marR="50800" marT="88900" marB="88900">
                    <a:lnL w="12700" cap="flat" cmpd="sng" algn="ctr">
                      <a:solidFill>
                        <a:srgbClr val="B0B8C1"/>
                      </a:solidFill>
                      <a:prstDash val="solid"/>
                      <a:round/>
                      <a:headEnd type="none" w="med" len="med"/>
                      <a:tailEnd type="none" w="med" len="med"/>
                    </a:lnL>
                    <a:lnR w="12700" cap="flat" cmpd="sng" algn="ctr">
                      <a:solidFill>
                        <a:srgbClr val="B0B8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8C1"/>
                      </a:solidFill>
                      <a:prstDash val="solid"/>
                      <a:round/>
                      <a:headEnd type="none" w="med" len="med"/>
                      <a:tailEnd type="none" w="med" len="med"/>
                    </a:lnB>
                    <a:solidFill>
                      <a:srgbClr val="DCE6F2"/>
                    </a:solidFill>
                  </a:tcPr>
                </a:tc>
                <a:tc>
                  <a:txBody>
                    <a:bodyPr/>
                    <a:lstStyle/>
                    <a:p>
                      <a:pPr marL="0" indent="0" algn="ctr">
                        <a:lnSpc>
                          <a:spcPts val="1820"/>
                        </a:lnSpc>
                        <a:buNone/>
                      </a:pPr>
                      <a:r>
                        <a:rPr lang="en-US" sz="1300" b="1" dirty="0">
                          <a:solidFill>
                            <a:srgbClr val="000000"/>
                          </a:solidFill>
                          <a:latin typeface="Lato" pitchFamily="34" charset="0"/>
                          <a:ea typeface="Lato" pitchFamily="34" charset="-122"/>
                          <a:cs typeface="Lato" pitchFamily="34" charset="-120"/>
                        </a:rPr>
                        <a:t>F1 ↑</a:t>
                      </a:r>
                      <a:endParaRPr lang="en-US" sz="1300" dirty="0">
                        <a:latin typeface="Lato" charset="0"/>
                        <a:ea typeface="Lato" charset="0"/>
                        <a:cs typeface="Lato" charset="0"/>
                      </a:endParaRPr>
                    </a:p>
                  </a:txBody>
                  <a:tcPr marL="50800" marR="50800" marT="88900" marB="88900">
                    <a:lnL w="12700" cap="flat" cmpd="sng" algn="ctr">
                      <a:solidFill>
                        <a:srgbClr val="B0B8C1"/>
                      </a:solidFill>
                      <a:prstDash val="solid"/>
                      <a:round/>
                      <a:headEnd type="none" w="med" len="med"/>
                      <a:tailEnd type="none" w="med" len="med"/>
                    </a:lnL>
                    <a:lnR w="12700" cap="flat" cmpd="sng" algn="ctr">
                      <a:solidFill>
                        <a:srgbClr val="B0B8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8C1"/>
                      </a:solidFill>
                      <a:prstDash val="solid"/>
                      <a:round/>
                      <a:headEnd type="none" w="med" len="med"/>
                      <a:tailEnd type="none" w="med" len="med"/>
                    </a:lnB>
                    <a:solidFill>
                      <a:srgbClr val="DCE6F2"/>
                    </a:solidFill>
                  </a:tcPr>
                </a:tc>
                <a:extLst>
                  <a:ext uri="{0D108BD9-81ED-4DB2-BD59-A6C34878D82A}">
                    <a16:rowId xmlns:a16="http://schemas.microsoft.com/office/drawing/2014/main" val="10000"/>
                  </a:ext>
                </a:extLst>
              </a:tr>
              <a:tr h="413345">
                <a:tc>
                  <a:txBody>
                    <a:bodyPr/>
                    <a:lstStyle/>
                    <a:p>
                      <a:pPr marL="0" indent="0">
                        <a:lnSpc>
                          <a:spcPts val="1820"/>
                        </a:lnSpc>
                        <a:buNone/>
                      </a:pPr>
                      <a:r>
                        <a:rPr lang="en-US" sz="1300" dirty="0">
                          <a:solidFill>
                            <a:srgbClr val="000000"/>
                          </a:solidFill>
                          <a:latin typeface="Lato" pitchFamily="34" charset="0"/>
                          <a:ea typeface="Lato" pitchFamily="34" charset="-122"/>
                          <a:cs typeface="Lato" pitchFamily="34" charset="-120"/>
                        </a:rPr>
                        <a:t>UT</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8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50.6</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8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53.6</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8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42.8</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8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70.6</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8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61.0</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8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413345">
                <a:tc>
                  <a:txBody>
                    <a:bodyPr/>
                    <a:lstStyle/>
                    <a:p>
                      <a:pPr marL="0" indent="0">
                        <a:lnSpc>
                          <a:spcPts val="1820"/>
                        </a:lnSpc>
                        <a:buNone/>
                      </a:pPr>
                      <a:r>
                        <a:rPr lang="en-US" sz="1300" dirty="0">
                          <a:solidFill>
                            <a:srgbClr val="000000"/>
                          </a:solidFill>
                          <a:latin typeface="Lato" pitchFamily="34" charset="0"/>
                          <a:ea typeface="Lato" pitchFamily="34" charset="-122"/>
                          <a:cs typeface="Lato" pitchFamily="34" charset="-120"/>
                        </a:rPr>
                        <a:t>IC</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62.6</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61.9</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64.2</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81.6</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70.4</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413345">
                <a:tc>
                  <a:txBody>
                    <a:bodyPr/>
                    <a:lstStyle/>
                    <a:p>
                      <a:pPr marL="0" indent="0">
                        <a:lnSpc>
                          <a:spcPts val="1820"/>
                        </a:lnSpc>
                        <a:buNone/>
                      </a:pPr>
                      <a:r>
                        <a:rPr lang="en-US" sz="1300" dirty="0">
                          <a:solidFill>
                            <a:srgbClr val="C00000"/>
                          </a:solidFill>
                          <a:latin typeface="Lato" pitchFamily="34" charset="0"/>
                          <a:ea typeface="Lato" pitchFamily="34" charset="-122"/>
                          <a:cs typeface="Lato" pitchFamily="34" charset="-120"/>
                        </a:rPr>
                        <a:t>EAZY</a:t>
                      </a:r>
                      <a:endParaRPr lang="en-US" sz="1300" dirty="0">
                        <a:latin typeface="Lato" charset="0"/>
                        <a:ea typeface="Lato" charset="0"/>
                        <a:cs typeface="Lato" charset="0"/>
                      </a:endParaRPr>
                    </a:p>
                  </a:txBody>
                  <a:tcPr marL="50800" marR="50800" marT="88900" marB="88900">
                    <a:lnL w="12700" cap="flat" cmpd="sng" algn="ctr">
                      <a:solidFill>
                        <a:srgbClr val="CBCBCB"/>
                      </a:solidFill>
                      <a:prstDash val="solid"/>
                      <a:round/>
                      <a:headEnd type="none" w="med" len="med"/>
                      <a:tailEnd type="none" w="med" len="med"/>
                    </a:lnL>
                    <a:lnR w="12700" cap="flat" cmpd="sng" algn="ctr">
                      <a:solidFill>
                        <a:srgbClr val="C8BA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8BABC"/>
                      </a:solidFill>
                      <a:prstDash val="solid"/>
                      <a:round/>
                      <a:headEnd type="none" w="med" len="med"/>
                      <a:tailEnd type="none" w="med" len="med"/>
                    </a:lnB>
                    <a:solidFill>
                      <a:srgbClr val="FBE9EC"/>
                    </a:solidFill>
                  </a:tcPr>
                </a:tc>
                <a:tc>
                  <a:txBody>
                    <a:bodyPr/>
                    <a:lstStyle/>
                    <a:p>
                      <a:pPr marL="0" indent="0" algn="ctr">
                        <a:lnSpc>
                          <a:spcPts val="1820"/>
                        </a:lnSpc>
                        <a:buNone/>
                      </a:pPr>
                      <a:r>
                        <a:rPr lang="en-US" sz="1300" dirty="0">
                          <a:solidFill>
                            <a:srgbClr val="C00000"/>
                          </a:solidFill>
                          <a:latin typeface="Lato" pitchFamily="34" charset="0"/>
                          <a:ea typeface="Lato" pitchFamily="34" charset="-122"/>
                          <a:cs typeface="Lato" pitchFamily="34" charset="-120"/>
                        </a:rPr>
                        <a:t>78.8</a:t>
                      </a:r>
                      <a:endParaRPr lang="en-US" sz="1300" dirty="0">
                        <a:latin typeface="Lato" charset="0"/>
                        <a:ea typeface="Lato" charset="0"/>
                        <a:cs typeface="Lato" charset="0"/>
                      </a:endParaRPr>
                    </a:p>
                  </a:txBody>
                  <a:tcPr marL="50800" marR="50800" marT="88900" marB="88900">
                    <a:lnL w="12700" cap="flat" cmpd="sng" algn="ctr">
                      <a:solidFill>
                        <a:srgbClr val="C8BABC"/>
                      </a:solidFill>
                      <a:prstDash val="solid"/>
                      <a:round/>
                      <a:headEnd type="none" w="med" len="med"/>
                      <a:tailEnd type="none" w="med" len="med"/>
                    </a:lnL>
                    <a:lnR w="12700" cap="flat" cmpd="sng" algn="ctr">
                      <a:solidFill>
                        <a:srgbClr val="C8BA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8BABC"/>
                      </a:solidFill>
                      <a:prstDash val="solid"/>
                      <a:round/>
                      <a:headEnd type="none" w="med" len="med"/>
                      <a:tailEnd type="none" w="med" len="med"/>
                    </a:lnB>
                    <a:solidFill>
                      <a:srgbClr val="FBE9EC"/>
                    </a:solidFill>
                  </a:tcPr>
                </a:tc>
                <a:tc>
                  <a:txBody>
                    <a:bodyPr/>
                    <a:lstStyle/>
                    <a:p>
                      <a:pPr marL="0" indent="0" algn="ctr">
                        <a:lnSpc>
                          <a:spcPts val="1820"/>
                        </a:lnSpc>
                        <a:buNone/>
                      </a:pPr>
                      <a:r>
                        <a:rPr lang="en-US" sz="1300" dirty="0">
                          <a:solidFill>
                            <a:srgbClr val="C00000"/>
                          </a:solidFill>
                          <a:latin typeface="Lato" pitchFamily="34" charset="0"/>
                          <a:ea typeface="Lato" pitchFamily="34" charset="-122"/>
                          <a:cs typeface="Lato" pitchFamily="34" charset="-120"/>
                        </a:rPr>
                        <a:t>78.4</a:t>
                      </a:r>
                      <a:endParaRPr lang="en-US" sz="1300" dirty="0">
                        <a:latin typeface="Lato" charset="0"/>
                        <a:ea typeface="Lato" charset="0"/>
                        <a:cs typeface="Lato" charset="0"/>
                      </a:endParaRPr>
                    </a:p>
                  </a:txBody>
                  <a:tcPr marL="50800" marR="50800" marT="88900" marB="88900">
                    <a:lnL w="12700" cap="flat" cmpd="sng" algn="ctr">
                      <a:solidFill>
                        <a:srgbClr val="C8BABC"/>
                      </a:solidFill>
                      <a:prstDash val="solid"/>
                      <a:round/>
                      <a:headEnd type="none" w="med" len="med"/>
                      <a:tailEnd type="none" w="med" len="med"/>
                    </a:lnL>
                    <a:lnR w="12700" cap="flat" cmpd="sng" algn="ctr">
                      <a:solidFill>
                        <a:srgbClr val="C8BA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8BABC"/>
                      </a:solidFill>
                      <a:prstDash val="solid"/>
                      <a:round/>
                      <a:headEnd type="none" w="med" len="med"/>
                      <a:tailEnd type="none" w="med" len="med"/>
                    </a:lnB>
                    <a:solidFill>
                      <a:srgbClr val="FBE9EC"/>
                    </a:solidFill>
                  </a:tcPr>
                </a:tc>
                <a:tc>
                  <a:txBody>
                    <a:bodyPr/>
                    <a:lstStyle/>
                    <a:p>
                      <a:pPr marL="0" indent="0" algn="ctr">
                        <a:lnSpc>
                          <a:spcPts val="1820"/>
                        </a:lnSpc>
                        <a:buNone/>
                      </a:pPr>
                      <a:r>
                        <a:rPr lang="en-US" sz="1300" dirty="0">
                          <a:solidFill>
                            <a:srgbClr val="C00000"/>
                          </a:solidFill>
                          <a:latin typeface="Lato" pitchFamily="34" charset="0"/>
                          <a:ea typeface="Lato" pitchFamily="34" charset="-122"/>
                          <a:cs typeface="Lato" pitchFamily="34" charset="-120"/>
                        </a:rPr>
                        <a:t>79.3</a:t>
                      </a:r>
                      <a:endParaRPr lang="en-US" sz="1300" dirty="0">
                        <a:latin typeface="Lato" charset="0"/>
                        <a:ea typeface="Lato" charset="0"/>
                        <a:cs typeface="Lato" charset="0"/>
                      </a:endParaRPr>
                    </a:p>
                  </a:txBody>
                  <a:tcPr marL="50800" marR="50800" marT="88900" marB="88900">
                    <a:lnL w="12700" cap="flat" cmpd="sng" algn="ctr">
                      <a:solidFill>
                        <a:srgbClr val="C8BABC"/>
                      </a:solidFill>
                      <a:prstDash val="solid"/>
                      <a:round/>
                      <a:headEnd type="none" w="med" len="med"/>
                      <a:tailEnd type="none" w="med" len="med"/>
                    </a:lnL>
                    <a:lnR w="12700" cap="flat" cmpd="sng" algn="ctr">
                      <a:solidFill>
                        <a:srgbClr val="C8BA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8BABC"/>
                      </a:solidFill>
                      <a:prstDash val="solid"/>
                      <a:round/>
                      <a:headEnd type="none" w="med" len="med"/>
                      <a:tailEnd type="none" w="med" len="med"/>
                    </a:lnB>
                    <a:solidFill>
                      <a:srgbClr val="FBE9EC"/>
                    </a:solidFill>
                  </a:tcPr>
                </a:tc>
                <a:tc>
                  <a:txBody>
                    <a:bodyPr/>
                    <a:lstStyle/>
                    <a:p>
                      <a:pPr marL="0" indent="0" algn="ctr">
                        <a:lnSpc>
                          <a:spcPts val="1820"/>
                        </a:lnSpc>
                        <a:buNone/>
                      </a:pPr>
                      <a:r>
                        <a:rPr lang="en-US" sz="1300" dirty="0">
                          <a:solidFill>
                            <a:srgbClr val="C00000"/>
                          </a:solidFill>
                          <a:latin typeface="Lato" pitchFamily="34" charset="0"/>
                          <a:ea typeface="Lato" pitchFamily="34" charset="-122"/>
                          <a:cs typeface="Lato" pitchFamily="34" charset="-120"/>
                        </a:rPr>
                        <a:t>83.4</a:t>
                      </a:r>
                      <a:endParaRPr lang="en-US" sz="1300" dirty="0">
                        <a:latin typeface="Lato" charset="0"/>
                        <a:ea typeface="Lato" charset="0"/>
                        <a:cs typeface="Lato" charset="0"/>
                      </a:endParaRPr>
                    </a:p>
                  </a:txBody>
                  <a:tcPr marL="50800" marR="50800" marT="88900" marB="88900">
                    <a:lnL w="12700" cap="flat" cmpd="sng" algn="ctr">
                      <a:solidFill>
                        <a:srgbClr val="C8BABC"/>
                      </a:solidFill>
                      <a:prstDash val="solid"/>
                      <a:round/>
                      <a:headEnd type="none" w="med" len="med"/>
                      <a:tailEnd type="none" w="med" len="med"/>
                    </a:lnL>
                    <a:lnR w="12700" cap="flat" cmpd="sng" algn="ctr">
                      <a:solidFill>
                        <a:srgbClr val="C8BA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8BABC"/>
                      </a:solidFill>
                      <a:prstDash val="solid"/>
                      <a:round/>
                      <a:headEnd type="none" w="med" len="med"/>
                      <a:tailEnd type="none" w="med" len="med"/>
                    </a:lnB>
                    <a:solidFill>
                      <a:srgbClr val="FBE9EC"/>
                    </a:solidFill>
                  </a:tcPr>
                </a:tc>
                <a:tc>
                  <a:txBody>
                    <a:bodyPr/>
                    <a:lstStyle/>
                    <a:p>
                      <a:pPr marL="0" indent="0" algn="ctr">
                        <a:lnSpc>
                          <a:spcPts val="1820"/>
                        </a:lnSpc>
                        <a:buNone/>
                      </a:pPr>
                      <a:r>
                        <a:rPr lang="en-US" sz="1300" dirty="0">
                          <a:solidFill>
                            <a:srgbClr val="C00000"/>
                          </a:solidFill>
                          <a:latin typeface="Lato" pitchFamily="34" charset="0"/>
                          <a:ea typeface="Lato" pitchFamily="34" charset="-122"/>
                          <a:cs typeface="Lato" pitchFamily="34" charset="-120"/>
                        </a:rPr>
                        <a:t>80.8</a:t>
                      </a:r>
                      <a:endParaRPr lang="en-US" sz="1300" dirty="0">
                        <a:latin typeface="Lato" charset="0"/>
                        <a:ea typeface="Lato" charset="0"/>
                        <a:cs typeface="Lato" charset="0"/>
                      </a:endParaRPr>
                    </a:p>
                  </a:txBody>
                  <a:tcPr marL="50800" marR="50800" marT="88900" marB="88900">
                    <a:lnL w="12700" cap="flat" cmpd="sng" algn="ctr">
                      <a:solidFill>
                        <a:srgbClr val="C8BABC"/>
                      </a:solidFill>
                      <a:prstDash val="solid"/>
                      <a:round/>
                      <a:headEnd type="none" w="med" len="med"/>
                      <a:tailEnd type="none" w="med" len="med"/>
                    </a:lnL>
                    <a:lnR w="12700" cap="flat" cmpd="sng" algn="ctr">
                      <a:solidFill>
                        <a:srgbClr val="C8BA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8BABC"/>
                      </a:solidFill>
                      <a:prstDash val="solid"/>
                      <a:round/>
                      <a:headEnd type="none" w="med" len="med"/>
                      <a:tailEnd type="none" w="med" len="med"/>
                    </a:lnB>
                    <a:solidFill>
                      <a:srgbClr val="FBE9EC"/>
                    </a:solidFill>
                  </a:tcPr>
                </a:tc>
                <a:extLst>
                  <a:ext uri="{0D108BD9-81ED-4DB2-BD59-A6C34878D82A}">
                    <a16:rowId xmlns:a16="http://schemas.microsoft.com/office/drawing/2014/main" val="10003"/>
                  </a:ext>
                </a:extLst>
              </a:tr>
            </a:tbl>
          </a:graphicData>
        </a:graphic>
      </p:graphicFrame>
      <p:sp>
        <p:nvSpPr>
          <p:cNvPr id="12" name="Text 8"/>
          <p:cNvSpPr/>
          <p:nvPr/>
        </p:nvSpPr>
        <p:spPr>
          <a:xfrm>
            <a:off x="8061770" y="3825180"/>
            <a:ext cx="3675761" cy="436860"/>
          </a:xfrm>
          <a:prstGeom prst="rect">
            <a:avLst/>
          </a:prstGeom>
          <a:noFill/>
          <a:ln/>
        </p:spPr>
        <p:txBody>
          <a:bodyPr wrap="square" lIns="0" tIns="0" rIns="0" bIns="0" rtlCol="0" anchor="t">
            <a:normAutofit/>
          </a:bodyPr>
          <a:lstStyle/>
          <a:p>
            <a:pPr marL="0" indent="0" algn="ctr">
              <a:lnSpc>
                <a:spcPts val="1620"/>
              </a:lnSpc>
              <a:buNone/>
            </a:pPr>
            <a:r>
              <a:rPr lang="en-US" sz="1200" dirty="0">
                <a:solidFill>
                  <a:srgbClr val="555555"/>
                </a:solidFill>
                <a:latin typeface="Lato" pitchFamily="34" charset="0"/>
                <a:ea typeface="Lato" pitchFamily="34" charset="-122"/>
                <a:cs typeface="Lato" pitchFamily="34" charset="-120"/>
              </a:rPr>
              <a:t>UT: uncertainty · IC: internal confidence · PR / PH: precision on real / hallucinated objects</a:t>
            </a:r>
            <a:endParaRPr lang="en-US" sz="1200" dirty="0"/>
          </a:p>
        </p:txBody>
      </p:sp>
      <p:sp>
        <p:nvSpPr>
          <p:cNvPr id="13" name="Text 9"/>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14" name="Text 10"/>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14 / 33</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Case Study: One Token, Four Fixes</a:t>
            </a:r>
            <a:endParaRPr lang="en-US" sz="3200" dirty="0"/>
          </a:p>
        </p:txBody>
      </p:sp>
      <p:sp>
        <p:nvSpPr>
          <p:cNvPr id="4" name="Text 2"/>
          <p:cNvSpPr/>
          <p:nvPr/>
        </p:nvSpPr>
        <p:spPr>
          <a:xfrm>
            <a:off x="508000" y="1026120"/>
            <a:ext cx="11511280" cy="368300"/>
          </a:xfrm>
          <a:prstGeom prst="rect">
            <a:avLst/>
          </a:prstGeom>
          <a:noFill/>
          <a:ln/>
        </p:spPr>
        <p:txBody>
          <a:bodyPr wrap="square" lIns="0" tIns="0" rIns="0" bIns="0" rtlCol="0" anchor="t">
            <a:normAutofit/>
          </a:bodyPr>
          <a:lstStyle/>
          <a:p>
            <a:pPr marL="0" indent="0" algn="l">
              <a:lnSpc>
                <a:spcPts val="2700"/>
              </a:lnSpc>
              <a:buNone/>
            </a:pPr>
            <a:r>
              <a:rPr lang="en-US" sz="2000" b="1" dirty="0">
                <a:solidFill>
                  <a:srgbClr val="000000"/>
                </a:solidFill>
                <a:latin typeface="Lato" pitchFamily="34" charset="0"/>
                <a:ea typeface="Lato" pitchFamily="34" charset="-122"/>
                <a:cs typeface="Lato" pitchFamily="34" charset="-120"/>
              </a:rPr>
              <a:t>Case study:</a:t>
            </a:r>
            <a:r>
              <a:rPr lang="en-US" sz="2000" dirty="0">
                <a:solidFill>
                  <a:srgbClr val="000000"/>
                </a:solidFill>
                <a:latin typeface="Lato" pitchFamily="34" charset="0"/>
                <a:ea typeface="Lato" pitchFamily="34" charset="-122"/>
                <a:cs typeface="Lato" pitchFamily="34" charset="-120"/>
              </a:rPr>
              <a:t> zeroing </a:t>
            </a:r>
            <a:r>
              <a:rPr lang="en-US" sz="2000" u="sng" dirty="0">
                <a:solidFill>
                  <a:srgbClr val="C00000"/>
                </a:solidFill>
                <a:latin typeface="Lato" pitchFamily="34" charset="0"/>
                <a:ea typeface="Lato" pitchFamily="34" charset="-122"/>
                <a:cs typeface="Lato" pitchFamily="34" charset="-120"/>
              </a:rPr>
              <a:t>one image token</a:t>
            </a:r>
            <a:r>
              <a:rPr lang="en-US" sz="2000" dirty="0">
                <a:solidFill>
                  <a:srgbClr val="000000"/>
                </a:solidFill>
                <a:latin typeface="Lato" pitchFamily="34" charset="0"/>
                <a:ea typeface="Lato" pitchFamily="34" charset="-122"/>
                <a:cs typeface="Lato" pitchFamily="34" charset="-120"/>
              </a:rPr>
              <a:t> fixes four hallucinations in the answer</a:t>
            </a:r>
            <a:endParaRPr lang="en-US" sz="2000" dirty="0"/>
          </a:p>
        </p:txBody>
      </p:sp>
      <p:pic>
        <p:nvPicPr>
          <p:cNvPr id="5" name="Image 0" descr="Cats lying on a desk in front of a monitor and keyboard; one red square marks the zeroed token"/>
          <p:cNvPicPr>
            <a:picLocks noChangeAspect="1"/>
          </p:cNvPicPr>
          <p:nvPr/>
        </p:nvPicPr>
        <p:blipFill>
          <a:blip r:embed="rId3"/>
          <a:srcRect/>
          <a:stretch/>
        </p:blipFill>
        <p:spPr>
          <a:xfrm>
            <a:off x="508000" y="1676102"/>
            <a:ext cx="3175000" cy="3175000"/>
          </a:xfrm>
          <a:prstGeom prst="roundRect">
            <a:avLst>
              <a:gd name="adj" fmla="val 1600"/>
            </a:avLst>
          </a:prstGeom>
        </p:spPr>
      </p:pic>
      <p:sp>
        <p:nvSpPr>
          <p:cNvPr id="6" name="Text 3"/>
          <p:cNvSpPr/>
          <p:nvPr/>
        </p:nvSpPr>
        <p:spPr>
          <a:xfrm>
            <a:off x="682888" y="4914602"/>
            <a:ext cx="2825175" cy="231130"/>
          </a:xfrm>
          <a:prstGeom prst="rect">
            <a:avLst/>
          </a:prstGeom>
          <a:noFill/>
          <a:ln/>
        </p:spPr>
        <p:txBody>
          <a:bodyPr wrap="square" lIns="0" tIns="0" rIns="0" bIns="0" rtlCol="0" anchor="t">
            <a:normAutofit/>
          </a:bodyPr>
          <a:lstStyle/>
          <a:p>
            <a:pPr marL="0" indent="0" algn="ctr">
              <a:lnSpc>
                <a:spcPts val="1620"/>
              </a:lnSpc>
              <a:buNone/>
            </a:pPr>
            <a:r>
              <a:rPr lang="en-US" sz="1200" dirty="0">
                <a:solidFill>
                  <a:srgbClr val="555555"/>
                </a:solidFill>
                <a:latin typeface="Lato" pitchFamily="34" charset="0"/>
                <a:ea typeface="Lato" pitchFamily="34" charset="-122"/>
                <a:cs typeface="Lato" pitchFamily="34" charset="-120"/>
              </a:rPr>
              <a:t>Red square: the single zeroed token</a:t>
            </a:r>
            <a:endParaRPr lang="en-US" sz="1200" dirty="0"/>
          </a:p>
        </p:txBody>
      </p:sp>
      <p:sp>
        <p:nvSpPr>
          <p:cNvPr id="7" name="Shape 4"/>
          <p:cNvSpPr/>
          <p:nvPr/>
        </p:nvSpPr>
        <p:spPr>
          <a:xfrm>
            <a:off x="3943350" y="1578570"/>
            <a:ext cx="7734300" cy="1991717"/>
          </a:xfrm>
          <a:prstGeom prst="roundRect">
            <a:avLst>
              <a:gd name="adj" fmla="val 4145"/>
            </a:avLst>
          </a:prstGeom>
          <a:solidFill>
            <a:srgbClr val="FFFFFF"/>
          </a:solidFill>
          <a:ln w="12700">
            <a:solidFill>
              <a:srgbClr val="C00000"/>
            </a:solidFill>
            <a:prstDash val="solid"/>
          </a:ln>
        </p:spPr>
        <p:txBody>
          <a:bodyPr/>
          <a:lstStyle/>
          <a:p>
            <a:endParaRPr lang="en-US"/>
          </a:p>
        </p:txBody>
      </p:sp>
      <p:pic>
        <p:nvPicPr>
          <p:cNvPr id="8" name="Image 1" descr="AI assistant (robot) icon"/>
          <p:cNvPicPr>
            <a:picLocks noChangeAspect="1"/>
          </p:cNvPicPr>
          <p:nvPr/>
        </p:nvPicPr>
        <p:blipFill>
          <a:blip r:embed="rId4"/>
          <a:srcRect/>
          <a:stretch/>
        </p:blipFill>
        <p:spPr>
          <a:xfrm>
            <a:off x="4102100" y="1661120"/>
            <a:ext cx="228600" cy="228600"/>
          </a:xfrm>
          <a:prstGeom prst="rect">
            <a:avLst/>
          </a:prstGeom>
        </p:spPr>
      </p:pic>
      <p:sp>
        <p:nvSpPr>
          <p:cNvPr id="9" name="Text 5"/>
          <p:cNvSpPr/>
          <p:nvPr/>
        </p:nvSpPr>
        <p:spPr>
          <a:xfrm>
            <a:off x="4394200" y="1672530"/>
            <a:ext cx="2265938" cy="23113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555555"/>
                </a:solidFill>
                <a:latin typeface="Lato" pitchFamily="34" charset="0"/>
                <a:ea typeface="Lato" pitchFamily="34" charset="-122"/>
                <a:cs typeface="Lato" pitchFamily="34" charset="-120"/>
              </a:rPr>
              <a:t>LLaVA-1.5, greedy decoding</a:t>
            </a:r>
            <a:endParaRPr lang="en-US" sz="1200" dirty="0"/>
          </a:p>
        </p:txBody>
      </p:sp>
      <p:sp>
        <p:nvSpPr>
          <p:cNvPr id="10" name="Text 6"/>
          <p:cNvSpPr/>
          <p:nvPr/>
        </p:nvSpPr>
        <p:spPr>
          <a:xfrm>
            <a:off x="4102100" y="1927820"/>
            <a:ext cx="7639304" cy="1585317"/>
          </a:xfrm>
          <a:prstGeom prst="rect">
            <a:avLst/>
          </a:prstGeom>
          <a:noFill/>
          <a:ln/>
        </p:spPr>
        <p:txBody>
          <a:bodyPr wrap="square" lIns="0" tIns="0" rIns="0" bIns="0" rtlCol="0" anchor="t">
            <a:normAutofit/>
          </a:bodyPr>
          <a:lstStyle/>
          <a:p>
            <a:pPr marL="0" indent="0" algn="l">
              <a:lnSpc>
                <a:spcPts val="1755"/>
              </a:lnSpc>
              <a:buNone/>
            </a:pPr>
            <a:r>
              <a:rPr lang="en-US" sz="1350" i="1" dirty="0">
                <a:solidFill>
                  <a:srgbClr val="000000"/>
                </a:solidFill>
                <a:latin typeface="Lato" pitchFamily="34" charset="0"/>
                <a:ea typeface="Lato" pitchFamily="34" charset="-122"/>
                <a:cs typeface="Lato" pitchFamily="34" charset="-120"/>
              </a:rPr>
              <a:t>"The image features a wooden desk with a computer monitor and keyboard on it. A group of cats is lying down on the desk, with some of them sleeping and others playing. There are a total of </a:t>
            </a:r>
            <a:r>
              <a:rPr lang="en-US" sz="1350" b="1" i="1" dirty="0">
                <a:solidFill>
                  <a:srgbClr val="C00000"/>
                </a:solidFill>
                <a:latin typeface="Lato" pitchFamily="34" charset="0"/>
                <a:ea typeface="Lato" pitchFamily="34" charset="-122"/>
                <a:cs typeface="Lato" pitchFamily="34" charset="-120"/>
              </a:rPr>
              <a:t>five cats</a:t>
            </a:r>
            <a:r>
              <a:rPr lang="en-US" sz="1350" i="1" dirty="0">
                <a:solidFill>
                  <a:srgbClr val="000000"/>
                </a:solidFill>
                <a:latin typeface="Lato" pitchFamily="34" charset="0"/>
                <a:ea typeface="Lato" pitchFamily="34" charset="-122"/>
                <a:cs typeface="Lato" pitchFamily="34" charset="-120"/>
              </a:rPr>
              <a:t> in the scene, with one cat lying on the left side of the desk, another on the right side, and three cats in the middle. In addition to the cats, there are several objects on the desk. A </a:t>
            </a:r>
            <a:r>
              <a:rPr lang="en-US" sz="1350" b="1" i="1" dirty="0">
                <a:solidFill>
                  <a:srgbClr val="C00000"/>
                </a:solidFill>
                <a:latin typeface="Lato" pitchFamily="34" charset="0"/>
                <a:ea typeface="Lato" pitchFamily="34" charset="-122"/>
                <a:cs typeface="Lato" pitchFamily="34" charset="-120"/>
              </a:rPr>
              <a:t>baseball glove</a:t>
            </a:r>
            <a:r>
              <a:rPr lang="en-US" sz="1350" i="1" dirty="0">
                <a:solidFill>
                  <a:srgbClr val="000000"/>
                </a:solidFill>
                <a:latin typeface="Lato" pitchFamily="34" charset="0"/>
                <a:ea typeface="Lato" pitchFamily="34" charset="-122"/>
                <a:cs typeface="Lato" pitchFamily="34" charset="-120"/>
              </a:rPr>
              <a:t> is placed near the left side of the desk, and a bottle can be seen on the right side. There are also </a:t>
            </a:r>
            <a:r>
              <a:rPr lang="en-US" sz="1350" b="1" i="1" dirty="0">
                <a:solidFill>
                  <a:srgbClr val="C00000"/>
                </a:solidFill>
                <a:latin typeface="Lato" pitchFamily="34" charset="0"/>
                <a:ea typeface="Lato" pitchFamily="34" charset="-122"/>
                <a:cs typeface="Lato" pitchFamily="34" charset="-120"/>
              </a:rPr>
              <a:t>two cups</a:t>
            </a:r>
            <a:r>
              <a:rPr lang="en-US" sz="1350" i="1" dirty="0">
                <a:solidFill>
                  <a:srgbClr val="000000"/>
                </a:solidFill>
                <a:latin typeface="Lato" pitchFamily="34" charset="0"/>
                <a:ea typeface="Lato" pitchFamily="34" charset="-122"/>
                <a:cs typeface="Lato" pitchFamily="34" charset="-120"/>
              </a:rPr>
              <a:t>, one near the center of the desk and the other closer to the right side. A bowl is located on the right side of the desk, and a </a:t>
            </a:r>
            <a:r>
              <a:rPr lang="en-US" sz="1350" b="1" i="1" dirty="0">
                <a:solidFill>
                  <a:srgbClr val="C00000"/>
                </a:solidFill>
                <a:latin typeface="Lato" pitchFamily="34" charset="0"/>
                <a:ea typeface="Lato" pitchFamily="34" charset="-122"/>
                <a:cs typeface="Lato" pitchFamily="34" charset="-120"/>
              </a:rPr>
              <a:t>cell phone</a:t>
            </a:r>
            <a:r>
              <a:rPr lang="en-US" sz="1350" i="1" dirty="0">
                <a:solidFill>
                  <a:srgbClr val="000000"/>
                </a:solidFill>
                <a:latin typeface="Lato" pitchFamily="34" charset="0"/>
                <a:ea typeface="Lato" pitchFamily="34" charset="-122"/>
                <a:cs typeface="Lato" pitchFamily="34" charset="-120"/>
              </a:rPr>
              <a:t> is placed near the center."</a:t>
            </a:r>
            <a:endParaRPr lang="en-US" sz="1350" dirty="0"/>
          </a:p>
        </p:txBody>
      </p:sp>
      <p:sp>
        <p:nvSpPr>
          <p:cNvPr id="11" name="Shape 7"/>
          <p:cNvSpPr/>
          <p:nvPr/>
        </p:nvSpPr>
        <p:spPr>
          <a:xfrm>
            <a:off x="3943350" y="3671888"/>
            <a:ext cx="7734300" cy="1546027"/>
          </a:xfrm>
          <a:prstGeom prst="roundRect">
            <a:avLst>
              <a:gd name="adj" fmla="val 5339"/>
            </a:avLst>
          </a:prstGeom>
          <a:solidFill>
            <a:srgbClr val="FFFFFF"/>
          </a:solidFill>
          <a:ln w="12700">
            <a:solidFill>
              <a:srgbClr val="2F5597"/>
            </a:solidFill>
            <a:prstDash val="solid"/>
          </a:ln>
        </p:spPr>
        <p:txBody>
          <a:bodyPr/>
          <a:lstStyle/>
          <a:p>
            <a:endParaRPr lang="en-US"/>
          </a:p>
        </p:txBody>
      </p:sp>
      <p:pic>
        <p:nvPicPr>
          <p:cNvPr id="12" name="Image 2" descr="AI assistant (robot) icon"/>
          <p:cNvPicPr>
            <a:picLocks noChangeAspect="1"/>
          </p:cNvPicPr>
          <p:nvPr/>
        </p:nvPicPr>
        <p:blipFill>
          <a:blip r:embed="rId4"/>
          <a:srcRect/>
          <a:stretch/>
        </p:blipFill>
        <p:spPr>
          <a:xfrm>
            <a:off x="4102100" y="3754438"/>
            <a:ext cx="228600" cy="228600"/>
          </a:xfrm>
          <a:prstGeom prst="rect">
            <a:avLst/>
          </a:prstGeom>
        </p:spPr>
      </p:pic>
      <p:sp>
        <p:nvSpPr>
          <p:cNvPr id="13" name="Text 8"/>
          <p:cNvSpPr/>
          <p:nvPr/>
        </p:nvSpPr>
        <p:spPr>
          <a:xfrm>
            <a:off x="4394200" y="3765848"/>
            <a:ext cx="2425184" cy="23113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555555"/>
                </a:solidFill>
                <a:latin typeface="Lato" pitchFamily="34" charset="0"/>
                <a:ea typeface="Lato" pitchFamily="34" charset="-122"/>
                <a:cs typeface="Lato" pitchFamily="34" charset="-120"/>
              </a:rPr>
              <a:t>EAZY, after zeroing one token</a:t>
            </a:r>
            <a:endParaRPr lang="en-US" sz="1200" dirty="0"/>
          </a:p>
        </p:txBody>
      </p:sp>
      <p:sp>
        <p:nvSpPr>
          <p:cNvPr id="14" name="Text 9"/>
          <p:cNvSpPr/>
          <p:nvPr/>
        </p:nvSpPr>
        <p:spPr>
          <a:xfrm>
            <a:off x="4102100" y="4021138"/>
            <a:ext cx="7639304" cy="1139627"/>
          </a:xfrm>
          <a:prstGeom prst="rect">
            <a:avLst/>
          </a:prstGeom>
          <a:noFill/>
          <a:ln/>
        </p:spPr>
        <p:txBody>
          <a:bodyPr wrap="square" lIns="0" tIns="0" rIns="0" bIns="0" rtlCol="0" anchor="t">
            <a:normAutofit/>
          </a:bodyPr>
          <a:lstStyle/>
          <a:p>
            <a:pPr marL="0" indent="0" algn="l">
              <a:lnSpc>
                <a:spcPts val="1755"/>
              </a:lnSpc>
              <a:buNone/>
            </a:pPr>
            <a:r>
              <a:rPr lang="en-US" sz="1350" i="1" dirty="0">
                <a:solidFill>
                  <a:srgbClr val="000000"/>
                </a:solidFill>
                <a:latin typeface="Lato" pitchFamily="34" charset="0"/>
                <a:ea typeface="Lato" pitchFamily="34" charset="-122"/>
                <a:cs typeface="Lato" pitchFamily="34" charset="-120"/>
              </a:rPr>
              <a:t>"The image features a wooden desk with a computer keyboard and a computer monitor. On the desk, there are </a:t>
            </a:r>
            <a:r>
              <a:rPr lang="en-US" sz="1350" b="1" i="1" dirty="0">
                <a:solidFill>
                  <a:srgbClr val="2F5597"/>
                </a:solidFill>
                <a:latin typeface="Lato" pitchFamily="34" charset="0"/>
                <a:ea typeface="Lato" pitchFamily="34" charset="-122"/>
                <a:cs typeface="Lato" pitchFamily="34" charset="-120"/>
              </a:rPr>
              <a:t>four cats</a:t>
            </a:r>
            <a:r>
              <a:rPr lang="en-US" sz="1350" i="1" dirty="0">
                <a:solidFill>
                  <a:srgbClr val="000000"/>
                </a:solidFill>
                <a:latin typeface="Lato" pitchFamily="34" charset="0"/>
                <a:ea typeface="Lato" pitchFamily="34" charset="-122"/>
                <a:cs typeface="Lato" pitchFamily="34" charset="-120"/>
              </a:rPr>
              <a:t> lying down, seemingly sleeping or relaxing. The cats are spread out across the desk, with one cat on the left side, another in the middle, and two more on the right side. In addition to the cats, there are several objects on the desk. A </a:t>
            </a:r>
            <a:r>
              <a:rPr lang="en-US" sz="1350" b="1" i="1" dirty="0">
                <a:solidFill>
                  <a:srgbClr val="2F5597"/>
                </a:solidFill>
                <a:latin typeface="Lato" pitchFamily="34" charset="0"/>
                <a:ea typeface="Lato" pitchFamily="34" charset="-122"/>
                <a:cs typeface="Lato" pitchFamily="34" charset="-120"/>
              </a:rPr>
              <a:t>baseball</a:t>
            </a:r>
            <a:r>
              <a:rPr lang="en-US" sz="1350" i="1" dirty="0">
                <a:solidFill>
                  <a:srgbClr val="000000"/>
                </a:solidFill>
                <a:latin typeface="Lato" pitchFamily="34" charset="0"/>
                <a:ea typeface="Lato" pitchFamily="34" charset="-122"/>
                <a:cs typeface="Lato" pitchFamily="34" charset="-120"/>
              </a:rPr>
              <a:t> is located near the left side of the desk, while a bottle can be seen on the right side. </a:t>
            </a:r>
            <a:r>
              <a:rPr lang="en-US" sz="1350" b="1" i="1" dirty="0">
                <a:solidFill>
                  <a:srgbClr val="2F5597"/>
                </a:solidFill>
                <a:latin typeface="Lato" pitchFamily="34" charset="0"/>
                <a:ea typeface="Lato" pitchFamily="34" charset="-122"/>
                <a:cs typeface="Lato" pitchFamily="34" charset="-120"/>
              </a:rPr>
              <a:t>A cup</a:t>
            </a:r>
            <a:r>
              <a:rPr lang="en-US" sz="1350" i="1" dirty="0">
                <a:solidFill>
                  <a:srgbClr val="000000"/>
                </a:solidFill>
                <a:latin typeface="Lato" pitchFamily="34" charset="0"/>
                <a:ea typeface="Lato" pitchFamily="34" charset="-122"/>
                <a:cs typeface="Lato" pitchFamily="34" charset="-120"/>
              </a:rPr>
              <a:t> is also present on the right side of the desk, and a bowl is placed near the center."</a:t>
            </a:r>
            <a:endParaRPr lang="en-US" sz="1350" dirty="0"/>
          </a:p>
        </p:txBody>
      </p:sp>
      <p:sp>
        <p:nvSpPr>
          <p:cNvPr id="15" name="Text 10"/>
          <p:cNvSpPr/>
          <p:nvPr/>
        </p:nvSpPr>
        <p:spPr>
          <a:xfrm>
            <a:off x="340360" y="5427464"/>
            <a:ext cx="11511280" cy="368300"/>
          </a:xfrm>
          <a:prstGeom prst="rect">
            <a:avLst/>
          </a:prstGeom>
          <a:noFill/>
          <a:ln/>
        </p:spPr>
        <p:txBody>
          <a:bodyPr wrap="square" lIns="0" tIns="0" rIns="0" bIns="0" rtlCol="0" anchor="t">
            <a:normAutofit/>
          </a:bodyPr>
          <a:lstStyle/>
          <a:p>
            <a:pPr marL="0" indent="0" algn="ctr">
              <a:lnSpc>
                <a:spcPts val="2700"/>
              </a:lnSpc>
              <a:buNone/>
            </a:pPr>
            <a:r>
              <a:rPr lang="en-US" sz="2000" b="1" dirty="0">
                <a:solidFill>
                  <a:srgbClr val="C00000"/>
                </a:solidFill>
                <a:latin typeface="Lato" pitchFamily="34" charset="0"/>
                <a:ea typeface="Lato" pitchFamily="34" charset="-122"/>
                <a:cs typeface="Lato" pitchFamily="34" charset="-120"/>
              </a:rPr>
              <a:t>Hallucinated, removed:</a:t>
            </a:r>
            <a:r>
              <a:rPr lang="en-US" sz="2000" dirty="0">
                <a:solidFill>
                  <a:srgbClr val="C00000"/>
                </a:solidFill>
                <a:latin typeface="Lato" pitchFamily="34" charset="0"/>
                <a:ea typeface="Lato" pitchFamily="34" charset="-122"/>
                <a:cs typeface="Lato" pitchFamily="34" charset="-120"/>
              </a:rPr>
              <a:t> glove, phone, one cat, one cup</a:t>
            </a:r>
            <a:r>
              <a:rPr lang="en-US" sz="2000" dirty="0">
                <a:solidFill>
                  <a:srgbClr val="333333"/>
                </a:solidFill>
                <a:latin typeface="Lato" pitchFamily="34" charset="0"/>
                <a:ea typeface="Lato" pitchFamily="34" charset="-122"/>
                <a:cs typeface="Lato" pitchFamily="34" charset="-120"/>
              </a:rPr>
              <a:t> · </a:t>
            </a:r>
            <a:r>
              <a:rPr lang="en-US" sz="2000" b="1" dirty="0">
                <a:solidFill>
                  <a:srgbClr val="2F5597"/>
                </a:solidFill>
                <a:latin typeface="Lato" pitchFamily="34" charset="0"/>
                <a:ea typeface="Lato" pitchFamily="34" charset="-122"/>
                <a:cs typeface="Lato" pitchFamily="34" charset="-120"/>
              </a:rPr>
              <a:t>Missed, added back:</a:t>
            </a:r>
            <a:r>
              <a:rPr lang="en-US" sz="2000" dirty="0">
                <a:solidFill>
                  <a:srgbClr val="2F5597"/>
                </a:solidFill>
                <a:latin typeface="Lato" pitchFamily="34" charset="0"/>
                <a:ea typeface="Lato" pitchFamily="34" charset="-122"/>
                <a:cs typeface="Lato" pitchFamily="34" charset="-120"/>
              </a:rPr>
              <a:t> the baseball</a:t>
            </a:r>
            <a:endParaRPr lang="en-US" sz="2000" dirty="0"/>
          </a:p>
        </p:txBody>
      </p:sp>
      <p:sp>
        <p:nvSpPr>
          <p:cNvPr id="16" name="Text 11"/>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17" name="Text 12"/>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15 / 33</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Takeaways</a:t>
            </a:r>
            <a:endParaRPr lang="en-US" sz="3200" dirty="0"/>
          </a:p>
        </p:txBody>
      </p:sp>
      <p:sp>
        <p:nvSpPr>
          <p:cNvPr id="4" name="Text 2"/>
          <p:cNvSpPr/>
          <p:nvPr/>
        </p:nvSpPr>
        <p:spPr>
          <a:xfrm>
            <a:off x="537210" y="1026120"/>
            <a:ext cx="11474450" cy="1168400"/>
          </a:xfrm>
          <a:prstGeom prst="rect">
            <a:avLst/>
          </a:prstGeom>
          <a:noFill/>
          <a:ln/>
        </p:spPr>
        <p:txBody>
          <a:bodyPr wrap="square" lIns="0" tIns="0" rIns="0" bIns="0" rtlCol="0" anchor="t">
            <a:normAutofit/>
          </a:bodyPr>
          <a:lstStyle/>
          <a:p>
            <a:pPr marL="224790" indent="-224790" algn="l">
              <a:lnSpc>
                <a:spcPts val="3000"/>
              </a:lnSpc>
              <a:buSzPct val="100000"/>
              <a:buChar char="•"/>
            </a:pPr>
            <a:r>
              <a:rPr lang="en-US" sz="2000" dirty="0">
                <a:solidFill>
                  <a:srgbClr val="000000"/>
                </a:solidFill>
                <a:latin typeface="Lato" pitchFamily="34" charset="0"/>
                <a:ea typeface="Lato" pitchFamily="34" charset="-122"/>
                <a:cs typeface="Lato" pitchFamily="34" charset="-120"/>
              </a:rPr>
              <a:t>Most hallucination changes follow the </a:t>
            </a:r>
            <a:r>
              <a:rPr lang="en-US" sz="2000" u="sng" dirty="0">
                <a:solidFill>
                  <a:srgbClr val="C00000"/>
                </a:solidFill>
                <a:latin typeface="Lato" pitchFamily="34" charset="0"/>
                <a:ea typeface="Lato" pitchFamily="34" charset="-122"/>
                <a:cs typeface="Lato" pitchFamily="34" charset="-120"/>
              </a:rPr>
              <a:t>visual input</a:t>
            </a:r>
            <a:r>
              <a:rPr lang="en-US" sz="2000" dirty="0">
                <a:solidFill>
                  <a:srgbClr val="000000"/>
                </a:solidFill>
                <a:latin typeface="Lato" pitchFamily="34" charset="0"/>
                <a:ea typeface="Lato" pitchFamily="34" charset="-122"/>
                <a:cs typeface="Lato" pitchFamily="34" charset="-120"/>
              </a:rPr>
              <a:t>, not only the language prior</a:t>
            </a:r>
            <a:endParaRPr lang="en-US" sz="2000" dirty="0"/>
          </a:p>
          <a:p>
            <a:pPr marL="224790" indent="-224790" algn="l">
              <a:lnSpc>
                <a:spcPts val="3000"/>
              </a:lnSpc>
              <a:buSzPct val="100000"/>
              <a:buChar char="•"/>
            </a:pPr>
            <a:r>
              <a:rPr lang="en-US" sz="2000" dirty="0">
                <a:solidFill>
                  <a:srgbClr val="000000"/>
                </a:solidFill>
                <a:latin typeface="Lato" pitchFamily="34" charset="0"/>
                <a:ea typeface="Lato" pitchFamily="34" charset="-122"/>
                <a:cs typeface="Lato" pitchFamily="34" charset="-120"/>
              </a:rPr>
              <a:t>Each hallucinated object leans on </a:t>
            </a:r>
            <a:r>
              <a:rPr lang="en-US" sz="2000" u="sng" dirty="0">
                <a:solidFill>
                  <a:srgbClr val="C00000"/>
                </a:solidFill>
                <a:latin typeface="Lato" pitchFamily="34" charset="0"/>
                <a:ea typeface="Lato" pitchFamily="34" charset="-122"/>
                <a:cs typeface="Lato" pitchFamily="34" charset="-120"/>
              </a:rPr>
              <a:t>a few look-alike image tokens</a:t>
            </a:r>
            <a:r>
              <a:rPr lang="en-US" sz="2000" dirty="0">
                <a:solidFill>
                  <a:srgbClr val="000000"/>
                </a:solidFill>
                <a:latin typeface="Lato" pitchFamily="34" charset="0"/>
                <a:ea typeface="Lato" pitchFamily="34" charset="-122"/>
                <a:cs typeface="Lato" pitchFamily="34" charset="-120"/>
              </a:rPr>
              <a:t>, about 1.5% of the image</a:t>
            </a:r>
            <a:endParaRPr lang="en-US" sz="2000" dirty="0"/>
          </a:p>
          <a:p>
            <a:pPr marL="224790" indent="-224790" algn="l">
              <a:lnSpc>
                <a:spcPts val="3000"/>
              </a:lnSpc>
              <a:buSzPct val="100000"/>
              <a:buChar char="•"/>
            </a:pPr>
            <a:r>
              <a:rPr lang="en-US" sz="2000" dirty="0">
                <a:solidFill>
                  <a:srgbClr val="000000"/>
                </a:solidFill>
                <a:latin typeface="Lato" pitchFamily="34" charset="0"/>
                <a:ea typeface="Lato" pitchFamily="34" charset="-122"/>
                <a:cs typeface="Lato" pitchFamily="34" charset="-120"/>
              </a:rPr>
              <a:t>EAZY </a:t>
            </a:r>
            <a:r>
              <a:rPr lang="en-US" sz="2000" u="sng" dirty="0">
                <a:solidFill>
                  <a:srgbClr val="C00000"/>
                </a:solidFill>
                <a:latin typeface="Lato" pitchFamily="34" charset="0"/>
                <a:ea typeface="Lato" pitchFamily="34" charset="-122"/>
                <a:cs typeface="Lato" pitchFamily="34" charset="-120"/>
              </a:rPr>
              <a:t>zeroes them out</a:t>
            </a:r>
            <a:r>
              <a:rPr lang="en-US" sz="2000" dirty="0">
                <a:solidFill>
                  <a:srgbClr val="000000"/>
                </a:solidFill>
                <a:latin typeface="Lato" pitchFamily="34" charset="0"/>
                <a:ea typeface="Lato" pitchFamily="34" charset="-122"/>
                <a:cs typeface="Lato" pitchFamily="34" charset="-120"/>
              </a:rPr>
              <a:t> to detect and reduce hallucinations across LVLMs, with no training</a:t>
            </a:r>
            <a:endParaRPr lang="en-US" sz="2000" dirty="0"/>
          </a:p>
        </p:txBody>
      </p:sp>
      <p:pic>
        <p:nvPicPr>
          <p:cNvPr id="5" name="Image 0" descr="Paper Figure 1: after zeroing out three image tokens, the hallucinated apples and oranges disappear and kiwis appear"/>
          <p:cNvPicPr>
            <a:picLocks noChangeAspect="1"/>
          </p:cNvPicPr>
          <p:nvPr/>
        </p:nvPicPr>
        <p:blipFill>
          <a:blip r:embed="rId3"/>
          <a:srcRect t="-32" b="-32"/>
          <a:stretch/>
        </p:blipFill>
        <p:spPr>
          <a:xfrm>
            <a:off x="1555750" y="2372320"/>
            <a:ext cx="9080500" cy="3536950"/>
          </a:xfrm>
          <a:prstGeom prst="rect">
            <a:avLst/>
          </a:prstGeom>
        </p:spPr>
      </p:pic>
      <p:sp>
        <p:nvSpPr>
          <p:cNvPr id="6" name="Text 3"/>
          <p:cNvSpPr/>
          <p:nvPr/>
        </p:nvSpPr>
        <p:spPr>
          <a:xfrm>
            <a:off x="508000" y="604520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Lato" pitchFamily="34" charset="0"/>
                <a:ea typeface="Lato" pitchFamily="34" charset="-122"/>
                <a:cs typeface="Lato" pitchFamily="34" charset="-120"/>
              </a:rPr>
              <a:t>Che, Liu, Jia, Qin, Tang, Pavlovic. Hallucinatory Image Tokens, ICCV 2025</a:t>
            </a:r>
            <a:endParaRPr lang="en-US" sz="1200" dirty="0"/>
          </a:p>
        </p:txBody>
      </p:sp>
      <p:sp>
        <p:nvSpPr>
          <p:cNvPr id="7" name="Text 4"/>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8" name="Text 5"/>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16 / 33</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Shape 1"/>
          <p:cNvSpPr/>
          <p:nvPr/>
        </p:nvSpPr>
        <p:spPr>
          <a:xfrm>
            <a:off x="511175" y="1847850"/>
            <a:ext cx="3414167" cy="2692350"/>
          </a:xfrm>
          <a:prstGeom prst="roundRect">
            <a:avLst>
              <a:gd name="adj" fmla="val 4599"/>
            </a:avLst>
          </a:prstGeom>
          <a:solidFill>
            <a:srgbClr val="FFFFFF">
              <a:alpha val="40000"/>
            </a:srgbClr>
          </a:solidFill>
          <a:ln w="6350">
            <a:solidFill>
              <a:srgbClr val="E4E7ED">
                <a:alpha val="40000"/>
              </a:srgbClr>
            </a:solidFill>
            <a:prstDash val="solid"/>
          </a:ln>
          <a:effectLst>
            <a:outerShdw blurRad="25400" dist="12700" dir="5400000" algn="bl" rotWithShape="0">
              <a:srgbClr val="111827">
                <a:alpha val="2000"/>
              </a:srgbClr>
            </a:outerShdw>
          </a:effectLst>
        </p:spPr>
        <p:txBody>
          <a:bodyPr/>
          <a:lstStyle/>
          <a:p>
            <a:endParaRPr lang="en-US"/>
          </a:p>
        </p:txBody>
      </p:sp>
      <p:sp>
        <p:nvSpPr>
          <p:cNvPr id="4" name="Text 2"/>
          <p:cNvSpPr/>
          <p:nvPr/>
        </p:nvSpPr>
        <p:spPr>
          <a:xfrm>
            <a:off x="692150" y="2003425"/>
            <a:ext cx="3143783" cy="306040"/>
          </a:xfrm>
          <a:prstGeom prst="rect">
            <a:avLst/>
          </a:prstGeom>
          <a:noFill/>
          <a:ln/>
        </p:spPr>
        <p:txBody>
          <a:bodyPr wrap="none" lIns="0" tIns="0" rIns="0" bIns="0" rtlCol="0" anchor="t">
            <a:normAutofit/>
          </a:bodyPr>
          <a:lstStyle/>
          <a:p>
            <a:pPr marL="0" indent="0" algn="l">
              <a:lnSpc>
                <a:spcPts val="2210"/>
              </a:lnSpc>
              <a:buNone/>
            </a:pPr>
            <a:r>
              <a:rPr lang="en-US" sz="1700" b="1" dirty="0">
                <a:solidFill>
                  <a:srgbClr val="2F64A8">
                    <a:alpha val="40000"/>
                  </a:srgbClr>
                </a:solidFill>
                <a:latin typeface="Lato" pitchFamily="34" charset="0"/>
                <a:ea typeface="Lato" pitchFamily="34" charset="-122"/>
                <a:cs typeface="Lato" pitchFamily="34" charset="-120"/>
              </a:rPr>
              <a:t>Perception reliability</a:t>
            </a:r>
            <a:endParaRPr lang="en-US" sz="1700" dirty="0"/>
          </a:p>
        </p:txBody>
      </p:sp>
      <p:pic>
        <p:nvPicPr>
          <p:cNvPr id="5" name="Image 0" descr="A robot unsure how many fingers a hand shows, answering 5 (wrong) and 6 (right)"/>
          <p:cNvPicPr>
            <a:picLocks noChangeAspect="1"/>
          </p:cNvPicPr>
          <p:nvPr/>
        </p:nvPicPr>
        <p:blipFill>
          <a:blip r:embed="rId3">
            <a:alphaModFix amt="40000"/>
          </a:blip>
          <a:srcRect t="-115" b="-115"/>
          <a:stretch/>
        </p:blipFill>
        <p:spPr>
          <a:xfrm>
            <a:off x="692150" y="2385665"/>
            <a:ext cx="3048000" cy="1384300"/>
          </a:xfrm>
          <a:prstGeom prst="rect">
            <a:avLst/>
          </a:prstGeom>
        </p:spPr>
      </p:pic>
      <p:sp>
        <p:nvSpPr>
          <p:cNvPr id="6" name="Shape 3"/>
          <p:cNvSpPr/>
          <p:nvPr/>
        </p:nvSpPr>
        <p:spPr>
          <a:xfrm>
            <a:off x="692150" y="3960465"/>
            <a:ext cx="76200" cy="76200"/>
          </a:xfrm>
          <a:prstGeom prst="roundRect">
            <a:avLst>
              <a:gd name="adj" fmla="val 50000"/>
            </a:avLst>
          </a:prstGeom>
          <a:solidFill>
            <a:srgbClr val="2F64A8">
              <a:alpha val="40000"/>
            </a:srgbClr>
          </a:solidFill>
          <a:ln/>
        </p:spPr>
        <p:txBody>
          <a:bodyPr/>
          <a:lstStyle/>
          <a:p>
            <a:endParaRPr lang="en-US"/>
          </a:p>
        </p:txBody>
      </p:sp>
      <p:sp>
        <p:nvSpPr>
          <p:cNvPr id="7" name="Text 4"/>
          <p:cNvSpPr/>
          <p:nvPr/>
        </p:nvSpPr>
        <p:spPr>
          <a:xfrm>
            <a:off x="857250" y="3871565"/>
            <a:ext cx="3064917"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B4150">
                    <a:alpha val="40000"/>
                  </a:srgbClr>
                </a:solidFill>
                <a:latin typeface="Lato" pitchFamily="34" charset="0"/>
                <a:ea typeface="Lato" pitchFamily="34" charset="-122"/>
                <a:cs typeface="Lato" pitchFamily="34" charset="-120"/>
              </a:rPr>
              <a:t>Hallucination detection &amp; mitigation</a:t>
            </a:r>
            <a:endParaRPr lang="en-US" sz="1400" dirty="0"/>
          </a:p>
        </p:txBody>
      </p:sp>
      <p:sp>
        <p:nvSpPr>
          <p:cNvPr id="8" name="Shape 5"/>
          <p:cNvSpPr/>
          <p:nvPr/>
        </p:nvSpPr>
        <p:spPr>
          <a:xfrm>
            <a:off x="692150" y="4242395"/>
            <a:ext cx="76200" cy="76200"/>
          </a:xfrm>
          <a:prstGeom prst="roundRect">
            <a:avLst>
              <a:gd name="adj" fmla="val 50000"/>
            </a:avLst>
          </a:prstGeom>
          <a:solidFill>
            <a:srgbClr val="2F64A8">
              <a:alpha val="40000"/>
            </a:srgbClr>
          </a:solidFill>
          <a:ln/>
        </p:spPr>
        <p:txBody>
          <a:bodyPr/>
          <a:lstStyle/>
          <a:p>
            <a:endParaRPr lang="en-US"/>
          </a:p>
        </p:txBody>
      </p:sp>
      <p:sp>
        <p:nvSpPr>
          <p:cNvPr id="9" name="Text 6"/>
          <p:cNvSpPr/>
          <p:nvPr/>
        </p:nvSpPr>
        <p:spPr>
          <a:xfrm>
            <a:off x="857250" y="4153495"/>
            <a:ext cx="2462629"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B4150">
                    <a:alpha val="40000"/>
                  </a:srgbClr>
                </a:solidFill>
                <a:latin typeface="Lato" pitchFamily="34" charset="0"/>
                <a:ea typeface="Lato" pitchFamily="34" charset="-122"/>
                <a:cs typeface="Lato" pitchFamily="34" charset="-120"/>
              </a:rPr>
              <a:t>Uncertainty quantification</a:t>
            </a:r>
            <a:endParaRPr lang="en-US" sz="1400" dirty="0"/>
          </a:p>
        </p:txBody>
      </p:sp>
      <p:pic>
        <p:nvPicPr>
          <p:cNvPr id="10" name="Image 1" descr="arrow-right"/>
          <p:cNvPicPr>
            <a:picLocks noChangeAspect="1"/>
          </p:cNvPicPr>
          <p:nvPr/>
        </p:nvPicPr>
        <p:blipFill>
          <a:blip r:embed="rId4"/>
          <a:srcRect/>
          <a:stretch/>
        </p:blipFill>
        <p:spPr>
          <a:xfrm>
            <a:off x="4030117" y="3124150"/>
            <a:ext cx="254000" cy="139700"/>
          </a:xfrm>
          <a:prstGeom prst="rect">
            <a:avLst/>
          </a:prstGeom>
        </p:spPr>
      </p:pic>
      <p:sp>
        <p:nvSpPr>
          <p:cNvPr id="11" name="Shape 7"/>
          <p:cNvSpPr/>
          <p:nvPr/>
        </p:nvSpPr>
        <p:spPr>
          <a:xfrm>
            <a:off x="4388892" y="1847850"/>
            <a:ext cx="3414216" cy="2692350"/>
          </a:xfrm>
          <a:prstGeom prst="roundRect">
            <a:avLst>
              <a:gd name="adj" fmla="val 4599"/>
            </a:avLst>
          </a:prstGeom>
          <a:solidFill>
            <a:srgbClr val="FFFFFF">
              <a:alpha val="40000"/>
            </a:srgbClr>
          </a:solidFill>
          <a:ln w="6350">
            <a:solidFill>
              <a:srgbClr val="E4E7ED">
                <a:alpha val="40000"/>
              </a:srgbClr>
            </a:solidFill>
            <a:prstDash val="solid"/>
          </a:ln>
          <a:effectLst>
            <a:outerShdw blurRad="25400" dist="12700" dir="5400000" algn="bl" rotWithShape="0">
              <a:srgbClr val="111827">
                <a:alpha val="2000"/>
              </a:srgbClr>
            </a:outerShdw>
          </a:effectLst>
        </p:spPr>
        <p:txBody>
          <a:bodyPr/>
          <a:lstStyle/>
          <a:p>
            <a:endParaRPr lang="en-US"/>
          </a:p>
        </p:txBody>
      </p:sp>
      <p:sp>
        <p:nvSpPr>
          <p:cNvPr id="12" name="Text 8"/>
          <p:cNvSpPr/>
          <p:nvPr/>
        </p:nvSpPr>
        <p:spPr>
          <a:xfrm>
            <a:off x="4569867" y="2003425"/>
            <a:ext cx="3143834" cy="306040"/>
          </a:xfrm>
          <a:prstGeom prst="rect">
            <a:avLst/>
          </a:prstGeom>
          <a:noFill/>
          <a:ln/>
        </p:spPr>
        <p:txBody>
          <a:bodyPr wrap="none" lIns="0" tIns="0" rIns="0" bIns="0" rtlCol="0" anchor="t">
            <a:normAutofit/>
          </a:bodyPr>
          <a:lstStyle/>
          <a:p>
            <a:pPr marL="0" indent="0" algn="l">
              <a:lnSpc>
                <a:spcPts val="2210"/>
              </a:lnSpc>
              <a:buNone/>
            </a:pPr>
            <a:r>
              <a:rPr lang="en-US" sz="1700" b="1" dirty="0">
                <a:solidFill>
                  <a:srgbClr val="1E7B70">
                    <a:alpha val="40000"/>
                  </a:srgbClr>
                </a:solidFill>
                <a:latin typeface="Lato" pitchFamily="34" charset="0"/>
                <a:ea typeface="Lato" pitchFamily="34" charset="-122"/>
                <a:cs typeface="Lato" pitchFamily="34" charset="-120"/>
              </a:rPr>
              <a:t>Operational interpretability</a:t>
            </a:r>
            <a:endParaRPr lang="en-US" sz="1700" dirty="0"/>
          </a:p>
        </p:txBody>
      </p:sp>
      <p:pic>
        <p:nvPicPr>
          <p:cNvPr id="13" name="Image 2" descr="A robot whose internal network is probed by a hand holding a needle"/>
          <p:cNvPicPr>
            <a:picLocks noChangeAspect="1"/>
          </p:cNvPicPr>
          <p:nvPr/>
        </p:nvPicPr>
        <p:blipFill>
          <a:blip r:embed="rId5">
            <a:alphaModFix amt="40000"/>
          </a:blip>
          <a:srcRect t="-115" b="-115"/>
          <a:stretch/>
        </p:blipFill>
        <p:spPr>
          <a:xfrm>
            <a:off x="4569867" y="2385665"/>
            <a:ext cx="3048000" cy="1384300"/>
          </a:xfrm>
          <a:prstGeom prst="rect">
            <a:avLst/>
          </a:prstGeom>
        </p:spPr>
      </p:pic>
      <p:sp>
        <p:nvSpPr>
          <p:cNvPr id="14" name="Shape 9"/>
          <p:cNvSpPr/>
          <p:nvPr/>
        </p:nvSpPr>
        <p:spPr>
          <a:xfrm>
            <a:off x="4569867" y="3960465"/>
            <a:ext cx="76200" cy="76200"/>
          </a:xfrm>
          <a:prstGeom prst="roundRect">
            <a:avLst>
              <a:gd name="adj" fmla="val 50000"/>
            </a:avLst>
          </a:prstGeom>
          <a:solidFill>
            <a:srgbClr val="1E7B70">
              <a:alpha val="40000"/>
            </a:srgbClr>
          </a:solidFill>
          <a:ln/>
        </p:spPr>
        <p:txBody>
          <a:bodyPr/>
          <a:lstStyle/>
          <a:p>
            <a:endParaRPr lang="en-US"/>
          </a:p>
        </p:txBody>
      </p:sp>
      <p:sp>
        <p:nvSpPr>
          <p:cNvPr id="15" name="Text 10"/>
          <p:cNvSpPr/>
          <p:nvPr/>
        </p:nvSpPr>
        <p:spPr>
          <a:xfrm>
            <a:off x="4734967" y="3871565"/>
            <a:ext cx="2833688"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B4150">
                    <a:alpha val="40000"/>
                  </a:srgbClr>
                </a:solidFill>
                <a:latin typeface="Lato" pitchFamily="34" charset="0"/>
                <a:ea typeface="Lato" pitchFamily="34" charset="-122"/>
                <a:cs typeface="Lato" pitchFamily="34" charset="-120"/>
              </a:rPr>
              <a:t>Causal mechanism localization</a:t>
            </a:r>
            <a:endParaRPr lang="en-US" sz="1400" dirty="0"/>
          </a:p>
        </p:txBody>
      </p:sp>
      <p:sp>
        <p:nvSpPr>
          <p:cNvPr id="16" name="Shape 11"/>
          <p:cNvSpPr/>
          <p:nvPr/>
        </p:nvSpPr>
        <p:spPr>
          <a:xfrm>
            <a:off x="4569867" y="4242395"/>
            <a:ext cx="76200" cy="76200"/>
          </a:xfrm>
          <a:prstGeom prst="roundRect">
            <a:avLst>
              <a:gd name="adj" fmla="val 50000"/>
            </a:avLst>
          </a:prstGeom>
          <a:solidFill>
            <a:srgbClr val="1E7B70">
              <a:alpha val="40000"/>
            </a:srgbClr>
          </a:solidFill>
          <a:ln/>
        </p:spPr>
        <p:txBody>
          <a:bodyPr/>
          <a:lstStyle/>
          <a:p>
            <a:endParaRPr lang="en-US"/>
          </a:p>
        </p:txBody>
      </p:sp>
      <p:sp>
        <p:nvSpPr>
          <p:cNvPr id="17" name="Text 12"/>
          <p:cNvSpPr/>
          <p:nvPr/>
        </p:nvSpPr>
        <p:spPr>
          <a:xfrm>
            <a:off x="4734967" y="4153495"/>
            <a:ext cx="2587466"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B4150">
                    <a:alpha val="40000"/>
                  </a:srgbClr>
                </a:solidFill>
                <a:latin typeface="Lato" pitchFamily="34" charset="0"/>
                <a:ea typeface="Lato" pitchFamily="34" charset="-122"/>
                <a:cs typeface="Lato" pitchFamily="34" charset="-120"/>
              </a:rPr>
              <a:t>Mechanism-guided steering</a:t>
            </a:r>
            <a:endParaRPr lang="en-US" sz="1400" dirty="0"/>
          </a:p>
        </p:txBody>
      </p:sp>
      <p:pic>
        <p:nvPicPr>
          <p:cNvPr id="18" name="Image 3" descr="arrow-right"/>
          <p:cNvPicPr>
            <a:picLocks noChangeAspect="1"/>
          </p:cNvPicPr>
          <p:nvPr/>
        </p:nvPicPr>
        <p:blipFill>
          <a:blip r:embed="rId6"/>
          <a:srcRect/>
          <a:stretch/>
        </p:blipFill>
        <p:spPr>
          <a:xfrm>
            <a:off x="7907883" y="3124150"/>
            <a:ext cx="254000" cy="139700"/>
          </a:xfrm>
          <a:prstGeom prst="rect">
            <a:avLst/>
          </a:prstGeom>
        </p:spPr>
      </p:pic>
      <p:sp>
        <p:nvSpPr>
          <p:cNvPr id="19" name="Shape 13"/>
          <p:cNvSpPr/>
          <p:nvPr/>
        </p:nvSpPr>
        <p:spPr>
          <a:xfrm>
            <a:off x="8266658" y="1847850"/>
            <a:ext cx="3414167" cy="2692350"/>
          </a:xfrm>
          <a:prstGeom prst="roundRect">
            <a:avLst>
              <a:gd name="adj" fmla="val 4599"/>
            </a:avLst>
          </a:prstGeom>
          <a:solidFill>
            <a:srgbClr val="FFFFFF"/>
          </a:solidFill>
          <a:ln w="6350">
            <a:solidFill>
              <a:srgbClr val="E4E7ED"/>
            </a:solidFill>
            <a:prstDash val="solid"/>
          </a:ln>
          <a:effectLst>
            <a:outerShdw blurRad="25400" dist="12700" dir="5400000" algn="bl" rotWithShape="0">
              <a:srgbClr val="111827">
                <a:alpha val="5000"/>
              </a:srgbClr>
            </a:outerShdw>
          </a:effectLst>
        </p:spPr>
        <p:txBody>
          <a:bodyPr/>
          <a:lstStyle/>
          <a:p>
            <a:endParaRPr lang="en-US"/>
          </a:p>
        </p:txBody>
      </p:sp>
      <p:sp>
        <p:nvSpPr>
          <p:cNvPr id="20" name="Text 14"/>
          <p:cNvSpPr/>
          <p:nvPr/>
        </p:nvSpPr>
        <p:spPr>
          <a:xfrm>
            <a:off x="8447633" y="2003425"/>
            <a:ext cx="3143783" cy="306040"/>
          </a:xfrm>
          <a:prstGeom prst="rect">
            <a:avLst/>
          </a:prstGeom>
          <a:noFill/>
          <a:ln/>
        </p:spPr>
        <p:txBody>
          <a:bodyPr wrap="none" lIns="0" tIns="0" rIns="0" bIns="0" rtlCol="0" anchor="t">
            <a:normAutofit/>
          </a:bodyPr>
          <a:lstStyle/>
          <a:p>
            <a:pPr marL="0" indent="0" algn="l">
              <a:lnSpc>
                <a:spcPts val="2210"/>
              </a:lnSpc>
              <a:buNone/>
            </a:pPr>
            <a:r>
              <a:rPr lang="en-US" sz="1700" b="1" dirty="0">
                <a:solidFill>
                  <a:srgbClr val="6B4FA0"/>
                </a:solidFill>
                <a:latin typeface="Lato" pitchFamily="34" charset="0"/>
                <a:ea typeface="Lato" pitchFamily="34" charset="-122"/>
                <a:cs typeface="Lato" pitchFamily="34" charset="-120"/>
              </a:rPr>
              <a:t>Agent safety &amp; control</a:t>
            </a:r>
            <a:endParaRPr lang="en-US" sz="1700" dirty="0"/>
          </a:p>
        </p:txBody>
      </p:sp>
      <p:pic>
        <p:nvPicPr>
          <p:cNvPr id="21" name="Image 4" descr="A multi-agent plan trace where a patch step is flagged and the deploy step is held back"/>
          <p:cNvPicPr>
            <a:picLocks noChangeAspect="1"/>
          </p:cNvPicPr>
          <p:nvPr/>
        </p:nvPicPr>
        <p:blipFill>
          <a:blip r:embed="rId7"/>
          <a:srcRect t="-115" b="-115"/>
          <a:stretch/>
        </p:blipFill>
        <p:spPr>
          <a:xfrm>
            <a:off x="8447633" y="2385665"/>
            <a:ext cx="3048000" cy="1384300"/>
          </a:xfrm>
          <a:prstGeom prst="rect">
            <a:avLst/>
          </a:prstGeom>
        </p:spPr>
      </p:pic>
      <p:sp>
        <p:nvSpPr>
          <p:cNvPr id="22" name="Shape 15"/>
          <p:cNvSpPr/>
          <p:nvPr/>
        </p:nvSpPr>
        <p:spPr>
          <a:xfrm>
            <a:off x="8447633" y="3960465"/>
            <a:ext cx="76200" cy="76200"/>
          </a:xfrm>
          <a:prstGeom prst="roundRect">
            <a:avLst>
              <a:gd name="adj" fmla="val 50000"/>
            </a:avLst>
          </a:prstGeom>
          <a:solidFill>
            <a:srgbClr val="6B4FA0"/>
          </a:solidFill>
          <a:ln/>
        </p:spPr>
        <p:txBody>
          <a:bodyPr/>
          <a:lstStyle/>
          <a:p>
            <a:endParaRPr lang="en-US"/>
          </a:p>
        </p:txBody>
      </p:sp>
      <p:sp>
        <p:nvSpPr>
          <p:cNvPr id="23" name="Text 16"/>
          <p:cNvSpPr/>
          <p:nvPr/>
        </p:nvSpPr>
        <p:spPr>
          <a:xfrm>
            <a:off x="8612733" y="3871565"/>
            <a:ext cx="2753678"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B4150"/>
                </a:solidFill>
                <a:latin typeface="Lato" pitchFamily="34" charset="0"/>
                <a:ea typeface="Lato" pitchFamily="34" charset="-122"/>
                <a:cs typeface="Lato" pitchFamily="34" charset="-120"/>
              </a:rPr>
              <a:t>Multi-agent failure prediction</a:t>
            </a:r>
            <a:endParaRPr lang="en-US" sz="1400" dirty="0"/>
          </a:p>
        </p:txBody>
      </p:sp>
      <p:sp>
        <p:nvSpPr>
          <p:cNvPr id="24" name="Shape 17"/>
          <p:cNvSpPr/>
          <p:nvPr/>
        </p:nvSpPr>
        <p:spPr>
          <a:xfrm>
            <a:off x="8447633" y="4242395"/>
            <a:ext cx="76200" cy="76200"/>
          </a:xfrm>
          <a:prstGeom prst="roundRect">
            <a:avLst>
              <a:gd name="adj" fmla="val 50000"/>
            </a:avLst>
          </a:prstGeom>
          <a:solidFill>
            <a:srgbClr val="6B4FA0"/>
          </a:solidFill>
          <a:ln/>
        </p:spPr>
        <p:txBody>
          <a:bodyPr/>
          <a:lstStyle/>
          <a:p>
            <a:endParaRPr lang="en-US"/>
          </a:p>
        </p:txBody>
      </p:sp>
      <p:sp>
        <p:nvSpPr>
          <p:cNvPr id="25" name="Text 18"/>
          <p:cNvSpPr/>
          <p:nvPr/>
        </p:nvSpPr>
        <p:spPr>
          <a:xfrm>
            <a:off x="8612733" y="4153495"/>
            <a:ext cx="2980015"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B4150"/>
                </a:solidFill>
                <a:latin typeface="Lato" pitchFamily="34" charset="0"/>
                <a:ea typeface="Lato" pitchFamily="34" charset="-122"/>
                <a:cs typeface="Lato" pitchFamily="34" charset="-120"/>
              </a:rPr>
              <a:t>Error containment and recovery</a:t>
            </a:r>
            <a:endParaRPr lang="en-US" sz="1400" dirty="0"/>
          </a:p>
        </p:txBody>
      </p:sp>
      <p:sp>
        <p:nvSpPr>
          <p:cNvPr id="26" name="Text 19"/>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27" name="Text 20"/>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17 / 33</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4" name="Text 2"/>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18 / 33</a:t>
            </a:r>
            <a:endParaRPr lang="en-US" sz="1200" dirty="0"/>
          </a:p>
        </p:txBody>
      </p:sp>
      <p:sp>
        <p:nvSpPr>
          <p:cNvPr id="5" name="Text 3"/>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From One Agent to Many, on Longer Tasks</a:t>
            </a:r>
            <a:endParaRPr lang="en-US" sz="3200" dirty="0"/>
          </a:p>
        </p:txBody>
      </p:sp>
      <p:sp>
        <p:nvSpPr>
          <p:cNvPr id="6" name="Text 4"/>
          <p:cNvSpPr/>
          <p:nvPr/>
        </p:nvSpPr>
        <p:spPr>
          <a:xfrm>
            <a:off x="508000" y="1026120"/>
            <a:ext cx="11511280" cy="355600"/>
          </a:xfrm>
          <a:prstGeom prst="rect">
            <a:avLst/>
          </a:prstGeom>
          <a:noFill/>
          <a:ln/>
        </p:spPr>
        <p:txBody>
          <a:bodyPr wrap="square" lIns="0" tIns="0" rIns="0" bIns="0" rtlCol="0" anchor="t">
            <a:normAutofit/>
          </a:bodyPr>
          <a:lstStyle/>
          <a:p>
            <a:pPr marL="0" indent="0" algn="l">
              <a:lnSpc>
                <a:spcPts val="2600"/>
              </a:lnSpc>
              <a:buNone/>
            </a:pPr>
            <a:r>
              <a:rPr lang="en-US" sz="2000" b="1" dirty="0">
                <a:solidFill>
                  <a:srgbClr val="000000"/>
                </a:solidFill>
                <a:latin typeface="Lato" pitchFamily="34" charset="0"/>
                <a:ea typeface="Lato" pitchFamily="34" charset="-122"/>
                <a:cs typeface="Lato" pitchFamily="34" charset="-120"/>
              </a:rPr>
              <a:t>LLM agents:</a:t>
            </a:r>
            <a:r>
              <a:rPr lang="en-US" sz="2000" dirty="0">
                <a:solidFill>
                  <a:srgbClr val="000000"/>
                </a:solidFill>
                <a:latin typeface="Lato" pitchFamily="34" charset="0"/>
                <a:ea typeface="Lato" pitchFamily="34" charset="-122"/>
                <a:cs typeface="Lato" pitchFamily="34" charset="-120"/>
              </a:rPr>
              <a:t> more steps and more agents mean </a:t>
            </a:r>
            <a:r>
              <a:rPr lang="en-US" sz="2000" u="sng" dirty="0">
                <a:solidFill>
                  <a:srgbClr val="C00000"/>
                </a:solidFill>
                <a:latin typeface="Lato" pitchFamily="34" charset="0"/>
                <a:ea typeface="Lato" pitchFamily="34" charset="-122"/>
                <a:cs typeface="Lato" pitchFamily="34" charset="-120"/>
              </a:rPr>
              <a:t>more places for one error to enter and spread</a:t>
            </a:r>
            <a:endParaRPr lang="en-US" sz="2000" dirty="0"/>
          </a:p>
        </p:txBody>
      </p:sp>
      <p:sp>
        <p:nvSpPr>
          <p:cNvPr id="7" name="Shape 5"/>
          <p:cNvSpPr/>
          <p:nvPr/>
        </p:nvSpPr>
        <p:spPr>
          <a:xfrm>
            <a:off x="508000" y="1927870"/>
            <a:ext cx="5048250" cy="2826990"/>
          </a:xfrm>
          <a:prstGeom prst="roundRect">
            <a:avLst>
              <a:gd name="adj" fmla="val 5391"/>
            </a:avLst>
          </a:prstGeom>
          <a:solidFill>
            <a:srgbClr val="F3F3F3"/>
          </a:solidFill>
          <a:ln/>
        </p:spPr>
        <p:txBody>
          <a:bodyPr/>
          <a:lstStyle/>
          <a:p>
            <a:endParaRPr lang="en-US"/>
          </a:p>
        </p:txBody>
      </p:sp>
      <p:sp>
        <p:nvSpPr>
          <p:cNvPr id="8" name="Text 6"/>
          <p:cNvSpPr/>
          <p:nvPr/>
        </p:nvSpPr>
        <p:spPr>
          <a:xfrm>
            <a:off x="685800" y="2054870"/>
            <a:ext cx="483343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F5597"/>
                </a:solidFill>
                <a:latin typeface="Lato" pitchFamily="34" charset="0"/>
                <a:ea typeface="Lato" pitchFamily="34" charset="-122"/>
                <a:cs typeface="Lato" pitchFamily="34" charset="-120"/>
              </a:rPr>
              <a:t>Single agent</a:t>
            </a:r>
            <a:endParaRPr lang="en-US" sz="1400" dirty="0"/>
          </a:p>
        </p:txBody>
      </p:sp>
      <p:pic>
        <p:nvPicPr>
          <p:cNvPr id="9" name="Image 0" descr="one agent sends actions to tools and receives observations back, repeated for many steps"/>
          <p:cNvPicPr>
            <a:picLocks noChangeAspect="1"/>
          </p:cNvPicPr>
          <p:nvPr/>
        </p:nvPicPr>
        <p:blipFill>
          <a:blip r:embed="rId3"/>
          <a:srcRect/>
          <a:stretch/>
        </p:blipFill>
        <p:spPr>
          <a:xfrm>
            <a:off x="685800" y="2341860"/>
            <a:ext cx="4699000" cy="2114550"/>
          </a:xfrm>
          <a:prstGeom prst="rect">
            <a:avLst/>
          </a:prstGeom>
        </p:spPr>
      </p:pic>
      <p:pic>
        <p:nvPicPr>
          <p:cNvPr id="10" name="Image 1" descr="chat agent"/>
          <p:cNvPicPr>
            <a:picLocks noChangeAspect="1"/>
          </p:cNvPicPr>
          <p:nvPr/>
        </p:nvPicPr>
        <p:blipFill>
          <a:blip r:embed="rId4"/>
          <a:srcRect t="-90" b="-90"/>
          <a:stretch/>
        </p:blipFill>
        <p:spPr>
          <a:xfrm>
            <a:off x="1130300" y="2722860"/>
            <a:ext cx="1079500" cy="1562100"/>
          </a:xfrm>
          <a:prstGeom prst="rect">
            <a:avLst/>
          </a:prstGeom>
        </p:spPr>
      </p:pic>
      <p:sp>
        <p:nvSpPr>
          <p:cNvPr id="11" name="Shape 7"/>
          <p:cNvSpPr/>
          <p:nvPr/>
        </p:nvSpPr>
        <p:spPr>
          <a:xfrm>
            <a:off x="3600450" y="2856210"/>
            <a:ext cx="1727200" cy="1038721"/>
          </a:xfrm>
          <a:prstGeom prst="roundRect">
            <a:avLst>
              <a:gd name="adj" fmla="val 9170"/>
            </a:avLst>
          </a:prstGeom>
          <a:solidFill>
            <a:srgbClr val="FFFFFF"/>
          </a:solidFill>
          <a:ln w="12700">
            <a:solidFill>
              <a:srgbClr val="2F5597"/>
            </a:solidFill>
            <a:prstDash val="solid"/>
          </a:ln>
        </p:spPr>
        <p:txBody>
          <a:bodyPr/>
          <a:lstStyle/>
          <a:p>
            <a:endParaRPr lang="en-US"/>
          </a:p>
        </p:txBody>
      </p:sp>
      <p:sp>
        <p:nvSpPr>
          <p:cNvPr id="12" name="Text 8"/>
          <p:cNvSpPr/>
          <p:nvPr/>
        </p:nvSpPr>
        <p:spPr>
          <a:xfrm>
            <a:off x="3670300" y="2976860"/>
            <a:ext cx="1587500" cy="421580"/>
          </a:xfrm>
          <a:prstGeom prst="rect">
            <a:avLst/>
          </a:prstGeom>
          <a:noFill/>
          <a:ln/>
        </p:spPr>
        <p:txBody>
          <a:bodyPr wrap="square" lIns="0" tIns="0" rIns="0" bIns="0" rtlCol="0" anchor="t">
            <a:normAutofit/>
          </a:bodyPr>
          <a:lstStyle/>
          <a:p>
            <a:pPr marL="0" indent="0" algn="ctr">
              <a:lnSpc>
                <a:spcPts val="1560"/>
              </a:lnSpc>
              <a:buNone/>
            </a:pPr>
            <a:r>
              <a:rPr lang="en-US" sz="1300" b="1" dirty="0">
                <a:solidFill>
                  <a:srgbClr val="2F5597"/>
                </a:solidFill>
                <a:latin typeface="Lato" pitchFamily="34" charset="0"/>
                <a:ea typeface="Lato" pitchFamily="34" charset="-122"/>
                <a:cs typeface="Lato" pitchFamily="34" charset="-120"/>
              </a:rPr>
              <a:t>Tools and environment</a:t>
            </a:r>
            <a:endParaRPr lang="en-US" sz="1300" dirty="0"/>
          </a:p>
        </p:txBody>
      </p:sp>
      <p:sp>
        <p:nvSpPr>
          <p:cNvPr id="13" name="Text 9"/>
          <p:cNvSpPr/>
          <p:nvPr/>
        </p:nvSpPr>
        <p:spPr>
          <a:xfrm>
            <a:off x="3670300" y="3411141"/>
            <a:ext cx="1587500" cy="388541"/>
          </a:xfrm>
          <a:prstGeom prst="rect">
            <a:avLst/>
          </a:prstGeom>
          <a:noFill/>
          <a:ln/>
        </p:spPr>
        <p:txBody>
          <a:bodyPr wrap="square" lIns="0" tIns="0" rIns="0" bIns="0" rtlCol="0" anchor="t">
            <a:normAutofit/>
          </a:bodyPr>
          <a:lstStyle/>
          <a:p>
            <a:pPr marL="0" indent="0" algn="ctr">
              <a:lnSpc>
                <a:spcPts val="1430"/>
              </a:lnSpc>
              <a:buNone/>
            </a:pPr>
            <a:r>
              <a:rPr lang="en-US" sz="1100" dirty="0">
                <a:solidFill>
                  <a:srgbClr val="000000"/>
                </a:solidFill>
                <a:latin typeface="Lato" pitchFamily="34" charset="0"/>
                <a:ea typeface="Lato" pitchFamily="34" charset="-122"/>
                <a:cs typeface="Lato" pitchFamily="34" charset="-120"/>
              </a:rPr>
              <a:t>web search, code, files, APIs, accounts</a:t>
            </a:r>
            <a:endParaRPr lang="en-US" sz="1100" dirty="0"/>
          </a:p>
        </p:txBody>
      </p:sp>
      <p:sp>
        <p:nvSpPr>
          <p:cNvPr id="14" name="Text 10"/>
          <p:cNvSpPr/>
          <p:nvPr/>
        </p:nvSpPr>
        <p:spPr>
          <a:xfrm>
            <a:off x="2628900" y="2926060"/>
            <a:ext cx="812800" cy="212080"/>
          </a:xfrm>
          <a:prstGeom prst="rect">
            <a:avLst/>
          </a:prstGeom>
          <a:noFill/>
          <a:ln/>
        </p:spPr>
        <p:txBody>
          <a:bodyPr wrap="square" lIns="0" tIns="0" rIns="0" bIns="0" rtlCol="0" anchor="t">
            <a:normAutofit/>
          </a:bodyPr>
          <a:lstStyle/>
          <a:p>
            <a:pPr marL="0" indent="0" algn="ctr">
              <a:lnSpc>
                <a:spcPts val="1470"/>
              </a:lnSpc>
              <a:buNone/>
            </a:pPr>
            <a:r>
              <a:rPr lang="en-US" sz="1050" dirty="0">
                <a:solidFill>
                  <a:srgbClr val="555555"/>
                </a:solidFill>
                <a:latin typeface="Lato" pitchFamily="34" charset="0"/>
                <a:ea typeface="Lato" pitchFamily="34" charset="-122"/>
                <a:cs typeface="Lato" pitchFamily="34" charset="-120"/>
              </a:rPr>
              <a:t>action</a:t>
            </a:r>
            <a:endParaRPr lang="en-US" sz="1050" dirty="0"/>
          </a:p>
        </p:txBody>
      </p:sp>
      <p:sp>
        <p:nvSpPr>
          <p:cNvPr id="15" name="Text 11"/>
          <p:cNvSpPr/>
          <p:nvPr/>
        </p:nvSpPr>
        <p:spPr>
          <a:xfrm>
            <a:off x="2565400" y="3789660"/>
            <a:ext cx="939800" cy="212080"/>
          </a:xfrm>
          <a:prstGeom prst="rect">
            <a:avLst/>
          </a:prstGeom>
          <a:noFill/>
          <a:ln/>
        </p:spPr>
        <p:txBody>
          <a:bodyPr wrap="square" lIns="0" tIns="0" rIns="0" bIns="0" rtlCol="0" anchor="t">
            <a:normAutofit/>
          </a:bodyPr>
          <a:lstStyle/>
          <a:p>
            <a:pPr marL="0" indent="0" algn="ctr">
              <a:lnSpc>
                <a:spcPts val="1470"/>
              </a:lnSpc>
              <a:buNone/>
            </a:pPr>
            <a:r>
              <a:rPr lang="en-US" sz="1050" dirty="0">
                <a:solidFill>
                  <a:srgbClr val="555555"/>
                </a:solidFill>
                <a:latin typeface="Lato" pitchFamily="34" charset="0"/>
                <a:ea typeface="Lato" pitchFamily="34" charset="-122"/>
                <a:cs typeface="Lato" pitchFamily="34" charset="-120"/>
              </a:rPr>
              <a:t>observation</a:t>
            </a:r>
            <a:endParaRPr lang="en-US" sz="1050" dirty="0"/>
          </a:p>
        </p:txBody>
      </p:sp>
      <p:sp>
        <p:nvSpPr>
          <p:cNvPr id="16" name="Text 12"/>
          <p:cNvSpPr/>
          <p:nvPr/>
        </p:nvSpPr>
        <p:spPr>
          <a:xfrm>
            <a:off x="850900" y="4361160"/>
            <a:ext cx="1701800" cy="212080"/>
          </a:xfrm>
          <a:prstGeom prst="rect">
            <a:avLst/>
          </a:prstGeom>
          <a:noFill/>
          <a:ln/>
        </p:spPr>
        <p:txBody>
          <a:bodyPr wrap="square" lIns="0" tIns="0" rIns="0" bIns="0" rtlCol="0" anchor="t">
            <a:normAutofit/>
          </a:bodyPr>
          <a:lstStyle/>
          <a:p>
            <a:pPr marL="0" indent="0" algn="ctr">
              <a:lnSpc>
                <a:spcPts val="1470"/>
              </a:lnSpc>
              <a:buNone/>
            </a:pPr>
            <a:r>
              <a:rPr lang="en-US" sz="1050" dirty="0">
                <a:solidFill>
                  <a:srgbClr val="555555"/>
                </a:solidFill>
                <a:latin typeface="Lato" pitchFamily="34" charset="0"/>
                <a:ea typeface="Lato" pitchFamily="34" charset="-122"/>
                <a:cs typeface="Lato" pitchFamily="34" charset="-120"/>
              </a:rPr>
              <a:t>think, act, observe, repeat</a:t>
            </a:r>
            <a:endParaRPr lang="en-US" sz="1050" dirty="0"/>
          </a:p>
        </p:txBody>
      </p:sp>
      <p:pic>
        <p:nvPicPr>
          <p:cNvPr id="17" name="Image 2" descr="arrow-right"/>
          <p:cNvPicPr>
            <a:picLocks noChangeAspect="1"/>
          </p:cNvPicPr>
          <p:nvPr/>
        </p:nvPicPr>
        <p:blipFill>
          <a:blip r:embed="rId5"/>
          <a:srcRect/>
          <a:stretch/>
        </p:blipFill>
        <p:spPr>
          <a:xfrm>
            <a:off x="5829300" y="2757140"/>
            <a:ext cx="533400" cy="279400"/>
          </a:xfrm>
          <a:prstGeom prst="rect">
            <a:avLst/>
          </a:prstGeom>
        </p:spPr>
      </p:pic>
      <p:sp>
        <p:nvSpPr>
          <p:cNvPr id="18" name="Text 13"/>
          <p:cNvSpPr/>
          <p:nvPr/>
        </p:nvSpPr>
        <p:spPr>
          <a:xfrm>
            <a:off x="5594350" y="3100040"/>
            <a:ext cx="1003300" cy="200025"/>
          </a:xfrm>
          <a:prstGeom prst="rect">
            <a:avLst/>
          </a:prstGeom>
          <a:noFill/>
          <a:ln/>
        </p:spPr>
        <p:txBody>
          <a:bodyPr wrap="square" lIns="0" tIns="0" rIns="0" bIns="0" rtlCol="0" anchor="t">
            <a:normAutofit/>
          </a:bodyPr>
          <a:lstStyle/>
          <a:p>
            <a:pPr marL="0" indent="0" algn="ctr">
              <a:lnSpc>
                <a:spcPts val="1375"/>
              </a:lnSpc>
              <a:buNone/>
            </a:pPr>
            <a:r>
              <a:rPr lang="en-US" sz="1100" b="1" dirty="0">
                <a:solidFill>
                  <a:srgbClr val="333333"/>
                </a:solidFill>
                <a:latin typeface="Lato" pitchFamily="34" charset="0"/>
                <a:ea typeface="Lato" pitchFamily="34" charset="-122"/>
                <a:cs typeface="Lato" pitchFamily="34" charset="-120"/>
              </a:rPr>
              <a:t>complex tasks</a:t>
            </a:r>
            <a:endParaRPr lang="en-US" sz="1100" dirty="0"/>
          </a:p>
        </p:txBody>
      </p:sp>
      <p:sp>
        <p:nvSpPr>
          <p:cNvPr id="19" name="Text 14"/>
          <p:cNvSpPr/>
          <p:nvPr/>
        </p:nvSpPr>
        <p:spPr>
          <a:xfrm>
            <a:off x="5594350" y="3338165"/>
            <a:ext cx="1003300" cy="374650"/>
          </a:xfrm>
          <a:prstGeom prst="rect">
            <a:avLst/>
          </a:prstGeom>
          <a:noFill/>
          <a:ln/>
        </p:spPr>
        <p:txBody>
          <a:bodyPr wrap="square" lIns="0" tIns="0" rIns="0" bIns="0" rtlCol="0" anchor="t">
            <a:normAutofit/>
          </a:bodyPr>
          <a:lstStyle/>
          <a:p>
            <a:pPr marL="0" indent="0" algn="ctr">
              <a:lnSpc>
                <a:spcPts val="1375"/>
              </a:lnSpc>
              <a:buNone/>
            </a:pPr>
            <a:r>
              <a:rPr lang="en-US" sz="1100" b="1" dirty="0">
                <a:solidFill>
                  <a:srgbClr val="333333"/>
                </a:solidFill>
                <a:latin typeface="Lato" pitchFamily="34" charset="0"/>
                <a:ea typeface="Lato" pitchFamily="34" charset="-122"/>
                <a:cs typeface="Lato" pitchFamily="34" charset="-120"/>
              </a:rPr>
              <a:t>longer horizons</a:t>
            </a:r>
            <a:endParaRPr lang="en-US" sz="1100" dirty="0"/>
          </a:p>
        </p:txBody>
      </p:sp>
      <p:sp>
        <p:nvSpPr>
          <p:cNvPr id="20" name="Text 15"/>
          <p:cNvSpPr/>
          <p:nvPr/>
        </p:nvSpPr>
        <p:spPr>
          <a:xfrm>
            <a:off x="5594350" y="3750915"/>
            <a:ext cx="1003300" cy="200025"/>
          </a:xfrm>
          <a:prstGeom prst="rect">
            <a:avLst/>
          </a:prstGeom>
          <a:noFill/>
          <a:ln/>
        </p:spPr>
        <p:txBody>
          <a:bodyPr wrap="square" lIns="0" tIns="0" rIns="0" bIns="0" rtlCol="0" anchor="t">
            <a:normAutofit/>
          </a:bodyPr>
          <a:lstStyle/>
          <a:p>
            <a:pPr marL="0" indent="0" algn="ctr">
              <a:lnSpc>
                <a:spcPts val="1375"/>
              </a:lnSpc>
              <a:buNone/>
            </a:pPr>
            <a:r>
              <a:rPr lang="en-US" sz="1100" b="1" dirty="0">
                <a:solidFill>
                  <a:srgbClr val="333333"/>
                </a:solidFill>
                <a:latin typeface="Lato" pitchFamily="34" charset="0"/>
                <a:ea typeface="Lato" pitchFamily="34" charset="-122"/>
                <a:cs typeface="Lato" pitchFamily="34" charset="-120"/>
              </a:rPr>
              <a:t>split roles</a:t>
            </a:r>
            <a:endParaRPr lang="en-US" sz="1100" dirty="0"/>
          </a:p>
        </p:txBody>
      </p:sp>
      <p:sp>
        <p:nvSpPr>
          <p:cNvPr id="21" name="Shape 16"/>
          <p:cNvSpPr/>
          <p:nvPr/>
        </p:nvSpPr>
        <p:spPr>
          <a:xfrm>
            <a:off x="6635750" y="1927870"/>
            <a:ext cx="5048250" cy="2826990"/>
          </a:xfrm>
          <a:prstGeom prst="roundRect">
            <a:avLst>
              <a:gd name="adj" fmla="val 5391"/>
            </a:avLst>
          </a:prstGeom>
          <a:solidFill>
            <a:srgbClr val="F3F3F3"/>
          </a:solidFill>
          <a:ln/>
        </p:spPr>
        <p:txBody>
          <a:bodyPr/>
          <a:lstStyle/>
          <a:p>
            <a:endParaRPr lang="en-US"/>
          </a:p>
        </p:txBody>
      </p:sp>
      <p:sp>
        <p:nvSpPr>
          <p:cNvPr id="22" name="Text 17"/>
          <p:cNvSpPr/>
          <p:nvPr/>
        </p:nvSpPr>
        <p:spPr>
          <a:xfrm>
            <a:off x="6813550" y="2054870"/>
            <a:ext cx="483343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F5597"/>
                </a:solidFill>
                <a:latin typeface="Lato" pitchFamily="34" charset="0"/>
                <a:ea typeface="Lato" pitchFamily="34" charset="-122"/>
                <a:cs typeface="Lato" pitchFamily="34" charset="-120"/>
              </a:rPr>
              <a:t>Multi-agent system</a:t>
            </a:r>
            <a:endParaRPr lang="en-US" sz="1400" dirty="0"/>
          </a:p>
        </p:txBody>
      </p:sp>
      <p:pic>
        <p:nvPicPr>
          <p:cNvPr id="23" name="Image 3" descr="a manager agent exchanges messages with planner, web and reporter agents, which also talk to each other"/>
          <p:cNvPicPr>
            <a:picLocks noChangeAspect="1"/>
          </p:cNvPicPr>
          <p:nvPr/>
        </p:nvPicPr>
        <p:blipFill>
          <a:blip r:embed="rId6"/>
          <a:srcRect/>
          <a:stretch/>
        </p:blipFill>
        <p:spPr>
          <a:xfrm>
            <a:off x="6813550" y="2341860"/>
            <a:ext cx="4699000" cy="2286000"/>
          </a:xfrm>
          <a:prstGeom prst="rect">
            <a:avLst/>
          </a:prstGeom>
        </p:spPr>
      </p:pic>
      <p:pic>
        <p:nvPicPr>
          <p:cNvPr id="24" name="Image 4" descr="manager agent"/>
          <p:cNvPicPr>
            <a:picLocks noChangeAspect="1"/>
          </p:cNvPicPr>
          <p:nvPr/>
        </p:nvPicPr>
        <p:blipFill>
          <a:blip r:embed="rId7"/>
          <a:srcRect t="-197" b="-197"/>
          <a:stretch/>
        </p:blipFill>
        <p:spPr>
          <a:xfrm>
            <a:off x="9048750" y="2341860"/>
            <a:ext cx="609600" cy="869950"/>
          </a:xfrm>
          <a:prstGeom prst="rect">
            <a:avLst/>
          </a:prstGeom>
        </p:spPr>
      </p:pic>
      <p:pic>
        <p:nvPicPr>
          <p:cNvPr id="25" name="Image 5" descr="planner agent"/>
          <p:cNvPicPr>
            <a:picLocks noChangeAspect="1"/>
          </p:cNvPicPr>
          <p:nvPr/>
        </p:nvPicPr>
        <p:blipFill>
          <a:blip r:embed="rId8"/>
          <a:srcRect l="-3816" r="-3816"/>
          <a:stretch/>
        </p:blipFill>
        <p:spPr>
          <a:xfrm>
            <a:off x="7410450" y="3700760"/>
            <a:ext cx="635000" cy="927100"/>
          </a:xfrm>
          <a:prstGeom prst="rect">
            <a:avLst/>
          </a:prstGeom>
        </p:spPr>
      </p:pic>
      <p:pic>
        <p:nvPicPr>
          <p:cNvPr id="26" name="Image 6" descr="web agent"/>
          <p:cNvPicPr>
            <a:picLocks noChangeAspect="1"/>
          </p:cNvPicPr>
          <p:nvPr/>
        </p:nvPicPr>
        <p:blipFill>
          <a:blip r:embed="rId9"/>
          <a:srcRect l="-1446" r="-1446"/>
          <a:stretch/>
        </p:blipFill>
        <p:spPr>
          <a:xfrm>
            <a:off x="9023350" y="3700760"/>
            <a:ext cx="660400" cy="927100"/>
          </a:xfrm>
          <a:prstGeom prst="rect">
            <a:avLst/>
          </a:prstGeom>
        </p:spPr>
      </p:pic>
      <p:pic>
        <p:nvPicPr>
          <p:cNvPr id="27" name="Image 7" descr="reporter agent"/>
          <p:cNvPicPr>
            <a:picLocks noChangeAspect="1"/>
          </p:cNvPicPr>
          <p:nvPr/>
        </p:nvPicPr>
        <p:blipFill>
          <a:blip r:embed="rId10"/>
          <a:srcRect l="-1347" r="-1347"/>
          <a:stretch/>
        </p:blipFill>
        <p:spPr>
          <a:xfrm>
            <a:off x="10642600" y="3700760"/>
            <a:ext cx="660400" cy="927100"/>
          </a:xfrm>
          <a:prstGeom prst="rect">
            <a:avLst/>
          </a:prstGeom>
        </p:spPr>
      </p:pic>
      <p:sp>
        <p:nvSpPr>
          <p:cNvPr id="28" name="Text 18"/>
          <p:cNvSpPr/>
          <p:nvPr/>
        </p:nvSpPr>
        <p:spPr>
          <a:xfrm>
            <a:off x="7512050" y="3091160"/>
            <a:ext cx="762000" cy="212080"/>
          </a:xfrm>
          <a:custGeom>
            <a:avLst/>
            <a:gdLst/>
            <a:ahLst/>
            <a:cxnLst/>
            <a:rect l="l" t="t" r="r" b="b"/>
            <a:pathLst>
              <a:path w="762000" h="212080">
                <a:moveTo>
                  <a:pt x="50800" y="0"/>
                </a:moveTo>
                <a:lnTo>
                  <a:pt x="711200" y="0"/>
                </a:lnTo>
                <a:arcTo wR="50800" hR="50800" stAng="16200000" swAng="5400000"/>
                <a:lnTo>
                  <a:pt x="762000" y="161280"/>
                </a:lnTo>
                <a:arcTo wR="50800" hR="50800" stAng="0" swAng="5400000"/>
                <a:lnTo>
                  <a:pt x="50800" y="212080"/>
                </a:lnTo>
                <a:arcTo wR="50800" hR="50800" stAng="5400000" swAng="5400000"/>
                <a:lnTo>
                  <a:pt x="0" y="50800"/>
                </a:lnTo>
                <a:arcTo wR="50800" hR="50800" stAng="10800000" swAng="5400000"/>
                <a:close/>
              </a:path>
            </a:pathLst>
          </a:custGeom>
          <a:solidFill>
            <a:srgbClr val="FFFFFF"/>
          </a:solidFill>
          <a:ln/>
        </p:spPr>
        <p:txBody>
          <a:bodyPr wrap="square" lIns="12700" tIns="12700" rIns="12700" bIns="0" rtlCol="0" anchor="t">
            <a:normAutofit/>
          </a:bodyPr>
          <a:lstStyle/>
          <a:p>
            <a:pPr marL="0" indent="0" algn="ctr">
              <a:lnSpc>
                <a:spcPts val="1470"/>
              </a:lnSpc>
              <a:buNone/>
            </a:pPr>
            <a:r>
              <a:rPr lang="en-US" sz="1050" dirty="0">
                <a:solidFill>
                  <a:srgbClr val="555555"/>
                </a:solidFill>
                <a:latin typeface="Lato" pitchFamily="34" charset="0"/>
                <a:ea typeface="Lato" pitchFamily="34" charset="-122"/>
                <a:cs typeface="Lato" pitchFamily="34" charset="-120"/>
              </a:rPr>
              <a:t>subtask</a:t>
            </a:r>
            <a:endParaRPr lang="en-US" sz="1050" dirty="0"/>
          </a:p>
        </p:txBody>
      </p:sp>
      <p:sp>
        <p:nvSpPr>
          <p:cNvPr id="29" name="Text 19"/>
          <p:cNvSpPr/>
          <p:nvPr/>
        </p:nvSpPr>
        <p:spPr>
          <a:xfrm>
            <a:off x="10344150" y="3091160"/>
            <a:ext cx="762000" cy="212080"/>
          </a:xfrm>
          <a:custGeom>
            <a:avLst/>
            <a:gdLst/>
            <a:ahLst/>
            <a:cxnLst/>
            <a:rect l="l" t="t" r="r" b="b"/>
            <a:pathLst>
              <a:path w="762000" h="212080">
                <a:moveTo>
                  <a:pt x="50800" y="0"/>
                </a:moveTo>
                <a:lnTo>
                  <a:pt x="711200" y="0"/>
                </a:lnTo>
                <a:arcTo wR="50800" hR="50800" stAng="16200000" swAng="5400000"/>
                <a:lnTo>
                  <a:pt x="762000" y="161280"/>
                </a:lnTo>
                <a:arcTo wR="50800" hR="50800" stAng="0" swAng="5400000"/>
                <a:lnTo>
                  <a:pt x="50800" y="212080"/>
                </a:lnTo>
                <a:arcTo wR="50800" hR="50800" stAng="5400000" swAng="5400000"/>
                <a:lnTo>
                  <a:pt x="0" y="50800"/>
                </a:lnTo>
                <a:arcTo wR="50800" hR="50800" stAng="10800000" swAng="5400000"/>
                <a:close/>
              </a:path>
            </a:pathLst>
          </a:custGeom>
          <a:solidFill>
            <a:srgbClr val="FFFFFF"/>
          </a:solidFill>
          <a:ln/>
        </p:spPr>
        <p:txBody>
          <a:bodyPr wrap="square" lIns="12700" tIns="12700" rIns="12700" bIns="0" rtlCol="0" anchor="t">
            <a:normAutofit/>
          </a:bodyPr>
          <a:lstStyle/>
          <a:p>
            <a:pPr marL="0" indent="0" algn="ctr">
              <a:lnSpc>
                <a:spcPts val="1470"/>
              </a:lnSpc>
              <a:buNone/>
            </a:pPr>
            <a:r>
              <a:rPr lang="en-US" sz="1050" dirty="0">
                <a:solidFill>
                  <a:srgbClr val="555555"/>
                </a:solidFill>
                <a:latin typeface="Lato" pitchFamily="34" charset="0"/>
                <a:ea typeface="Lato" pitchFamily="34" charset="-122"/>
                <a:cs typeface="Lato" pitchFamily="34" charset="-120"/>
              </a:rPr>
              <a:t>result</a:t>
            </a:r>
            <a:endParaRPr lang="en-US" sz="1050" dirty="0"/>
          </a:p>
        </p:txBody>
      </p:sp>
      <p:sp>
        <p:nvSpPr>
          <p:cNvPr id="30" name="Text 20"/>
          <p:cNvSpPr/>
          <p:nvPr/>
        </p:nvSpPr>
        <p:spPr>
          <a:xfrm>
            <a:off x="508000" y="5018980"/>
            <a:ext cx="1638300" cy="533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000000"/>
                </a:solidFill>
                <a:latin typeface="Lato" pitchFamily="34" charset="0"/>
                <a:ea typeface="Lato" pitchFamily="34" charset="-122"/>
                <a:cs typeface="Lato" pitchFamily="34" charset="-120"/>
              </a:rPr>
              <a:t>Long-horizon tasks today</a:t>
            </a:r>
            <a:endParaRPr lang="en-US" sz="1600" dirty="0"/>
          </a:p>
        </p:txBody>
      </p:sp>
      <p:sp>
        <p:nvSpPr>
          <p:cNvPr id="31" name="Shape 21"/>
          <p:cNvSpPr/>
          <p:nvPr/>
        </p:nvSpPr>
        <p:spPr>
          <a:xfrm>
            <a:off x="2279650" y="4875510"/>
            <a:ext cx="3005634" cy="794990"/>
          </a:xfrm>
          <a:prstGeom prst="roundRect">
            <a:avLst>
              <a:gd name="adj" fmla="val 11981"/>
            </a:avLst>
          </a:prstGeom>
          <a:solidFill>
            <a:srgbClr val="FFFFFF"/>
          </a:solidFill>
          <a:ln w="12700">
            <a:solidFill>
              <a:srgbClr val="9DB4D8"/>
            </a:solidFill>
            <a:prstDash val="solid"/>
          </a:ln>
        </p:spPr>
        <p:txBody>
          <a:bodyPr/>
          <a:lstStyle/>
          <a:p>
            <a:endParaRPr lang="en-US"/>
          </a:p>
        </p:txBody>
      </p:sp>
      <p:sp>
        <p:nvSpPr>
          <p:cNvPr id="32" name="Text 22"/>
          <p:cNvSpPr/>
          <p:nvPr/>
        </p:nvSpPr>
        <p:spPr>
          <a:xfrm>
            <a:off x="2451100" y="4996160"/>
            <a:ext cx="2742616"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F5597"/>
                </a:solidFill>
                <a:latin typeface="Lato" pitchFamily="34" charset="0"/>
                <a:ea typeface="Lato" pitchFamily="34" charset="-122"/>
                <a:cs typeface="Lato" pitchFamily="34" charset="-120"/>
              </a:rPr>
              <a:t>Software engineering</a:t>
            </a:r>
            <a:endParaRPr lang="en-US" sz="1600" dirty="0"/>
          </a:p>
        </p:txBody>
      </p:sp>
      <p:sp>
        <p:nvSpPr>
          <p:cNvPr id="33" name="Text 23"/>
          <p:cNvSpPr/>
          <p:nvPr/>
        </p:nvSpPr>
        <p:spPr>
          <a:xfrm>
            <a:off x="2451100" y="5318720"/>
            <a:ext cx="2742616"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33333"/>
                </a:solidFill>
                <a:latin typeface="Lato" pitchFamily="34" charset="0"/>
                <a:ea typeface="Lato" pitchFamily="34" charset="-122"/>
                <a:cs typeface="Lato" pitchFamily="34" charset="-120"/>
              </a:rPr>
              <a:t>hundreds of tool calls</a:t>
            </a:r>
            <a:endParaRPr lang="en-US" sz="1400" dirty="0"/>
          </a:p>
        </p:txBody>
      </p:sp>
      <p:sp>
        <p:nvSpPr>
          <p:cNvPr id="34" name="Shape 24"/>
          <p:cNvSpPr/>
          <p:nvPr/>
        </p:nvSpPr>
        <p:spPr>
          <a:xfrm>
            <a:off x="5475784" y="4875510"/>
            <a:ext cx="3005683" cy="794990"/>
          </a:xfrm>
          <a:prstGeom prst="roundRect">
            <a:avLst>
              <a:gd name="adj" fmla="val 11981"/>
            </a:avLst>
          </a:prstGeom>
          <a:solidFill>
            <a:srgbClr val="FFFFFF"/>
          </a:solidFill>
          <a:ln w="12700">
            <a:solidFill>
              <a:srgbClr val="9DB4D8"/>
            </a:solidFill>
            <a:prstDash val="solid"/>
          </a:ln>
        </p:spPr>
        <p:txBody>
          <a:bodyPr/>
          <a:lstStyle/>
          <a:p>
            <a:endParaRPr lang="en-US"/>
          </a:p>
        </p:txBody>
      </p:sp>
      <p:sp>
        <p:nvSpPr>
          <p:cNvPr id="35" name="Text 25"/>
          <p:cNvSpPr/>
          <p:nvPr/>
        </p:nvSpPr>
        <p:spPr>
          <a:xfrm>
            <a:off x="5647234" y="4996160"/>
            <a:ext cx="2742667"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F5597"/>
                </a:solidFill>
                <a:latin typeface="Lato" pitchFamily="34" charset="0"/>
                <a:ea typeface="Lato" pitchFamily="34" charset="-122"/>
                <a:cs typeface="Lato" pitchFamily="34" charset="-120"/>
              </a:rPr>
              <a:t>Scientific discovery</a:t>
            </a:r>
            <a:endParaRPr lang="en-US" sz="1600" dirty="0"/>
          </a:p>
        </p:txBody>
      </p:sp>
      <p:sp>
        <p:nvSpPr>
          <p:cNvPr id="36" name="Text 26"/>
          <p:cNvSpPr/>
          <p:nvPr/>
        </p:nvSpPr>
        <p:spPr>
          <a:xfrm>
            <a:off x="5647234" y="5318720"/>
            <a:ext cx="2742667"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33333"/>
                </a:solidFill>
                <a:latin typeface="Lato" pitchFamily="34" charset="0"/>
                <a:ea typeface="Lato" pitchFamily="34" charset="-122"/>
                <a:cs typeface="Lato" pitchFamily="34" charset="-120"/>
              </a:rPr>
              <a:t>experiments and analysis</a:t>
            </a:r>
            <a:endParaRPr lang="en-US" sz="1400" dirty="0"/>
          </a:p>
        </p:txBody>
      </p:sp>
      <p:sp>
        <p:nvSpPr>
          <p:cNvPr id="37" name="Shape 27"/>
          <p:cNvSpPr/>
          <p:nvPr/>
        </p:nvSpPr>
        <p:spPr>
          <a:xfrm>
            <a:off x="8671967" y="4875510"/>
            <a:ext cx="3005683" cy="794990"/>
          </a:xfrm>
          <a:prstGeom prst="roundRect">
            <a:avLst>
              <a:gd name="adj" fmla="val 11981"/>
            </a:avLst>
          </a:prstGeom>
          <a:solidFill>
            <a:srgbClr val="FFFFFF"/>
          </a:solidFill>
          <a:ln w="12700">
            <a:solidFill>
              <a:srgbClr val="9DB4D8"/>
            </a:solidFill>
            <a:prstDash val="solid"/>
          </a:ln>
        </p:spPr>
        <p:txBody>
          <a:bodyPr/>
          <a:lstStyle/>
          <a:p>
            <a:endParaRPr lang="en-US"/>
          </a:p>
        </p:txBody>
      </p:sp>
      <p:sp>
        <p:nvSpPr>
          <p:cNvPr id="38" name="Text 28"/>
          <p:cNvSpPr/>
          <p:nvPr/>
        </p:nvSpPr>
        <p:spPr>
          <a:xfrm>
            <a:off x="8843417" y="4996160"/>
            <a:ext cx="2742667"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F5597"/>
                </a:solidFill>
                <a:latin typeface="Lato" pitchFamily="34" charset="0"/>
                <a:ea typeface="Lato" pitchFamily="34" charset="-122"/>
                <a:cs typeface="Lato" pitchFamily="34" charset="-120"/>
              </a:rPr>
              <a:t>Web and enterprise work</a:t>
            </a:r>
            <a:endParaRPr lang="en-US" sz="1600" dirty="0"/>
          </a:p>
        </p:txBody>
      </p:sp>
      <p:sp>
        <p:nvSpPr>
          <p:cNvPr id="39" name="Text 29"/>
          <p:cNvSpPr/>
          <p:nvPr/>
        </p:nvSpPr>
        <p:spPr>
          <a:xfrm>
            <a:off x="8843417" y="5318720"/>
            <a:ext cx="2742667"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33333"/>
                </a:solidFill>
                <a:latin typeface="Lato" pitchFamily="34" charset="0"/>
                <a:ea typeface="Lato" pitchFamily="34" charset="-122"/>
                <a:cs typeface="Lato" pitchFamily="34" charset="-120"/>
              </a:rPr>
              <a:t>accounts, payments, email</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4" name="Text 2"/>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19 / 33</a:t>
            </a:r>
            <a:endParaRPr lang="en-US" sz="1200" dirty="0"/>
          </a:p>
        </p:txBody>
      </p:sp>
      <p:sp>
        <p:nvSpPr>
          <p:cNvPr id="5" name="Text 3"/>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Agents Now Act and Fail in the Real World</a:t>
            </a:r>
            <a:endParaRPr lang="en-US" sz="3200" dirty="0"/>
          </a:p>
        </p:txBody>
      </p:sp>
      <p:sp>
        <p:nvSpPr>
          <p:cNvPr id="6" name="Text 4"/>
          <p:cNvSpPr/>
          <p:nvPr/>
        </p:nvSpPr>
        <p:spPr>
          <a:xfrm>
            <a:off x="508000" y="1026120"/>
            <a:ext cx="11511280" cy="393700"/>
          </a:xfrm>
          <a:prstGeom prst="rect">
            <a:avLst/>
          </a:prstGeom>
          <a:noFill/>
          <a:ln/>
        </p:spPr>
        <p:txBody>
          <a:bodyPr wrap="square" lIns="0" tIns="0" rIns="0" bIns="0" rtlCol="0" anchor="t">
            <a:normAutofit/>
          </a:bodyPr>
          <a:lstStyle/>
          <a:p>
            <a:pPr marL="0" indent="0" algn="l">
              <a:lnSpc>
                <a:spcPts val="2900"/>
              </a:lnSpc>
              <a:buNone/>
            </a:pPr>
            <a:r>
              <a:rPr lang="en-US" sz="2000" b="1" dirty="0">
                <a:solidFill>
                  <a:srgbClr val="000000"/>
                </a:solidFill>
                <a:latin typeface="Lato" pitchFamily="34" charset="0"/>
                <a:ea typeface="Lato" pitchFamily="34" charset="-122"/>
                <a:cs typeface="Lato" pitchFamily="34" charset="-120"/>
              </a:rPr>
              <a:t>Since 2025:</a:t>
            </a:r>
            <a:r>
              <a:rPr lang="en-US" sz="2000" dirty="0">
                <a:solidFill>
                  <a:srgbClr val="000000"/>
                </a:solidFill>
                <a:latin typeface="Lato" pitchFamily="34" charset="0"/>
                <a:ea typeface="Lato" pitchFamily="34" charset="-122"/>
                <a:cs typeface="Lato" pitchFamily="34" charset="-120"/>
              </a:rPr>
              <a:t> agents on routine tasks </a:t>
            </a:r>
            <a:r>
              <a:rPr lang="en-US" sz="2000" u="sng" dirty="0">
                <a:solidFill>
                  <a:srgbClr val="C00000"/>
                </a:solidFill>
                <a:latin typeface="Lato" pitchFamily="34" charset="0"/>
                <a:ea typeface="Lato" pitchFamily="34" charset="-122"/>
                <a:cs typeface="Lato" pitchFamily="34" charset="-120"/>
              </a:rPr>
              <a:t>deleted databases, breached infrastructure, targeted people</a:t>
            </a:r>
            <a:endParaRPr lang="en-US" sz="2000" dirty="0"/>
          </a:p>
        </p:txBody>
      </p:sp>
      <p:sp>
        <p:nvSpPr>
          <p:cNvPr id="7" name="Shape 5"/>
          <p:cNvSpPr/>
          <p:nvPr/>
        </p:nvSpPr>
        <p:spPr>
          <a:xfrm>
            <a:off x="508000" y="1717675"/>
            <a:ext cx="11176000" cy="614660"/>
          </a:xfrm>
          <a:prstGeom prst="roundRect">
            <a:avLst>
              <a:gd name="adj" fmla="val 16529"/>
            </a:avLst>
          </a:prstGeom>
          <a:solidFill>
            <a:srgbClr val="F3F3F3"/>
          </a:solidFill>
          <a:ln/>
        </p:spPr>
        <p:txBody>
          <a:bodyPr/>
          <a:lstStyle/>
          <a:p>
            <a:endParaRPr lang="en-US"/>
          </a:p>
        </p:txBody>
      </p:sp>
      <p:sp>
        <p:nvSpPr>
          <p:cNvPr id="8" name="Text 6"/>
          <p:cNvSpPr/>
          <p:nvPr/>
        </p:nvSpPr>
        <p:spPr>
          <a:xfrm>
            <a:off x="780733" y="1819275"/>
            <a:ext cx="3074035" cy="436860"/>
          </a:xfrm>
          <a:prstGeom prst="rect">
            <a:avLst/>
          </a:prstGeom>
          <a:noFill/>
          <a:ln/>
        </p:spPr>
        <p:txBody>
          <a:bodyPr wrap="square" lIns="0" tIns="0" rIns="0" bIns="0" rtlCol="0" anchor="t">
            <a:normAutofit/>
          </a:bodyPr>
          <a:lstStyle/>
          <a:p>
            <a:pPr marL="0" indent="0" algn="ctr">
              <a:lnSpc>
                <a:spcPts val="1620"/>
              </a:lnSpc>
              <a:buNone/>
            </a:pPr>
            <a:r>
              <a:rPr lang="en-US" sz="1200" b="1" dirty="0">
                <a:solidFill>
                  <a:srgbClr val="2F5597"/>
                </a:solidFill>
                <a:latin typeface="Lato" pitchFamily="34" charset="0"/>
                <a:ea typeface="Lato" pitchFamily="34" charset="-122"/>
                <a:cs typeface="Lato" pitchFamily="34" charset="-120"/>
              </a:rPr>
              <a:t>Jul 2025</a:t>
            </a:r>
            <a:r>
              <a:rPr lang="en-US" sz="1200" dirty="0">
                <a:solidFill>
                  <a:srgbClr val="333333"/>
                </a:solidFill>
                <a:latin typeface="Lato" pitchFamily="34" charset="0"/>
                <a:ea typeface="Lato" pitchFamily="34" charset="-122"/>
                <a:cs typeface="Lato" pitchFamily="34" charset="-120"/>
              </a:rPr>
              <a:t> Replit agent wipes a production DB during a code freeze</a:t>
            </a:r>
            <a:endParaRPr lang="en-US" sz="1200" dirty="0"/>
          </a:p>
        </p:txBody>
      </p:sp>
      <p:sp>
        <p:nvSpPr>
          <p:cNvPr id="9" name="Text 7"/>
          <p:cNvSpPr/>
          <p:nvPr/>
        </p:nvSpPr>
        <p:spPr>
          <a:xfrm>
            <a:off x="4558983" y="1819275"/>
            <a:ext cx="3074035" cy="436860"/>
          </a:xfrm>
          <a:prstGeom prst="rect">
            <a:avLst/>
          </a:prstGeom>
          <a:noFill/>
          <a:ln/>
        </p:spPr>
        <p:txBody>
          <a:bodyPr wrap="square" lIns="0" tIns="0" rIns="0" bIns="0" rtlCol="0" anchor="t">
            <a:normAutofit/>
          </a:bodyPr>
          <a:lstStyle/>
          <a:p>
            <a:pPr marL="0" indent="0" algn="ctr">
              <a:lnSpc>
                <a:spcPts val="1620"/>
              </a:lnSpc>
              <a:buNone/>
            </a:pPr>
            <a:r>
              <a:rPr lang="en-US" sz="1200" b="1" dirty="0">
                <a:solidFill>
                  <a:srgbClr val="2F5597"/>
                </a:solidFill>
                <a:latin typeface="Lato" pitchFamily="34" charset="0"/>
                <a:ea typeface="Lato" pitchFamily="34" charset="-122"/>
                <a:cs typeface="Lato" pitchFamily="34" charset="-120"/>
              </a:rPr>
              <a:t>Sep 2026</a:t>
            </a:r>
            <a:r>
              <a:rPr lang="en-US" sz="1200" dirty="0">
                <a:solidFill>
                  <a:srgbClr val="333333"/>
                </a:solidFill>
                <a:latin typeface="Lato" pitchFamily="34" charset="0"/>
                <a:ea typeface="Lato" pitchFamily="34" charset="-122"/>
                <a:cs typeface="Lato" pitchFamily="34" charset="-120"/>
              </a:rPr>
              <a:t> Claude Code deletes 48,000 files in 103 s</a:t>
            </a:r>
            <a:endParaRPr lang="en-US" sz="1200" dirty="0"/>
          </a:p>
        </p:txBody>
      </p:sp>
      <p:sp>
        <p:nvSpPr>
          <p:cNvPr id="10" name="Text 8"/>
          <p:cNvSpPr/>
          <p:nvPr/>
        </p:nvSpPr>
        <p:spPr>
          <a:xfrm>
            <a:off x="8337233" y="1819275"/>
            <a:ext cx="3074035" cy="436860"/>
          </a:xfrm>
          <a:prstGeom prst="rect">
            <a:avLst/>
          </a:prstGeom>
          <a:noFill/>
          <a:ln/>
        </p:spPr>
        <p:txBody>
          <a:bodyPr wrap="square" lIns="0" tIns="0" rIns="0" bIns="0" rtlCol="0" anchor="t">
            <a:normAutofit/>
          </a:bodyPr>
          <a:lstStyle/>
          <a:p>
            <a:pPr marL="0" indent="0" algn="ctr">
              <a:lnSpc>
                <a:spcPts val="1620"/>
              </a:lnSpc>
              <a:buNone/>
            </a:pPr>
            <a:r>
              <a:rPr lang="en-US" sz="1200" b="1" dirty="0">
                <a:solidFill>
                  <a:srgbClr val="2F5597"/>
                </a:solidFill>
                <a:latin typeface="Lato" pitchFamily="34" charset="0"/>
                <a:ea typeface="Lato" pitchFamily="34" charset="-122"/>
                <a:cs typeface="Lato" pitchFamily="34" charset="-120"/>
              </a:rPr>
              <a:t>Sep to Oct 2026</a:t>
            </a:r>
            <a:r>
              <a:rPr lang="en-US" sz="1200" dirty="0">
                <a:solidFill>
                  <a:srgbClr val="333333"/>
                </a:solidFill>
                <a:latin typeface="Lato" pitchFamily="34" charset="0"/>
                <a:ea typeface="Lato" pitchFamily="34" charset="-122"/>
                <a:cs typeface="Lato" pitchFamily="34" charset="-120"/>
              </a:rPr>
              <a:t> rogue agents enter government websites</a:t>
            </a:r>
            <a:endParaRPr lang="en-US" sz="1200" dirty="0"/>
          </a:p>
        </p:txBody>
      </p:sp>
      <p:sp>
        <p:nvSpPr>
          <p:cNvPr id="11" name="Text 9"/>
          <p:cNvSpPr/>
          <p:nvPr/>
        </p:nvSpPr>
        <p:spPr>
          <a:xfrm>
            <a:off x="615990" y="2510135"/>
            <a:ext cx="3403521" cy="220960"/>
          </a:xfrm>
          <a:prstGeom prst="rect">
            <a:avLst/>
          </a:prstGeom>
          <a:noFill/>
          <a:ln/>
        </p:spPr>
        <p:txBody>
          <a:bodyPr wrap="square" lIns="0" tIns="0" rIns="0" bIns="0" rtlCol="0" anchor="t">
            <a:normAutofit/>
          </a:bodyPr>
          <a:lstStyle/>
          <a:p>
            <a:pPr marL="0" indent="0" algn="ctr">
              <a:lnSpc>
                <a:spcPts val="1540"/>
              </a:lnSpc>
              <a:buNone/>
            </a:pPr>
            <a:r>
              <a:rPr lang="en-US" sz="1100" kern="0" spc="50" dirty="0">
                <a:solidFill>
                  <a:srgbClr val="555555"/>
                </a:solidFill>
                <a:latin typeface="Lato" pitchFamily="34" charset="0"/>
                <a:ea typeface="Lato" pitchFamily="34" charset="-122"/>
                <a:cs typeface="Lato" pitchFamily="34" charset="-120"/>
              </a:rPr>
              <a:t>POCKETOS FOUNDER ON X · APRIL 2026</a:t>
            </a:r>
            <a:endParaRPr lang="en-US" sz="1100" dirty="0"/>
          </a:p>
        </p:txBody>
      </p:sp>
      <p:pic>
        <p:nvPicPr>
          <p:cNvPr id="12" name="Image 0" descr="Post by the PocketOS founder: An AI Agent Just Destroyed Our Production Data. It Confessed in Writing."/>
          <p:cNvPicPr>
            <a:picLocks noChangeAspect="1"/>
          </p:cNvPicPr>
          <p:nvPr/>
        </p:nvPicPr>
        <p:blipFill>
          <a:blip r:embed="rId3"/>
          <a:srcRect t="114" b="114"/>
          <a:stretch/>
        </p:blipFill>
        <p:spPr>
          <a:xfrm>
            <a:off x="520700" y="2794595"/>
            <a:ext cx="3594100" cy="2438400"/>
          </a:xfrm>
          <a:prstGeom prst="roundRect">
            <a:avLst>
              <a:gd name="adj" fmla="val 2604"/>
            </a:avLst>
          </a:prstGeom>
        </p:spPr>
      </p:pic>
      <p:sp>
        <p:nvSpPr>
          <p:cNvPr id="13" name="Shape 10"/>
          <p:cNvSpPr/>
          <p:nvPr/>
        </p:nvSpPr>
        <p:spPr>
          <a:xfrm>
            <a:off x="514350" y="2788245"/>
            <a:ext cx="3606800" cy="2451100"/>
          </a:xfrm>
          <a:prstGeom prst="roundRect">
            <a:avLst>
              <a:gd name="adj" fmla="val 2850"/>
            </a:avLst>
          </a:prstGeom>
          <a:noFill/>
          <a:ln w="12700">
            <a:solidFill>
              <a:srgbClr val="BBBBBB"/>
            </a:solidFill>
            <a:prstDash val="solid"/>
          </a:ln>
        </p:spPr>
        <p:txBody>
          <a:bodyPr/>
          <a:lstStyle/>
          <a:p>
            <a:endParaRPr lang="en-US"/>
          </a:p>
        </p:txBody>
      </p:sp>
      <p:sp>
        <p:nvSpPr>
          <p:cNvPr id="14" name="Text 11"/>
          <p:cNvSpPr/>
          <p:nvPr/>
        </p:nvSpPr>
        <p:spPr>
          <a:xfrm>
            <a:off x="589444" y="5321895"/>
            <a:ext cx="3456563" cy="273050"/>
          </a:xfrm>
          <a:prstGeom prst="rect">
            <a:avLst/>
          </a:prstGeom>
          <a:noFill/>
          <a:ln/>
        </p:spPr>
        <p:txBody>
          <a:bodyPr wrap="square" lIns="0" tIns="0" rIns="0" bIns="0" rtlCol="0" anchor="t">
            <a:normAutofit/>
          </a:bodyPr>
          <a:lstStyle/>
          <a:p>
            <a:pPr marL="0" indent="0" algn="ctr">
              <a:lnSpc>
                <a:spcPts val="1950"/>
              </a:lnSpc>
              <a:buNone/>
            </a:pPr>
            <a:r>
              <a:rPr lang="en-US" sz="1500" b="1" dirty="0">
                <a:solidFill>
                  <a:srgbClr val="C00000"/>
                </a:solidFill>
                <a:latin typeface="Lato" pitchFamily="34" charset="0"/>
                <a:ea typeface="Lato" pitchFamily="34" charset="-122"/>
                <a:cs typeface="Lato" pitchFamily="34" charset="-120"/>
              </a:rPr>
              <a:t>Production DB wiped in 9 seconds</a:t>
            </a:r>
            <a:endParaRPr lang="en-US" sz="1500" dirty="0"/>
          </a:p>
        </p:txBody>
      </p:sp>
      <p:sp>
        <p:nvSpPr>
          <p:cNvPr id="15" name="Text 12"/>
          <p:cNvSpPr/>
          <p:nvPr/>
        </p:nvSpPr>
        <p:spPr>
          <a:xfrm>
            <a:off x="5263282" y="2510135"/>
            <a:ext cx="1665387" cy="220960"/>
          </a:xfrm>
          <a:prstGeom prst="rect">
            <a:avLst/>
          </a:prstGeom>
          <a:noFill/>
          <a:ln/>
        </p:spPr>
        <p:txBody>
          <a:bodyPr wrap="square" lIns="0" tIns="0" rIns="0" bIns="0" rtlCol="0" anchor="t">
            <a:normAutofit/>
          </a:bodyPr>
          <a:lstStyle/>
          <a:p>
            <a:pPr marL="0" indent="0" algn="ctr">
              <a:lnSpc>
                <a:spcPts val="1540"/>
              </a:lnSpc>
              <a:buNone/>
            </a:pPr>
            <a:r>
              <a:rPr lang="en-US" sz="1100" kern="0" spc="50" dirty="0">
                <a:solidFill>
                  <a:srgbClr val="555555"/>
                </a:solidFill>
                <a:latin typeface="Lato" pitchFamily="34" charset="0"/>
                <a:ea typeface="Lato" pitchFamily="34" charset="-122"/>
                <a:cs typeface="Lato" pitchFamily="34" charset="-120"/>
              </a:rPr>
              <a:t>OPENAI · JULY 2026</a:t>
            </a:r>
            <a:endParaRPr lang="en-US" sz="1100" dirty="0"/>
          </a:p>
        </p:txBody>
      </p:sp>
      <p:pic>
        <p:nvPicPr>
          <p:cNvPr id="16" name="Image 1" descr="OpenAI post: OpenAI and Hugging Face partner to address security incident during model evaluation"/>
          <p:cNvPicPr>
            <a:picLocks noChangeAspect="1"/>
          </p:cNvPicPr>
          <p:nvPr/>
        </p:nvPicPr>
        <p:blipFill>
          <a:blip r:embed="rId4"/>
          <a:srcRect t="133" b="133"/>
          <a:stretch/>
        </p:blipFill>
        <p:spPr>
          <a:xfrm>
            <a:off x="4298950" y="2794595"/>
            <a:ext cx="3594100" cy="2438400"/>
          </a:xfrm>
          <a:prstGeom prst="roundRect">
            <a:avLst>
              <a:gd name="adj" fmla="val 2604"/>
            </a:avLst>
          </a:prstGeom>
        </p:spPr>
      </p:pic>
      <p:sp>
        <p:nvSpPr>
          <p:cNvPr id="17" name="Shape 13"/>
          <p:cNvSpPr/>
          <p:nvPr/>
        </p:nvSpPr>
        <p:spPr>
          <a:xfrm>
            <a:off x="4292600" y="2788245"/>
            <a:ext cx="3606800" cy="2451100"/>
          </a:xfrm>
          <a:prstGeom prst="roundRect">
            <a:avLst>
              <a:gd name="adj" fmla="val 2850"/>
            </a:avLst>
          </a:prstGeom>
          <a:noFill/>
          <a:ln w="12700">
            <a:solidFill>
              <a:srgbClr val="BBBBBB"/>
            </a:solidFill>
            <a:prstDash val="solid"/>
          </a:ln>
        </p:spPr>
        <p:txBody>
          <a:bodyPr/>
          <a:lstStyle/>
          <a:p>
            <a:endParaRPr lang="en-US"/>
          </a:p>
        </p:txBody>
      </p:sp>
      <p:sp>
        <p:nvSpPr>
          <p:cNvPr id="18" name="Text 14"/>
          <p:cNvSpPr/>
          <p:nvPr/>
        </p:nvSpPr>
        <p:spPr>
          <a:xfrm>
            <a:off x="4526285" y="5321895"/>
            <a:ext cx="3139380" cy="273050"/>
          </a:xfrm>
          <a:prstGeom prst="rect">
            <a:avLst/>
          </a:prstGeom>
          <a:noFill/>
          <a:ln/>
        </p:spPr>
        <p:txBody>
          <a:bodyPr wrap="square" lIns="0" tIns="0" rIns="0" bIns="0" rtlCol="0" anchor="t">
            <a:normAutofit/>
          </a:bodyPr>
          <a:lstStyle/>
          <a:p>
            <a:pPr marL="0" indent="0" algn="ctr">
              <a:lnSpc>
                <a:spcPts val="1950"/>
              </a:lnSpc>
              <a:buNone/>
            </a:pPr>
            <a:r>
              <a:rPr lang="en-US" sz="1500" b="1" dirty="0">
                <a:solidFill>
                  <a:srgbClr val="C00000"/>
                </a:solidFill>
                <a:latin typeface="Lato" pitchFamily="34" charset="0"/>
                <a:ea typeface="Lato" pitchFamily="34" charset="-122"/>
                <a:cs typeface="Lato" pitchFamily="34" charset="-120"/>
              </a:rPr>
              <a:t>Agents breached Hugging Face</a:t>
            </a:r>
            <a:endParaRPr lang="en-US" sz="1500" dirty="0"/>
          </a:p>
        </p:txBody>
      </p:sp>
      <p:sp>
        <p:nvSpPr>
          <p:cNvPr id="19" name="Text 15"/>
          <p:cNvSpPr/>
          <p:nvPr/>
        </p:nvSpPr>
        <p:spPr>
          <a:xfrm>
            <a:off x="8070458" y="2510135"/>
            <a:ext cx="3607534" cy="220960"/>
          </a:xfrm>
          <a:prstGeom prst="rect">
            <a:avLst/>
          </a:prstGeom>
          <a:noFill/>
          <a:ln/>
        </p:spPr>
        <p:txBody>
          <a:bodyPr wrap="square" lIns="0" tIns="0" rIns="0" bIns="0" rtlCol="0" anchor="t">
            <a:normAutofit/>
          </a:bodyPr>
          <a:lstStyle/>
          <a:p>
            <a:pPr marL="0" indent="0" algn="ctr">
              <a:lnSpc>
                <a:spcPts val="1540"/>
              </a:lnSpc>
              <a:buNone/>
            </a:pPr>
            <a:r>
              <a:rPr lang="en-US" sz="1100" kern="0" spc="50" dirty="0">
                <a:solidFill>
                  <a:srgbClr val="555555"/>
                </a:solidFill>
                <a:latin typeface="Lato" pitchFamily="34" charset="0"/>
                <a:ea typeface="Lato" pitchFamily="34" charset="-122"/>
                <a:cs typeface="Lato" pitchFamily="34" charset="-120"/>
              </a:rPr>
              <a:t>UK AI SECURITY INSTITUTE · AUGUST 2026</a:t>
            </a:r>
            <a:endParaRPr lang="en-US" sz="1100" dirty="0"/>
          </a:p>
        </p:txBody>
      </p:sp>
      <p:pic>
        <p:nvPicPr>
          <p:cNvPr id="20" name="Image 2" descr="AISI incident report: unsanctioned agent behaviour during cyber testing"/>
          <p:cNvPicPr>
            <a:picLocks noChangeAspect="1"/>
          </p:cNvPicPr>
          <p:nvPr/>
        </p:nvPicPr>
        <p:blipFill>
          <a:blip r:embed="rId5"/>
          <a:srcRect t="46" b="46"/>
          <a:stretch/>
        </p:blipFill>
        <p:spPr>
          <a:xfrm>
            <a:off x="8077200" y="2794595"/>
            <a:ext cx="3594100" cy="2438400"/>
          </a:xfrm>
          <a:prstGeom prst="roundRect">
            <a:avLst>
              <a:gd name="adj" fmla="val 2604"/>
            </a:avLst>
          </a:prstGeom>
        </p:spPr>
      </p:pic>
      <p:sp>
        <p:nvSpPr>
          <p:cNvPr id="21" name="Shape 16"/>
          <p:cNvSpPr/>
          <p:nvPr/>
        </p:nvSpPr>
        <p:spPr>
          <a:xfrm>
            <a:off x="8070850" y="2788245"/>
            <a:ext cx="3606800" cy="2451100"/>
          </a:xfrm>
          <a:prstGeom prst="roundRect">
            <a:avLst>
              <a:gd name="adj" fmla="val 2850"/>
            </a:avLst>
          </a:prstGeom>
          <a:noFill/>
          <a:ln w="12700">
            <a:solidFill>
              <a:srgbClr val="BBBBBB"/>
            </a:solidFill>
            <a:prstDash val="solid"/>
          </a:ln>
        </p:spPr>
        <p:txBody>
          <a:bodyPr/>
          <a:lstStyle/>
          <a:p>
            <a:endParaRPr lang="en-US"/>
          </a:p>
        </p:txBody>
      </p:sp>
      <p:sp>
        <p:nvSpPr>
          <p:cNvPr id="22" name="Text 17"/>
          <p:cNvSpPr/>
          <p:nvPr/>
        </p:nvSpPr>
        <p:spPr>
          <a:xfrm>
            <a:off x="8459971" y="5321895"/>
            <a:ext cx="2828508" cy="273050"/>
          </a:xfrm>
          <a:prstGeom prst="rect">
            <a:avLst/>
          </a:prstGeom>
          <a:noFill/>
          <a:ln/>
        </p:spPr>
        <p:txBody>
          <a:bodyPr wrap="square" lIns="0" tIns="0" rIns="0" bIns="0" rtlCol="0" anchor="t">
            <a:normAutofit/>
          </a:bodyPr>
          <a:lstStyle/>
          <a:p>
            <a:pPr marL="0" indent="0" algn="ctr">
              <a:lnSpc>
                <a:spcPts val="1950"/>
              </a:lnSpc>
              <a:buNone/>
            </a:pPr>
            <a:r>
              <a:rPr lang="en-US" sz="1500" b="1" dirty="0">
                <a:solidFill>
                  <a:srgbClr val="C00000"/>
                </a:solidFill>
                <a:latin typeface="Lato" pitchFamily="34" charset="0"/>
                <a:ea typeface="Lato" pitchFamily="34" charset="-122"/>
                <a:cs typeface="Lato" pitchFamily="34" charset="-120"/>
              </a:rPr>
              <a:t>Agents targeted real people</a:t>
            </a:r>
            <a:endParaRPr lang="en-US" sz="1500" dirty="0"/>
          </a:p>
        </p:txBody>
      </p:sp>
      <p:sp>
        <p:nvSpPr>
          <p:cNvPr id="23" name="Text 18"/>
          <p:cNvSpPr/>
          <p:nvPr/>
        </p:nvSpPr>
        <p:spPr>
          <a:xfrm>
            <a:off x="340360" y="5918200"/>
            <a:ext cx="11511280" cy="355600"/>
          </a:xfrm>
          <a:prstGeom prst="rect">
            <a:avLst/>
          </a:prstGeom>
          <a:noFill/>
          <a:ln/>
        </p:spPr>
        <p:txBody>
          <a:bodyPr wrap="square" lIns="0" tIns="0" rIns="0" bIns="0" rtlCol="0" anchor="t">
            <a:normAutofit/>
          </a:bodyPr>
          <a:lstStyle/>
          <a:p>
            <a:pPr marL="0" indent="0" algn="ctr">
              <a:lnSpc>
                <a:spcPts val="2600"/>
              </a:lnSpc>
              <a:buNone/>
            </a:pPr>
            <a:r>
              <a:rPr lang="en-US" sz="2000" dirty="0">
                <a:solidFill>
                  <a:srgbClr val="000000"/>
                </a:solidFill>
                <a:latin typeface="Lato" pitchFamily="34" charset="0"/>
                <a:ea typeface="Lato" pitchFamily="34" charset="-122"/>
                <a:cs typeface="Lato" pitchFamily="34" charset="-120"/>
              </a:rPr>
              <a:t>Each was a normal-looking run until one step, and each was diagnosed after the damage</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4" name="Text 2"/>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20 / 33</a:t>
            </a:r>
            <a:endParaRPr lang="en-US" sz="1200" dirty="0"/>
          </a:p>
        </p:txBody>
      </p:sp>
      <p:sp>
        <p:nvSpPr>
          <p:cNvPr id="5" name="Text 3"/>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One Agent's Mistake Becomes the Next's Fact</a:t>
            </a:r>
            <a:endParaRPr lang="en-US" sz="3200" dirty="0"/>
          </a:p>
        </p:txBody>
      </p:sp>
      <p:sp>
        <p:nvSpPr>
          <p:cNvPr id="6" name="Text 4"/>
          <p:cNvSpPr/>
          <p:nvPr/>
        </p:nvSpPr>
        <p:spPr>
          <a:xfrm>
            <a:off x="508000" y="1026120"/>
            <a:ext cx="11511280" cy="393700"/>
          </a:xfrm>
          <a:prstGeom prst="rect">
            <a:avLst/>
          </a:prstGeom>
          <a:noFill/>
          <a:ln/>
        </p:spPr>
        <p:txBody>
          <a:bodyPr wrap="square" lIns="0" tIns="0" rIns="0" bIns="0" rtlCol="0" anchor="t">
            <a:normAutofit/>
          </a:bodyPr>
          <a:lstStyle/>
          <a:p>
            <a:pPr marL="0" indent="0" algn="l">
              <a:lnSpc>
                <a:spcPts val="2900"/>
              </a:lnSpc>
              <a:buNone/>
            </a:pPr>
            <a:r>
              <a:rPr lang="en-US" sz="2000" b="1" dirty="0">
                <a:solidFill>
                  <a:srgbClr val="000000"/>
                </a:solidFill>
                <a:latin typeface="Lato" pitchFamily="34" charset="0"/>
                <a:ea typeface="Lato" pitchFamily="34" charset="-122"/>
                <a:cs typeface="Lato" pitchFamily="34" charset="-120"/>
              </a:rPr>
              <a:t>Cascade:</a:t>
            </a:r>
            <a:r>
              <a:rPr lang="en-US" sz="2000" dirty="0">
                <a:solidFill>
                  <a:srgbClr val="000000"/>
                </a:solidFill>
                <a:latin typeface="Lato" pitchFamily="34" charset="0"/>
                <a:ea typeface="Lato" pitchFamily="34" charset="-122"/>
                <a:cs typeface="Lato" pitchFamily="34" charset="-120"/>
              </a:rPr>
              <a:t> one agent's mistake is </a:t>
            </a:r>
            <a:r>
              <a:rPr lang="en-US" sz="2000" u="sng" dirty="0">
                <a:solidFill>
                  <a:srgbClr val="C00000"/>
                </a:solidFill>
                <a:latin typeface="Lato" pitchFamily="34" charset="0"/>
                <a:ea typeface="Lato" pitchFamily="34" charset="-122"/>
                <a:cs typeface="Lato" pitchFamily="34" charset="-120"/>
              </a:rPr>
              <a:t>accepted as fact by the next</a:t>
            </a:r>
            <a:r>
              <a:rPr lang="en-US" sz="2000" dirty="0">
                <a:solidFill>
                  <a:srgbClr val="000000"/>
                </a:solidFill>
                <a:latin typeface="Lato" pitchFamily="34" charset="0"/>
                <a:ea typeface="Lato" pitchFamily="34" charset="-122"/>
                <a:cs typeface="Lato" pitchFamily="34" charset="-120"/>
              </a:rPr>
              <a:t>, and the rest build on it</a:t>
            </a:r>
            <a:endParaRPr lang="en-US" sz="2000" dirty="0"/>
          </a:p>
        </p:txBody>
      </p:sp>
      <p:pic>
        <p:nvPicPr>
          <p:cNvPr id="7" name="Image 0" descr="messages passed from manager to search agent to planner to code agent; the wrong database host travels with them until the delete runs on production"/>
          <p:cNvPicPr>
            <a:picLocks noChangeAspect="1"/>
          </p:cNvPicPr>
          <p:nvPr/>
        </p:nvPicPr>
        <p:blipFill>
          <a:blip r:embed="rId3"/>
          <a:srcRect l="-13" r="-13"/>
          <a:stretch/>
        </p:blipFill>
        <p:spPr>
          <a:xfrm>
            <a:off x="508000" y="1713210"/>
            <a:ext cx="11176000" cy="3873500"/>
          </a:xfrm>
          <a:prstGeom prst="rect">
            <a:avLst/>
          </a:prstGeom>
        </p:spPr>
      </p:pic>
      <p:sp>
        <p:nvSpPr>
          <p:cNvPr id="8" name="Text 5"/>
          <p:cNvSpPr/>
          <p:nvPr/>
        </p:nvSpPr>
        <p:spPr>
          <a:xfrm>
            <a:off x="508000" y="1967210"/>
            <a:ext cx="4826000" cy="623491"/>
          </a:xfrm>
          <a:prstGeom prst="roundRect">
            <a:avLst>
              <a:gd name="adj" fmla="val 14258"/>
            </a:avLst>
          </a:prstGeom>
          <a:solidFill>
            <a:srgbClr val="F3F3F3"/>
          </a:solidFill>
          <a:ln/>
        </p:spPr>
        <p:txBody>
          <a:bodyPr wrap="square" lIns="100962" tIns="62862" rIns="0" bIns="37462" rtlCol="0" anchor="t">
            <a:normAutofit/>
          </a:bodyPr>
          <a:lstStyle/>
          <a:p>
            <a:pPr marL="0" indent="0" algn="l">
              <a:lnSpc>
                <a:spcPts val="1755"/>
              </a:lnSpc>
              <a:buNone/>
            </a:pPr>
            <a:r>
              <a:rPr lang="en-US" sz="1350" b="1" dirty="0">
                <a:solidFill>
                  <a:srgbClr val="000000"/>
                </a:solidFill>
                <a:latin typeface="Lato" pitchFamily="34" charset="0"/>
                <a:ea typeface="Lato" pitchFamily="34" charset="-122"/>
                <a:cs typeface="Lato" pitchFamily="34" charset="-120"/>
              </a:rPr>
              <a:t>Task:</a:t>
            </a:r>
            <a:r>
              <a:rPr lang="en-US" sz="1350" dirty="0">
                <a:solidFill>
                  <a:srgbClr val="000000"/>
                </a:solidFill>
                <a:latin typeface="Lato" pitchFamily="34" charset="0"/>
                <a:ea typeface="Lato" pitchFamily="34" charset="-122"/>
                <a:cs typeface="Lato" pitchFamily="34" charset="-120"/>
              </a:rPr>
              <a:t> delete stale test accounts from the </a:t>
            </a:r>
            <a:r>
              <a:rPr lang="en-US" sz="1350" b="1" dirty="0">
                <a:solidFill>
                  <a:srgbClr val="000000"/>
                </a:solidFill>
                <a:latin typeface="Lato" pitchFamily="34" charset="0"/>
                <a:ea typeface="Lato" pitchFamily="34" charset="-122"/>
                <a:cs typeface="Lato" pitchFamily="34" charset="-120"/>
              </a:rPr>
              <a:t>staging</a:t>
            </a:r>
            <a:r>
              <a:rPr lang="en-US" sz="1350" dirty="0">
                <a:solidFill>
                  <a:srgbClr val="000000"/>
                </a:solidFill>
                <a:latin typeface="Lato" pitchFamily="34" charset="0"/>
                <a:ea typeface="Lato" pitchFamily="34" charset="-122"/>
                <a:cs typeface="Lato" pitchFamily="34" charset="-120"/>
              </a:rPr>
              <a:t> database before tonight's release</a:t>
            </a:r>
            <a:endParaRPr lang="en-US" sz="1350" dirty="0"/>
          </a:p>
        </p:txBody>
      </p:sp>
      <p:pic>
        <p:nvPicPr>
          <p:cNvPr id="9" name="Image 1" descr="manager agent"/>
          <p:cNvPicPr>
            <a:picLocks noChangeAspect="1"/>
          </p:cNvPicPr>
          <p:nvPr/>
        </p:nvPicPr>
        <p:blipFill>
          <a:blip r:embed="rId4"/>
          <a:srcRect l="-5" r="-5"/>
          <a:stretch/>
        </p:blipFill>
        <p:spPr>
          <a:xfrm>
            <a:off x="622300" y="2735560"/>
            <a:ext cx="1130300" cy="1606550"/>
          </a:xfrm>
          <a:prstGeom prst="rect">
            <a:avLst/>
          </a:prstGeom>
        </p:spPr>
      </p:pic>
      <p:pic>
        <p:nvPicPr>
          <p:cNvPr id="10" name="Image 2" descr="search agent"/>
          <p:cNvPicPr>
            <a:picLocks noChangeAspect="1"/>
          </p:cNvPicPr>
          <p:nvPr/>
        </p:nvPicPr>
        <p:blipFill>
          <a:blip r:embed="rId5"/>
          <a:srcRect t="-44" b="-44"/>
          <a:stretch/>
        </p:blipFill>
        <p:spPr>
          <a:xfrm>
            <a:off x="3302000" y="2729210"/>
            <a:ext cx="1111250" cy="1606550"/>
          </a:xfrm>
          <a:prstGeom prst="rect">
            <a:avLst/>
          </a:prstGeom>
        </p:spPr>
      </p:pic>
      <p:pic>
        <p:nvPicPr>
          <p:cNvPr id="11" name="Image 3" descr="planner agent"/>
          <p:cNvPicPr>
            <a:picLocks noChangeAspect="1"/>
          </p:cNvPicPr>
          <p:nvPr/>
        </p:nvPicPr>
        <p:blipFill>
          <a:blip r:embed="rId6"/>
          <a:srcRect t="-84" b="-84"/>
          <a:stretch/>
        </p:blipFill>
        <p:spPr>
          <a:xfrm>
            <a:off x="6064250" y="2722860"/>
            <a:ext cx="1028700" cy="1619250"/>
          </a:xfrm>
          <a:prstGeom prst="rect">
            <a:avLst/>
          </a:prstGeom>
        </p:spPr>
      </p:pic>
      <p:pic>
        <p:nvPicPr>
          <p:cNvPr id="12" name="Image 4" descr="code agent"/>
          <p:cNvPicPr>
            <a:picLocks noChangeAspect="1"/>
          </p:cNvPicPr>
          <p:nvPr/>
        </p:nvPicPr>
        <p:blipFill>
          <a:blip r:embed="rId7"/>
          <a:srcRect l="-44" r="-44"/>
          <a:stretch/>
        </p:blipFill>
        <p:spPr>
          <a:xfrm>
            <a:off x="8763000" y="2729210"/>
            <a:ext cx="1117600" cy="1612900"/>
          </a:xfrm>
          <a:prstGeom prst="rect">
            <a:avLst/>
          </a:prstGeom>
        </p:spPr>
      </p:pic>
      <p:sp>
        <p:nvSpPr>
          <p:cNvPr id="13" name="Text 6"/>
          <p:cNvSpPr/>
          <p:nvPr/>
        </p:nvSpPr>
        <p:spPr>
          <a:xfrm>
            <a:off x="1860550" y="3332460"/>
            <a:ext cx="1397000" cy="687388"/>
          </a:xfrm>
          <a:prstGeom prst="roundRect">
            <a:avLst>
              <a:gd name="adj" fmla="val 10162"/>
            </a:avLst>
          </a:prstGeom>
          <a:solidFill>
            <a:srgbClr val="FFFFFF"/>
          </a:solidFill>
          <a:ln w="12700">
            <a:solidFill>
              <a:srgbClr val="777777"/>
            </a:solidFill>
            <a:prstDash val="solid"/>
          </a:ln>
        </p:spPr>
        <p:txBody>
          <a:bodyPr wrap="square" lIns="36692" tIns="49392" rIns="36692" bIns="23992" rtlCol="0" anchor="t">
            <a:normAutofit/>
          </a:bodyPr>
          <a:lstStyle/>
          <a:p>
            <a:pPr marL="0" indent="0" algn="ctr">
              <a:lnSpc>
                <a:spcPts val="1438"/>
              </a:lnSpc>
              <a:buNone/>
            </a:pPr>
            <a:r>
              <a:rPr lang="en-US" sz="1150" dirty="0">
                <a:solidFill>
                  <a:srgbClr val="000000"/>
                </a:solidFill>
                <a:latin typeface="Lato" pitchFamily="34" charset="0"/>
                <a:ea typeface="Lato" pitchFamily="34" charset="-122"/>
                <a:cs typeface="Lato" pitchFamily="34" charset="-120"/>
              </a:rPr>
              <a:t>which host is staging? list the old test accounts</a:t>
            </a:r>
            <a:endParaRPr lang="en-US" sz="1150" dirty="0"/>
          </a:p>
        </p:txBody>
      </p:sp>
      <p:sp>
        <p:nvSpPr>
          <p:cNvPr id="14" name="Shape 7"/>
          <p:cNvSpPr/>
          <p:nvPr/>
        </p:nvSpPr>
        <p:spPr>
          <a:xfrm>
            <a:off x="4467225" y="3284835"/>
            <a:ext cx="1517650" cy="857250"/>
          </a:xfrm>
          <a:prstGeom prst="roundRect">
            <a:avLst>
              <a:gd name="adj" fmla="val 7778"/>
            </a:avLst>
          </a:prstGeom>
          <a:solidFill>
            <a:srgbClr val="FBE9EC"/>
          </a:solidFill>
          <a:ln w="19050">
            <a:solidFill>
              <a:srgbClr val="C00000"/>
            </a:solidFill>
            <a:prstDash val="solid"/>
          </a:ln>
        </p:spPr>
        <p:txBody>
          <a:bodyPr/>
          <a:lstStyle/>
          <a:p>
            <a:endParaRPr lang="en-US"/>
          </a:p>
        </p:txBody>
      </p:sp>
      <p:sp>
        <p:nvSpPr>
          <p:cNvPr id="15" name="Text 8"/>
          <p:cNvSpPr/>
          <p:nvPr/>
        </p:nvSpPr>
        <p:spPr>
          <a:xfrm>
            <a:off x="4527550" y="3357860"/>
            <a:ext cx="1397000" cy="207963"/>
          </a:xfrm>
          <a:prstGeom prst="rect">
            <a:avLst/>
          </a:prstGeom>
          <a:noFill/>
          <a:ln/>
        </p:spPr>
        <p:txBody>
          <a:bodyPr wrap="square" lIns="0" tIns="0" rIns="0" bIns="0" rtlCol="0" anchor="t">
            <a:normAutofit/>
          </a:bodyPr>
          <a:lstStyle/>
          <a:p>
            <a:pPr marL="0" indent="0" algn="ctr">
              <a:lnSpc>
                <a:spcPts val="1438"/>
              </a:lnSpc>
              <a:buNone/>
            </a:pPr>
            <a:r>
              <a:rPr lang="en-US" sz="1150" dirty="0">
                <a:solidFill>
                  <a:srgbClr val="000000"/>
                </a:solidFill>
                <a:latin typeface="Lato" pitchFamily="34" charset="0"/>
                <a:ea typeface="Lato" pitchFamily="34" charset="-122"/>
                <a:cs typeface="Lato" pitchFamily="34" charset="-120"/>
              </a:rPr>
              <a:t>staging host:</a:t>
            </a:r>
            <a:endParaRPr lang="en-US" sz="1150" dirty="0"/>
          </a:p>
        </p:txBody>
      </p:sp>
      <p:sp>
        <p:nvSpPr>
          <p:cNvPr id="16" name="Text 9"/>
          <p:cNvSpPr/>
          <p:nvPr/>
        </p:nvSpPr>
        <p:spPr>
          <a:xfrm>
            <a:off x="4527550" y="3553123"/>
            <a:ext cx="1397000" cy="223838"/>
          </a:xfrm>
          <a:prstGeom prst="rect">
            <a:avLst/>
          </a:prstGeom>
          <a:noFill/>
          <a:ln/>
        </p:spPr>
        <p:txBody>
          <a:bodyPr wrap="square" lIns="0" tIns="0" rIns="0" bIns="0" rtlCol="0" anchor="t">
            <a:normAutofit/>
          </a:bodyPr>
          <a:lstStyle/>
          <a:p>
            <a:pPr marL="0" indent="0" algn="ctr">
              <a:lnSpc>
                <a:spcPts val="1563"/>
              </a:lnSpc>
              <a:buNone/>
            </a:pPr>
            <a:r>
              <a:rPr lang="en-US" sz="1250" b="1" dirty="0">
                <a:solidFill>
                  <a:srgbClr val="C00000"/>
                </a:solidFill>
                <a:latin typeface="Lato" pitchFamily="34" charset="0"/>
                <a:ea typeface="Lato" pitchFamily="34" charset="-122"/>
                <a:cs typeface="Lato" pitchFamily="34" charset="-120"/>
              </a:rPr>
              <a:t>db-prod-01</a:t>
            </a:r>
            <a:endParaRPr lang="en-US" sz="1250" dirty="0"/>
          </a:p>
        </p:txBody>
      </p:sp>
      <p:sp>
        <p:nvSpPr>
          <p:cNvPr id="17" name="Text 10"/>
          <p:cNvSpPr/>
          <p:nvPr/>
        </p:nvSpPr>
        <p:spPr>
          <a:xfrm>
            <a:off x="4527550" y="3764260"/>
            <a:ext cx="1397000" cy="330200"/>
          </a:xfrm>
          <a:prstGeom prst="rect">
            <a:avLst/>
          </a:prstGeom>
          <a:noFill/>
          <a:ln/>
        </p:spPr>
        <p:txBody>
          <a:bodyPr wrap="square" lIns="0" tIns="0" rIns="0" bIns="0" rtlCol="0" anchor="t">
            <a:normAutofit/>
          </a:bodyPr>
          <a:lstStyle/>
          <a:p>
            <a:pPr marL="0" indent="0" algn="ctr">
              <a:lnSpc>
                <a:spcPts val="1200"/>
              </a:lnSpc>
              <a:buNone/>
            </a:pPr>
            <a:r>
              <a:rPr lang="en-US" sz="1000" dirty="0">
                <a:solidFill>
                  <a:srgbClr val="555555"/>
                </a:solidFill>
                <a:latin typeface="Lato" pitchFamily="34" charset="0"/>
                <a:ea typeface="Lato" pitchFamily="34" charset="-122"/>
                <a:cs typeface="Lato" pitchFamily="34" charset="-120"/>
              </a:rPr>
              <a:t>read from the</a:t>
            </a:r>
            <a:endParaRPr lang="en-US" sz="1000" dirty="0"/>
          </a:p>
          <a:p>
            <a:pPr marL="0" indent="0" algn="ctr">
              <a:lnSpc>
                <a:spcPts val="1200"/>
              </a:lnSpc>
              <a:buNone/>
            </a:pPr>
            <a:r>
              <a:rPr lang="en-US" sz="1000" dirty="0">
                <a:solidFill>
                  <a:srgbClr val="555555"/>
                </a:solidFill>
                <a:latin typeface="Lato" pitchFamily="34" charset="0"/>
                <a:ea typeface="Lato" pitchFamily="34" charset="-122"/>
                <a:cs typeface="Lato" pitchFamily="34" charset="-120"/>
              </a:rPr>
              <a:t>wrong .env</a:t>
            </a:r>
            <a:endParaRPr lang="en-US" sz="1000" dirty="0"/>
          </a:p>
        </p:txBody>
      </p:sp>
      <p:sp>
        <p:nvSpPr>
          <p:cNvPr id="18" name="Shape 11"/>
          <p:cNvSpPr/>
          <p:nvPr/>
        </p:nvSpPr>
        <p:spPr>
          <a:xfrm>
            <a:off x="7172325" y="3284835"/>
            <a:ext cx="1543050" cy="722313"/>
          </a:xfrm>
          <a:prstGeom prst="roundRect">
            <a:avLst>
              <a:gd name="adj" fmla="val 9231"/>
            </a:avLst>
          </a:prstGeom>
          <a:solidFill>
            <a:srgbClr val="FBE9EC"/>
          </a:solidFill>
          <a:ln w="19050">
            <a:solidFill>
              <a:srgbClr val="C00000"/>
            </a:solidFill>
            <a:prstDash val="solid"/>
          </a:ln>
        </p:spPr>
        <p:txBody>
          <a:bodyPr/>
          <a:lstStyle/>
          <a:p>
            <a:endParaRPr lang="en-US"/>
          </a:p>
        </p:txBody>
      </p:sp>
      <p:sp>
        <p:nvSpPr>
          <p:cNvPr id="19" name="Text 12"/>
          <p:cNvSpPr/>
          <p:nvPr/>
        </p:nvSpPr>
        <p:spPr>
          <a:xfrm>
            <a:off x="7232650" y="3357860"/>
            <a:ext cx="1422400" cy="390525"/>
          </a:xfrm>
          <a:prstGeom prst="rect">
            <a:avLst/>
          </a:prstGeom>
          <a:noFill/>
          <a:ln/>
        </p:spPr>
        <p:txBody>
          <a:bodyPr wrap="square" lIns="0" tIns="0" rIns="0" bIns="0" rtlCol="0" anchor="t">
            <a:normAutofit/>
          </a:bodyPr>
          <a:lstStyle/>
          <a:p>
            <a:pPr marL="0" indent="0" algn="ctr">
              <a:lnSpc>
                <a:spcPts val="1438"/>
              </a:lnSpc>
              <a:buNone/>
            </a:pPr>
            <a:r>
              <a:rPr lang="en-US" sz="1150" dirty="0">
                <a:solidFill>
                  <a:srgbClr val="000000"/>
                </a:solidFill>
                <a:latin typeface="Lato" pitchFamily="34" charset="0"/>
                <a:ea typeface="Lato" pitchFamily="34" charset="-122"/>
                <a:cs typeface="Lato" pitchFamily="34" charset="-120"/>
              </a:rPr>
              <a:t>delete accounts older than 2025</a:t>
            </a:r>
            <a:endParaRPr lang="en-US" sz="1150" dirty="0"/>
          </a:p>
        </p:txBody>
      </p:sp>
      <p:sp>
        <p:nvSpPr>
          <p:cNvPr id="20" name="Text 13"/>
          <p:cNvSpPr/>
          <p:nvPr/>
        </p:nvSpPr>
        <p:spPr>
          <a:xfrm>
            <a:off x="7232650" y="3735685"/>
            <a:ext cx="1422400" cy="223838"/>
          </a:xfrm>
          <a:prstGeom prst="rect">
            <a:avLst/>
          </a:prstGeom>
          <a:noFill/>
          <a:ln/>
        </p:spPr>
        <p:txBody>
          <a:bodyPr wrap="square" lIns="0" tIns="0" rIns="0" bIns="0" rtlCol="0" anchor="t">
            <a:normAutofit/>
          </a:bodyPr>
          <a:lstStyle/>
          <a:p>
            <a:pPr marL="0" indent="0" algn="ctr">
              <a:lnSpc>
                <a:spcPts val="1563"/>
              </a:lnSpc>
              <a:buNone/>
            </a:pPr>
            <a:r>
              <a:rPr lang="en-US" sz="1250" dirty="0">
                <a:solidFill>
                  <a:srgbClr val="000000"/>
                </a:solidFill>
                <a:latin typeface="Lato" pitchFamily="34" charset="0"/>
                <a:ea typeface="Lato" pitchFamily="34" charset="-122"/>
                <a:cs typeface="Lato" pitchFamily="34" charset="-120"/>
              </a:rPr>
              <a:t>on </a:t>
            </a:r>
            <a:r>
              <a:rPr lang="en-US" sz="1250" b="1" dirty="0">
                <a:solidFill>
                  <a:srgbClr val="C00000"/>
                </a:solidFill>
                <a:latin typeface="Lato" pitchFamily="34" charset="0"/>
                <a:ea typeface="Lato" pitchFamily="34" charset="-122"/>
                <a:cs typeface="Lato" pitchFamily="34" charset="-120"/>
              </a:rPr>
              <a:t>db-prod-01</a:t>
            </a:r>
            <a:endParaRPr lang="en-US" sz="1250" dirty="0"/>
          </a:p>
        </p:txBody>
      </p:sp>
      <p:sp>
        <p:nvSpPr>
          <p:cNvPr id="21" name="Shape 14"/>
          <p:cNvSpPr/>
          <p:nvPr/>
        </p:nvSpPr>
        <p:spPr>
          <a:xfrm>
            <a:off x="10264775" y="2814935"/>
            <a:ext cx="1409700" cy="1402358"/>
          </a:xfrm>
          <a:prstGeom prst="roundRect">
            <a:avLst>
              <a:gd name="adj" fmla="val 5660"/>
            </a:avLst>
          </a:prstGeom>
          <a:solidFill>
            <a:srgbClr val="FFFFFF"/>
          </a:solidFill>
          <a:ln w="19050">
            <a:solidFill>
              <a:srgbClr val="C00000"/>
            </a:solidFill>
            <a:prstDash val="solid"/>
          </a:ln>
        </p:spPr>
        <p:txBody>
          <a:bodyPr/>
          <a:lstStyle/>
          <a:p>
            <a:endParaRPr lang="en-US"/>
          </a:p>
        </p:txBody>
      </p:sp>
      <p:sp>
        <p:nvSpPr>
          <p:cNvPr id="22" name="Text 15"/>
          <p:cNvSpPr/>
          <p:nvPr/>
        </p:nvSpPr>
        <p:spPr>
          <a:xfrm>
            <a:off x="10713393" y="2913360"/>
            <a:ext cx="512465" cy="238720"/>
          </a:xfrm>
          <a:prstGeom prst="roundRect">
            <a:avLst>
              <a:gd name="adj" fmla="val 21280"/>
            </a:avLst>
          </a:prstGeom>
          <a:solidFill>
            <a:srgbClr val="C00000"/>
          </a:solidFill>
          <a:ln/>
        </p:spPr>
        <p:txBody>
          <a:bodyPr wrap="none" lIns="0" tIns="0" rIns="0" bIns="0" rtlCol="0" anchor="ctr">
            <a:normAutofit/>
          </a:bodyPr>
          <a:lstStyle/>
          <a:p>
            <a:pPr marL="0" indent="0" algn="ctr">
              <a:lnSpc>
                <a:spcPts val="1680"/>
              </a:lnSpc>
              <a:buNone/>
            </a:pPr>
            <a:r>
              <a:rPr lang="en-US" sz="1200" b="1" dirty="0">
                <a:solidFill>
                  <a:srgbClr val="FFFFFF"/>
                </a:solidFill>
                <a:latin typeface="Lato" pitchFamily="34" charset="0"/>
                <a:ea typeface="Lato" pitchFamily="34" charset="-122"/>
                <a:cs typeface="Lato" pitchFamily="34" charset="-120"/>
              </a:rPr>
              <a:t>FAIL</a:t>
            </a:r>
            <a:endParaRPr lang="en-US" sz="1200" dirty="0"/>
          </a:p>
        </p:txBody>
      </p:sp>
      <p:sp>
        <p:nvSpPr>
          <p:cNvPr id="23" name="Text 16"/>
          <p:cNvSpPr/>
          <p:nvPr/>
        </p:nvSpPr>
        <p:spPr>
          <a:xfrm>
            <a:off x="10325100" y="3202880"/>
            <a:ext cx="1289050" cy="390525"/>
          </a:xfrm>
          <a:prstGeom prst="rect">
            <a:avLst/>
          </a:prstGeom>
          <a:noFill/>
          <a:ln/>
        </p:spPr>
        <p:txBody>
          <a:bodyPr wrap="square" lIns="0" tIns="0" rIns="0" bIns="0" rtlCol="0" anchor="t">
            <a:normAutofit/>
          </a:bodyPr>
          <a:lstStyle/>
          <a:p>
            <a:pPr marL="0" indent="0" algn="ctr">
              <a:lnSpc>
                <a:spcPts val="1438"/>
              </a:lnSpc>
              <a:buNone/>
            </a:pPr>
            <a:r>
              <a:rPr lang="en-US" sz="1150" dirty="0">
                <a:solidFill>
                  <a:srgbClr val="000000"/>
                </a:solidFill>
                <a:latin typeface="Lato" pitchFamily="34" charset="0"/>
                <a:ea typeface="Lato" pitchFamily="34" charset="-122"/>
                <a:cs typeface="Lato" pitchFamily="34" charset="-120"/>
              </a:rPr>
              <a:t>DELETE runs on </a:t>
            </a:r>
            <a:r>
              <a:rPr lang="en-US" sz="1150" b="1" dirty="0">
                <a:solidFill>
                  <a:srgbClr val="C00000"/>
                </a:solidFill>
                <a:latin typeface="Lato" pitchFamily="34" charset="0"/>
                <a:ea typeface="Lato" pitchFamily="34" charset="-122"/>
                <a:cs typeface="Lato" pitchFamily="34" charset="-120"/>
              </a:rPr>
              <a:t>production</a:t>
            </a:r>
            <a:endParaRPr lang="en-US" sz="1150" dirty="0"/>
          </a:p>
        </p:txBody>
      </p:sp>
      <p:sp>
        <p:nvSpPr>
          <p:cNvPr id="24" name="Text 17"/>
          <p:cNvSpPr/>
          <p:nvPr/>
        </p:nvSpPr>
        <p:spPr>
          <a:xfrm>
            <a:off x="10325100" y="3618805"/>
            <a:ext cx="1289050" cy="525463"/>
          </a:xfrm>
          <a:prstGeom prst="rect">
            <a:avLst/>
          </a:prstGeom>
          <a:noFill/>
          <a:ln/>
        </p:spPr>
        <p:txBody>
          <a:bodyPr wrap="square" lIns="0" tIns="0" rIns="0" bIns="0" rtlCol="0" anchor="t">
            <a:normAutofit/>
          </a:bodyPr>
          <a:lstStyle/>
          <a:p>
            <a:pPr marL="0" indent="0" algn="ctr">
              <a:lnSpc>
                <a:spcPts val="1313"/>
              </a:lnSpc>
              <a:buNone/>
            </a:pPr>
            <a:r>
              <a:rPr lang="en-US" sz="1050" dirty="0">
                <a:solidFill>
                  <a:srgbClr val="555555"/>
                </a:solidFill>
                <a:latin typeface="Lato" pitchFamily="34" charset="0"/>
                <a:ea typeface="Lato" pitchFamily="34" charset="-122"/>
                <a:cs typeface="Lato" pitchFamily="34" charset="-120"/>
              </a:rPr>
              <a:t>1.2M customer accounts gone, site down</a:t>
            </a:r>
            <a:endParaRPr lang="en-US" sz="1050" dirty="0"/>
          </a:p>
        </p:txBody>
      </p:sp>
      <p:sp>
        <p:nvSpPr>
          <p:cNvPr id="25" name="Text 18"/>
          <p:cNvSpPr/>
          <p:nvPr/>
        </p:nvSpPr>
        <p:spPr>
          <a:xfrm>
            <a:off x="533400" y="4507210"/>
            <a:ext cx="1320800" cy="223838"/>
          </a:xfrm>
          <a:prstGeom prst="rect">
            <a:avLst/>
          </a:prstGeom>
          <a:noFill/>
          <a:ln/>
        </p:spPr>
        <p:txBody>
          <a:bodyPr wrap="square" lIns="0" tIns="0" rIns="0" bIns="0" rtlCol="0" anchor="t">
            <a:normAutofit/>
          </a:bodyPr>
          <a:lstStyle/>
          <a:p>
            <a:pPr marL="0" indent="0" algn="ctr">
              <a:lnSpc>
                <a:spcPts val="1563"/>
              </a:lnSpc>
              <a:buNone/>
            </a:pPr>
            <a:r>
              <a:rPr lang="en-US" sz="1250" dirty="0">
                <a:solidFill>
                  <a:srgbClr val="555555"/>
                </a:solidFill>
                <a:latin typeface="Lato" pitchFamily="34" charset="0"/>
                <a:ea typeface="Lato" pitchFamily="34" charset="-122"/>
                <a:cs typeface="Lato" pitchFamily="34" charset="-120"/>
              </a:rPr>
              <a:t>step 1: delegates</a:t>
            </a:r>
            <a:endParaRPr lang="en-US" sz="1250" dirty="0"/>
          </a:p>
        </p:txBody>
      </p:sp>
      <p:sp>
        <p:nvSpPr>
          <p:cNvPr id="26" name="Text 19"/>
          <p:cNvSpPr/>
          <p:nvPr/>
        </p:nvSpPr>
        <p:spPr>
          <a:xfrm>
            <a:off x="2879725" y="4507210"/>
            <a:ext cx="1962150" cy="223838"/>
          </a:xfrm>
          <a:prstGeom prst="rect">
            <a:avLst/>
          </a:prstGeom>
          <a:noFill/>
          <a:ln/>
        </p:spPr>
        <p:txBody>
          <a:bodyPr wrap="none" lIns="0" tIns="0" rIns="0" bIns="0" rtlCol="0" anchor="t">
            <a:normAutofit/>
          </a:bodyPr>
          <a:lstStyle/>
          <a:p>
            <a:pPr marL="0" indent="0" algn="ctr">
              <a:lnSpc>
                <a:spcPts val="1563"/>
              </a:lnSpc>
              <a:buNone/>
            </a:pPr>
            <a:r>
              <a:rPr lang="en-US" sz="1250" b="1" dirty="0">
                <a:solidFill>
                  <a:srgbClr val="C00000"/>
                </a:solidFill>
                <a:latin typeface="Lato" pitchFamily="34" charset="0"/>
                <a:ea typeface="Lato" pitchFamily="34" charset="-122"/>
                <a:cs typeface="Lato" pitchFamily="34" charset="-120"/>
              </a:rPr>
              <a:t>step 3: the mistake</a:t>
            </a:r>
            <a:endParaRPr lang="en-US" sz="1250" dirty="0"/>
          </a:p>
        </p:txBody>
      </p:sp>
      <p:sp>
        <p:nvSpPr>
          <p:cNvPr id="27" name="Text 20"/>
          <p:cNvSpPr/>
          <p:nvPr/>
        </p:nvSpPr>
        <p:spPr>
          <a:xfrm>
            <a:off x="5597525" y="4507210"/>
            <a:ext cx="1962150" cy="223838"/>
          </a:xfrm>
          <a:prstGeom prst="rect">
            <a:avLst/>
          </a:prstGeom>
          <a:noFill/>
          <a:ln/>
        </p:spPr>
        <p:txBody>
          <a:bodyPr wrap="none" lIns="0" tIns="0" rIns="0" bIns="0" rtlCol="0" anchor="t">
            <a:normAutofit/>
          </a:bodyPr>
          <a:lstStyle/>
          <a:p>
            <a:pPr marL="0" indent="0" algn="ctr">
              <a:lnSpc>
                <a:spcPts val="1563"/>
              </a:lnSpc>
              <a:buNone/>
            </a:pPr>
            <a:r>
              <a:rPr lang="en-US" sz="1250" b="1" dirty="0">
                <a:solidFill>
                  <a:srgbClr val="C00000"/>
                </a:solidFill>
                <a:latin typeface="Lato" pitchFamily="34" charset="0"/>
                <a:ea typeface="Lato" pitchFamily="34" charset="-122"/>
                <a:cs typeface="Lato" pitchFamily="34" charset="-120"/>
              </a:rPr>
              <a:t>step 4: accepted as fact</a:t>
            </a:r>
            <a:endParaRPr lang="en-US" sz="1250" dirty="0"/>
          </a:p>
        </p:txBody>
      </p:sp>
      <p:sp>
        <p:nvSpPr>
          <p:cNvPr id="28" name="Text 21"/>
          <p:cNvSpPr/>
          <p:nvPr/>
        </p:nvSpPr>
        <p:spPr>
          <a:xfrm>
            <a:off x="8340725" y="4507210"/>
            <a:ext cx="1962150" cy="223838"/>
          </a:xfrm>
          <a:prstGeom prst="rect">
            <a:avLst/>
          </a:prstGeom>
          <a:noFill/>
          <a:ln/>
        </p:spPr>
        <p:txBody>
          <a:bodyPr wrap="none" lIns="0" tIns="0" rIns="0" bIns="0" rtlCol="0" anchor="t">
            <a:normAutofit/>
          </a:bodyPr>
          <a:lstStyle/>
          <a:p>
            <a:pPr marL="0" indent="0" algn="ctr">
              <a:lnSpc>
                <a:spcPts val="1563"/>
              </a:lnSpc>
              <a:buNone/>
            </a:pPr>
            <a:r>
              <a:rPr lang="en-US" sz="1250" b="1" dirty="0">
                <a:solidFill>
                  <a:srgbClr val="C00000"/>
                </a:solidFill>
                <a:latin typeface="Lato" pitchFamily="34" charset="0"/>
                <a:ea typeface="Lato" pitchFamily="34" charset="-122"/>
                <a:cs typeface="Lato" pitchFamily="34" charset="-120"/>
              </a:rPr>
              <a:t>step 6: builds on it</a:t>
            </a:r>
            <a:endParaRPr lang="en-US" sz="1250" dirty="0"/>
          </a:p>
        </p:txBody>
      </p:sp>
      <p:sp>
        <p:nvSpPr>
          <p:cNvPr id="29" name="Text 22"/>
          <p:cNvSpPr/>
          <p:nvPr/>
        </p:nvSpPr>
        <p:spPr>
          <a:xfrm>
            <a:off x="10229850" y="4507210"/>
            <a:ext cx="1479550" cy="223838"/>
          </a:xfrm>
          <a:prstGeom prst="rect">
            <a:avLst/>
          </a:prstGeom>
          <a:noFill/>
          <a:ln/>
        </p:spPr>
        <p:txBody>
          <a:bodyPr wrap="square" lIns="0" tIns="0" rIns="0" bIns="0" rtlCol="0" anchor="t">
            <a:normAutofit/>
          </a:bodyPr>
          <a:lstStyle/>
          <a:p>
            <a:pPr marL="0" indent="0" algn="ctr">
              <a:lnSpc>
                <a:spcPts val="1563"/>
              </a:lnSpc>
              <a:buNone/>
            </a:pPr>
            <a:r>
              <a:rPr lang="en-US" sz="1250" dirty="0">
                <a:solidFill>
                  <a:srgbClr val="555555"/>
                </a:solidFill>
                <a:latin typeface="Lato" pitchFamily="34" charset="0"/>
                <a:ea typeface="Lato" pitchFamily="34" charset="-122"/>
                <a:cs typeface="Lato" pitchFamily="34" charset="-120"/>
              </a:rPr>
              <a:t>only now visible</a:t>
            </a:r>
            <a:endParaRPr lang="en-US" sz="1250" dirty="0"/>
          </a:p>
        </p:txBody>
      </p:sp>
      <p:sp>
        <p:nvSpPr>
          <p:cNvPr id="30" name="Shape 23"/>
          <p:cNvSpPr/>
          <p:nvPr/>
        </p:nvSpPr>
        <p:spPr>
          <a:xfrm>
            <a:off x="3302000" y="4951710"/>
            <a:ext cx="8382000" cy="317500"/>
          </a:xfrm>
          <a:prstGeom prst="roundRect">
            <a:avLst>
              <a:gd name="adj" fmla="val 50000"/>
            </a:avLst>
          </a:prstGeom>
          <a:gradFill rotWithShape="1">
            <a:gsLst>
              <a:gs pos="0">
                <a:srgbClr val="FBE9EC"/>
              </a:gs>
              <a:gs pos="55000">
                <a:srgbClr val="E06666"/>
              </a:gs>
              <a:gs pos="100000">
                <a:srgbClr val="C00000"/>
              </a:gs>
            </a:gsLst>
            <a:lin ang="0" scaled="0"/>
          </a:gradFill>
          <a:ln/>
        </p:spPr>
        <p:txBody>
          <a:bodyPr/>
          <a:lstStyle/>
          <a:p>
            <a:endParaRPr lang="en-US"/>
          </a:p>
        </p:txBody>
      </p:sp>
      <p:sp>
        <p:nvSpPr>
          <p:cNvPr id="31" name="Text 24"/>
          <p:cNvSpPr/>
          <p:nvPr/>
        </p:nvSpPr>
        <p:spPr>
          <a:xfrm>
            <a:off x="3176270" y="5370810"/>
            <a:ext cx="8633460" cy="265410"/>
          </a:xfrm>
          <a:prstGeom prst="rect">
            <a:avLst/>
          </a:prstGeom>
          <a:noFill/>
          <a:ln/>
        </p:spPr>
        <p:txBody>
          <a:bodyPr wrap="square" lIns="0" tIns="0" rIns="0" bIns="0" rtlCol="0" anchor="t">
            <a:normAutofit/>
          </a:bodyPr>
          <a:lstStyle/>
          <a:p>
            <a:pPr marL="0" indent="0" algn="ctr">
              <a:lnSpc>
                <a:spcPts val="1890"/>
              </a:lnSpc>
              <a:buNone/>
            </a:pPr>
            <a:r>
              <a:rPr lang="en-US" sz="1350" dirty="0">
                <a:solidFill>
                  <a:srgbClr val="555555"/>
                </a:solidFill>
                <a:latin typeface="Lato" pitchFamily="34" charset="0"/>
                <a:ea typeface="Lato" pitchFamily="34" charset="-122"/>
                <a:cs typeface="Lato" pitchFamily="34" charset="-120"/>
              </a:rPr>
              <a:t>the wrong host travels with every message, each step is locally reasonable, and the damage is irreversible</a:t>
            </a:r>
            <a:endParaRPr lang="en-US" sz="1350" dirty="0"/>
          </a:p>
        </p:txBody>
      </p:sp>
      <p:sp>
        <p:nvSpPr>
          <p:cNvPr id="32" name="Text 25"/>
          <p:cNvSpPr/>
          <p:nvPr/>
        </p:nvSpPr>
        <p:spPr>
          <a:xfrm>
            <a:off x="340360" y="5918200"/>
            <a:ext cx="11511280" cy="355600"/>
          </a:xfrm>
          <a:prstGeom prst="rect">
            <a:avLst/>
          </a:prstGeom>
          <a:noFill/>
          <a:ln/>
        </p:spPr>
        <p:txBody>
          <a:bodyPr wrap="square" lIns="0" tIns="0" rIns="0" bIns="0" rtlCol="0" anchor="t">
            <a:normAutofit/>
          </a:bodyPr>
          <a:lstStyle/>
          <a:p>
            <a:pPr marL="0" indent="0" algn="ctr">
              <a:lnSpc>
                <a:spcPts val="2600"/>
              </a:lnSpc>
              <a:buNone/>
            </a:pPr>
            <a:r>
              <a:rPr lang="en-US" sz="2000" dirty="0">
                <a:solidFill>
                  <a:srgbClr val="000000"/>
                </a:solidFill>
                <a:latin typeface="Lato" pitchFamily="34" charset="0"/>
                <a:ea typeface="Lato" pitchFamily="34" charset="-122"/>
                <a:cs typeface="Lato" pitchFamily="34" charset="-120"/>
              </a:rPr>
              <a:t>By the time the outcome reveals the failure, several agents have already built on the error</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4" name="Text 2"/>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21 / 33</a:t>
            </a:r>
            <a:endParaRPr lang="en-US" sz="1200" dirty="0"/>
          </a:p>
        </p:txBody>
      </p:sp>
      <p:sp>
        <p:nvSpPr>
          <p:cNvPr id="5" name="Text 3"/>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Found After the Run, the Cost Is Already Paid</a:t>
            </a:r>
            <a:endParaRPr lang="en-US" sz="3200" dirty="0"/>
          </a:p>
        </p:txBody>
      </p:sp>
      <p:sp>
        <p:nvSpPr>
          <p:cNvPr id="6" name="Text 4"/>
          <p:cNvSpPr/>
          <p:nvPr/>
        </p:nvSpPr>
        <p:spPr>
          <a:xfrm>
            <a:off x="508000" y="1026120"/>
            <a:ext cx="11511280" cy="393700"/>
          </a:xfrm>
          <a:prstGeom prst="rect">
            <a:avLst/>
          </a:prstGeom>
          <a:noFill/>
          <a:ln/>
        </p:spPr>
        <p:txBody>
          <a:bodyPr wrap="square" lIns="0" tIns="0" rIns="0" bIns="0" rtlCol="0" anchor="t">
            <a:normAutofit/>
          </a:bodyPr>
          <a:lstStyle/>
          <a:p>
            <a:pPr marL="0" indent="0" algn="l">
              <a:lnSpc>
                <a:spcPts val="2900"/>
              </a:lnSpc>
              <a:buNone/>
            </a:pPr>
            <a:r>
              <a:rPr lang="en-US" sz="2000" b="1" dirty="0">
                <a:solidFill>
                  <a:srgbClr val="000000"/>
                </a:solidFill>
                <a:latin typeface="Lato" pitchFamily="34" charset="0"/>
                <a:ea typeface="Lato" pitchFamily="34" charset="-122"/>
                <a:cs typeface="Lato" pitchFamily="34" charset="-120"/>
              </a:rPr>
              <a:t>One run:</a:t>
            </a:r>
            <a:r>
              <a:rPr lang="en-US" sz="2000" dirty="0">
                <a:solidFill>
                  <a:srgbClr val="000000"/>
                </a:solidFill>
                <a:latin typeface="Lato" pitchFamily="34" charset="0"/>
                <a:ea typeface="Lato" pitchFamily="34" charset="-122"/>
                <a:cs typeface="Lato" pitchFamily="34" charset="-120"/>
              </a:rPr>
              <a:t> five agents, forty steps, a wrong result at step 3, and nobody looks until the run is over</a:t>
            </a:r>
            <a:endParaRPr lang="en-US" sz="2000" dirty="0"/>
          </a:p>
        </p:txBody>
      </p:sp>
      <p:sp>
        <p:nvSpPr>
          <p:cNvPr id="7" name="Shape 5"/>
          <p:cNvSpPr/>
          <p:nvPr/>
        </p:nvSpPr>
        <p:spPr>
          <a:xfrm>
            <a:off x="508000" y="1826220"/>
            <a:ext cx="4318000" cy="3685530"/>
          </a:xfrm>
          <a:prstGeom prst="roundRect">
            <a:avLst>
              <a:gd name="adj" fmla="val 4135"/>
            </a:avLst>
          </a:prstGeom>
          <a:solidFill>
            <a:srgbClr val="F3F3F3"/>
          </a:solidFill>
          <a:ln/>
        </p:spPr>
        <p:txBody>
          <a:bodyPr/>
          <a:lstStyle/>
          <a:p>
            <a:endParaRPr lang="en-US"/>
          </a:p>
        </p:txBody>
      </p:sp>
      <p:sp>
        <p:nvSpPr>
          <p:cNvPr id="8" name="Text 6"/>
          <p:cNvSpPr/>
          <p:nvPr/>
        </p:nvSpPr>
        <p:spPr>
          <a:xfrm>
            <a:off x="660400" y="1953220"/>
            <a:ext cx="4133596"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F5597"/>
                </a:solidFill>
                <a:latin typeface="Lato" pitchFamily="34" charset="0"/>
                <a:ea typeface="Lato" pitchFamily="34" charset="-122"/>
                <a:cs typeface="Lato" pitchFamily="34" charset="-120"/>
              </a:rPr>
              <a:t>Five agents, 40 steps, hundreds of messages</a:t>
            </a:r>
            <a:endParaRPr lang="en-US" sz="1300" dirty="0"/>
          </a:p>
        </p:txBody>
      </p:sp>
      <p:pic>
        <p:nvPicPr>
          <p:cNvPr id="9" name="Image 0" descr="five agents exchanging messages; one early message carries the wrong result"/>
          <p:cNvPicPr>
            <a:picLocks noChangeAspect="1"/>
          </p:cNvPicPr>
          <p:nvPr/>
        </p:nvPicPr>
        <p:blipFill>
          <a:blip r:embed="rId3"/>
          <a:srcRect/>
          <a:stretch/>
        </p:blipFill>
        <p:spPr>
          <a:xfrm>
            <a:off x="660400" y="2209750"/>
            <a:ext cx="4013200" cy="3175000"/>
          </a:xfrm>
          <a:prstGeom prst="rect">
            <a:avLst/>
          </a:prstGeom>
        </p:spPr>
      </p:pic>
      <p:pic>
        <p:nvPicPr>
          <p:cNvPr id="10" name="Image 1" descr="manager agent"/>
          <p:cNvPicPr>
            <a:picLocks noChangeAspect="1"/>
          </p:cNvPicPr>
          <p:nvPr/>
        </p:nvPicPr>
        <p:blipFill>
          <a:blip r:embed="rId4"/>
          <a:srcRect t="-19" b="-19"/>
          <a:stretch/>
        </p:blipFill>
        <p:spPr>
          <a:xfrm>
            <a:off x="2324100" y="2209750"/>
            <a:ext cx="692150" cy="984250"/>
          </a:xfrm>
          <a:prstGeom prst="rect">
            <a:avLst/>
          </a:prstGeom>
        </p:spPr>
      </p:pic>
      <p:pic>
        <p:nvPicPr>
          <p:cNvPr id="11" name="Image 2" descr="planner agent"/>
          <p:cNvPicPr>
            <a:picLocks noChangeAspect="1"/>
          </p:cNvPicPr>
          <p:nvPr/>
        </p:nvPicPr>
        <p:blipFill>
          <a:blip r:embed="rId5"/>
          <a:srcRect l="-123" r="-123"/>
          <a:stretch/>
        </p:blipFill>
        <p:spPr>
          <a:xfrm>
            <a:off x="749300" y="3187650"/>
            <a:ext cx="704850" cy="1104900"/>
          </a:xfrm>
          <a:prstGeom prst="rect">
            <a:avLst/>
          </a:prstGeom>
        </p:spPr>
      </p:pic>
      <p:pic>
        <p:nvPicPr>
          <p:cNvPr id="12" name="Image 3" descr="web agent"/>
          <p:cNvPicPr>
            <a:picLocks noChangeAspect="1"/>
          </p:cNvPicPr>
          <p:nvPr/>
        </p:nvPicPr>
        <p:blipFill>
          <a:blip r:embed="rId6"/>
          <a:srcRect t="-248" b="-248"/>
          <a:stretch/>
        </p:blipFill>
        <p:spPr>
          <a:xfrm>
            <a:off x="3835400" y="3162250"/>
            <a:ext cx="787400" cy="1143000"/>
          </a:xfrm>
          <a:prstGeom prst="rect">
            <a:avLst/>
          </a:prstGeom>
        </p:spPr>
      </p:pic>
      <p:pic>
        <p:nvPicPr>
          <p:cNvPr id="13" name="Image 4" descr="search agent"/>
          <p:cNvPicPr>
            <a:picLocks noChangeAspect="1"/>
          </p:cNvPicPr>
          <p:nvPr/>
        </p:nvPicPr>
        <p:blipFill>
          <a:blip r:embed="rId7"/>
          <a:srcRect t="-133" b="-133"/>
          <a:stretch/>
        </p:blipFill>
        <p:spPr>
          <a:xfrm>
            <a:off x="1435100" y="4305250"/>
            <a:ext cx="736600" cy="1066800"/>
          </a:xfrm>
          <a:prstGeom prst="rect">
            <a:avLst/>
          </a:prstGeom>
        </p:spPr>
      </p:pic>
      <p:pic>
        <p:nvPicPr>
          <p:cNvPr id="14" name="Image 5" descr="reporter agent"/>
          <p:cNvPicPr>
            <a:picLocks noChangeAspect="1"/>
          </p:cNvPicPr>
          <p:nvPr/>
        </p:nvPicPr>
        <p:blipFill>
          <a:blip r:embed="rId8"/>
          <a:srcRect l="-291" r="-291"/>
          <a:stretch/>
        </p:blipFill>
        <p:spPr>
          <a:xfrm>
            <a:off x="3175000" y="4279850"/>
            <a:ext cx="762000" cy="1092200"/>
          </a:xfrm>
          <a:prstGeom prst="rect">
            <a:avLst/>
          </a:prstGeom>
        </p:spPr>
      </p:pic>
      <p:sp>
        <p:nvSpPr>
          <p:cNvPr id="15" name="Text 7"/>
          <p:cNvSpPr/>
          <p:nvPr/>
        </p:nvSpPr>
        <p:spPr>
          <a:xfrm>
            <a:off x="1619250" y="3879800"/>
            <a:ext cx="939800" cy="355600"/>
          </a:xfrm>
          <a:custGeom>
            <a:avLst/>
            <a:gdLst/>
            <a:ahLst/>
            <a:cxnLst/>
            <a:rect l="l" t="t" r="r" b="b"/>
            <a:pathLst>
              <a:path w="939800" h="355600">
                <a:moveTo>
                  <a:pt x="44450" y="0"/>
                </a:moveTo>
                <a:lnTo>
                  <a:pt x="895350" y="0"/>
                </a:lnTo>
                <a:arcTo wR="44450" hR="44450" stAng="16200000" swAng="5400000"/>
                <a:lnTo>
                  <a:pt x="939800" y="311150"/>
                </a:lnTo>
                <a:arcTo wR="44450" hR="44450" stAng="0" swAng="5400000"/>
                <a:lnTo>
                  <a:pt x="44450" y="355600"/>
                </a:lnTo>
                <a:arcTo wR="44450" hR="44450" stAng="5400000" swAng="5400000"/>
                <a:lnTo>
                  <a:pt x="0" y="44450"/>
                </a:lnTo>
                <a:arcTo wR="44450" hR="44450" stAng="10800000" swAng="5400000"/>
                <a:close/>
              </a:path>
            </a:pathLst>
          </a:custGeom>
          <a:solidFill>
            <a:srgbClr val="FFFFFF"/>
          </a:solidFill>
          <a:ln w="12700">
            <a:solidFill>
              <a:srgbClr val="C00000"/>
            </a:solidFill>
            <a:prstDash val="solid"/>
          </a:ln>
        </p:spPr>
        <p:txBody>
          <a:bodyPr wrap="square" lIns="19050" tIns="25400" rIns="19050" bIns="0" rtlCol="0" anchor="t">
            <a:normAutofit/>
          </a:bodyPr>
          <a:lstStyle/>
          <a:p>
            <a:pPr marL="0" indent="0" algn="ctr">
              <a:lnSpc>
                <a:spcPts val="1200"/>
              </a:lnSpc>
              <a:buNone/>
            </a:pPr>
            <a:r>
              <a:rPr lang="en-US" sz="1000" b="1" dirty="0">
                <a:solidFill>
                  <a:srgbClr val="C00000"/>
                </a:solidFill>
                <a:latin typeface="Lato" pitchFamily="34" charset="0"/>
                <a:ea typeface="Lato" pitchFamily="34" charset="-122"/>
                <a:cs typeface="Lato" pitchFamily="34" charset="-120"/>
              </a:rPr>
              <a:t>step 3: wrong result</a:t>
            </a:r>
            <a:endParaRPr lang="en-US" sz="1000" dirty="0"/>
          </a:p>
        </p:txBody>
      </p:sp>
      <p:sp>
        <p:nvSpPr>
          <p:cNvPr id="16" name="Text 8"/>
          <p:cNvSpPr/>
          <p:nvPr/>
        </p:nvSpPr>
        <p:spPr>
          <a:xfrm>
            <a:off x="1616075" y="3063825"/>
            <a:ext cx="450850" cy="156170"/>
          </a:xfrm>
          <a:custGeom>
            <a:avLst/>
            <a:gdLst/>
            <a:ahLst/>
            <a:cxnLst/>
            <a:rect l="l" t="t" r="r" b="b"/>
            <a:pathLst>
              <a:path w="450850" h="156170">
                <a:moveTo>
                  <a:pt x="60325" y="0"/>
                </a:moveTo>
                <a:lnTo>
                  <a:pt x="390525" y="0"/>
                </a:lnTo>
                <a:arcTo wR="60325" hR="60325" stAng="16200000" swAng="5400000"/>
                <a:lnTo>
                  <a:pt x="450850" y="95845"/>
                </a:lnTo>
                <a:arcTo wR="60325" hR="60325" stAng="0" swAng="5400000"/>
                <a:lnTo>
                  <a:pt x="60325" y="156170"/>
                </a:lnTo>
                <a:arcTo wR="60325" hR="60325" stAng="5400000" swAng="5400000"/>
                <a:lnTo>
                  <a:pt x="0" y="60325"/>
                </a:lnTo>
                <a:arcTo wR="60325" hR="60325" stAng="10800000" swAng="5400000"/>
                <a:close/>
              </a:path>
            </a:pathLst>
          </a:custGeom>
          <a:solidFill>
            <a:srgbClr val="FFFFFF"/>
          </a:solidFill>
          <a:ln w="6350">
            <a:solidFill>
              <a:srgbClr val="BBBBBB"/>
            </a:solidFill>
            <a:prstDash val="solid"/>
          </a:ln>
        </p:spPr>
        <p:txBody>
          <a:bodyPr wrap="square" lIns="3175" tIns="9525" rIns="3175" bIns="0" rtlCol="0" anchor="t">
            <a:normAutofit/>
          </a:bodyPr>
          <a:lstStyle/>
          <a:p>
            <a:pPr marL="0" indent="0" algn="ctr">
              <a:lnSpc>
                <a:spcPts val="1080"/>
              </a:lnSpc>
              <a:buNone/>
            </a:pPr>
            <a:r>
              <a:rPr lang="en-US" sz="900" dirty="0">
                <a:solidFill>
                  <a:srgbClr val="555555"/>
                </a:solidFill>
                <a:latin typeface="Lato" pitchFamily="34" charset="0"/>
                <a:ea typeface="Lato" pitchFamily="34" charset="-122"/>
                <a:cs typeface="Lato" pitchFamily="34" charset="-120"/>
              </a:rPr>
              <a:t>step 1</a:t>
            </a:r>
            <a:endParaRPr lang="en-US" sz="900" dirty="0"/>
          </a:p>
        </p:txBody>
      </p:sp>
      <p:sp>
        <p:nvSpPr>
          <p:cNvPr id="17" name="Text 9"/>
          <p:cNvSpPr/>
          <p:nvPr/>
        </p:nvSpPr>
        <p:spPr>
          <a:xfrm>
            <a:off x="3267075" y="3063825"/>
            <a:ext cx="450850" cy="156170"/>
          </a:xfrm>
          <a:custGeom>
            <a:avLst/>
            <a:gdLst/>
            <a:ahLst/>
            <a:cxnLst/>
            <a:rect l="l" t="t" r="r" b="b"/>
            <a:pathLst>
              <a:path w="450850" h="156170">
                <a:moveTo>
                  <a:pt x="60325" y="0"/>
                </a:moveTo>
                <a:lnTo>
                  <a:pt x="390525" y="0"/>
                </a:lnTo>
                <a:arcTo wR="60325" hR="60325" stAng="16200000" swAng="5400000"/>
                <a:lnTo>
                  <a:pt x="450850" y="95845"/>
                </a:lnTo>
                <a:arcTo wR="60325" hR="60325" stAng="0" swAng="5400000"/>
                <a:lnTo>
                  <a:pt x="60325" y="156170"/>
                </a:lnTo>
                <a:arcTo wR="60325" hR="60325" stAng="5400000" swAng="5400000"/>
                <a:lnTo>
                  <a:pt x="0" y="60325"/>
                </a:lnTo>
                <a:arcTo wR="60325" hR="60325" stAng="10800000" swAng="5400000"/>
                <a:close/>
              </a:path>
            </a:pathLst>
          </a:custGeom>
          <a:solidFill>
            <a:srgbClr val="FFFFFF"/>
          </a:solidFill>
          <a:ln w="6350">
            <a:solidFill>
              <a:srgbClr val="BBBBBB"/>
            </a:solidFill>
            <a:prstDash val="solid"/>
          </a:ln>
        </p:spPr>
        <p:txBody>
          <a:bodyPr wrap="square" lIns="3175" tIns="9525" rIns="3175" bIns="0" rtlCol="0" anchor="t">
            <a:normAutofit/>
          </a:bodyPr>
          <a:lstStyle/>
          <a:p>
            <a:pPr marL="0" indent="0" algn="ctr">
              <a:lnSpc>
                <a:spcPts val="1080"/>
              </a:lnSpc>
              <a:buNone/>
            </a:pPr>
            <a:r>
              <a:rPr lang="en-US" sz="900" dirty="0">
                <a:solidFill>
                  <a:srgbClr val="555555"/>
                </a:solidFill>
                <a:latin typeface="Lato" pitchFamily="34" charset="0"/>
                <a:ea typeface="Lato" pitchFamily="34" charset="-122"/>
                <a:cs typeface="Lato" pitchFamily="34" charset="-120"/>
              </a:rPr>
              <a:t>step 2</a:t>
            </a:r>
            <a:endParaRPr lang="en-US" sz="900" dirty="0"/>
          </a:p>
        </p:txBody>
      </p:sp>
      <p:sp>
        <p:nvSpPr>
          <p:cNvPr id="18" name="Text 10"/>
          <p:cNvSpPr/>
          <p:nvPr/>
        </p:nvSpPr>
        <p:spPr>
          <a:xfrm>
            <a:off x="2733675" y="3457525"/>
            <a:ext cx="450850" cy="156170"/>
          </a:xfrm>
          <a:custGeom>
            <a:avLst/>
            <a:gdLst/>
            <a:ahLst/>
            <a:cxnLst/>
            <a:rect l="l" t="t" r="r" b="b"/>
            <a:pathLst>
              <a:path w="450850" h="156170">
                <a:moveTo>
                  <a:pt x="60325" y="0"/>
                </a:moveTo>
                <a:lnTo>
                  <a:pt x="390525" y="0"/>
                </a:lnTo>
                <a:arcTo wR="60325" hR="60325" stAng="16200000" swAng="5400000"/>
                <a:lnTo>
                  <a:pt x="450850" y="95845"/>
                </a:lnTo>
                <a:arcTo wR="60325" hR="60325" stAng="0" swAng="5400000"/>
                <a:lnTo>
                  <a:pt x="60325" y="156170"/>
                </a:lnTo>
                <a:arcTo wR="60325" hR="60325" stAng="5400000" swAng="5400000"/>
                <a:lnTo>
                  <a:pt x="0" y="60325"/>
                </a:lnTo>
                <a:arcTo wR="60325" hR="60325" stAng="10800000" swAng="5400000"/>
                <a:close/>
              </a:path>
            </a:pathLst>
          </a:custGeom>
          <a:solidFill>
            <a:srgbClr val="FFFFFF"/>
          </a:solidFill>
          <a:ln w="6350">
            <a:solidFill>
              <a:srgbClr val="BBBBBB"/>
            </a:solidFill>
            <a:prstDash val="solid"/>
          </a:ln>
        </p:spPr>
        <p:txBody>
          <a:bodyPr wrap="square" lIns="3175" tIns="9525" rIns="3175" bIns="0" rtlCol="0" anchor="t">
            <a:normAutofit/>
          </a:bodyPr>
          <a:lstStyle/>
          <a:p>
            <a:pPr marL="0" indent="0" algn="ctr">
              <a:lnSpc>
                <a:spcPts val="1080"/>
              </a:lnSpc>
              <a:buNone/>
            </a:pPr>
            <a:r>
              <a:rPr lang="en-US" sz="900" dirty="0">
                <a:solidFill>
                  <a:srgbClr val="555555"/>
                </a:solidFill>
                <a:latin typeface="Lato" pitchFamily="34" charset="0"/>
                <a:ea typeface="Lato" pitchFamily="34" charset="-122"/>
                <a:cs typeface="Lato" pitchFamily="34" charset="-120"/>
              </a:rPr>
              <a:t>step 6</a:t>
            </a:r>
            <a:endParaRPr lang="en-US" sz="900" dirty="0"/>
          </a:p>
        </p:txBody>
      </p:sp>
      <p:sp>
        <p:nvSpPr>
          <p:cNvPr id="19" name="Text 11"/>
          <p:cNvSpPr/>
          <p:nvPr/>
        </p:nvSpPr>
        <p:spPr>
          <a:xfrm>
            <a:off x="2682875" y="3914725"/>
            <a:ext cx="450850" cy="156170"/>
          </a:xfrm>
          <a:custGeom>
            <a:avLst/>
            <a:gdLst/>
            <a:ahLst/>
            <a:cxnLst/>
            <a:rect l="l" t="t" r="r" b="b"/>
            <a:pathLst>
              <a:path w="450850" h="156170">
                <a:moveTo>
                  <a:pt x="60325" y="0"/>
                </a:moveTo>
                <a:lnTo>
                  <a:pt x="390525" y="0"/>
                </a:lnTo>
                <a:arcTo wR="60325" hR="60325" stAng="16200000" swAng="5400000"/>
                <a:lnTo>
                  <a:pt x="450850" y="95845"/>
                </a:lnTo>
                <a:arcTo wR="60325" hR="60325" stAng="0" swAng="5400000"/>
                <a:lnTo>
                  <a:pt x="60325" y="156170"/>
                </a:lnTo>
                <a:arcTo wR="60325" hR="60325" stAng="5400000" swAng="5400000"/>
                <a:lnTo>
                  <a:pt x="0" y="60325"/>
                </a:lnTo>
                <a:arcTo wR="60325" hR="60325" stAng="10800000" swAng="5400000"/>
                <a:close/>
              </a:path>
            </a:pathLst>
          </a:custGeom>
          <a:solidFill>
            <a:srgbClr val="FFFFFF"/>
          </a:solidFill>
          <a:ln w="6350">
            <a:solidFill>
              <a:srgbClr val="BBBBBB"/>
            </a:solidFill>
            <a:prstDash val="solid"/>
          </a:ln>
        </p:spPr>
        <p:txBody>
          <a:bodyPr wrap="square" lIns="3175" tIns="9525" rIns="3175" bIns="0" rtlCol="0" anchor="t">
            <a:normAutofit/>
          </a:bodyPr>
          <a:lstStyle/>
          <a:p>
            <a:pPr marL="0" indent="0" algn="ctr">
              <a:lnSpc>
                <a:spcPts val="1080"/>
              </a:lnSpc>
              <a:buNone/>
            </a:pPr>
            <a:r>
              <a:rPr lang="en-US" sz="900" dirty="0">
                <a:solidFill>
                  <a:srgbClr val="555555"/>
                </a:solidFill>
                <a:latin typeface="Lato" pitchFamily="34" charset="0"/>
                <a:ea typeface="Lato" pitchFamily="34" charset="-122"/>
                <a:cs typeface="Lato" pitchFamily="34" charset="-120"/>
              </a:rPr>
              <a:t>step 8</a:t>
            </a:r>
            <a:endParaRPr lang="en-US" sz="900" dirty="0"/>
          </a:p>
        </p:txBody>
      </p:sp>
      <p:sp>
        <p:nvSpPr>
          <p:cNvPr id="20" name="Text 12"/>
          <p:cNvSpPr/>
          <p:nvPr/>
        </p:nvSpPr>
        <p:spPr>
          <a:xfrm>
            <a:off x="3330575" y="3914725"/>
            <a:ext cx="488950" cy="156170"/>
          </a:xfrm>
          <a:custGeom>
            <a:avLst/>
            <a:gdLst/>
            <a:ahLst/>
            <a:cxnLst/>
            <a:rect l="l" t="t" r="r" b="b"/>
            <a:pathLst>
              <a:path w="488950" h="156170">
                <a:moveTo>
                  <a:pt x="60325" y="0"/>
                </a:moveTo>
                <a:lnTo>
                  <a:pt x="428625" y="0"/>
                </a:lnTo>
                <a:arcTo wR="60325" hR="60325" stAng="16200000" swAng="5400000"/>
                <a:lnTo>
                  <a:pt x="488950" y="95845"/>
                </a:lnTo>
                <a:arcTo wR="60325" hR="60325" stAng="0" swAng="5400000"/>
                <a:lnTo>
                  <a:pt x="60325" y="156170"/>
                </a:lnTo>
                <a:arcTo wR="60325" hR="60325" stAng="5400000" swAng="5400000"/>
                <a:lnTo>
                  <a:pt x="0" y="60325"/>
                </a:lnTo>
                <a:arcTo wR="60325" hR="60325" stAng="10800000" swAng="5400000"/>
                <a:close/>
              </a:path>
            </a:pathLst>
          </a:custGeom>
          <a:solidFill>
            <a:srgbClr val="FFFFFF"/>
          </a:solidFill>
          <a:ln w="6350">
            <a:solidFill>
              <a:srgbClr val="BBBBBB"/>
            </a:solidFill>
            <a:prstDash val="solid"/>
          </a:ln>
        </p:spPr>
        <p:txBody>
          <a:bodyPr wrap="square" lIns="3175" tIns="9525" rIns="3175" bIns="0" rtlCol="0" anchor="t">
            <a:normAutofit/>
          </a:bodyPr>
          <a:lstStyle/>
          <a:p>
            <a:pPr marL="0" indent="0" algn="ctr">
              <a:lnSpc>
                <a:spcPts val="1080"/>
              </a:lnSpc>
              <a:buNone/>
            </a:pPr>
            <a:r>
              <a:rPr lang="en-US" sz="900" dirty="0">
                <a:solidFill>
                  <a:srgbClr val="555555"/>
                </a:solidFill>
                <a:latin typeface="Lato" pitchFamily="34" charset="0"/>
                <a:ea typeface="Lato" pitchFamily="34" charset="-122"/>
                <a:cs typeface="Lato" pitchFamily="34" charset="-120"/>
              </a:rPr>
              <a:t>step 12</a:t>
            </a:r>
            <a:endParaRPr lang="en-US" sz="900" dirty="0"/>
          </a:p>
        </p:txBody>
      </p:sp>
      <p:sp>
        <p:nvSpPr>
          <p:cNvPr id="21" name="Text 13"/>
          <p:cNvSpPr/>
          <p:nvPr/>
        </p:nvSpPr>
        <p:spPr>
          <a:xfrm>
            <a:off x="854075" y="4575125"/>
            <a:ext cx="450850" cy="156170"/>
          </a:xfrm>
          <a:custGeom>
            <a:avLst/>
            <a:gdLst/>
            <a:ahLst/>
            <a:cxnLst/>
            <a:rect l="l" t="t" r="r" b="b"/>
            <a:pathLst>
              <a:path w="450850" h="156170">
                <a:moveTo>
                  <a:pt x="60325" y="0"/>
                </a:moveTo>
                <a:lnTo>
                  <a:pt x="390525" y="0"/>
                </a:lnTo>
                <a:arcTo wR="60325" hR="60325" stAng="16200000" swAng="5400000"/>
                <a:lnTo>
                  <a:pt x="450850" y="95845"/>
                </a:lnTo>
                <a:arcTo wR="60325" hR="60325" stAng="0" swAng="5400000"/>
                <a:lnTo>
                  <a:pt x="60325" y="156170"/>
                </a:lnTo>
                <a:arcTo wR="60325" hR="60325" stAng="5400000" swAng="5400000"/>
                <a:lnTo>
                  <a:pt x="0" y="60325"/>
                </a:lnTo>
                <a:arcTo wR="60325" hR="60325" stAng="10800000" swAng="5400000"/>
                <a:close/>
              </a:path>
            </a:pathLst>
          </a:custGeom>
          <a:solidFill>
            <a:srgbClr val="FFFFFF"/>
          </a:solidFill>
          <a:ln w="6350">
            <a:solidFill>
              <a:srgbClr val="BBBBBB"/>
            </a:solidFill>
            <a:prstDash val="solid"/>
          </a:ln>
        </p:spPr>
        <p:txBody>
          <a:bodyPr wrap="square" lIns="3175" tIns="9525" rIns="3175" bIns="0" rtlCol="0" anchor="t">
            <a:normAutofit/>
          </a:bodyPr>
          <a:lstStyle/>
          <a:p>
            <a:pPr marL="0" indent="0" algn="ctr">
              <a:lnSpc>
                <a:spcPts val="1080"/>
              </a:lnSpc>
              <a:buNone/>
            </a:pPr>
            <a:r>
              <a:rPr lang="en-US" sz="900" dirty="0">
                <a:solidFill>
                  <a:srgbClr val="555555"/>
                </a:solidFill>
                <a:latin typeface="Lato" pitchFamily="34" charset="0"/>
                <a:ea typeface="Lato" pitchFamily="34" charset="-122"/>
                <a:cs typeface="Lato" pitchFamily="34" charset="-120"/>
              </a:rPr>
              <a:t>step 9</a:t>
            </a:r>
            <a:endParaRPr lang="en-US" sz="900" dirty="0"/>
          </a:p>
        </p:txBody>
      </p:sp>
      <p:sp>
        <p:nvSpPr>
          <p:cNvPr id="22" name="Text 14"/>
          <p:cNvSpPr/>
          <p:nvPr/>
        </p:nvSpPr>
        <p:spPr>
          <a:xfrm>
            <a:off x="4067175" y="4575125"/>
            <a:ext cx="488950" cy="156170"/>
          </a:xfrm>
          <a:custGeom>
            <a:avLst/>
            <a:gdLst/>
            <a:ahLst/>
            <a:cxnLst/>
            <a:rect l="l" t="t" r="r" b="b"/>
            <a:pathLst>
              <a:path w="488950" h="156170">
                <a:moveTo>
                  <a:pt x="60325" y="0"/>
                </a:moveTo>
                <a:lnTo>
                  <a:pt x="428625" y="0"/>
                </a:lnTo>
                <a:arcTo wR="60325" hR="60325" stAng="16200000" swAng="5400000"/>
                <a:lnTo>
                  <a:pt x="488950" y="95845"/>
                </a:lnTo>
                <a:arcTo wR="60325" hR="60325" stAng="0" swAng="5400000"/>
                <a:lnTo>
                  <a:pt x="60325" y="156170"/>
                </a:lnTo>
                <a:arcTo wR="60325" hR="60325" stAng="5400000" swAng="5400000"/>
                <a:lnTo>
                  <a:pt x="0" y="60325"/>
                </a:lnTo>
                <a:arcTo wR="60325" hR="60325" stAng="10800000" swAng="5400000"/>
                <a:close/>
              </a:path>
            </a:pathLst>
          </a:custGeom>
          <a:solidFill>
            <a:srgbClr val="FFFFFF"/>
          </a:solidFill>
          <a:ln w="6350">
            <a:solidFill>
              <a:srgbClr val="BBBBBB"/>
            </a:solidFill>
            <a:prstDash val="solid"/>
          </a:ln>
        </p:spPr>
        <p:txBody>
          <a:bodyPr wrap="square" lIns="3175" tIns="9525" rIns="3175" bIns="0" rtlCol="0" anchor="t">
            <a:normAutofit/>
          </a:bodyPr>
          <a:lstStyle/>
          <a:p>
            <a:pPr marL="0" indent="0" algn="ctr">
              <a:lnSpc>
                <a:spcPts val="1080"/>
              </a:lnSpc>
              <a:buNone/>
            </a:pPr>
            <a:r>
              <a:rPr lang="en-US" sz="900" dirty="0">
                <a:solidFill>
                  <a:srgbClr val="555555"/>
                </a:solidFill>
                <a:latin typeface="Lato" pitchFamily="34" charset="0"/>
                <a:ea typeface="Lato" pitchFamily="34" charset="-122"/>
                <a:cs typeface="Lato" pitchFamily="34" charset="-120"/>
              </a:rPr>
              <a:t>step 11</a:t>
            </a:r>
            <a:endParaRPr lang="en-US" sz="900" dirty="0"/>
          </a:p>
        </p:txBody>
      </p:sp>
      <p:sp>
        <p:nvSpPr>
          <p:cNvPr id="23" name="Text 15"/>
          <p:cNvSpPr/>
          <p:nvPr/>
        </p:nvSpPr>
        <p:spPr>
          <a:xfrm>
            <a:off x="2162175" y="4702125"/>
            <a:ext cx="1009650" cy="156170"/>
          </a:xfrm>
          <a:custGeom>
            <a:avLst/>
            <a:gdLst/>
            <a:ahLst/>
            <a:cxnLst/>
            <a:rect l="l" t="t" r="r" b="b"/>
            <a:pathLst>
              <a:path w="1009650" h="156170">
                <a:moveTo>
                  <a:pt x="60325" y="0"/>
                </a:moveTo>
                <a:lnTo>
                  <a:pt x="949325" y="0"/>
                </a:lnTo>
                <a:arcTo wR="60325" hR="60325" stAng="16200000" swAng="5400000"/>
                <a:lnTo>
                  <a:pt x="1009650" y="95845"/>
                </a:lnTo>
                <a:arcTo wR="60325" hR="60325" stAng="0" swAng="5400000"/>
                <a:lnTo>
                  <a:pt x="60325" y="156170"/>
                </a:lnTo>
                <a:arcTo wR="60325" hR="60325" stAng="5400000" swAng="5400000"/>
                <a:lnTo>
                  <a:pt x="0" y="60325"/>
                </a:lnTo>
                <a:arcTo wR="60325" hR="60325" stAng="10800000" swAng="5400000"/>
                <a:close/>
              </a:path>
            </a:pathLst>
          </a:custGeom>
          <a:solidFill>
            <a:srgbClr val="FFFFFF"/>
          </a:solidFill>
          <a:ln w="6350">
            <a:solidFill>
              <a:srgbClr val="BBBBBB"/>
            </a:solidFill>
            <a:prstDash val="solid"/>
          </a:ln>
        </p:spPr>
        <p:txBody>
          <a:bodyPr wrap="square" lIns="3175" tIns="9525" rIns="3175" bIns="0" rtlCol="0" anchor="t">
            <a:normAutofit/>
          </a:bodyPr>
          <a:lstStyle/>
          <a:p>
            <a:pPr marL="0" indent="0" algn="ctr">
              <a:lnSpc>
                <a:spcPts val="1080"/>
              </a:lnSpc>
              <a:buNone/>
            </a:pPr>
            <a:r>
              <a:rPr lang="en-US" sz="900" dirty="0">
                <a:solidFill>
                  <a:srgbClr val="555555"/>
                </a:solidFill>
                <a:latin typeface="Lato" pitchFamily="34" charset="0"/>
                <a:ea typeface="Lato" pitchFamily="34" charset="-122"/>
                <a:cs typeface="Lato" pitchFamily="34" charset="-120"/>
              </a:rPr>
              <a:t>steps 13 to 38</a:t>
            </a:r>
            <a:endParaRPr lang="en-US" sz="900" dirty="0"/>
          </a:p>
        </p:txBody>
      </p:sp>
      <p:sp>
        <p:nvSpPr>
          <p:cNvPr id="24" name="Text 16"/>
          <p:cNvSpPr/>
          <p:nvPr/>
        </p:nvSpPr>
        <p:spPr>
          <a:xfrm>
            <a:off x="4168775" y="5006925"/>
            <a:ext cx="374650" cy="156170"/>
          </a:xfrm>
          <a:custGeom>
            <a:avLst/>
            <a:gdLst/>
            <a:ahLst/>
            <a:cxnLst/>
            <a:rect l="l" t="t" r="r" b="b"/>
            <a:pathLst>
              <a:path w="374650" h="156170">
                <a:moveTo>
                  <a:pt x="60325" y="0"/>
                </a:moveTo>
                <a:lnTo>
                  <a:pt x="314325" y="0"/>
                </a:lnTo>
                <a:arcTo wR="60325" hR="60325" stAng="16200000" swAng="5400000"/>
                <a:lnTo>
                  <a:pt x="374650" y="95845"/>
                </a:lnTo>
                <a:arcTo wR="60325" hR="60325" stAng="0" swAng="5400000"/>
                <a:lnTo>
                  <a:pt x="60325" y="156170"/>
                </a:lnTo>
                <a:arcTo wR="60325" hR="60325" stAng="5400000" swAng="5400000"/>
                <a:lnTo>
                  <a:pt x="0" y="60325"/>
                </a:lnTo>
                <a:arcTo wR="60325" hR="60325" stAng="10800000" swAng="5400000"/>
                <a:close/>
              </a:path>
            </a:pathLst>
          </a:custGeom>
          <a:solidFill>
            <a:srgbClr val="FFFFFF"/>
          </a:solidFill>
          <a:ln w="6350">
            <a:solidFill>
              <a:srgbClr val="BBBBBB"/>
            </a:solidFill>
            <a:prstDash val="solid"/>
          </a:ln>
        </p:spPr>
        <p:txBody>
          <a:bodyPr wrap="square" lIns="3175" tIns="9525" rIns="3175" bIns="0" rtlCol="0" anchor="t">
            <a:normAutofit/>
          </a:bodyPr>
          <a:lstStyle/>
          <a:p>
            <a:pPr marL="0" indent="0" algn="ctr">
              <a:lnSpc>
                <a:spcPts val="1080"/>
              </a:lnSpc>
              <a:buNone/>
            </a:pPr>
            <a:r>
              <a:rPr lang="en-US" sz="900" dirty="0">
                <a:solidFill>
                  <a:srgbClr val="555555"/>
                </a:solidFill>
                <a:latin typeface="Lato" pitchFamily="34" charset="0"/>
                <a:ea typeface="Lato" pitchFamily="34" charset="-122"/>
                <a:cs typeface="Lato" pitchFamily="34" charset="-120"/>
              </a:rPr>
              <a:t>…</a:t>
            </a:r>
            <a:endParaRPr lang="en-US" sz="900" dirty="0"/>
          </a:p>
        </p:txBody>
      </p:sp>
      <p:sp>
        <p:nvSpPr>
          <p:cNvPr id="25" name="Text 17"/>
          <p:cNvSpPr/>
          <p:nvPr/>
        </p:nvSpPr>
        <p:spPr>
          <a:xfrm>
            <a:off x="2162175" y="5006925"/>
            <a:ext cx="1009650" cy="156170"/>
          </a:xfrm>
          <a:custGeom>
            <a:avLst/>
            <a:gdLst/>
            <a:ahLst/>
            <a:cxnLst/>
            <a:rect l="l" t="t" r="r" b="b"/>
            <a:pathLst>
              <a:path w="1009650" h="156170">
                <a:moveTo>
                  <a:pt x="60325" y="0"/>
                </a:moveTo>
                <a:lnTo>
                  <a:pt x="949325" y="0"/>
                </a:lnTo>
                <a:arcTo wR="60325" hR="60325" stAng="16200000" swAng="5400000"/>
                <a:lnTo>
                  <a:pt x="1009650" y="95845"/>
                </a:lnTo>
                <a:arcTo wR="60325" hR="60325" stAng="0" swAng="5400000"/>
                <a:lnTo>
                  <a:pt x="60325" y="156170"/>
                </a:lnTo>
                <a:arcTo wR="60325" hR="60325" stAng="5400000" swAng="5400000"/>
                <a:lnTo>
                  <a:pt x="0" y="60325"/>
                </a:lnTo>
                <a:arcTo wR="60325" hR="60325" stAng="10800000" swAng="5400000"/>
                <a:close/>
              </a:path>
            </a:pathLst>
          </a:custGeom>
          <a:solidFill>
            <a:srgbClr val="FFFFFF"/>
          </a:solidFill>
          <a:ln w="6350">
            <a:solidFill>
              <a:srgbClr val="C00000"/>
            </a:solidFill>
            <a:prstDash val="solid"/>
          </a:ln>
        </p:spPr>
        <p:txBody>
          <a:bodyPr wrap="square" lIns="3175" tIns="9525" rIns="3175" bIns="0" rtlCol="0" anchor="t">
            <a:normAutofit/>
          </a:bodyPr>
          <a:lstStyle/>
          <a:p>
            <a:pPr marL="0" indent="0" algn="ctr">
              <a:lnSpc>
                <a:spcPts val="1080"/>
              </a:lnSpc>
              <a:buNone/>
            </a:pPr>
            <a:r>
              <a:rPr lang="en-US" sz="900" dirty="0">
                <a:solidFill>
                  <a:srgbClr val="C00000"/>
                </a:solidFill>
                <a:latin typeface="Lato" pitchFamily="34" charset="0"/>
                <a:ea typeface="Lato" pitchFamily="34" charset="-122"/>
                <a:cs typeface="Lato" pitchFamily="34" charset="-120"/>
              </a:rPr>
              <a:t>step 40: FAIL</a:t>
            </a:r>
            <a:endParaRPr lang="en-US" sz="900" dirty="0"/>
          </a:p>
        </p:txBody>
      </p:sp>
      <p:sp>
        <p:nvSpPr>
          <p:cNvPr id="26" name="Text 18"/>
          <p:cNvSpPr/>
          <p:nvPr/>
        </p:nvSpPr>
        <p:spPr>
          <a:xfrm>
            <a:off x="5080000" y="1953220"/>
            <a:ext cx="680212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C00000"/>
                </a:solidFill>
                <a:latin typeface="Lato" pitchFamily="34" charset="0"/>
                <a:ea typeface="Lato" pitchFamily="34" charset="-122"/>
                <a:cs typeface="Lato" pitchFamily="34" charset="-120"/>
              </a:rPr>
              <a:t>Cost paid while the run continues</a:t>
            </a:r>
            <a:endParaRPr lang="en-US" sz="1300" dirty="0"/>
          </a:p>
        </p:txBody>
      </p:sp>
      <p:pic>
        <p:nvPicPr>
          <p:cNvPr id="27" name="Image 6" descr="cost rising over forty steps: tool calls, tokens and hours, irreversible side effects; the error enters at step 3 and is detected only after step 40"/>
          <p:cNvPicPr>
            <a:picLocks noChangeAspect="1"/>
          </p:cNvPicPr>
          <p:nvPr/>
        </p:nvPicPr>
        <p:blipFill>
          <a:blip r:embed="rId9"/>
          <a:srcRect l="-20" r="-20"/>
          <a:stretch/>
        </p:blipFill>
        <p:spPr>
          <a:xfrm>
            <a:off x="5080000" y="2209750"/>
            <a:ext cx="6604000" cy="3175000"/>
          </a:xfrm>
          <a:prstGeom prst="rect">
            <a:avLst/>
          </a:prstGeom>
        </p:spPr>
      </p:pic>
      <p:sp>
        <p:nvSpPr>
          <p:cNvPr id="28" name="Text 19"/>
          <p:cNvSpPr/>
          <p:nvPr/>
        </p:nvSpPr>
        <p:spPr>
          <a:xfrm>
            <a:off x="5524500" y="2603450"/>
            <a:ext cx="1962150"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C00000"/>
                </a:solidFill>
                <a:latin typeface="Lato" pitchFamily="34" charset="0"/>
                <a:ea typeface="Lato" pitchFamily="34" charset="-122"/>
                <a:cs typeface="Lato" pitchFamily="34" charset="-120"/>
              </a:rPr>
              <a:t>step 3: error enters</a:t>
            </a:r>
            <a:endParaRPr lang="en-US" sz="1100" dirty="0"/>
          </a:p>
        </p:txBody>
      </p:sp>
      <p:sp>
        <p:nvSpPr>
          <p:cNvPr id="29" name="Text 20"/>
          <p:cNvSpPr/>
          <p:nvPr/>
        </p:nvSpPr>
        <p:spPr>
          <a:xfrm>
            <a:off x="5054600" y="4991050"/>
            <a:ext cx="939800" cy="203200"/>
          </a:xfrm>
          <a:prstGeom prst="rect">
            <a:avLst/>
          </a:prstGeom>
          <a:noFill/>
          <a:ln/>
        </p:spPr>
        <p:txBody>
          <a:bodyPr wrap="square" lIns="0" tIns="0" rIns="0" bIns="0" rtlCol="0" anchor="t">
            <a:normAutofit/>
          </a:bodyPr>
          <a:lstStyle/>
          <a:p>
            <a:pPr marL="0" indent="0" algn="ctr">
              <a:lnSpc>
                <a:spcPts val="1400"/>
              </a:lnSpc>
              <a:buNone/>
            </a:pPr>
            <a:r>
              <a:rPr lang="en-US" sz="1000" dirty="0">
                <a:solidFill>
                  <a:srgbClr val="555555"/>
                </a:solidFill>
                <a:latin typeface="Lato" pitchFamily="34" charset="0"/>
                <a:ea typeface="Lato" pitchFamily="34" charset="-122"/>
                <a:cs typeface="Lato" pitchFamily="34" charset="-120"/>
              </a:rPr>
              <a:t>step 1</a:t>
            </a:r>
            <a:endParaRPr lang="en-US" sz="1000" dirty="0"/>
          </a:p>
        </p:txBody>
      </p:sp>
      <p:sp>
        <p:nvSpPr>
          <p:cNvPr id="30" name="Text 21"/>
          <p:cNvSpPr/>
          <p:nvPr/>
        </p:nvSpPr>
        <p:spPr>
          <a:xfrm>
            <a:off x="6832600" y="4991050"/>
            <a:ext cx="812800" cy="203200"/>
          </a:xfrm>
          <a:prstGeom prst="rect">
            <a:avLst/>
          </a:prstGeom>
          <a:noFill/>
          <a:ln/>
        </p:spPr>
        <p:txBody>
          <a:bodyPr wrap="square" lIns="0" tIns="0" rIns="0" bIns="0" rtlCol="0" anchor="t">
            <a:normAutofit/>
          </a:bodyPr>
          <a:lstStyle/>
          <a:p>
            <a:pPr marL="0" indent="0" algn="ctr">
              <a:lnSpc>
                <a:spcPts val="1400"/>
              </a:lnSpc>
              <a:buNone/>
            </a:pPr>
            <a:r>
              <a:rPr lang="en-US" sz="1000" dirty="0">
                <a:solidFill>
                  <a:srgbClr val="555555"/>
                </a:solidFill>
                <a:latin typeface="Lato" pitchFamily="34" charset="0"/>
                <a:ea typeface="Lato" pitchFamily="34" charset="-122"/>
                <a:cs typeface="Lato" pitchFamily="34" charset="-120"/>
              </a:rPr>
              <a:t>step 10</a:t>
            </a:r>
            <a:endParaRPr lang="en-US" sz="1000" dirty="0"/>
          </a:p>
        </p:txBody>
      </p:sp>
      <p:sp>
        <p:nvSpPr>
          <p:cNvPr id="31" name="Text 22"/>
          <p:cNvSpPr/>
          <p:nvPr/>
        </p:nvSpPr>
        <p:spPr>
          <a:xfrm>
            <a:off x="8864600" y="4991050"/>
            <a:ext cx="812800" cy="203200"/>
          </a:xfrm>
          <a:prstGeom prst="rect">
            <a:avLst/>
          </a:prstGeom>
          <a:noFill/>
          <a:ln/>
        </p:spPr>
        <p:txBody>
          <a:bodyPr wrap="square" lIns="0" tIns="0" rIns="0" bIns="0" rtlCol="0" anchor="t">
            <a:normAutofit/>
          </a:bodyPr>
          <a:lstStyle/>
          <a:p>
            <a:pPr marL="0" indent="0" algn="ctr">
              <a:lnSpc>
                <a:spcPts val="1400"/>
              </a:lnSpc>
              <a:buNone/>
            </a:pPr>
            <a:r>
              <a:rPr lang="en-US" sz="1000" dirty="0">
                <a:solidFill>
                  <a:srgbClr val="555555"/>
                </a:solidFill>
                <a:latin typeface="Lato" pitchFamily="34" charset="0"/>
                <a:ea typeface="Lato" pitchFamily="34" charset="-122"/>
                <a:cs typeface="Lato" pitchFamily="34" charset="-120"/>
              </a:rPr>
              <a:t>step 25</a:t>
            </a:r>
            <a:endParaRPr lang="en-US" sz="1000" dirty="0"/>
          </a:p>
        </p:txBody>
      </p:sp>
      <p:sp>
        <p:nvSpPr>
          <p:cNvPr id="32" name="Text 23"/>
          <p:cNvSpPr/>
          <p:nvPr/>
        </p:nvSpPr>
        <p:spPr>
          <a:xfrm>
            <a:off x="10769600" y="4991050"/>
            <a:ext cx="812800" cy="203200"/>
          </a:xfrm>
          <a:prstGeom prst="rect">
            <a:avLst/>
          </a:prstGeom>
          <a:noFill/>
          <a:ln/>
        </p:spPr>
        <p:txBody>
          <a:bodyPr wrap="square" lIns="0" tIns="0" rIns="0" bIns="0" rtlCol="0" anchor="t">
            <a:normAutofit/>
          </a:bodyPr>
          <a:lstStyle/>
          <a:p>
            <a:pPr marL="0" indent="0" algn="ctr">
              <a:lnSpc>
                <a:spcPts val="1400"/>
              </a:lnSpc>
              <a:buNone/>
            </a:pPr>
            <a:r>
              <a:rPr lang="en-US" sz="1000" dirty="0">
                <a:solidFill>
                  <a:srgbClr val="555555"/>
                </a:solidFill>
                <a:latin typeface="Lato" pitchFamily="34" charset="0"/>
                <a:ea typeface="Lato" pitchFamily="34" charset="-122"/>
                <a:cs typeface="Lato" pitchFamily="34" charset="-120"/>
              </a:rPr>
              <a:t>step 40</a:t>
            </a:r>
            <a:endParaRPr lang="en-US" sz="1000" dirty="0"/>
          </a:p>
        </p:txBody>
      </p:sp>
      <p:sp>
        <p:nvSpPr>
          <p:cNvPr id="33" name="Text 24"/>
          <p:cNvSpPr/>
          <p:nvPr/>
        </p:nvSpPr>
        <p:spPr>
          <a:xfrm>
            <a:off x="5905500" y="4305250"/>
            <a:ext cx="1447800" cy="22096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555555"/>
                </a:solidFill>
                <a:latin typeface="Lato" pitchFamily="34" charset="0"/>
                <a:ea typeface="Lato" pitchFamily="34" charset="-122"/>
                <a:cs typeface="Lato" pitchFamily="34" charset="-120"/>
              </a:rPr>
              <a:t>tool calls, tokens</a:t>
            </a:r>
            <a:endParaRPr lang="en-US" sz="1100" dirty="0"/>
          </a:p>
        </p:txBody>
      </p:sp>
      <p:sp>
        <p:nvSpPr>
          <p:cNvPr id="34" name="Text 25"/>
          <p:cNvSpPr/>
          <p:nvPr/>
        </p:nvSpPr>
        <p:spPr>
          <a:xfrm>
            <a:off x="9372600" y="4241750"/>
            <a:ext cx="1701800" cy="22096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555555"/>
                </a:solidFill>
                <a:latin typeface="Lato" pitchFamily="34" charset="0"/>
                <a:ea typeface="Lato" pitchFamily="34" charset="-122"/>
                <a:cs typeface="Lato" pitchFamily="34" charset="-120"/>
              </a:rPr>
              <a:t>GPU hours, API spend</a:t>
            </a:r>
            <a:endParaRPr lang="en-US" sz="1100" dirty="0"/>
          </a:p>
        </p:txBody>
      </p:sp>
      <p:sp>
        <p:nvSpPr>
          <p:cNvPr id="35" name="Text 26"/>
          <p:cNvSpPr/>
          <p:nvPr/>
        </p:nvSpPr>
        <p:spPr>
          <a:xfrm>
            <a:off x="7810500" y="2603450"/>
            <a:ext cx="2092960" cy="41652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C00000"/>
                </a:solidFill>
                <a:latin typeface="Lato" pitchFamily="34" charset="0"/>
                <a:ea typeface="Lato" pitchFamily="34" charset="-122"/>
                <a:cs typeface="Lato" pitchFamily="34" charset="-120"/>
              </a:rPr>
              <a:t>files changed, emails sent, payments made</a:t>
            </a:r>
            <a:endParaRPr lang="en-US" sz="1100" dirty="0"/>
          </a:p>
        </p:txBody>
      </p:sp>
      <p:sp>
        <p:nvSpPr>
          <p:cNvPr id="36" name="Text 27"/>
          <p:cNvSpPr/>
          <p:nvPr/>
        </p:nvSpPr>
        <p:spPr>
          <a:xfrm>
            <a:off x="11237466" y="2590750"/>
            <a:ext cx="410468" cy="220960"/>
          </a:xfrm>
          <a:prstGeom prst="roundRect">
            <a:avLst>
              <a:gd name="adj" fmla="val 22991"/>
            </a:avLst>
          </a:prstGeom>
          <a:solidFill>
            <a:srgbClr val="C00000"/>
          </a:solidFill>
          <a:ln/>
        </p:spPr>
        <p:txBody>
          <a:bodyPr wrap="none" lIns="0" tIns="0" rIns="0" bIns="0" rtlCol="0" anchor="ctr">
            <a:normAutofit/>
          </a:bodyPr>
          <a:lstStyle/>
          <a:p>
            <a:pPr marL="0" indent="0" algn="ctr">
              <a:lnSpc>
                <a:spcPts val="1540"/>
              </a:lnSpc>
              <a:buNone/>
            </a:pPr>
            <a:r>
              <a:rPr lang="en-US" sz="1100" b="1" dirty="0">
                <a:solidFill>
                  <a:srgbClr val="FFFFFF"/>
                </a:solidFill>
                <a:latin typeface="Lato" pitchFamily="34" charset="0"/>
                <a:ea typeface="Lato" pitchFamily="34" charset="-122"/>
                <a:cs typeface="Lato" pitchFamily="34" charset="-120"/>
              </a:rPr>
              <a:t>FAIL</a:t>
            </a:r>
            <a:endParaRPr lang="en-US" sz="1100" dirty="0"/>
          </a:p>
        </p:txBody>
      </p:sp>
      <p:sp>
        <p:nvSpPr>
          <p:cNvPr id="37" name="Text 28"/>
          <p:cNvSpPr/>
          <p:nvPr/>
        </p:nvSpPr>
        <p:spPr>
          <a:xfrm>
            <a:off x="11210181" y="2837111"/>
            <a:ext cx="465038" cy="314920"/>
          </a:xfrm>
          <a:prstGeom prst="rect">
            <a:avLst/>
          </a:prstGeom>
          <a:noFill/>
          <a:ln/>
        </p:spPr>
        <p:txBody>
          <a:bodyPr wrap="none" lIns="0" tIns="0" rIns="0" bIns="0" rtlCol="0" anchor="t">
            <a:normAutofit/>
          </a:bodyPr>
          <a:lstStyle/>
          <a:p>
            <a:pPr marL="0" indent="0" algn="ctr">
              <a:lnSpc>
                <a:spcPts val="1140"/>
              </a:lnSpc>
              <a:buNone/>
            </a:pPr>
            <a:r>
              <a:rPr lang="en-US" sz="950" b="1" dirty="0">
                <a:solidFill>
                  <a:srgbClr val="C00000"/>
                </a:solidFill>
                <a:latin typeface="Lato" pitchFamily="34" charset="0"/>
                <a:ea typeface="Lato" pitchFamily="34" charset="-122"/>
                <a:cs typeface="Lato" pitchFamily="34" charset="-120"/>
              </a:rPr>
              <a:t>found</a:t>
            </a:r>
            <a:endParaRPr lang="en-US" sz="950" dirty="0"/>
          </a:p>
          <a:p>
            <a:pPr marL="0" indent="0" algn="ctr">
              <a:lnSpc>
                <a:spcPts val="1140"/>
              </a:lnSpc>
              <a:buNone/>
            </a:pPr>
            <a:r>
              <a:rPr lang="en-US" sz="950" b="1" dirty="0">
                <a:solidFill>
                  <a:srgbClr val="C00000"/>
                </a:solidFill>
                <a:latin typeface="Lato" pitchFamily="34" charset="0"/>
                <a:ea typeface="Lato" pitchFamily="34" charset="-122"/>
                <a:cs typeface="Lato" pitchFamily="34" charset="-120"/>
              </a:rPr>
              <a:t>too late</a:t>
            </a:r>
            <a:endParaRPr lang="en-US" sz="950" dirty="0"/>
          </a:p>
        </p:txBody>
      </p:sp>
      <p:sp>
        <p:nvSpPr>
          <p:cNvPr id="38" name="Text 29"/>
          <p:cNvSpPr/>
          <p:nvPr/>
        </p:nvSpPr>
        <p:spPr>
          <a:xfrm>
            <a:off x="340360" y="5918200"/>
            <a:ext cx="11511280" cy="355600"/>
          </a:xfrm>
          <a:prstGeom prst="rect">
            <a:avLst/>
          </a:prstGeom>
          <a:noFill/>
          <a:ln/>
        </p:spPr>
        <p:txBody>
          <a:bodyPr wrap="square" lIns="0" tIns="0" rIns="0" bIns="0" rtlCol="0" anchor="t">
            <a:normAutofit/>
          </a:bodyPr>
          <a:lstStyle/>
          <a:p>
            <a:pPr marL="0" indent="0" algn="ctr">
              <a:lnSpc>
                <a:spcPts val="2600"/>
              </a:lnSpc>
              <a:buNone/>
            </a:pPr>
            <a:r>
              <a:rPr lang="en-US" sz="2000" u="sng" dirty="0">
                <a:solidFill>
                  <a:srgbClr val="C00000"/>
                </a:solidFill>
                <a:latin typeface="Lato" pitchFamily="34" charset="0"/>
                <a:ea typeface="Lato" pitchFamily="34" charset="-122"/>
                <a:cs typeface="Lato" pitchFamily="34" charset="-120"/>
              </a:rPr>
              <a:t>Can we tell a multi-agent system is going to fail before it actually fails?</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4" name="Text 2"/>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22 / 33</a:t>
            </a:r>
            <a:endParaRPr lang="en-US" sz="1200" dirty="0"/>
          </a:p>
        </p:txBody>
      </p:sp>
      <p:sp>
        <p:nvSpPr>
          <p:cNvPr id="5" name="Text 3"/>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Prior Work: Attribution After the Trajectory Has Failed</a:t>
            </a:r>
            <a:endParaRPr lang="en-US" sz="3200" dirty="0"/>
          </a:p>
        </p:txBody>
      </p:sp>
      <p:sp>
        <p:nvSpPr>
          <p:cNvPr id="6" name="Text 4"/>
          <p:cNvSpPr/>
          <p:nvPr/>
        </p:nvSpPr>
        <p:spPr>
          <a:xfrm>
            <a:off x="508000" y="1026120"/>
            <a:ext cx="11511280" cy="355600"/>
          </a:xfrm>
          <a:prstGeom prst="rect">
            <a:avLst/>
          </a:prstGeom>
          <a:noFill/>
          <a:ln/>
        </p:spPr>
        <p:txBody>
          <a:bodyPr wrap="square" lIns="0" tIns="0" rIns="0" bIns="0" rtlCol="0" anchor="t">
            <a:normAutofit/>
          </a:bodyPr>
          <a:lstStyle/>
          <a:p>
            <a:pPr marL="0" indent="0" algn="l">
              <a:lnSpc>
                <a:spcPts val="2600"/>
              </a:lnSpc>
              <a:buNone/>
            </a:pPr>
            <a:r>
              <a:rPr lang="en-US" sz="2000" b="1" dirty="0">
                <a:solidFill>
                  <a:srgbClr val="000000"/>
                </a:solidFill>
                <a:latin typeface="Lato" pitchFamily="34" charset="0"/>
                <a:ea typeface="Lato" pitchFamily="34" charset="-122"/>
                <a:cs typeface="Lato" pitchFamily="34" charset="-120"/>
              </a:rPr>
              <a:t>Common view:</a:t>
            </a:r>
            <a:r>
              <a:rPr lang="en-US" sz="2000" dirty="0">
                <a:solidFill>
                  <a:srgbClr val="000000"/>
                </a:solidFill>
                <a:latin typeface="Lato" pitchFamily="34" charset="0"/>
                <a:ea typeface="Lato" pitchFamily="34" charset="-122"/>
                <a:cs typeface="Lato" pitchFamily="34" charset="-120"/>
              </a:rPr>
              <a:t> collect failed runs, then ask which step and which agent were responsible</a:t>
            </a:r>
            <a:endParaRPr lang="en-US" sz="2000" dirty="0"/>
          </a:p>
        </p:txBody>
      </p:sp>
      <p:sp>
        <p:nvSpPr>
          <p:cNvPr id="7" name="Text 5"/>
          <p:cNvSpPr/>
          <p:nvPr/>
        </p:nvSpPr>
        <p:spPr>
          <a:xfrm>
            <a:off x="508000" y="1381720"/>
            <a:ext cx="11511280" cy="355600"/>
          </a:xfrm>
          <a:prstGeom prst="rect">
            <a:avLst/>
          </a:prstGeom>
          <a:noFill/>
          <a:ln/>
        </p:spPr>
        <p:txBody>
          <a:bodyPr wrap="square" lIns="0" tIns="0" rIns="0" bIns="0" rtlCol="0" anchor="t">
            <a:normAutofit/>
          </a:bodyPr>
          <a:lstStyle/>
          <a:p>
            <a:pPr marL="0" indent="0" algn="l">
              <a:lnSpc>
                <a:spcPts val="2600"/>
              </a:lnSpc>
              <a:buNone/>
            </a:pPr>
            <a:r>
              <a:rPr lang="en-US" sz="2000" u="sng" dirty="0">
                <a:solidFill>
                  <a:srgbClr val="C00000"/>
                </a:solidFill>
                <a:latin typeface="Lato" pitchFamily="34" charset="0"/>
                <a:ea typeface="Lato" pitchFamily="34" charset="-122"/>
                <a:cs typeface="Lato" pitchFamily="34" charset="-120"/>
              </a:rPr>
              <a:t>All of them read a completed failure, after the intervention window is gone</a:t>
            </a:r>
            <a:endParaRPr lang="en-US" sz="2000" dirty="0"/>
          </a:p>
        </p:txBody>
      </p:sp>
      <p:pic>
        <p:nvPicPr>
          <p:cNvPr id="8" name="Image 0" descr="Who&amp;When: failure logs from multi-agent systems, manual versus automated attribution of the responsible agent and decisive error step"/>
          <p:cNvPicPr>
            <a:picLocks noChangeAspect="1"/>
          </p:cNvPicPr>
          <p:nvPr/>
        </p:nvPicPr>
        <p:blipFill>
          <a:blip r:embed="rId3"/>
          <a:srcRect l="-25" r="-25"/>
          <a:stretch/>
        </p:blipFill>
        <p:spPr>
          <a:xfrm>
            <a:off x="2025650" y="1863130"/>
            <a:ext cx="3454400" cy="2159000"/>
          </a:xfrm>
          <a:prstGeom prst="rect">
            <a:avLst/>
          </a:prstGeom>
        </p:spPr>
      </p:pic>
      <p:sp>
        <p:nvSpPr>
          <p:cNvPr id="9" name="Text 6"/>
          <p:cNvSpPr/>
          <p:nvPr/>
        </p:nvSpPr>
        <p:spPr>
          <a:xfrm>
            <a:off x="2643371" y="4072930"/>
            <a:ext cx="2218908"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55555"/>
                </a:solidFill>
                <a:latin typeface="Lato" pitchFamily="34" charset="0"/>
                <a:ea typeface="Lato" pitchFamily="34" charset="-122"/>
                <a:cs typeface="Lato" pitchFamily="34" charset="-120"/>
              </a:rPr>
              <a:t>(a) Who&amp;When, ICML 2025</a:t>
            </a:r>
            <a:endParaRPr lang="en-US" sz="1200" dirty="0"/>
          </a:p>
        </p:txBody>
      </p:sp>
      <p:pic>
        <p:nvPicPr>
          <p:cNvPr id="10" name="Image 1" descr="AgenTracer: trajectory collection, automatic construction of failure data by fault injection, and training an attribution reasoner with RL"/>
          <p:cNvPicPr>
            <a:picLocks noChangeAspect="1"/>
          </p:cNvPicPr>
          <p:nvPr/>
        </p:nvPicPr>
        <p:blipFill>
          <a:blip r:embed="rId4"/>
          <a:srcRect t="-26" b="-26"/>
          <a:stretch/>
        </p:blipFill>
        <p:spPr>
          <a:xfrm>
            <a:off x="5784850" y="1863130"/>
            <a:ext cx="4381500" cy="2159000"/>
          </a:xfrm>
          <a:prstGeom prst="rect">
            <a:avLst/>
          </a:prstGeom>
        </p:spPr>
      </p:pic>
      <p:sp>
        <p:nvSpPr>
          <p:cNvPr id="11" name="Text 7"/>
          <p:cNvSpPr/>
          <p:nvPr/>
        </p:nvSpPr>
        <p:spPr>
          <a:xfrm>
            <a:off x="6932791" y="4072930"/>
            <a:ext cx="2085618"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55555"/>
                </a:solidFill>
                <a:latin typeface="Lato" pitchFamily="34" charset="0"/>
                <a:ea typeface="Lato" pitchFamily="34" charset="-122"/>
                <a:cs typeface="Lato" pitchFamily="34" charset="-120"/>
              </a:rPr>
              <a:t>(b) AgenTracer, ICLR 2026</a:t>
            </a:r>
            <a:endParaRPr lang="en-US" sz="1200" dirty="0"/>
          </a:p>
        </p:txBody>
      </p:sp>
      <p:pic>
        <p:nvPicPr>
          <p:cNvPr id="12" name="Image 2" descr="AgentDebug: trajectory collection, failure taxonomy, critical error and feedback annotation"/>
          <p:cNvPicPr>
            <a:picLocks noChangeAspect="1"/>
          </p:cNvPicPr>
          <p:nvPr/>
        </p:nvPicPr>
        <p:blipFill>
          <a:blip r:embed="rId5"/>
          <a:srcRect t="-82" b="-82"/>
          <a:stretch/>
        </p:blipFill>
        <p:spPr>
          <a:xfrm>
            <a:off x="2603500" y="4387850"/>
            <a:ext cx="6985000" cy="1231900"/>
          </a:xfrm>
          <a:prstGeom prst="rect">
            <a:avLst/>
          </a:prstGeom>
        </p:spPr>
      </p:pic>
      <p:sp>
        <p:nvSpPr>
          <p:cNvPr id="13" name="Text 8"/>
          <p:cNvSpPr/>
          <p:nvPr/>
        </p:nvSpPr>
        <p:spPr>
          <a:xfrm>
            <a:off x="4986342" y="5670550"/>
            <a:ext cx="2219265"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55555"/>
                </a:solidFill>
                <a:latin typeface="Lato" pitchFamily="34" charset="0"/>
                <a:ea typeface="Lato" pitchFamily="34" charset="-122"/>
                <a:cs typeface="Lato" pitchFamily="34" charset="-120"/>
              </a:rPr>
              <a:t>(c) AgentDebug, ICML 2026</a:t>
            </a:r>
            <a:endParaRPr lang="en-US" sz="1200" dirty="0"/>
          </a:p>
        </p:txBody>
      </p:sp>
      <p:sp>
        <p:nvSpPr>
          <p:cNvPr id="14" name="Text 9"/>
          <p:cNvSpPr/>
          <p:nvPr/>
        </p:nvSpPr>
        <p:spPr>
          <a:xfrm>
            <a:off x="508000" y="6035080"/>
            <a:ext cx="115112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Lato" pitchFamily="34" charset="0"/>
                <a:ea typeface="Lato" pitchFamily="34" charset="-122"/>
                <a:cs typeface="Lato" pitchFamily="34" charset="-120"/>
              </a:rPr>
              <a:t>Zhang et al., ICML 2025 · Zhang et al., ICLR 2026 · Zhu et al., ICML 2026</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4" name="Text 2"/>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23 / 33</a:t>
            </a:r>
            <a:endParaRPr lang="en-US" sz="1200" dirty="0"/>
          </a:p>
        </p:txBody>
      </p:sp>
      <p:sp>
        <p:nvSpPr>
          <p:cNvPr id="5" name="Text 3"/>
          <p:cNvSpPr>
            <a:spLocks noGrp="1"/>
          </p:cNvSpPr>
          <p:nvPr>
            <p:ph type="title"/>
          </p:nvPr>
        </p:nvSpPr>
        <p:spPr>
          <a:xfrm>
            <a:off x="508000" y="355600"/>
            <a:ext cx="1168400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Observation: Clues Appear Early, General Models Miss Them</a:t>
            </a:r>
            <a:endParaRPr lang="en-US" sz="3200" dirty="0"/>
          </a:p>
        </p:txBody>
      </p:sp>
      <p:sp>
        <p:nvSpPr>
          <p:cNvPr id="6" name="Text 4"/>
          <p:cNvSpPr/>
          <p:nvPr/>
        </p:nvSpPr>
        <p:spPr>
          <a:xfrm>
            <a:off x="508000" y="1026120"/>
            <a:ext cx="11511280" cy="393700"/>
          </a:xfrm>
          <a:prstGeom prst="rect">
            <a:avLst/>
          </a:prstGeom>
          <a:noFill/>
          <a:ln/>
        </p:spPr>
        <p:txBody>
          <a:bodyPr wrap="square" lIns="0" tIns="0" rIns="0" bIns="0" rtlCol="0" anchor="t">
            <a:normAutofit/>
          </a:bodyPr>
          <a:lstStyle/>
          <a:p>
            <a:pPr marL="0" indent="0" algn="l">
              <a:lnSpc>
                <a:spcPts val="2900"/>
              </a:lnSpc>
              <a:buNone/>
            </a:pPr>
            <a:r>
              <a:rPr lang="en-US" sz="2000" b="1" dirty="0">
                <a:solidFill>
                  <a:srgbClr val="000000"/>
                </a:solidFill>
                <a:latin typeface="Lato" pitchFamily="34" charset="0"/>
                <a:ea typeface="Lato" pitchFamily="34" charset="-122"/>
                <a:cs typeface="Lato" pitchFamily="34" charset="-120"/>
              </a:rPr>
              <a:t>Early clue:</a:t>
            </a:r>
            <a:r>
              <a:rPr lang="en-US" sz="2000" dirty="0">
                <a:solidFill>
                  <a:srgbClr val="000000"/>
                </a:solidFill>
                <a:latin typeface="Lato" pitchFamily="34" charset="0"/>
                <a:ea typeface="Lato" pitchFamily="34" charset="-122"/>
                <a:cs typeface="Lato" pitchFamily="34" charset="-120"/>
              </a:rPr>
              <a:t> an answer with no evidence, yet strong LLMs </a:t>
            </a:r>
            <a:r>
              <a:rPr lang="en-US" sz="2000" u="sng" dirty="0">
                <a:solidFill>
                  <a:srgbClr val="C00000"/>
                </a:solidFill>
                <a:latin typeface="Lato" pitchFamily="34" charset="0"/>
                <a:ea typeface="Lato" pitchFamily="34" charset="-122"/>
                <a:cs typeface="Lato" pitchFamily="34" charset="-120"/>
              </a:rPr>
              <a:t>miss it or blame the wrong step</a:t>
            </a:r>
            <a:endParaRPr lang="en-US" sz="2000" dirty="0"/>
          </a:p>
        </p:txBody>
      </p:sp>
      <p:pic>
        <p:nvPicPr>
          <p:cNvPr id="7" name="Image 0" descr="Case study: an eight-step multi-agent run where the search agent returns Horwich at step 5 without evidence; DeepSeek-V4-Pro judges the run safe, Gemini-3-Flash alarms at step 2, and the trained 7B auditor alarms at step 5 on the search agent"/>
          <p:cNvPicPr>
            <a:picLocks noChangeAspect="1"/>
          </p:cNvPicPr>
          <p:nvPr/>
        </p:nvPicPr>
        <p:blipFill>
          <a:blip r:embed="rId3"/>
          <a:srcRect l="-27" r="-27"/>
          <a:stretch/>
        </p:blipFill>
        <p:spPr>
          <a:xfrm>
            <a:off x="508000" y="1519535"/>
            <a:ext cx="6731000" cy="4298950"/>
          </a:xfrm>
          <a:prstGeom prst="rect">
            <a:avLst/>
          </a:prstGeom>
        </p:spPr>
      </p:pic>
      <p:sp>
        <p:nvSpPr>
          <p:cNvPr id="8" name="Text 5"/>
          <p:cNvSpPr/>
          <p:nvPr/>
        </p:nvSpPr>
        <p:spPr>
          <a:xfrm>
            <a:off x="7493000" y="1641475"/>
            <a:ext cx="4191000" cy="657225"/>
          </a:xfrm>
          <a:prstGeom prst="roundRect">
            <a:avLst>
              <a:gd name="adj" fmla="val 19324"/>
            </a:avLst>
          </a:prstGeom>
          <a:solidFill>
            <a:srgbClr val="F3F3F3"/>
          </a:solidFill>
          <a:ln/>
        </p:spPr>
        <p:txBody>
          <a:bodyPr wrap="square" lIns="127903" tIns="77103" rIns="12079" bIns="51703" rtlCol="0" anchor="t">
            <a:normAutofit/>
          </a:bodyPr>
          <a:lstStyle/>
          <a:p>
            <a:pPr marL="0" indent="0" algn="l">
              <a:lnSpc>
                <a:spcPts val="1688"/>
              </a:lnSpc>
              <a:buNone/>
            </a:pPr>
            <a:r>
              <a:rPr lang="en-US" sz="1250" b="1" dirty="0">
                <a:solidFill>
                  <a:srgbClr val="000000"/>
                </a:solidFill>
                <a:latin typeface="Lato" pitchFamily="34" charset="0"/>
                <a:ea typeface="Lato" pitchFamily="34" charset="-122"/>
                <a:cs typeface="Lato" pitchFamily="34" charset="-120"/>
              </a:rPr>
              <a:t>Ground truth:</a:t>
            </a:r>
            <a:r>
              <a:rPr lang="en-US" sz="1250" dirty="0">
                <a:solidFill>
                  <a:srgbClr val="000000"/>
                </a:solidFill>
                <a:latin typeface="Lato" pitchFamily="34" charset="0"/>
                <a:ea typeface="Lato" pitchFamily="34" charset="-122"/>
                <a:cs typeface="Lato" pitchFamily="34" charset="-120"/>
              </a:rPr>
              <a:t> we manually label the decisive error step and agent, here step 5 and the search agent</a:t>
            </a:r>
            <a:endParaRPr lang="en-US" sz="1250" dirty="0"/>
          </a:p>
        </p:txBody>
      </p:sp>
      <p:sp>
        <p:nvSpPr>
          <p:cNvPr id="9" name="Shape 6"/>
          <p:cNvSpPr/>
          <p:nvPr/>
        </p:nvSpPr>
        <p:spPr>
          <a:xfrm>
            <a:off x="7499350" y="2419350"/>
            <a:ext cx="4178300" cy="2157661"/>
          </a:xfrm>
          <a:prstGeom prst="roundRect">
            <a:avLst>
              <a:gd name="adj" fmla="val 5592"/>
            </a:avLst>
          </a:prstGeom>
          <a:solidFill>
            <a:srgbClr val="FFFFFF"/>
          </a:solidFill>
          <a:ln w="12700">
            <a:solidFill>
              <a:srgbClr val="C00000"/>
            </a:solidFill>
            <a:prstDash val="solid"/>
          </a:ln>
        </p:spPr>
        <p:txBody>
          <a:bodyPr/>
          <a:lstStyle/>
          <a:p>
            <a:endParaRPr lang="en-US"/>
          </a:p>
        </p:txBody>
      </p:sp>
      <p:sp>
        <p:nvSpPr>
          <p:cNvPr id="10" name="Text 7"/>
          <p:cNvSpPr/>
          <p:nvPr/>
        </p:nvSpPr>
        <p:spPr>
          <a:xfrm>
            <a:off x="7670800" y="2540000"/>
            <a:ext cx="3950462"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C00000"/>
                </a:solidFill>
                <a:latin typeface="Lato" pitchFamily="34" charset="0"/>
                <a:ea typeface="Lato" pitchFamily="34" charset="-122"/>
                <a:cs typeface="Lato" pitchFamily="34" charset="-120"/>
              </a:rPr>
              <a:t>Prompted to audit online</a:t>
            </a:r>
            <a:endParaRPr lang="en-US" sz="13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683500" y="2856210"/>
          <a:ext cx="3822700" cy="1600150"/>
        </p:xfrm>
        <a:graphic>
          <a:graphicData uri="http://schemas.openxmlformats.org/drawingml/2006/table">
            <a:tbl>
              <a:tblPr/>
              <a:tblGrid>
                <a:gridCol w="1911350">
                  <a:extLst>
                    <a:ext uri="{9D8B030D-6E8A-4147-A177-3AD203B41FA5}">
                      <a16:colId xmlns:a16="http://schemas.microsoft.com/office/drawing/2014/main" val="20000"/>
                    </a:ext>
                  </a:extLst>
                </a:gridCol>
                <a:gridCol w="1911350">
                  <a:extLst>
                    <a:ext uri="{9D8B030D-6E8A-4147-A177-3AD203B41FA5}">
                      <a16:colId xmlns:a16="http://schemas.microsoft.com/office/drawing/2014/main" val="20001"/>
                    </a:ext>
                  </a:extLst>
                </a:gridCol>
              </a:tblGrid>
              <a:tr h="320030">
                <a:tc>
                  <a:txBody>
                    <a:bodyPr/>
                    <a:lstStyle/>
                    <a:p>
                      <a:pPr marL="0" indent="0">
                        <a:lnSpc>
                          <a:spcPts val="1820"/>
                        </a:lnSpc>
                        <a:buNone/>
                      </a:pPr>
                      <a:r>
                        <a:rPr lang="en-US" sz="1300" b="1" dirty="0">
                          <a:solidFill>
                            <a:srgbClr val="000000"/>
                          </a:solidFill>
                          <a:latin typeface="Lato" pitchFamily="34" charset="0"/>
                          <a:ea typeface="Lato" pitchFamily="34" charset="-122"/>
                          <a:cs typeface="Lato" pitchFamily="34" charset="-120"/>
                        </a:rPr>
                        <a:t>Model</a:t>
                      </a:r>
                      <a:endParaRPr lang="en-US" sz="1300" dirty="0">
                        <a:latin typeface="Lato" charset="0"/>
                        <a:ea typeface="Lato" charset="0"/>
                        <a:cs typeface="Lato" charset="0"/>
                      </a:endParaRPr>
                    </a:p>
                  </a:txBody>
                  <a:tcPr marL="63500" marR="63500" marT="38100" marB="38100">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ctr">
                        <a:lnSpc>
                          <a:spcPts val="1820"/>
                        </a:lnSpc>
                        <a:buNone/>
                      </a:pPr>
                      <a:r>
                        <a:rPr lang="en-US" sz="1300" b="1" dirty="0">
                          <a:solidFill>
                            <a:srgbClr val="000000"/>
                          </a:solidFill>
                          <a:latin typeface="Lato" pitchFamily="34" charset="0"/>
                          <a:ea typeface="Lato" pitchFamily="34" charset="-122"/>
                          <a:cs typeface="Lato" pitchFamily="34" charset="-120"/>
                        </a:rPr>
                        <a:t>Exact-F1 ↑</a:t>
                      </a:r>
                      <a:endParaRPr lang="en-US" sz="1300" dirty="0">
                        <a:latin typeface="Lato" charset="0"/>
                        <a:ea typeface="Lato" charset="0"/>
                        <a:cs typeface="Lato" charset="0"/>
                      </a:endParaRPr>
                    </a:p>
                  </a:txBody>
                  <a:tcPr marL="63500" marR="63500" marT="38100" marB="3810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extLst>
                  <a:ext uri="{0D108BD9-81ED-4DB2-BD59-A6C34878D82A}">
                    <a16:rowId xmlns:a16="http://schemas.microsoft.com/office/drawing/2014/main" val="10000"/>
                  </a:ext>
                </a:extLst>
              </a:tr>
              <a:tr h="320030">
                <a:tc>
                  <a:txBody>
                    <a:bodyPr/>
                    <a:lstStyle/>
                    <a:p>
                      <a:pPr marL="0" indent="0">
                        <a:lnSpc>
                          <a:spcPts val="1820"/>
                        </a:lnSpc>
                        <a:buNone/>
                      </a:pPr>
                      <a:r>
                        <a:rPr lang="en-US" sz="1300" dirty="0">
                          <a:solidFill>
                            <a:srgbClr val="000000"/>
                          </a:solidFill>
                          <a:latin typeface="Lato" pitchFamily="34" charset="0"/>
                          <a:ea typeface="Lato" pitchFamily="34" charset="-122"/>
                          <a:cs typeface="Lato" pitchFamily="34" charset="-120"/>
                        </a:rPr>
                        <a:t>GPT-4.1</a:t>
                      </a:r>
                      <a:endParaRPr lang="en-US" sz="1300" dirty="0">
                        <a:latin typeface="Lato" charset="0"/>
                        <a:ea typeface="Lato" charset="0"/>
                        <a:cs typeface="Lato" charset="0"/>
                      </a:endParaRPr>
                    </a:p>
                  </a:txBody>
                  <a:tcPr marL="63500" marR="635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27.4</a:t>
                      </a:r>
                      <a:endParaRPr lang="en-US" sz="1300" dirty="0">
                        <a:latin typeface="Lato" charset="0"/>
                        <a:ea typeface="Lato" charset="0"/>
                        <a:cs typeface="Lato" charset="0"/>
                      </a:endParaRPr>
                    </a:p>
                  </a:txBody>
                  <a:tcPr marL="63500" marR="635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20030">
                <a:tc>
                  <a:txBody>
                    <a:bodyPr/>
                    <a:lstStyle/>
                    <a:p>
                      <a:pPr marL="0" indent="0">
                        <a:lnSpc>
                          <a:spcPts val="1820"/>
                        </a:lnSpc>
                        <a:buNone/>
                      </a:pPr>
                      <a:r>
                        <a:rPr lang="en-US" sz="1300" dirty="0">
                          <a:solidFill>
                            <a:srgbClr val="000000"/>
                          </a:solidFill>
                          <a:latin typeface="Lato" pitchFamily="34" charset="0"/>
                          <a:ea typeface="Lato" pitchFamily="34" charset="-122"/>
                          <a:cs typeface="Lato" pitchFamily="34" charset="-120"/>
                        </a:rPr>
                        <a:t>Gemini-3-Flash</a:t>
                      </a:r>
                      <a:endParaRPr lang="en-US" sz="1300" dirty="0">
                        <a:latin typeface="Lato" charset="0"/>
                        <a:ea typeface="Lato" charset="0"/>
                        <a:cs typeface="Lato" charset="0"/>
                      </a:endParaRPr>
                    </a:p>
                  </a:txBody>
                  <a:tcPr marL="63500" marR="635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29.7</a:t>
                      </a:r>
                      <a:endParaRPr lang="en-US" sz="1300" dirty="0">
                        <a:latin typeface="Lato" charset="0"/>
                        <a:ea typeface="Lato" charset="0"/>
                        <a:cs typeface="Lato" charset="0"/>
                      </a:endParaRPr>
                    </a:p>
                  </a:txBody>
                  <a:tcPr marL="63500" marR="635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20030">
                <a:tc>
                  <a:txBody>
                    <a:bodyPr/>
                    <a:lstStyle/>
                    <a:p>
                      <a:pPr marL="0" indent="0">
                        <a:lnSpc>
                          <a:spcPts val="1820"/>
                        </a:lnSpc>
                        <a:buNone/>
                      </a:pPr>
                      <a:r>
                        <a:rPr lang="en-US" sz="1300" dirty="0">
                          <a:solidFill>
                            <a:srgbClr val="000000"/>
                          </a:solidFill>
                          <a:latin typeface="Lato" pitchFamily="34" charset="0"/>
                          <a:ea typeface="Lato" pitchFamily="34" charset="-122"/>
                          <a:cs typeface="Lato" pitchFamily="34" charset="-120"/>
                        </a:rPr>
                        <a:t>Claude-Haiku-4.5</a:t>
                      </a:r>
                      <a:endParaRPr lang="en-US" sz="1300" dirty="0">
                        <a:latin typeface="Lato" charset="0"/>
                        <a:ea typeface="Lato" charset="0"/>
                        <a:cs typeface="Lato" charset="0"/>
                      </a:endParaRPr>
                    </a:p>
                  </a:txBody>
                  <a:tcPr marL="63500" marR="635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25.5</a:t>
                      </a:r>
                      <a:endParaRPr lang="en-US" sz="1300" dirty="0">
                        <a:latin typeface="Lato" charset="0"/>
                        <a:ea typeface="Lato" charset="0"/>
                        <a:cs typeface="Lato" charset="0"/>
                      </a:endParaRPr>
                    </a:p>
                  </a:txBody>
                  <a:tcPr marL="63500" marR="635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20030">
                <a:tc>
                  <a:txBody>
                    <a:bodyPr/>
                    <a:lstStyle/>
                    <a:p>
                      <a:pPr marL="0" indent="0">
                        <a:lnSpc>
                          <a:spcPts val="1820"/>
                        </a:lnSpc>
                        <a:buNone/>
                      </a:pPr>
                      <a:r>
                        <a:rPr lang="en-US" sz="1300" dirty="0">
                          <a:solidFill>
                            <a:srgbClr val="000000"/>
                          </a:solidFill>
                          <a:latin typeface="Lato" pitchFamily="34" charset="0"/>
                          <a:ea typeface="Lato" pitchFamily="34" charset="-122"/>
                          <a:cs typeface="Lato" pitchFamily="34" charset="-120"/>
                        </a:rPr>
                        <a:t>DeepSeek-V4-Pro</a:t>
                      </a:r>
                      <a:endParaRPr lang="en-US" sz="1300" dirty="0">
                        <a:latin typeface="Lato" charset="0"/>
                        <a:ea typeface="Lato" charset="0"/>
                        <a:cs typeface="Lato" charset="0"/>
                      </a:endParaRPr>
                    </a:p>
                  </a:txBody>
                  <a:tcPr marL="63500" marR="635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000000"/>
                          </a:solidFill>
                          <a:latin typeface="Lato" pitchFamily="34" charset="0"/>
                          <a:ea typeface="Lato" pitchFamily="34" charset="-122"/>
                          <a:cs typeface="Lato" pitchFamily="34" charset="-120"/>
                        </a:rPr>
                        <a:t>46.6</a:t>
                      </a:r>
                      <a:endParaRPr lang="en-US" sz="1300" dirty="0">
                        <a:latin typeface="Lato" charset="0"/>
                        <a:ea typeface="Lato" charset="0"/>
                        <a:cs typeface="Lato" charset="0"/>
                      </a:endParaRPr>
                    </a:p>
                  </a:txBody>
                  <a:tcPr marL="63500" marR="635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2" name="Shape 8"/>
          <p:cNvSpPr/>
          <p:nvPr/>
        </p:nvSpPr>
        <p:spPr>
          <a:xfrm>
            <a:off x="7493000" y="4697661"/>
            <a:ext cx="4191000" cy="998835"/>
          </a:xfrm>
          <a:prstGeom prst="roundRect">
            <a:avLst>
              <a:gd name="adj" fmla="val 12715"/>
            </a:avLst>
          </a:prstGeom>
          <a:solidFill>
            <a:srgbClr val="E8EEF8"/>
          </a:solidFill>
          <a:ln/>
        </p:spPr>
        <p:txBody>
          <a:bodyPr/>
          <a:lstStyle/>
          <a:p>
            <a:endParaRPr lang="en-US"/>
          </a:p>
        </p:txBody>
      </p:sp>
      <p:sp>
        <p:nvSpPr>
          <p:cNvPr id="13" name="Text 9"/>
          <p:cNvSpPr/>
          <p:nvPr/>
        </p:nvSpPr>
        <p:spPr>
          <a:xfrm>
            <a:off x="7658100" y="4811961"/>
            <a:ext cx="3976624"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2F5597"/>
                </a:solidFill>
                <a:latin typeface="Lato" pitchFamily="34" charset="0"/>
                <a:ea typeface="Lato" pitchFamily="34" charset="-122"/>
                <a:cs typeface="Lato" pitchFamily="34" charset="-120"/>
              </a:rPr>
              <a:t>Two ways to fail</a:t>
            </a:r>
            <a:endParaRPr lang="en-US" sz="1350" dirty="0"/>
          </a:p>
        </p:txBody>
      </p:sp>
      <p:sp>
        <p:nvSpPr>
          <p:cNvPr id="14" name="Text 10"/>
          <p:cNvSpPr/>
          <p:nvPr/>
        </p:nvSpPr>
        <p:spPr>
          <a:xfrm>
            <a:off x="7658100" y="5102771"/>
            <a:ext cx="4025900" cy="239713"/>
          </a:xfrm>
          <a:prstGeom prst="rect">
            <a:avLst/>
          </a:prstGeom>
          <a:noFill/>
          <a:ln/>
        </p:spPr>
        <p:txBody>
          <a:bodyPr wrap="square" lIns="0" tIns="0" rIns="0" bIns="0" rtlCol="0" anchor="t">
            <a:normAutofit/>
          </a:bodyPr>
          <a:lstStyle/>
          <a:p>
            <a:pPr marL="0" indent="0" algn="l">
              <a:lnSpc>
                <a:spcPts val="1688"/>
              </a:lnSpc>
              <a:buNone/>
            </a:pPr>
            <a:r>
              <a:rPr lang="en-US" sz="1250" b="1" dirty="0">
                <a:solidFill>
                  <a:srgbClr val="000000"/>
                </a:solidFill>
                <a:latin typeface="Lato" pitchFamily="34" charset="0"/>
                <a:ea typeface="Lato" pitchFamily="34" charset="-122"/>
                <a:cs typeface="Lato" pitchFamily="34" charset="-120"/>
              </a:rPr>
              <a:t>Miss:</a:t>
            </a:r>
            <a:r>
              <a:rPr lang="en-US" sz="1250" dirty="0">
                <a:solidFill>
                  <a:srgbClr val="000000"/>
                </a:solidFill>
                <a:latin typeface="Lato" pitchFamily="34" charset="0"/>
                <a:ea typeface="Lato" pitchFamily="34" charset="-122"/>
                <a:cs typeface="Lato" pitchFamily="34" charset="-120"/>
              </a:rPr>
              <a:t> the prefix looks coherent, so the run is called safe</a:t>
            </a:r>
            <a:endParaRPr lang="en-US" sz="1250" dirty="0"/>
          </a:p>
        </p:txBody>
      </p:sp>
      <p:sp>
        <p:nvSpPr>
          <p:cNvPr id="15" name="Text 11"/>
          <p:cNvSpPr/>
          <p:nvPr/>
        </p:nvSpPr>
        <p:spPr>
          <a:xfrm>
            <a:off x="7658100" y="5367883"/>
            <a:ext cx="3976624" cy="239713"/>
          </a:xfrm>
          <a:prstGeom prst="rect">
            <a:avLst/>
          </a:prstGeom>
          <a:noFill/>
          <a:ln/>
        </p:spPr>
        <p:txBody>
          <a:bodyPr wrap="square" lIns="0" tIns="0" rIns="0" bIns="0" rtlCol="0" anchor="t">
            <a:normAutofit/>
          </a:bodyPr>
          <a:lstStyle/>
          <a:p>
            <a:pPr marL="0" indent="0" algn="l">
              <a:lnSpc>
                <a:spcPts val="1688"/>
              </a:lnSpc>
              <a:buNone/>
            </a:pPr>
            <a:r>
              <a:rPr lang="en-US" sz="1250" b="1" dirty="0">
                <a:solidFill>
                  <a:srgbClr val="000000"/>
                </a:solidFill>
                <a:latin typeface="Lato" pitchFamily="34" charset="0"/>
                <a:ea typeface="Lato" pitchFamily="34" charset="-122"/>
                <a:cs typeface="Lato" pitchFamily="34" charset="-120"/>
              </a:rPr>
              <a:t>Mislocate:</a:t>
            </a:r>
            <a:r>
              <a:rPr lang="en-US" sz="1250" dirty="0">
                <a:solidFill>
                  <a:srgbClr val="000000"/>
                </a:solidFill>
                <a:latin typeface="Lato" pitchFamily="34" charset="0"/>
                <a:ea typeface="Lato" pitchFamily="34" charset="-122"/>
                <a:cs typeface="Lato" pitchFamily="34" charset="-120"/>
              </a:rPr>
              <a:t> the alarm fires on the wrong step or agent</a:t>
            </a:r>
            <a:endParaRPr lang="en-US" sz="1250" dirty="0"/>
          </a:p>
        </p:txBody>
      </p:sp>
      <p:sp>
        <p:nvSpPr>
          <p:cNvPr id="16" name="Text 12"/>
          <p:cNvSpPr/>
          <p:nvPr/>
        </p:nvSpPr>
        <p:spPr>
          <a:xfrm>
            <a:off x="340360" y="5918200"/>
            <a:ext cx="11511280" cy="355600"/>
          </a:xfrm>
          <a:prstGeom prst="rect">
            <a:avLst/>
          </a:prstGeom>
          <a:noFill/>
          <a:ln/>
        </p:spPr>
        <p:txBody>
          <a:bodyPr wrap="square" lIns="0" tIns="0" rIns="0" bIns="0" rtlCol="0" anchor="t">
            <a:normAutofit/>
          </a:bodyPr>
          <a:lstStyle/>
          <a:p>
            <a:pPr marL="0" indent="0" algn="ctr">
              <a:lnSpc>
                <a:spcPts val="2600"/>
              </a:lnSpc>
              <a:buNone/>
            </a:pPr>
            <a:r>
              <a:rPr lang="en-US" sz="2000" u="sng" dirty="0">
                <a:solidFill>
                  <a:srgbClr val="C00000"/>
                </a:solidFill>
                <a:latin typeface="Lato" pitchFamily="34" charset="0"/>
                <a:ea typeface="Lato" pitchFamily="34" charset="-122"/>
                <a:cs typeface="Lato" pitchFamily="34" charset="-120"/>
              </a:rPr>
              <a:t>Online auditing is a skill that needs dedicated training</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4" name="Text 2"/>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24 / 33</a:t>
            </a:r>
            <a:endParaRPr lang="en-US" sz="1200" dirty="0"/>
          </a:p>
        </p:txBody>
      </p:sp>
      <p:sp>
        <p:nvSpPr>
          <p:cNvPr id="5" name="Text 3"/>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Data: Teaching an Auditor Where Runs Go Wrong</a:t>
            </a:r>
            <a:endParaRPr lang="en-US" sz="3200" dirty="0"/>
          </a:p>
        </p:txBody>
      </p:sp>
      <p:sp>
        <p:nvSpPr>
          <p:cNvPr id="6" name="Text 4"/>
          <p:cNvSpPr/>
          <p:nvPr/>
        </p:nvSpPr>
        <p:spPr>
          <a:xfrm>
            <a:off x="508000" y="1026120"/>
            <a:ext cx="11511280" cy="393700"/>
          </a:xfrm>
          <a:prstGeom prst="rect">
            <a:avLst/>
          </a:prstGeom>
          <a:noFill/>
          <a:ln/>
        </p:spPr>
        <p:txBody>
          <a:bodyPr wrap="square" lIns="0" tIns="0" rIns="0" bIns="0" rtlCol="0" anchor="t">
            <a:normAutofit/>
          </a:bodyPr>
          <a:lstStyle/>
          <a:p>
            <a:pPr marL="0" indent="0" algn="l">
              <a:lnSpc>
                <a:spcPts val="2900"/>
              </a:lnSpc>
              <a:buNone/>
            </a:pPr>
            <a:r>
              <a:rPr lang="en-US" sz="2000" b="1" dirty="0">
                <a:solidFill>
                  <a:srgbClr val="000000"/>
                </a:solidFill>
                <a:latin typeface="Lato" pitchFamily="34" charset="0"/>
                <a:ea typeface="Lato" pitchFamily="34" charset="-122"/>
                <a:cs typeface="Lato" pitchFamily="34" charset="-120"/>
              </a:rPr>
              <a:t>Our data:</a:t>
            </a:r>
            <a:r>
              <a:rPr lang="en-US" sz="2000" dirty="0">
                <a:solidFill>
                  <a:srgbClr val="000000"/>
                </a:solidFill>
                <a:latin typeface="Lato" pitchFamily="34" charset="0"/>
                <a:ea typeface="Lato" pitchFamily="34" charset="-122"/>
                <a:cs typeface="Lato" pitchFamily="34" charset="-120"/>
              </a:rPr>
              <a:t> 2.3K multi-agent runs, </a:t>
            </a:r>
            <a:r>
              <a:rPr lang="en-US" sz="2000" u="sng" dirty="0">
                <a:solidFill>
                  <a:srgbClr val="C00000"/>
                </a:solidFill>
                <a:latin typeface="Lato" pitchFamily="34" charset="0"/>
                <a:ea typeface="Lato" pitchFamily="34" charset="-122"/>
                <a:cs typeface="Lato" pitchFamily="34" charset="-120"/>
              </a:rPr>
              <a:t>each failure marked at the step where it went wrong</a:t>
            </a:r>
            <a:endParaRPr lang="en-US" sz="2000" dirty="0"/>
          </a:p>
        </p:txBody>
      </p:sp>
      <p:pic>
        <p:nvPicPr>
          <p:cNvPr id="7" name="Image 0" descr="Corpus construction: successful runs pass a filtering pipeline; failed runs come from decisive error injection and from LLM-as-a-judge annotation with multi-judge voting"/>
          <p:cNvPicPr>
            <a:picLocks noChangeAspect="1"/>
          </p:cNvPicPr>
          <p:nvPr/>
        </p:nvPicPr>
        <p:blipFill>
          <a:blip r:embed="rId3"/>
          <a:srcRect l="-3" r="-3"/>
          <a:stretch/>
        </p:blipFill>
        <p:spPr>
          <a:xfrm>
            <a:off x="508000" y="1497310"/>
            <a:ext cx="6985000" cy="4648200"/>
          </a:xfrm>
          <a:prstGeom prst="rect">
            <a:avLst/>
          </a:prstGeom>
        </p:spPr>
      </p:pic>
      <p:sp>
        <p:nvSpPr>
          <p:cNvPr id="8" name="Shape 5"/>
          <p:cNvSpPr/>
          <p:nvPr/>
        </p:nvSpPr>
        <p:spPr>
          <a:xfrm>
            <a:off x="7797800" y="2531616"/>
            <a:ext cx="3886200" cy="1085155"/>
          </a:xfrm>
          <a:prstGeom prst="roundRect">
            <a:avLst>
              <a:gd name="adj" fmla="val 11703"/>
            </a:avLst>
          </a:prstGeom>
          <a:solidFill>
            <a:srgbClr val="E8EEF8"/>
          </a:solidFill>
          <a:ln/>
        </p:spPr>
        <p:txBody>
          <a:bodyPr/>
          <a:lstStyle/>
          <a:p>
            <a:endParaRPr lang="en-US"/>
          </a:p>
        </p:txBody>
      </p:sp>
      <p:sp>
        <p:nvSpPr>
          <p:cNvPr id="9" name="Text 6"/>
          <p:cNvSpPr/>
          <p:nvPr/>
        </p:nvSpPr>
        <p:spPr>
          <a:xfrm>
            <a:off x="7988300" y="2684016"/>
            <a:ext cx="361035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2F5597"/>
                </a:solidFill>
                <a:latin typeface="Lato" pitchFamily="34" charset="0"/>
                <a:ea typeface="Lato" pitchFamily="34" charset="-122"/>
                <a:cs typeface="Lato" pitchFamily="34" charset="-120"/>
              </a:rPr>
              <a:t>Safe runs</a:t>
            </a:r>
            <a:endParaRPr lang="en-US" sz="1500" dirty="0"/>
          </a:p>
        </p:txBody>
      </p:sp>
      <p:sp>
        <p:nvSpPr>
          <p:cNvPr id="10" name="Text 7"/>
          <p:cNvSpPr/>
          <p:nvPr/>
        </p:nvSpPr>
        <p:spPr>
          <a:xfrm>
            <a:off x="7988300" y="3001516"/>
            <a:ext cx="3610356" cy="488255"/>
          </a:xfrm>
          <a:prstGeom prst="rect">
            <a:avLst/>
          </a:prstGeom>
          <a:noFill/>
          <a:ln/>
        </p:spPr>
        <p:txBody>
          <a:bodyPr wrap="square" lIns="0" tIns="0" rIns="0" bIns="0" rtlCol="0" anchor="t">
            <a:normAutofit/>
          </a:bodyPr>
          <a:lstStyle/>
          <a:p>
            <a:pPr marL="0" indent="0" algn="l">
              <a:lnSpc>
                <a:spcPts val="1823"/>
              </a:lnSpc>
              <a:buNone/>
            </a:pPr>
            <a:r>
              <a:rPr lang="en-US" sz="1350" dirty="0">
                <a:solidFill>
                  <a:srgbClr val="000000"/>
                </a:solidFill>
                <a:latin typeface="Lato" pitchFamily="34" charset="0"/>
                <a:ea typeface="Lato" pitchFamily="34" charset="-122"/>
                <a:cs typeface="Lato" pitchFamily="34" charset="-120"/>
              </a:rPr>
              <a:t>three filters: outcome, tool validity, step coherence, every prefix labeled continue</a:t>
            </a:r>
            <a:endParaRPr lang="en-US" sz="1350" dirty="0"/>
          </a:p>
        </p:txBody>
      </p:sp>
      <p:sp>
        <p:nvSpPr>
          <p:cNvPr id="11" name="Shape 8"/>
          <p:cNvSpPr/>
          <p:nvPr/>
        </p:nvSpPr>
        <p:spPr>
          <a:xfrm>
            <a:off x="7797800" y="3794571"/>
            <a:ext cx="3886200" cy="1316583"/>
          </a:xfrm>
          <a:prstGeom prst="roundRect">
            <a:avLst>
              <a:gd name="adj" fmla="val 9646"/>
            </a:avLst>
          </a:prstGeom>
          <a:solidFill>
            <a:srgbClr val="FBE9EC"/>
          </a:solidFill>
          <a:ln/>
        </p:spPr>
        <p:txBody>
          <a:bodyPr/>
          <a:lstStyle/>
          <a:p>
            <a:endParaRPr lang="en-US"/>
          </a:p>
        </p:txBody>
      </p:sp>
      <p:sp>
        <p:nvSpPr>
          <p:cNvPr id="12" name="Text 9"/>
          <p:cNvSpPr/>
          <p:nvPr/>
        </p:nvSpPr>
        <p:spPr>
          <a:xfrm>
            <a:off x="7988300" y="3946971"/>
            <a:ext cx="361035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C00000"/>
                </a:solidFill>
                <a:latin typeface="Lato" pitchFamily="34" charset="0"/>
                <a:ea typeface="Lato" pitchFamily="34" charset="-122"/>
                <a:cs typeface="Lato" pitchFamily="34" charset="-120"/>
              </a:rPr>
              <a:t>Failed runs</a:t>
            </a:r>
            <a:endParaRPr lang="en-US" sz="1500" dirty="0"/>
          </a:p>
        </p:txBody>
      </p:sp>
      <p:sp>
        <p:nvSpPr>
          <p:cNvPr id="13" name="Text 10"/>
          <p:cNvSpPr/>
          <p:nvPr/>
        </p:nvSpPr>
        <p:spPr>
          <a:xfrm>
            <a:off x="7988300" y="4264471"/>
            <a:ext cx="3610356" cy="719683"/>
          </a:xfrm>
          <a:prstGeom prst="rect">
            <a:avLst/>
          </a:prstGeom>
          <a:noFill/>
          <a:ln/>
        </p:spPr>
        <p:txBody>
          <a:bodyPr wrap="square" lIns="0" tIns="0" rIns="0" bIns="0" rtlCol="0" anchor="t">
            <a:normAutofit/>
          </a:bodyPr>
          <a:lstStyle/>
          <a:p>
            <a:pPr marL="0" indent="0" algn="l">
              <a:lnSpc>
                <a:spcPts val="1823"/>
              </a:lnSpc>
              <a:buNone/>
            </a:pPr>
            <a:r>
              <a:rPr lang="en-US" sz="1350" dirty="0">
                <a:solidFill>
                  <a:srgbClr val="000000"/>
                </a:solidFill>
                <a:latin typeface="Lato" pitchFamily="34" charset="0"/>
                <a:ea typeface="Lato" pitchFamily="34" charset="-122"/>
                <a:cs typeface="Lato" pitchFamily="34" charset="-120"/>
              </a:rPr>
              <a:t>injected errors, plus natural failures located by multi-judge voting, each with one alarm step and one responsible agent</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4" name="Text 2"/>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25 / 33</a:t>
            </a:r>
            <a:endParaRPr lang="en-US" sz="1200" dirty="0"/>
          </a:p>
        </p:txBody>
      </p:sp>
      <p:sp>
        <p:nvSpPr>
          <p:cNvPr id="5" name="Text 3"/>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A 7B Auditor That Follows the Run Step by Step</a:t>
            </a:r>
            <a:endParaRPr lang="en-US" sz="3200" dirty="0"/>
          </a:p>
        </p:txBody>
      </p:sp>
      <p:sp>
        <p:nvSpPr>
          <p:cNvPr id="6" name="Text 4"/>
          <p:cNvSpPr/>
          <p:nvPr/>
        </p:nvSpPr>
        <p:spPr>
          <a:xfrm>
            <a:off x="508000" y="1026120"/>
            <a:ext cx="11511280" cy="393700"/>
          </a:xfrm>
          <a:prstGeom prst="rect">
            <a:avLst/>
          </a:prstGeom>
          <a:noFill/>
          <a:ln/>
        </p:spPr>
        <p:txBody>
          <a:bodyPr wrap="square" lIns="0" tIns="0" rIns="0" bIns="0" rtlCol="0" anchor="t">
            <a:normAutofit/>
          </a:bodyPr>
          <a:lstStyle/>
          <a:p>
            <a:pPr marL="0" indent="0" algn="l">
              <a:lnSpc>
                <a:spcPts val="2900"/>
              </a:lnSpc>
              <a:buNone/>
            </a:pPr>
            <a:r>
              <a:rPr lang="en-US" sz="2000" b="1" dirty="0">
                <a:solidFill>
                  <a:srgbClr val="000000"/>
                </a:solidFill>
                <a:latin typeface="Lato" pitchFamily="34" charset="0"/>
                <a:ea typeface="Lato" pitchFamily="34" charset="-122"/>
                <a:cs typeface="Lato" pitchFamily="34" charset="-120"/>
              </a:rPr>
              <a:t>Two stages:</a:t>
            </a:r>
            <a:r>
              <a:rPr lang="en-US" sz="2000" dirty="0">
                <a:solidFill>
                  <a:srgbClr val="000000"/>
                </a:solidFill>
                <a:latin typeface="Lato" pitchFamily="34" charset="0"/>
                <a:ea typeface="Lato" pitchFamily="34" charset="-122"/>
                <a:cs typeface="Lato" pitchFamily="34" charset="-120"/>
              </a:rPr>
              <a:t> Stage 1 learns when to alarm, Stage 2 learns </a:t>
            </a:r>
            <a:r>
              <a:rPr lang="en-US" sz="2000" u="sng" dirty="0">
                <a:solidFill>
                  <a:srgbClr val="C00000"/>
                </a:solidFill>
                <a:latin typeface="Lato" pitchFamily="34" charset="0"/>
                <a:ea typeface="Lato" pitchFamily="34" charset="-122"/>
                <a:cs typeface="Lato" pitchFamily="34" charset="-120"/>
              </a:rPr>
              <a:t>which step and which agent</a:t>
            </a:r>
            <a:endParaRPr lang="en-US" sz="2000" dirty="0"/>
          </a:p>
        </p:txBody>
      </p:sp>
      <p:sp>
        <p:nvSpPr>
          <p:cNvPr id="7" name="Shape 5"/>
          <p:cNvSpPr/>
          <p:nvPr/>
        </p:nvSpPr>
        <p:spPr>
          <a:xfrm>
            <a:off x="508000" y="1546820"/>
            <a:ext cx="4064000" cy="1332210"/>
          </a:xfrm>
          <a:prstGeom prst="roundRect">
            <a:avLst>
              <a:gd name="adj" fmla="val 9533"/>
            </a:avLst>
          </a:prstGeom>
          <a:solidFill>
            <a:srgbClr val="E8EEF8"/>
          </a:solidFill>
          <a:ln/>
        </p:spPr>
        <p:txBody>
          <a:bodyPr/>
          <a:lstStyle/>
          <a:p>
            <a:endParaRPr lang="en-US"/>
          </a:p>
        </p:txBody>
      </p:sp>
      <p:sp>
        <p:nvSpPr>
          <p:cNvPr id="8" name="Text 6"/>
          <p:cNvSpPr/>
          <p:nvPr/>
        </p:nvSpPr>
        <p:spPr>
          <a:xfrm>
            <a:off x="660400" y="1673820"/>
            <a:ext cx="3871976"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2F5597"/>
                </a:solidFill>
                <a:latin typeface="Lato" pitchFamily="34" charset="0"/>
                <a:ea typeface="Lato" pitchFamily="34" charset="-122"/>
                <a:cs typeface="Lato" pitchFamily="34" charset="-120"/>
              </a:rPr>
              <a:t>Stage 1: when to alarm</a:t>
            </a:r>
            <a:endParaRPr lang="en-US" sz="1350" dirty="0"/>
          </a:p>
        </p:txBody>
      </p:sp>
      <p:sp>
        <p:nvSpPr>
          <p:cNvPr id="9" name="Shape 7"/>
          <p:cNvSpPr/>
          <p:nvPr/>
        </p:nvSpPr>
        <p:spPr>
          <a:xfrm>
            <a:off x="660400" y="2002730"/>
            <a:ext cx="330200" cy="330200"/>
          </a:xfrm>
          <a:prstGeom prst="roundRect">
            <a:avLst>
              <a:gd name="adj" fmla="val 15385"/>
            </a:avLst>
          </a:prstGeom>
          <a:solidFill>
            <a:srgbClr val="9DB4D8"/>
          </a:solidFill>
          <a:ln/>
        </p:spPr>
        <p:txBody>
          <a:bodyPr/>
          <a:lstStyle/>
          <a:p>
            <a:endParaRPr lang="en-US"/>
          </a:p>
        </p:txBody>
      </p:sp>
      <p:sp>
        <p:nvSpPr>
          <p:cNvPr id="10" name="Shape 8"/>
          <p:cNvSpPr/>
          <p:nvPr/>
        </p:nvSpPr>
        <p:spPr>
          <a:xfrm>
            <a:off x="1054100" y="2002730"/>
            <a:ext cx="330200" cy="330200"/>
          </a:xfrm>
          <a:prstGeom prst="roundRect">
            <a:avLst>
              <a:gd name="adj" fmla="val 15385"/>
            </a:avLst>
          </a:prstGeom>
          <a:solidFill>
            <a:srgbClr val="9DB4D8"/>
          </a:solidFill>
          <a:ln/>
        </p:spPr>
        <p:txBody>
          <a:bodyPr/>
          <a:lstStyle/>
          <a:p>
            <a:endParaRPr lang="en-US"/>
          </a:p>
        </p:txBody>
      </p:sp>
      <p:sp>
        <p:nvSpPr>
          <p:cNvPr id="11" name="Shape 9"/>
          <p:cNvSpPr/>
          <p:nvPr/>
        </p:nvSpPr>
        <p:spPr>
          <a:xfrm>
            <a:off x="1447800" y="2002730"/>
            <a:ext cx="330200" cy="330200"/>
          </a:xfrm>
          <a:prstGeom prst="roundRect">
            <a:avLst>
              <a:gd name="adj" fmla="val 15385"/>
            </a:avLst>
          </a:prstGeom>
          <a:solidFill>
            <a:srgbClr val="9DB4D8"/>
          </a:solidFill>
          <a:ln/>
        </p:spPr>
        <p:txBody>
          <a:bodyPr/>
          <a:lstStyle/>
          <a:p>
            <a:endParaRPr lang="en-US"/>
          </a:p>
        </p:txBody>
      </p:sp>
      <p:sp>
        <p:nvSpPr>
          <p:cNvPr id="12" name="Shape 10"/>
          <p:cNvSpPr/>
          <p:nvPr/>
        </p:nvSpPr>
        <p:spPr>
          <a:xfrm>
            <a:off x="1841500" y="2002730"/>
            <a:ext cx="330200" cy="330200"/>
          </a:xfrm>
          <a:prstGeom prst="roundRect">
            <a:avLst>
              <a:gd name="adj" fmla="val 15385"/>
            </a:avLst>
          </a:prstGeom>
          <a:solidFill>
            <a:srgbClr val="9DB4D8"/>
          </a:solidFill>
          <a:ln/>
        </p:spPr>
        <p:txBody>
          <a:bodyPr/>
          <a:lstStyle/>
          <a:p>
            <a:endParaRPr lang="en-US"/>
          </a:p>
        </p:txBody>
      </p:sp>
      <p:sp>
        <p:nvSpPr>
          <p:cNvPr id="13" name="Shape 11"/>
          <p:cNvSpPr/>
          <p:nvPr/>
        </p:nvSpPr>
        <p:spPr>
          <a:xfrm>
            <a:off x="2241550" y="2009080"/>
            <a:ext cx="317500" cy="317500"/>
          </a:xfrm>
          <a:prstGeom prst="roundRect">
            <a:avLst>
              <a:gd name="adj" fmla="val 14000"/>
            </a:avLst>
          </a:prstGeom>
          <a:noFill/>
          <a:ln w="12700">
            <a:solidFill>
              <a:srgbClr val="9DB4D8"/>
            </a:solidFill>
            <a:prstDash val="dash"/>
          </a:ln>
        </p:spPr>
        <p:txBody>
          <a:bodyPr/>
          <a:lstStyle/>
          <a:p>
            <a:endParaRPr lang="en-US"/>
          </a:p>
        </p:txBody>
      </p:sp>
      <p:sp>
        <p:nvSpPr>
          <p:cNvPr id="14" name="Text 12"/>
          <p:cNvSpPr/>
          <p:nvPr/>
        </p:nvSpPr>
        <p:spPr>
          <a:xfrm>
            <a:off x="2717800" y="2052241"/>
            <a:ext cx="781288"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F5597"/>
                </a:solidFill>
                <a:latin typeface="Lato" pitchFamily="34" charset="0"/>
                <a:ea typeface="Lato" pitchFamily="34" charset="-122"/>
                <a:cs typeface="Lato" pitchFamily="34" charset="-120"/>
              </a:rPr>
              <a:t>continue</a:t>
            </a:r>
            <a:endParaRPr lang="en-US" sz="1300" dirty="0"/>
          </a:p>
        </p:txBody>
      </p:sp>
      <p:sp>
        <p:nvSpPr>
          <p:cNvPr id="15" name="Shape 13"/>
          <p:cNvSpPr/>
          <p:nvPr/>
        </p:nvSpPr>
        <p:spPr>
          <a:xfrm>
            <a:off x="660400" y="2421830"/>
            <a:ext cx="330200" cy="330200"/>
          </a:xfrm>
          <a:prstGeom prst="roundRect">
            <a:avLst>
              <a:gd name="adj" fmla="val 15385"/>
            </a:avLst>
          </a:prstGeom>
          <a:solidFill>
            <a:srgbClr val="9DB4D8"/>
          </a:solidFill>
          <a:ln/>
        </p:spPr>
        <p:txBody>
          <a:bodyPr/>
          <a:lstStyle/>
          <a:p>
            <a:endParaRPr lang="en-US"/>
          </a:p>
        </p:txBody>
      </p:sp>
      <p:sp>
        <p:nvSpPr>
          <p:cNvPr id="16" name="Shape 14"/>
          <p:cNvSpPr/>
          <p:nvPr/>
        </p:nvSpPr>
        <p:spPr>
          <a:xfrm>
            <a:off x="1054100" y="2421830"/>
            <a:ext cx="330200" cy="330200"/>
          </a:xfrm>
          <a:prstGeom prst="roundRect">
            <a:avLst>
              <a:gd name="adj" fmla="val 15385"/>
            </a:avLst>
          </a:prstGeom>
          <a:solidFill>
            <a:srgbClr val="9DB4D8"/>
          </a:solidFill>
          <a:ln/>
        </p:spPr>
        <p:txBody>
          <a:bodyPr/>
          <a:lstStyle/>
          <a:p>
            <a:endParaRPr lang="en-US"/>
          </a:p>
        </p:txBody>
      </p:sp>
      <p:sp>
        <p:nvSpPr>
          <p:cNvPr id="17" name="Shape 15"/>
          <p:cNvSpPr/>
          <p:nvPr/>
        </p:nvSpPr>
        <p:spPr>
          <a:xfrm>
            <a:off x="1447800" y="2421830"/>
            <a:ext cx="330200" cy="330200"/>
          </a:xfrm>
          <a:prstGeom prst="roundRect">
            <a:avLst>
              <a:gd name="adj" fmla="val 15385"/>
            </a:avLst>
          </a:prstGeom>
          <a:solidFill>
            <a:srgbClr val="9DB4D8"/>
          </a:solidFill>
          <a:ln/>
        </p:spPr>
        <p:txBody>
          <a:bodyPr/>
          <a:lstStyle/>
          <a:p>
            <a:endParaRPr lang="en-US"/>
          </a:p>
        </p:txBody>
      </p:sp>
      <p:sp>
        <p:nvSpPr>
          <p:cNvPr id="18" name="Shape 16"/>
          <p:cNvSpPr/>
          <p:nvPr/>
        </p:nvSpPr>
        <p:spPr>
          <a:xfrm>
            <a:off x="1841500" y="2421830"/>
            <a:ext cx="330200" cy="330200"/>
          </a:xfrm>
          <a:prstGeom prst="roundRect">
            <a:avLst>
              <a:gd name="adj" fmla="val 15385"/>
            </a:avLst>
          </a:prstGeom>
          <a:solidFill>
            <a:srgbClr val="9DB4D8"/>
          </a:solidFill>
          <a:ln/>
        </p:spPr>
        <p:txBody>
          <a:bodyPr/>
          <a:lstStyle/>
          <a:p>
            <a:endParaRPr lang="en-US"/>
          </a:p>
        </p:txBody>
      </p:sp>
      <p:sp>
        <p:nvSpPr>
          <p:cNvPr id="19" name="Shape 17"/>
          <p:cNvSpPr/>
          <p:nvPr/>
        </p:nvSpPr>
        <p:spPr>
          <a:xfrm>
            <a:off x="2235200" y="2421830"/>
            <a:ext cx="330200" cy="330200"/>
          </a:xfrm>
          <a:prstGeom prst="roundRect">
            <a:avLst>
              <a:gd name="adj" fmla="val 15385"/>
            </a:avLst>
          </a:prstGeom>
          <a:solidFill>
            <a:srgbClr val="C00000"/>
          </a:solidFill>
          <a:ln/>
        </p:spPr>
        <p:txBody>
          <a:bodyPr/>
          <a:lstStyle/>
          <a:p>
            <a:endParaRPr lang="en-US"/>
          </a:p>
        </p:txBody>
      </p:sp>
      <p:sp>
        <p:nvSpPr>
          <p:cNvPr id="20" name="Text 18"/>
          <p:cNvSpPr/>
          <p:nvPr/>
        </p:nvSpPr>
        <p:spPr>
          <a:xfrm>
            <a:off x="2717800" y="2471341"/>
            <a:ext cx="1294448"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C00000"/>
                </a:solidFill>
                <a:latin typeface="Lato" pitchFamily="34" charset="0"/>
                <a:ea typeface="Lato" pitchFamily="34" charset="-122"/>
                <a:cs typeface="Lato" pitchFamily="34" charset="-120"/>
              </a:rPr>
              <a:t>alarm at step k</a:t>
            </a:r>
            <a:endParaRPr lang="en-US" sz="1300" dirty="0"/>
          </a:p>
        </p:txBody>
      </p:sp>
      <p:sp>
        <p:nvSpPr>
          <p:cNvPr id="21" name="Shape 19"/>
          <p:cNvSpPr/>
          <p:nvPr/>
        </p:nvSpPr>
        <p:spPr>
          <a:xfrm>
            <a:off x="508000" y="2993330"/>
            <a:ext cx="4064000" cy="3128070"/>
          </a:xfrm>
          <a:prstGeom prst="roundRect">
            <a:avLst>
              <a:gd name="adj" fmla="val 4060"/>
            </a:avLst>
          </a:prstGeom>
          <a:solidFill>
            <a:srgbClr val="FBE9EC"/>
          </a:solidFill>
          <a:ln/>
        </p:spPr>
        <p:txBody>
          <a:bodyPr/>
          <a:lstStyle/>
          <a:p>
            <a:endParaRPr lang="en-US"/>
          </a:p>
        </p:txBody>
      </p:sp>
      <p:sp>
        <p:nvSpPr>
          <p:cNvPr id="22" name="Text 20"/>
          <p:cNvSpPr/>
          <p:nvPr/>
        </p:nvSpPr>
        <p:spPr>
          <a:xfrm>
            <a:off x="660400" y="3294360"/>
            <a:ext cx="3871976"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C00000"/>
                </a:solidFill>
                <a:latin typeface="Lato" pitchFamily="34" charset="0"/>
                <a:ea typeface="Lato" pitchFamily="34" charset="-122"/>
                <a:cs typeface="Lato" pitchFamily="34" charset="-120"/>
              </a:rPr>
              <a:t>Stage 2: which step, which agent</a:t>
            </a:r>
            <a:endParaRPr lang="en-US" sz="1350" dirty="0"/>
          </a:p>
        </p:txBody>
      </p:sp>
      <p:pic>
        <p:nvPicPr>
          <p:cNvPr id="23" name="Image 0" descr="Step reward as a bell curve over the alarm step: highest when the alarm lands on the true error step 4, lower one step later, near zero three steps later"/>
          <p:cNvPicPr>
            <a:picLocks noChangeAspect="1"/>
          </p:cNvPicPr>
          <p:nvPr/>
        </p:nvPicPr>
        <p:blipFill>
          <a:blip r:embed="rId3"/>
          <a:srcRect/>
          <a:stretch/>
        </p:blipFill>
        <p:spPr>
          <a:xfrm>
            <a:off x="660400" y="3585170"/>
            <a:ext cx="3759200" cy="1879600"/>
          </a:xfrm>
          <a:prstGeom prst="rect">
            <a:avLst/>
          </a:prstGeom>
        </p:spPr>
      </p:pic>
      <p:sp>
        <p:nvSpPr>
          <p:cNvPr id="24" name="Text 21"/>
          <p:cNvSpPr/>
          <p:nvPr/>
        </p:nvSpPr>
        <p:spPr>
          <a:xfrm>
            <a:off x="2578100" y="3801070"/>
            <a:ext cx="203200" cy="203200"/>
          </a:xfrm>
          <a:custGeom>
            <a:avLst/>
            <a:gdLst/>
            <a:ahLst/>
            <a:cxnLst/>
            <a:rect l="l" t="t" r="r" b="b"/>
            <a:pathLst>
              <a:path w="203200" h="203200">
                <a:moveTo>
                  <a:pt x="101600" y="0"/>
                </a:moveTo>
                <a:lnTo>
                  <a:pt x="101600" y="0"/>
                </a:lnTo>
                <a:arcTo wR="101600" hR="101600" stAng="16200000" swAng="5400000"/>
                <a:lnTo>
                  <a:pt x="203200" y="101600"/>
                </a:lnTo>
                <a:arcTo wR="101600" hR="101600" stAng="0" swAng="5400000"/>
                <a:lnTo>
                  <a:pt x="101600" y="203200"/>
                </a:lnTo>
                <a:arcTo wR="101600" hR="101600" stAng="5400000" swAng="5400000"/>
                <a:lnTo>
                  <a:pt x="0" y="101600"/>
                </a:lnTo>
                <a:arcTo wR="101600" hR="101600" stAng="10800000" swAng="5400000"/>
                <a:close/>
              </a:path>
            </a:pathLst>
          </a:custGeom>
          <a:solidFill>
            <a:srgbClr val="C00000"/>
          </a:solidFill>
          <a:ln/>
        </p:spPr>
        <p:txBody>
          <a:bodyPr wrap="square" lIns="0" tIns="0" rIns="0" bIns="0" rtlCol="0" anchor="ctr">
            <a:normAutofit/>
          </a:bodyPr>
          <a:lstStyle/>
          <a:p>
            <a:pPr marL="0" indent="0" algn="ctr">
              <a:lnSpc>
                <a:spcPts val="1100"/>
              </a:lnSpc>
              <a:buNone/>
            </a:pPr>
            <a:r>
              <a:rPr lang="en-US" sz="1100" b="1" dirty="0">
                <a:solidFill>
                  <a:srgbClr val="FFFFFF"/>
                </a:solidFill>
                <a:latin typeface="Lato" pitchFamily="34" charset="0"/>
                <a:ea typeface="Lato" pitchFamily="34" charset="-122"/>
                <a:cs typeface="Lato" pitchFamily="34" charset="-120"/>
              </a:rPr>
              <a:t>!</a:t>
            </a:r>
            <a:endParaRPr lang="en-US" sz="1100" dirty="0"/>
          </a:p>
        </p:txBody>
      </p:sp>
      <p:sp>
        <p:nvSpPr>
          <p:cNvPr id="25" name="Text 22"/>
          <p:cNvSpPr/>
          <p:nvPr/>
        </p:nvSpPr>
        <p:spPr>
          <a:xfrm>
            <a:off x="3060700" y="4156670"/>
            <a:ext cx="203200" cy="203200"/>
          </a:xfrm>
          <a:custGeom>
            <a:avLst/>
            <a:gdLst/>
            <a:ahLst/>
            <a:cxnLst/>
            <a:rect l="l" t="t" r="r" b="b"/>
            <a:pathLst>
              <a:path w="203200" h="203200">
                <a:moveTo>
                  <a:pt x="101600" y="0"/>
                </a:moveTo>
                <a:lnTo>
                  <a:pt x="101600" y="0"/>
                </a:lnTo>
                <a:arcTo wR="101600" hR="101600" stAng="16200000" swAng="5400000"/>
                <a:lnTo>
                  <a:pt x="203200" y="101600"/>
                </a:lnTo>
                <a:arcTo wR="101600" hR="101600" stAng="0" swAng="5400000"/>
                <a:lnTo>
                  <a:pt x="101600" y="203200"/>
                </a:lnTo>
                <a:arcTo wR="101600" hR="101600" stAng="5400000" swAng="5400000"/>
                <a:lnTo>
                  <a:pt x="0" y="101600"/>
                </a:lnTo>
                <a:arcTo wR="101600" hR="101600" stAng="10800000" swAng="5400000"/>
                <a:close/>
              </a:path>
            </a:pathLst>
          </a:custGeom>
          <a:solidFill>
            <a:srgbClr val="C00000"/>
          </a:solidFill>
          <a:ln/>
        </p:spPr>
        <p:txBody>
          <a:bodyPr wrap="square" lIns="0" tIns="0" rIns="0" bIns="0" rtlCol="0" anchor="ctr">
            <a:normAutofit/>
          </a:bodyPr>
          <a:lstStyle/>
          <a:p>
            <a:pPr marL="0" indent="0" algn="ctr">
              <a:lnSpc>
                <a:spcPts val="1100"/>
              </a:lnSpc>
              <a:buNone/>
            </a:pPr>
            <a:r>
              <a:rPr lang="en-US" sz="1100" b="1" dirty="0">
                <a:solidFill>
                  <a:srgbClr val="FFFFFF"/>
                </a:solidFill>
                <a:latin typeface="Lato" pitchFamily="34" charset="0"/>
                <a:ea typeface="Lato" pitchFamily="34" charset="-122"/>
                <a:cs typeface="Lato" pitchFamily="34" charset="-120"/>
              </a:rPr>
              <a:t>!</a:t>
            </a:r>
            <a:endParaRPr lang="en-US" sz="1100" dirty="0"/>
          </a:p>
        </p:txBody>
      </p:sp>
      <p:sp>
        <p:nvSpPr>
          <p:cNvPr id="26" name="Text 23"/>
          <p:cNvSpPr/>
          <p:nvPr/>
        </p:nvSpPr>
        <p:spPr>
          <a:xfrm>
            <a:off x="4025900" y="4956770"/>
            <a:ext cx="203200" cy="203200"/>
          </a:xfrm>
          <a:custGeom>
            <a:avLst/>
            <a:gdLst/>
            <a:ahLst/>
            <a:cxnLst/>
            <a:rect l="l" t="t" r="r" b="b"/>
            <a:pathLst>
              <a:path w="203200" h="203200">
                <a:moveTo>
                  <a:pt x="101600" y="0"/>
                </a:moveTo>
                <a:lnTo>
                  <a:pt x="101600" y="0"/>
                </a:lnTo>
                <a:arcTo wR="101600" hR="101600" stAng="16200000" swAng="5400000"/>
                <a:lnTo>
                  <a:pt x="203200" y="101600"/>
                </a:lnTo>
                <a:arcTo wR="101600" hR="101600" stAng="0" swAng="5400000"/>
                <a:lnTo>
                  <a:pt x="101600" y="203200"/>
                </a:lnTo>
                <a:arcTo wR="101600" hR="101600" stAng="5400000" swAng="5400000"/>
                <a:lnTo>
                  <a:pt x="0" y="101600"/>
                </a:lnTo>
                <a:arcTo wR="101600" hR="101600" stAng="10800000" swAng="5400000"/>
                <a:close/>
              </a:path>
            </a:pathLst>
          </a:custGeom>
          <a:solidFill>
            <a:srgbClr val="C00000"/>
          </a:solidFill>
          <a:ln/>
        </p:spPr>
        <p:txBody>
          <a:bodyPr wrap="square" lIns="0" tIns="0" rIns="0" bIns="0" rtlCol="0" anchor="ctr">
            <a:normAutofit/>
          </a:bodyPr>
          <a:lstStyle/>
          <a:p>
            <a:pPr marL="0" indent="0" algn="ctr">
              <a:lnSpc>
                <a:spcPts val="1100"/>
              </a:lnSpc>
              <a:buNone/>
            </a:pPr>
            <a:r>
              <a:rPr lang="en-US" sz="1100" b="1" dirty="0">
                <a:solidFill>
                  <a:srgbClr val="FFFFFF"/>
                </a:solidFill>
                <a:latin typeface="Lato" pitchFamily="34" charset="0"/>
                <a:ea typeface="Lato" pitchFamily="34" charset="-122"/>
                <a:cs typeface="Lato" pitchFamily="34" charset="-120"/>
              </a:rPr>
              <a:t>!</a:t>
            </a:r>
            <a:endParaRPr lang="en-US" sz="1100" dirty="0"/>
          </a:p>
        </p:txBody>
      </p:sp>
      <p:sp>
        <p:nvSpPr>
          <p:cNvPr id="27" name="Text 24"/>
          <p:cNvSpPr/>
          <p:nvPr/>
        </p:nvSpPr>
        <p:spPr>
          <a:xfrm>
            <a:off x="1231900" y="3585170"/>
            <a:ext cx="939800" cy="208260"/>
          </a:xfrm>
          <a:prstGeom prst="rect">
            <a:avLst/>
          </a:prstGeom>
          <a:noFill/>
          <a:ln/>
        </p:spPr>
        <p:txBody>
          <a:bodyPr wrap="none" lIns="0" tIns="0" rIns="0" bIns="0" rtlCol="0" anchor="t">
            <a:normAutofit/>
          </a:bodyPr>
          <a:lstStyle/>
          <a:p>
            <a:pPr marL="0" indent="0" algn="l">
              <a:lnSpc>
                <a:spcPts val="1440"/>
              </a:lnSpc>
              <a:buNone/>
            </a:pPr>
            <a:r>
              <a:rPr lang="en-US" sz="1200" b="1" dirty="0">
                <a:solidFill>
                  <a:srgbClr val="555555"/>
                </a:solidFill>
                <a:latin typeface="Lato" pitchFamily="34" charset="0"/>
                <a:ea typeface="Lato" pitchFamily="34" charset="-122"/>
                <a:cs typeface="Lato" pitchFamily="34" charset="-120"/>
              </a:rPr>
              <a:t>reward</a:t>
            </a:r>
            <a:endParaRPr lang="en-US" sz="1200" dirty="0"/>
          </a:p>
        </p:txBody>
      </p:sp>
      <p:sp>
        <p:nvSpPr>
          <p:cNvPr id="28" name="Text 25"/>
          <p:cNvSpPr/>
          <p:nvPr/>
        </p:nvSpPr>
        <p:spPr>
          <a:xfrm>
            <a:off x="2730500" y="3585170"/>
            <a:ext cx="1739900" cy="208260"/>
          </a:xfrm>
          <a:prstGeom prst="rect">
            <a:avLst/>
          </a:prstGeom>
          <a:noFill/>
          <a:ln/>
        </p:spPr>
        <p:txBody>
          <a:bodyPr wrap="none" lIns="0" tIns="0" rIns="0" bIns="0" rtlCol="0" anchor="t">
            <a:normAutofit/>
          </a:bodyPr>
          <a:lstStyle/>
          <a:p>
            <a:pPr marL="0" indent="0" algn="l">
              <a:lnSpc>
                <a:spcPts val="1440"/>
              </a:lnSpc>
              <a:buNone/>
            </a:pPr>
            <a:r>
              <a:rPr lang="en-US" sz="1200" b="1" dirty="0">
                <a:solidFill>
                  <a:srgbClr val="C00000"/>
                </a:solidFill>
                <a:latin typeface="Lato" pitchFamily="34" charset="0"/>
                <a:ea typeface="Lato" pitchFamily="34" charset="-122"/>
                <a:cs typeface="Lato" pitchFamily="34" charset="-120"/>
              </a:rPr>
              <a:t>true error step</a:t>
            </a:r>
            <a:endParaRPr lang="en-US" sz="1200" dirty="0"/>
          </a:p>
        </p:txBody>
      </p:sp>
      <p:sp>
        <p:nvSpPr>
          <p:cNvPr id="29" name="Text 26"/>
          <p:cNvSpPr/>
          <p:nvPr/>
        </p:nvSpPr>
        <p:spPr>
          <a:xfrm>
            <a:off x="1854200" y="3724870"/>
            <a:ext cx="685800" cy="208260"/>
          </a:xfrm>
          <a:prstGeom prst="rect">
            <a:avLst/>
          </a:prstGeom>
          <a:noFill/>
          <a:ln/>
        </p:spPr>
        <p:txBody>
          <a:bodyPr wrap="none" lIns="0" tIns="0" rIns="0" bIns="0" rtlCol="0" anchor="t">
            <a:normAutofit/>
          </a:bodyPr>
          <a:lstStyle/>
          <a:p>
            <a:pPr marL="0" indent="0" algn="r">
              <a:lnSpc>
                <a:spcPts val="1440"/>
              </a:lnSpc>
              <a:buNone/>
            </a:pPr>
            <a:r>
              <a:rPr lang="en-US" sz="1200" b="1" dirty="0">
                <a:solidFill>
                  <a:srgbClr val="C00000"/>
                </a:solidFill>
                <a:latin typeface="Lato" pitchFamily="34" charset="0"/>
                <a:ea typeface="Lato" pitchFamily="34" charset="-122"/>
                <a:cs typeface="Lato" pitchFamily="34" charset="-120"/>
              </a:rPr>
              <a:t>max</a:t>
            </a:r>
            <a:endParaRPr lang="en-US" sz="1200" dirty="0"/>
          </a:p>
        </p:txBody>
      </p:sp>
      <p:sp>
        <p:nvSpPr>
          <p:cNvPr id="30" name="Text 27"/>
          <p:cNvSpPr/>
          <p:nvPr/>
        </p:nvSpPr>
        <p:spPr>
          <a:xfrm>
            <a:off x="3302000" y="4169370"/>
            <a:ext cx="1003300" cy="208260"/>
          </a:xfrm>
          <a:prstGeom prst="rect">
            <a:avLst/>
          </a:prstGeom>
          <a:noFill/>
          <a:ln/>
        </p:spPr>
        <p:txBody>
          <a:bodyPr wrap="none" lIns="0" tIns="0" rIns="0" bIns="0" rtlCol="0" anchor="t">
            <a:normAutofit/>
          </a:bodyPr>
          <a:lstStyle/>
          <a:p>
            <a:pPr marL="0" indent="0" algn="l">
              <a:lnSpc>
                <a:spcPts val="1440"/>
              </a:lnSpc>
              <a:buNone/>
            </a:pPr>
            <a:r>
              <a:rPr lang="en-US" sz="1200" b="1" dirty="0">
                <a:solidFill>
                  <a:srgbClr val="C0505E"/>
                </a:solidFill>
                <a:latin typeface="Lato" pitchFamily="34" charset="0"/>
                <a:ea typeface="Lato" pitchFamily="34" charset="-122"/>
                <a:cs typeface="Lato" pitchFamily="34" charset="-120"/>
              </a:rPr>
              <a:t>less</a:t>
            </a:r>
            <a:endParaRPr lang="en-US" sz="1200" dirty="0"/>
          </a:p>
        </p:txBody>
      </p:sp>
      <p:sp>
        <p:nvSpPr>
          <p:cNvPr id="31" name="Text 28"/>
          <p:cNvSpPr/>
          <p:nvPr/>
        </p:nvSpPr>
        <p:spPr>
          <a:xfrm>
            <a:off x="3848100" y="4690070"/>
            <a:ext cx="558800" cy="208260"/>
          </a:xfrm>
          <a:prstGeom prst="rect">
            <a:avLst/>
          </a:prstGeom>
          <a:noFill/>
          <a:ln/>
        </p:spPr>
        <p:txBody>
          <a:bodyPr wrap="none" lIns="0" tIns="0" rIns="0" bIns="0" rtlCol="0" anchor="t">
            <a:normAutofit/>
          </a:bodyPr>
          <a:lstStyle/>
          <a:p>
            <a:pPr marL="0" indent="0" algn="ctr">
              <a:lnSpc>
                <a:spcPts val="1440"/>
              </a:lnSpc>
              <a:buNone/>
            </a:pPr>
            <a:r>
              <a:rPr lang="en-US" sz="1200" b="1" dirty="0">
                <a:solidFill>
                  <a:srgbClr val="555555"/>
                </a:solidFill>
                <a:latin typeface="Lato" pitchFamily="34" charset="0"/>
                <a:ea typeface="Lato" pitchFamily="34" charset="-122"/>
                <a:cs typeface="Lato" pitchFamily="34" charset="-120"/>
              </a:rPr>
              <a:t>≈ 0</a:t>
            </a:r>
            <a:endParaRPr lang="en-US" sz="1200" dirty="0"/>
          </a:p>
        </p:txBody>
      </p:sp>
      <p:sp>
        <p:nvSpPr>
          <p:cNvPr id="32" name="Text 29"/>
          <p:cNvSpPr/>
          <p:nvPr/>
        </p:nvSpPr>
        <p:spPr>
          <a:xfrm>
            <a:off x="1079500" y="5185370"/>
            <a:ext cx="304800" cy="208260"/>
          </a:xfrm>
          <a:prstGeom prst="rect">
            <a:avLst/>
          </a:prstGeom>
          <a:noFill/>
          <a:ln/>
        </p:spPr>
        <p:txBody>
          <a:bodyPr wrap="none" lIns="0" tIns="0" rIns="0" bIns="0" rtlCol="0" anchor="t">
            <a:normAutofit/>
          </a:bodyPr>
          <a:lstStyle/>
          <a:p>
            <a:pPr marL="0" indent="0" algn="ctr">
              <a:lnSpc>
                <a:spcPts val="1440"/>
              </a:lnSpc>
              <a:buNone/>
            </a:pPr>
            <a:r>
              <a:rPr lang="en-US" sz="1200" dirty="0">
                <a:solidFill>
                  <a:srgbClr val="555555"/>
                </a:solidFill>
                <a:latin typeface="Lato" pitchFamily="34" charset="0"/>
                <a:ea typeface="Lato" pitchFamily="34" charset="-122"/>
                <a:cs typeface="Lato" pitchFamily="34" charset="-120"/>
              </a:rPr>
              <a:t>1</a:t>
            </a:r>
            <a:endParaRPr lang="en-US" sz="1200" dirty="0"/>
          </a:p>
        </p:txBody>
      </p:sp>
      <p:sp>
        <p:nvSpPr>
          <p:cNvPr id="33" name="Text 30"/>
          <p:cNvSpPr/>
          <p:nvPr/>
        </p:nvSpPr>
        <p:spPr>
          <a:xfrm>
            <a:off x="1562100" y="5185370"/>
            <a:ext cx="304800" cy="208260"/>
          </a:xfrm>
          <a:prstGeom prst="rect">
            <a:avLst/>
          </a:prstGeom>
          <a:noFill/>
          <a:ln/>
        </p:spPr>
        <p:txBody>
          <a:bodyPr wrap="none" lIns="0" tIns="0" rIns="0" bIns="0" rtlCol="0" anchor="t">
            <a:normAutofit/>
          </a:bodyPr>
          <a:lstStyle/>
          <a:p>
            <a:pPr marL="0" indent="0" algn="ctr">
              <a:lnSpc>
                <a:spcPts val="1440"/>
              </a:lnSpc>
              <a:buNone/>
            </a:pPr>
            <a:r>
              <a:rPr lang="en-US" sz="1200" dirty="0">
                <a:solidFill>
                  <a:srgbClr val="555555"/>
                </a:solidFill>
                <a:latin typeface="Lato" pitchFamily="34" charset="0"/>
                <a:ea typeface="Lato" pitchFamily="34" charset="-122"/>
                <a:cs typeface="Lato" pitchFamily="34" charset="-120"/>
              </a:rPr>
              <a:t>2</a:t>
            </a:r>
            <a:endParaRPr lang="en-US" sz="1200" dirty="0"/>
          </a:p>
        </p:txBody>
      </p:sp>
      <p:sp>
        <p:nvSpPr>
          <p:cNvPr id="34" name="Text 31"/>
          <p:cNvSpPr/>
          <p:nvPr/>
        </p:nvSpPr>
        <p:spPr>
          <a:xfrm>
            <a:off x="2044700" y="5185370"/>
            <a:ext cx="304800" cy="208260"/>
          </a:xfrm>
          <a:prstGeom prst="rect">
            <a:avLst/>
          </a:prstGeom>
          <a:noFill/>
          <a:ln/>
        </p:spPr>
        <p:txBody>
          <a:bodyPr wrap="none" lIns="0" tIns="0" rIns="0" bIns="0" rtlCol="0" anchor="t">
            <a:normAutofit/>
          </a:bodyPr>
          <a:lstStyle/>
          <a:p>
            <a:pPr marL="0" indent="0" algn="ctr">
              <a:lnSpc>
                <a:spcPts val="1440"/>
              </a:lnSpc>
              <a:buNone/>
            </a:pPr>
            <a:r>
              <a:rPr lang="en-US" sz="1200" dirty="0">
                <a:solidFill>
                  <a:srgbClr val="555555"/>
                </a:solidFill>
                <a:latin typeface="Lato" pitchFamily="34" charset="0"/>
                <a:ea typeface="Lato" pitchFamily="34" charset="-122"/>
                <a:cs typeface="Lato" pitchFamily="34" charset="-120"/>
              </a:rPr>
              <a:t>3</a:t>
            </a:r>
            <a:endParaRPr lang="en-US" sz="1200" dirty="0"/>
          </a:p>
        </p:txBody>
      </p:sp>
      <p:sp>
        <p:nvSpPr>
          <p:cNvPr id="35" name="Text 32"/>
          <p:cNvSpPr/>
          <p:nvPr/>
        </p:nvSpPr>
        <p:spPr>
          <a:xfrm>
            <a:off x="2527300" y="5185370"/>
            <a:ext cx="304800" cy="208260"/>
          </a:xfrm>
          <a:prstGeom prst="rect">
            <a:avLst/>
          </a:prstGeom>
          <a:noFill/>
          <a:ln/>
        </p:spPr>
        <p:txBody>
          <a:bodyPr wrap="none" lIns="0" tIns="0" rIns="0" bIns="0" rtlCol="0" anchor="t">
            <a:normAutofit/>
          </a:bodyPr>
          <a:lstStyle/>
          <a:p>
            <a:pPr marL="0" indent="0" algn="ctr">
              <a:lnSpc>
                <a:spcPts val="1440"/>
              </a:lnSpc>
              <a:buNone/>
            </a:pPr>
            <a:r>
              <a:rPr lang="en-US" sz="1200" b="1" dirty="0">
                <a:solidFill>
                  <a:srgbClr val="C00000"/>
                </a:solidFill>
                <a:latin typeface="Lato" pitchFamily="34" charset="0"/>
                <a:ea typeface="Lato" pitchFamily="34" charset="-122"/>
                <a:cs typeface="Lato" pitchFamily="34" charset="-120"/>
              </a:rPr>
              <a:t>4</a:t>
            </a:r>
            <a:endParaRPr lang="en-US" sz="1200" dirty="0"/>
          </a:p>
        </p:txBody>
      </p:sp>
      <p:sp>
        <p:nvSpPr>
          <p:cNvPr id="36" name="Text 33"/>
          <p:cNvSpPr/>
          <p:nvPr/>
        </p:nvSpPr>
        <p:spPr>
          <a:xfrm>
            <a:off x="3009900" y="5185370"/>
            <a:ext cx="304800" cy="208260"/>
          </a:xfrm>
          <a:prstGeom prst="rect">
            <a:avLst/>
          </a:prstGeom>
          <a:noFill/>
          <a:ln/>
        </p:spPr>
        <p:txBody>
          <a:bodyPr wrap="none" lIns="0" tIns="0" rIns="0" bIns="0" rtlCol="0" anchor="t">
            <a:normAutofit/>
          </a:bodyPr>
          <a:lstStyle/>
          <a:p>
            <a:pPr marL="0" indent="0" algn="ctr">
              <a:lnSpc>
                <a:spcPts val="1440"/>
              </a:lnSpc>
              <a:buNone/>
            </a:pPr>
            <a:r>
              <a:rPr lang="en-US" sz="1200" dirty="0">
                <a:solidFill>
                  <a:srgbClr val="555555"/>
                </a:solidFill>
                <a:latin typeface="Lato" pitchFamily="34" charset="0"/>
                <a:ea typeface="Lato" pitchFamily="34" charset="-122"/>
                <a:cs typeface="Lato" pitchFamily="34" charset="-120"/>
              </a:rPr>
              <a:t>5</a:t>
            </a:r>
            <a:endParaRPr lang="en-US" sz="1200" dirty="0"/>
          </a:p>
        </p:txBody>
      </p:sp>
      <p:sp>
        <p:nvSpPr>
          <p:cNvPr id="37" name="Text 34"/>
          <p:cNvSpPr/>
          <p:nvPr/>
        </p:nvSpPr>
        <p:spPr>
          <a:xfrm>
            <a:off x="3492500" y="5185370"/>
            <a:ext cx="304800" cy="208260"/>
          </a:xfrm>
          <a:prstGeom prst="rect">
            <a:avLst/>
          </a:prstGeom>
          <a:noFill/>
          <a:ln/>
        </p:spPr>
        <p:txBody>
          <a:bodyPr wrap="none" lIns="0" tIns="0" rIns="0" bIns="0" rtlCol="0" anchor="t">
            <a:normAutofit/>
          </a:bodyPr>
          <a:lstStyle/>
          <a:p>
            <a:pPr marL="0" indent="0" algn="ctr">
              <a:lnSpc>
                <a:spcPts val="1440"/>
              </a:lnSpc>
              <a:buNone/>
            </a:pPr>
            <a:r>
              <a:rPr lang="en-US" sz="1200" dirty="0">
                <a:solidFill>
                  <a:srgbClr val="555555"/>
                </a:solidFill>
                <a:latin typeface="Lato" pitchFamily="34" charset="0"/>
                <a:ea typeface="Lato" pitchFamily="34" charset="-122"/>
                <a:cs typeface="Lato" pitchFamily="34" charset="-120"/>
              </a:rPr>
              <a:t>6</a:t>
            </a:r>
            <a:endParaRPr lang="en-US" sz="1200" dirty="0"/>
          </a:p>
        </p:txBody>
      </p:sp>
      <p:sp>
        <p:nvSpPr>
          <p:cNvPr id="38" name="Text 35"/>
          <p:cNvSpPr/>
          <p:nvPr/>
        </p:nvSpPr>
        <p:spPr>
          <a:xfrm>
            <a:off x="3975100" y="5185370"/>
            <a:ext cx="304800" cy="208260"/>
          </a:xfrm>
          <a:prstGeom prst="rect">
            <a:avLst/>
          </a:prstGeom>
          <a:noFill/>
          <a:ln/>
        </p:spPr>
        <p:txBody>
          <a:bodyPr wrap="none" lIns="0" tIns="0" rIns="0" bIns="0" rtlCol="0" anchor="t">
            <a:normAutofit/>
          </a:bodyPr>
          <a:lstStyle/>
          <a:p>
            <a:pPr marL="0" indent="0" algn="ctr">
              <a:lnSpc>
                <a:spcPts val="1440"/>
              </a:lnSpc>
              <a:buNone/>
            </a:pPr>
            <a:r>
              <a:rPr lang="en-US" sz="1200" dirty="0">
                <a:solidFill>
                  <a:srgbClr val="555555"/>
                </a:solidFill>
                <a:latin typeface="Lato" pitchFamily="34" charset="0"/>
                <a:ea typeface="Lato" pitchFamily="34" charset="-122"/>
                <a:cs typeface="Lato" pitchFamily="34" charset="-120"/>
              </a:rPr>
              <a:t>7</a:t>
            </a:r>
            <a:endParaRPr lang="en-US" sz="1200" dirty="0"/>
          </a:p>
        </p:txBody>
      </p:sp>
      <p:sp>
        <p:nvSpPr>
          <p:cNvPr id="39" name="Text 36"/>
          <p:cNvSpPr/>
          <p:nvPr/>
        </p:nvSpPr>
        <p:spPr>
          <a:xfrm>
            <a:off x="609600" y="5185370"/>
            <a:ext cx="469900" cy="208260"/>
          </a:xfrm>
          <a:prstGeom prst="rect">
            <a:avLst/>
          </a:prstGeom>
          <a:noFill/>
          <a:ln/>
        </p:spPr>
        <p:txBody>
          <a:bodyPr wrap="none" lIns="0" tIns="0" rIns="0" bIns="0" rtlCol="0" anchor="t">
            <a:normAutofit/>
          </a:bodyPr>
          <a:lstStyle/>
          <a:p>
            <a:pPr marL="0" indent="0" algn="r">
              <a:lnSpc>
                <a:spcPts val="1440"/>
              </a:lnSpc>
              <a:buNone/>
            </a:pPr>
            <a:r>
              <a:rPr lang="en-US" sz="1200" b="1" dirty="0">
                <a:solidFill>
                  <a:srgbClr val="555555"/>
                </a:solidFill>
                <a:latin typeface="Lato" pitchFamily="34" charset="0"/>
                <a:ea typeface="Lato" pitchFamily="34" charset="-122"/>
                <a:cs typeface="Lato" pitchFamily="34" charset="-120"/>
              </a:rPr>
              <a:t>step</a:t>
            </a:r>
            <a:endParaRPr lang="en-US" sz="1200" dirty="0"/>
          </a:p>
        </p:txBody>
      </p:sp>
      <p:pic>
        <p:nvPicPr>
          <p:cNvPr id="40" name="Image 1" descr="predicted agent"/>
          <p:cNvPicPr>
            <a:picLocks noChangeAspect="1"/>
          </p:cNvPicPr>
          <p:nvPr/>
        </p:nvPicPr>
        <p:blipFill>
          <a:blip r:embed="rId4"/>
          <a:srcRect/>
          <a:stretch/>
        </p:blipFill>
        <p:spPr>
          <a:xfrm>
            <a:off x="660400" y="5515570"/>
            <a:ext cx="304800" cy="304800"/>
          </a:xfrm>
          <a:prstGeom prst="rect">
            <a:avLst/>
          </a:prstGeom>
        </p:spPr>
      </p:pic>
      <p:sp>
        <p:nvSpPr>
          <p:cNvPr id="41" name="Text 37"/>
          <p:cNvSpPr/>
          <p:nvPr/>
        </p:nvSpPr>
        <p:spPr>
          <a:xfrm>
            <a:off x="1054100" y="5543500"/>
            <a:ext cx="15393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F5597"/>
                </a:solidFill>
                <a:latin typeface="Lato" pitchFamily="34" charset="0"/>
                <a:ea typeface="Lato" pitchFamily="34" charset="-122"/>
                <a:cs typeface="Lato" pitchFamily="34" charset="-120"/>
              </a:rPr>
              <a:t>=</a:t>
            </a:r>
            <a:endParaRPr lang="en-US" sz="1400" dirty="0"/>
          </a:p>
        </p:txBody>
      </p:sp>
      <p:pic>
        <p:nvPicPr>
          <p:cNvPr id="42" name="Image 2" descr="true agent"/>
          <p:cNvPicPr>
            <a:picLocks noChangeAspect="1"/>
          </p:cNvPicPr>
          <p:nvPr/>
        </p:nvPicPr>
        <p:blipFill>
          <a:blip r:embed="rId4"/>
          <a:srcRect/>
          <a:stretch/>
        </p:blipFill>
        <p:spPr>
          <a:xfrm>
            <a:off x="1246138" y="5515570"/>
            <a:ext cx="304800" cy="304800"/>
          </a:xfrm>
          <a:prstGeom prst="rect">
            <a:avLst/>
          </a:prstGeom>
        </p:spPr>
      </p:pic>
      <p:sp>
        <p:nvSpPr>
          <p:cNvPr id="43" name="Text 38"/>
          <p:cNvSpPr/>
          <p:nvPr/>
        </p:nvSpPr>
        <p:spPr>
          <a:xfrm>
            <a:off x="1703338" y="5561310"/>
            <a:ext cx="286866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F5597"/>
                </a:solidFill>
                <a:latin typeface="Lato" pitchFamily="34" charset="0"/>
                <a:ea typeface="Lato" pitchFamily="34" charset="-122"/>
                <a:cs typeface="Lato" pitchFamily="34" charset="-120"/>
              </a:rPr>
              <a:t>names the right agent: extra reward</a:t>
            </a:r>
            <a:endParaRPr lang="en-US" sz="1200" dirty="0"/>
          </a:p>
        </p:txBody>
      </p:sp>
      <p:sp>
        <p:nvSpPr>
          <p:cNvPr id="44" name="Shape 39"/>
          <p:cNvSpPr/>
          <p:nvPr/>
        </p:nvSpPr>
        <p:spPr>
          <a:xfrm>
            <a:off x="4800600" y="1546820"/>
            <a:ext cx="6883400" cy="2230140"/>
          </a:xfrm>
          <a:prstGeom prst="roundRect">
            <a:avLst>
              <a:gd name="adj" fmla="val 5695"/>
            </a:avLst>
          </a:prstGeom>
          <a:solidFill>
            <a:srgbClr val="E8EEF8"/>
          </a:solidFill>
          <a:ln/>
        </p:spPr>
        <p:txBody>
          <a:bodyPr/>
          <a:lstStyle/>
          <a:p>
            <a:endParaRPr lang="en-US"/>
          </a:p>
        </p:txBody>
      </p:sp>
      <p:sp>
        <p:nvSpPr>
          <p:cNvPr id="45" name="Text 40"/>
          <p:cNvSpPr/>
          <p:nvPr/>
        </p:nvSpPr>
        <p:spPr>
          <a:xfrm>
            <a:off x="4965700" y="1840508"/>
            <a:ext cx="6749796"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2F5597"/>
                </a:solidFill>
                <a:latin typeface="Lato" pitchFamily="34" charset="0"/>
                <a:ea typeface="Lato" pitchFamily="34" charset="-122"/>
                <a:cs typeface="Lato" pitchFamily="34" charset="-120"/>
              </a:rPr>
              <a:t>Stage 1: preference optimization on boundary pairs (DPO form)</a:t>
            </a:r>
            <a:endParaRPr lang="en-US" sz="1350" dirty="0"/>
          </a:p>
        </p:txBody>
      </p:sp>
      <p:sp>
        <p:nvSpPr>
          <p:cNvPr id="46" name="Text 41"/>
          <p:cNvSpPr/>
          <p:nvPr/>
        </p:nvSpPr>
        <p:spPr>
          <a:xfrm>
            <a:off x="4965700" y="2182118"/>
            <a:ext cx="6749796" cy="438150"/>
          </a:xfrm>
          <a:prstGeom prst="rect">
            <a:avLst/>
          </a:prstGeom>
          <a:noFill/>
          <a:ln/>
        </p:spPr>
        <p:txBody>
          <a:bodyPr wrap="square" lIns="0" tIns="0" rIns="0" bIns="0" rtlCol="0" anchor="t">
            <a:normAutofit/>
          </a:bodyPr>
          <a:lstStyle/>
          <a:p>
            <a:pPr marL="0" indent="0" algn="l">
              <a:lnSpc>
                <a:spcPts val="1625"/>
              </a:lnSpc>
              <a:buNone/>
            </a:pPr>
            <a:r>
              <a:rPr lang="en-US" sz="1250" b="1" dirty="0">
                <a:solidFill>
                  <a:srgbClr val="000000"/>
                </a:solidFill>
                <a:latin typeface="Lato" pitchFamily="34" charset="0"/>
                <a:ea typeface="Lato" pitchFamily="34" charset="-122"/>
                <a:cs typeface="Lato" pitchFamily="34" charset="-120"/>
              </a:rPr>
              <a:t>Does:</a:t>
            </a:r>
            <a:r>
              <a:rPr lang="en-US" sz="1250" dirty="0">
                <a:solidFill>
                  <a:srgbClr val="000000"/>
                </a:solidFill>
                <a:latin typeface="Lato" pitchFamily="34" charset="0"/>
                <a:ea typeface="Lato" pitchFamily="34" charset="-122"/>
                <a:cs typeface="Lato" pitchFamily="34" charset="-120"/>
              </a:rPr>
              <a:t> trains on two prefixes one step apart: continue before the error, alarm at it</a:t>
            </a:r>
            <a:endParaRPr lang="en-US" sz="1250" dirty="0"/>
          </a:p>
          <a:p>
            <a:pPr marL="0" indent="0" algn="l">
              <a:lnSpc>
                <a:spcPts val="1625"/>
              </a:lnSpc>
              <a:buNone/>
            </a:pPr>
            <a:r>
              <a:rPr lang="en-US" sz="1250" b="1" dirty="0">
                <a:solidFill>
                  <a:srgbClr val="000000"/>
                </a:solidFill>
                <a:latin typeface="Lato" pitchFamily="34" charset="0"/>
                <a:ea typeface="Lato" pitchFamily="34" charset="-122"/>
                <a:cs typeface="Lato" pitchFamily="34" charset="-120"/>
              </a:rPr>
              <a:t>Helps:</a:t>
            </a:r>
            <a:r>
              <a:rPr lang="en-US" sz="1250" dirty="0">
                <a:solidFill>
                  <a:srgbClr val="000000"/>
                </a:solidFill>
                <a:latin typeface="Lato" pitchFamily="34" charset="0"/>
                <a:ea typeface="Lato" pitchFamily="34" charset="-122"/>
                <a:cs typeface="Lato" pitchFamily="34" charset="-120"/>
              </a:rPr>
              <a:t> the alarm fires at the error, not too early and not too late</a:t>
            </a:r>
            <a:endParaRPr lang="en-US" sz="1250" dirty="0"/>
          </a:p>
        </p:txBody>
      </p:sp>
      <p:pic>
        <p:nvPicPr>
          <p:cNvPr id="47" name="Image 3" descr="BPPO loss: negative sum over the before-boundary and at-boundary sets of the expected log sigmoid of beta times the implicit reward margin between the optimal verdict and a rejected verdict"/>
          <p:cNvPicPr>
            <a:picLocks noChangeAspect="1"/>
          </p:cNvPicPr>
          <p:nvPr/>
        </p:nvPicPr>
        <p:blipFill>
          <a:blip r:embed="rId5"/>
          <a:srcRect t="-32" b="-32"/>
          <a:stretch/>
        </p:blipFill>
        <p:spPr>
          <a:xfrm>
            <a:off x="4965700" y="2696468"/>
            <a:ext cx="6604000" cy="495300"/>
          </a:xfrm>
          <a:prstGeom prst="rect">
            <a:avLst/>
          </a:prstGeom>
        </p:spPr>
      </p:pic>
      <p:sp>
        <p:nvSpPr>
          <p:cNvPr id="48" name="Text 42"/>
          <p:cNvSpPr/>
          <p:nvPr/>
        </p:nvSpPr>
        <p:spPr>
          <a:xfrm>
            <a:off x="4965700" y="3293368"/>
            <a:ext cx="2737594" cy="215255"/>
          </a:xfrm>
          <a:prstGeom prst="rect">
            <a:avLst/>
          </a:prstGeom>
          <a:noFill/>
          <a:ln/>
        </p:spPr>
        <p:txBody>
          <a:bodyPr wrap="square" lIns="0" tIns="0" rIns="0" bIns="0" rtlCol="0" anchor="t">
            <a:normAutofit/>
          </a:bodyPr>
          <a:lstStyle/>
          <a:p>
            <a:pPr marL="0" indent="0" algn="l">
              <a:lnSpc>
                <a:spcPts val="1495"/>
              </a:lnSpc>
              <a:buNone/>
            </a:pPr>
            <a:r>
              <a:rPr lang="en-US" sz="1150" b="1" dirty="0">
                <a:solidFill>
                  <a:srgbClr val="2F5597"/>
                </a:solidFill>
                <a:latin typeface="Lato" pitchFamily="34" charset="0"/>
                <a:ea typeface="Lato" pitchFamily="34" charset="-122"/>
                <a:cs typeface="Lato" pitchFamily="34" charset="-120"/>
              </a:rPr>
              <a:t>BS:</a:t>
            </a:r>
            <a:r>
              <a:rPr lang="en-US" sz="1150" dirty="0">
                <a:solidFill>
                  <a:srgbClr val="2F5597"/>
                </a:solidFill>
                <a:latin typeface="Lato" pitchFamily="34" charset="0"/>
                <a:ea typeface="Lato" pitchFamily="34" charset="-122"/>
                <a:cs typeface="Lato" pitchFamily="34" charset="-120"/>
              </a:rPr>
              <a:t> before the boundary, v* = continue</a:t>
            </a:r>
            <a:endParaRPr lang="en-US" sz="1150" dirty="0"/>
          </a:p>
        </p:txBody>
      </p:sp>
      <p:sp>
        <p:nvSpPr>
          <p:cNvPr id="49" name="Text 43"/>
          <p:cNvSpPr/>
          <p:nvPr/>
        </p:nvSpPr>
        <p:spPr>
          <a:xfrm>
            <a:off x="7703294" y="3293368"/>
            <a:ext cx="2648248" cy="215255"/>
          </a:xfrm>
          <a:prstGeom prst="rect">
            <a:avLst/>
          </a:prstGeom>
          <a:noFill/>
          <a:ln/>
        </p:spPr>
        <p:txBody>
          <a:bodyPr wrap="square" lIns="0" tIns="0" rIns="0" bIns="0" rtlCol="0" anchor="t">
            <a:normAutofit/>
          </a:bodyPr>
          <a:lstStyle/>
          <a:p>
            <a:pPr marL="0" indent="0" algn="l">
              <a:lnSpc>
                <a:spcPts val="1495"/>
              </a:lnSpc>
              <a:buNone/>
            </a:pPr>
            <a:r>
              <a:rPr lang="en-US" sz="1150" b="1" dirty="0">
                <a:solidFill>
                  <a:srgbClr val="C00000"/>
                </a:solidFill>
                <a:latin typeface="Lato" pitchFamily="34" charset="0"/>
                <a:ea typeface="Lato" pitchFamily="34" charset="-122"/>
                <a:cs typeface="Lato" pitchFamily="34" charset="-120"/>
              </a:rPr>
              <a:t>BE:</a:t>
            </a:r>
            <a:r>
              <a:rPr lang="en-US" sz="1150" dirty="0">
                <a:solidFill>
                  <a:srgbClr val="C00000"/>
                </a:solidFill>
                <a:latin typeface="Lato" pitchFamily="34" charset="0"/>
                <a:ea typeface="Lato" pitchFamily="34" charset="-122"/>
                <a:cs typeface="Lato" pitchFamily="34" charset="-120"/>
              </a:rPr>
              <a:t> at the boundary, v* = alarm at k</a:t>
            </a:r>
            <a:endParaRPr lang="en-US" sz="1150" dirty="0"/>
          </a:p>
        </p:txBody>
      </p:sp>
      <p:sp>
        <p:nvSpPr>
          <p:cNvPr id="50" name="Shape 44"/>
          <p:cNvSpPr/>
          <p:nvPr/>
        </p:nvSpPr>
        <p:spPr>
          <a:xfrm>
            <a:off x="4800600" y="3891260"/>
            <a:ext cx="6883400" cy="2230140"/>
          </a:xfrm>
          <a:prstGeom prst="roundRect">
            <a:avLst>
              <a:gd name="adj" fmla="val 5695"/>
            </a:avLst>
          </a:prstGeom>
          <a:solidFill>
            <a:srgbClr val="FBE9EC"/>
          </a:solidFill>
          <a:ln/>
        </p:spPr>
        <p:txBody>
          <a:bodyPr/>
          <a:lstStyle/>
          <a:p>
            <a:endParaRPr lang="en-US"/>
          </a:p>
        </p:txBody>
      </p:sp>
      <p:sp>
        <p:nvSpPr>
          <p:cNvPr id="51" name="Text 45"/>
          <p:cNvSpPr/>
          <p:nvPr/>
        </p:nvSpPr>
        <p:spPr>
          <a:xfrm>
            <a:off x="4965700" y="4054773"/>
            <a:ext cx="6749796"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C00000"/>
                </a:solidFill>
                <a:latin typeface="Lato" pitchFamily="34" charset="0"/>
                <a:ea typeface="Lato" pitchFamily="34" charset="-122"/>
                <a:cs typeface="Lato" pitchFamily="34" charset="-120"/>
              </a:rPr>
              <a:t>Stage 2: three-axis reward, optimized with GRPO</a:t>
            </a:r>
            <a:endParaRPr lang="en-US" sz="1350" dirty="0"/>
          </a:p>
        </p:txBody>
      </p:sp>
      <p:sp>
        <p:nvSpPr>
          <p:cNvPr id="52" name="Text 46"/>
          <p:cNvSpPr/>
          <p:nvPr/>
        </p:nvSpPr>
        <p:spPr>
          <a:xfrm>
            <a:off x="4965700" y="4396383"/>
            <a:ext cx="6749796" cy="438150"/>
          </a:xfrm>
          <a:prstGeom prst="rect">
            <a:avLst/>
          </a:prstGeom>
          <a:noFill/>
          <a:ln/>
        </p:spPr>
        <p:txBody>
          <a:bodyPr wrap="square" lIns="0" tIns="0" rIns="0" bIns="0" rtlCol="0" anchor="t">
            <a:normAutofit/>
          </a:bodyPr>
          <a:lstStyle/>
          <a:p>
            <a:pPr marL="0" indent="0" algn="l">
              <a:lnSpc>
                <a:spcPts val="1625"/>
              </a:lnSpc>
              <a:buNone/>
            </a:pPr>
            <a:r>
              <a:rPr lang="en-US" sz="1250" b="1" dirty="0">
                <a:solidFill>
                  <a:srgbClr val="000000"/>
                </a:solidFill>
                <a:latin typeface="Lato" pitchFamily="34" charset="0"/>
                <a:ea typeface="Lato" pitchFamily="34" charset="-122"/>
                <a:cs typeface="Lato" pitchFamily="34" charset="-120"/>
              </a:rPr>
              <a:t>Does:</a:t>
            </a:r>
            <a:r>
              <a:rPr lang="en-US" sz="1250" dirty="0">
                <a:solidFill>
                  <a:srgbClr val="000000"/>
                </a:solidFill>
                <a:latin typeface="Lato" pitchFamily="34" charset="0"/>
                <a:ea typeface="Lato" pitchFamily="34" charset="-122"/>
                <a:cs typeface="Lato" pitchFamily="34" charset="-120"/>
              </a:rPr>
              <a:t> RL rewards a valid answer, an alarm close to the true step, and the right agent</a:t>
            </a:r>
            <a:endParaRPr lang="en-US" sz="1250" dirty="0"/>
          </a:p>
          <a:p>
            <a:pPr marL="0" indent="0" algn="l">
              <a:lnSpc>
                <a:spcPts val="1625"/>
              </a:lnSpc>
              <a:buNone/>
            </a:pPr>
            <a:r>
              <a:rPr lang="en-US" sz="1250" b="1" dirty="0">
                <a:solidFill>
                  <a:srgbClr val="000000"/>
                </a:solidFill>
                <a:latin typeface="Lato" pitchFamily="34" charset="0"/>
                <a:ea typeface="Lato" pitchFamily="34" charset="-122"/>
                <a:cs typeface="Lato" pitchFamily="34" charset="-120"/>
              </a:rPr>
              <a:t>Helps:</a:t>
            </a:r>
            <a:r>
              <a:rPr lang="en-US" sz="1250" dirty="0">
                <a:solidFill>
                  <a:srgbClr val="000000"/>
                </a:solidFill>
                <a:latin typeface="Lato" pitchFamily="34" charset="0"/>
                <a:ea typeface="Lato" pitchFamily="34" charset="-122"/>
                <a:cs typeface="Lato" pitchFamily="34" charset="-120"/>
              </a:rPr>
              <a:t> pinpoints which step went wrong and which agent caused it</a:t>
            </a:r>
            <a:endParaRPr lang="en-US" sz="1250" dirty="0"/>
          </a:p>
        </p:txBody>
      </p:sp>
      <p:pic>
        <p:nvPicPr>
          <p:cNvPr id="53" name="Image 4" descr="Reward: a format gate times a weighted sum of the step reward and the agent reward, minus a penalty when the format gate fails; the step reward is a Gaussian in the distance between predicted and true step"/>
          <p:cNvPicPr>
            <a:picLocks noChangeAspect="1"/>
          </p:cNvPicPr>
          <p:nvPr/>
        </p:nvPicPr>
        <p:blipFill>
          <a:blip r:embed="rId6"/>
          <a:srcRect l="-380" r="-380"/>
          <a:stretch/>
        </p:blipFill>
        <p:spPr>
          <a:xfrm>
            <a:off x="4965700" y="4910733"/>
            <a:ext cx="6604000" cy="342900"/>
          </a:xfrm>
          <a:prstGeom prst="rect">
            <a:avLst/>
          </a:prstGeom>
        </p:spPr>
      </p:pic>
      <p:sp>
        <p:nvSpPr>
          <p:cNvPr id="54" name="Text 47"/>
          <p:cNvSpPr/>
          <p:nvPr/>
        </p:nvSpPr>
        <p:spPr>
          <a:xfrm>
            <a:off x="4965700" y="5355233"/>
            <a:ext cx="1947416" cy="215255"/>
          </a:xfrm>
          <a:prstGeom prst="rect">
            <a:avLst/>
          </a:prstGeom>
          <a:noFill/>
          <a:ln/>
        </p:spPr>
        <p:txBody>
          <a:bodyPr wrap="square" lIns="0" tIns="0" rIns="0" bIns="0" rtlCol="0" anchor="t">
            <a:normAutofit/>
          </a:bodyPr>
          <a:lstStyle/>
          <a:p>
            <a:pPr marL="0" indent="0" algn="l">
              <a:lnSpc>
                <a:spcPts val="1495"/>
              </a:lnSpc>
              <a:buNone/>
            </a:pPr>
            <a:r>
              <a:rPr lang="en-US" sz="1150" b="1" dirty="0">
                <a:solidFill>
                  <a:srgbClr val="000000"/>
                </a:solidFill>
                <a:latin typeface="Lato" pitchFamily="34" charset="0"/>
                <a:ea typeface="Lato" pitchFamily="34" charset="-122"/>
                <a:cs typeface="Lato" pitchFamily="34" charset="-120"/>
              </a:rPr>
              <a:t>What:</a:t>
            </a:r>
            <a:r>
              <a:rPr lang="en-US" sz="1150" dirty="0">
                <a:solidFill>
                  <a:srgbClr val="000000"/>
                </a:solidFill>
                <a:latin typeface="Lato" pitchFamily="34" charset="0"/>
                <a:ea typeface="Lato" pitchFamily="34" charset="-122"/>
                <a:cs typeface="Lato" pitchFamily="34" charset="-120"/>
              </a:rPr>
              <a:t> gate G, valid verdict</a:t>
            </a:r>
            <a:endParaRPr lang="en-US" sz="1150" dirty="0"/>
          </a:p>
        </p:txBody>
      </p:sp>
      <p:sp>
        <p:nvSpPr>
          <p:cNvPr id="55" name="Text 48"/>
          <p:cNvSpPr/>
          <p:nvPr/>
        </p:nvSpPr>
        <p:spPr>
          <a:xfrm>
            <a:off x="6913116" y="5355233"/>
            <a:ext cx="2609900" cy="215255"/>
          </a:xfrm>
          <a:prstGeom prst="rect">
            <a:avLst/>
          </a:prstGeom>
          <a:noFill/>
          <a:ln/>
        </p:spPr>
        <p:txBody>
          <a:bodyPr wrap="square" lIns="0" tIns="0" rIns="0" bIns="0" rtlCol="0" anchor="t">
            <a:normAutofit/>
          </a:bodyPr>
          <a:lstStyle/>
          <a:p>
            <a:pPr marL="0" indent="0" algn="l">
              <a:lnSpc>
                <a:spcPts val="1495"/>
              </a:lnSpc>
              <a:buNone/>
            </a:pPr>
            <a:r>
              <a:rPr lang="en-US" sz="1150" b="1" dirty="0">
                <a:solidFill>
                  <a:srgbClr val="2F5597"/>
                </a:solidFill>
                <a:latin typeface="Lato" pitchFamily="34" charset="0"/>
                <a:ea typeface="Lato" pitchFamily="34" charset="-122"/>
                <a:cs typeface="Lato" pitchFamily="34" charset="-120"/>
              </a:rPr>
              <a:t>Where:</a:t>
            </a:r>
            <a:r>
              <a:rPr lang="en-US" sz="1150" dirty="0">
                <a:solidFill>
                  <a:srgbClr val="2F5597"/>
                </a:solidFill>
                <a:latin typeface="Lato" pitchFamily="34" charset="0"/>
                <a:ea typeface="Lato" pitchFamily="34" charset="-122"/>
                <a:cs typeface="Lato" pitchFamily="34" charset="-120"/>
              </a:rPr>
              <a:t> Gaussian in the step distance</a:t>
            </a:r>
            <a:endParaRPr lang="en-US" sz="1150" dirty="0"/>
          </a:p>
        </p:txBody>
      </p:sp>
      <p:sp>
        <p:nvSpPr>
          <p:cNvPr id="56" name="Text 49"/>
          <p:cNvSpPr/>
          <p:nvPr/>
        </p:nvSpPr>
        <p:spPr>
          <a:xfrm>
            <a:off x="9523016" y="5355233"/>
            <a:ext cx="1407319" cy="215255"/>
          </a:xfrm>
          <a:prstGeom prst="rect">
            <a:avLst/>
          </a:prstGeom>
          <a:noFill/>
          <a:ln/>
        </p:spPr>
        <p:txBody>
          <a:bodyPr wrap="square" lIns="0" tIns="0" rIns="0" bIns="0" rtlCol="0" anchor="t">
            <a:normAutofit/>
          </a:bodyPr>
          <a:lstStyle/>
          <a:p>
            <a:pPr marL="0" indent="0" algn="l">
              <a:lnSpc>
                <a:spcPts val="1495"/>
              </a:lnSpc>
              <a:buNone/>
            </a:pPr>
            <a:r>
              <a:rPr lang="en-US" sz="1150" b="1" dirty="0">
                <a:solidFill>
                  <a:srgbClr val="C00000"/>
                </a:solidFill>
                <a:latin typeface="Lato" pitchFamily="34" charset="0"/>
                <a:ea typeface="Lato" pitchFamily="34" charset="-122"/>
                <a:cs typeface="Lato" pitchFamily="34" charset="-120"/>
              </a:rPr>
              <a:t>Who:</a:t>
            </a:r>
            <a:r>
              <a:rPr lang="en-US" sz="1150" dirty="0">
                <a:solidFill>
                  <a:srgbClr val="C00000"/>
                </a:solidFill>
                <a:latin typeface="Lato" pitchFamily="34" charset="0"/>
                <a:ea typeface="Lato" pitchFamily="34" charset="-122"/>
                <a:cs typeface="Lato" pitchFamily="34" charset="-120"/>
              </a:rPr>
              <a:t> agent match</a:t>
            </a:r>
            <a:endParaRPr lang="en-US" sz="1150" dirty="0"/>
          </a:p>
        </p:txBody>
      </p:sp>
      <p:pic>
        <p:nvPicPr>
          <p:cNvPr id="57" name="Image 5" descr="GRPO objective with clipped importance ratio and a KL penalty toward the Stage 1 checkpoint"/>
          <p:cNvPicPr>
            <a:picLocks noChangeAspect="1"/>
          </p:cNvPicPr>
          <p:nvPr/>
        </p:nvPicPr>
        <p:blipFill>
          <a:blip r:embed="rId7"/>
          <a:srcRect t="-92" b="-92"/>
          <a:stretch/>
        </p:blipFill>
        <p:spPr>
          <a:xfrm>
            <a:off x="4965700" y="5646688"/>
            <a:ext cx="6096000" cy="31115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4" name="Text 2"/>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26 / 33</a:t>
            </a:r>
            <a:endParaRPr lang="en-US" sz="1200" dirty="0"/>
          </a:p>
        </p:txBody>
      </p:sp>
      <p:sp>
        <p:nvSpPr>
          <p:cNvPr id="5" name="Text 3"/>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Results: A Trained 7B Auditor Beats Strong General Models</a:t>
            </a:r>
            <a:endParaRPr lang="en-US" sz="3200" dirty="0"/>
          </a:p>
        </p:txBody>
      </p:sp>
      <p:sp>
        <p:nvSpPr>
          <p:cNvPr id="6" name="Text 4"/>
          <p:cNvSpPr/>
          <p:nvPr/>
        </p:nvSpPr>
        <p:spPr>
          <a:xfrm>
            <a:off x="508000" y="1026120"/>
            <a:ext cx="11511280" cy="355600"/>
          </a:xfrm>
          <a:prstGeom prst="rect">
            <a:avLst/>
          </a:prstGeom>
          <a:noFill/>
          <a:ln/>
        </p:spPr>
        <p:txBody>
          <a:bodyPr wrap="square" lIns="0" tIns="0" rIns="0" bIns="0" rtlCol="0" anchor="t">
            <a:normAutofit/>
          </a:bodyPr>
          <a:lstStyle/>
          <a:p>
            <a:pPr marL="0" indent="0" algn="l">
              <a:lnSpc>
                <a:spcPts val="2600"/>
              </a:lnSpc>
              <a:buNone/>
            </a:pPr>
            <a:r>
              <a:rPr lang="en-US" sz="2000" b="1" dirty="0">
                <a:solidFill>
                  <a:srgbClr val="000000"/>
                </a:solidFill>
                <a:latin typeface="Lato" pitchFamily="34" charset="0"/>
                <a:ea typeface="Lato" pitchFamily="34" charset="-122"/>
                <a:cs typeface="Lato" pitchFamily="34" charset="-120"/>
              </a:rPr>
              <a:t>Result:</a:t>
            </a:r>
            <a:r>
              <a:rPr lang="en-US" sz="2000" dirty="0">
                <a:solidFill>
                  <a:srgbClr val="000000"/>
                </a:solidFill>
                <a:latin typeface="Lato" pitchFamily="34" charset="0"/>
                <a:ea typeface="Lato" pitchFamily="34" charset="-122"/>
                <a:cs typeface="Lato" pitchFamily="34" charset="-120"/>
              </a:rPr>
              <a:t> it finds the failing step and agent </a:t>
            </a:r>
            <a:r>
              <a:rPr lang="en-US" sz="2000" u="sng" dirty="0">
                <a:solidFill>
                  <a:srgbClr val="C00000"/>
                </a:solidFill>
                <a:latin typeface="Lato" pitchFamily="34" charset="0"/>
                <a:ea typeface="Lato" pitchFamily="34" charset="-122"/>
                <a:cs typeface="Lato" pitchFamily="34" charset="-120"/>
              </a:rPr>
              <a:t>far more often than larger models</a:t>
            </a:r>
            <a:endParaRPr lang="en-US" sz="2000" dirty="0"/>
          </a:p>
        </p:txBody>
      </p:sp>
      <p:sp>
        <p:nvSpPr>
          <p:cNvPr id="7" name="Text 5"/>
          <p:cNvSpPr/>
          <p:nvPr/>
        </p:nvSpPr>
        <p:spPr>
          <a:xfrm>
            <a:off x="508000" y="1381720"/>
            <a:ext cx="1151128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000000"/>
                </a:solidFill>
                <a:latin typeface="Lato" pitchFamily="34" charset="0"/>
                <a:ea typeface="Lato" pitchFamily="34" charset="-122"/>
                <a:cs typeface="Lato" pitchFamily="34" charset="-120"/>
              </a:rPr>
              <a:t>The only auditor inside the deployable region: 2.4% false alarms, 59.5% step accuracy</a:t>
            </a:r>
            <a:endParaRPr lang="en-US" sz="2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20700" y="2207220"/>
          <a:ext cx="5829300" cy="3751510"/>
        </p:xfrm>
        <a:graphic>
          <a:graphicData uri="http://schemas.openxmlformats.org/drawingml/2006/table">
            <a:tbl>
              <a:tblPr/>
              <a:tblGrid>
                <a:gridCol w="2564892">
                  <a:extLst>
                    <a:ext uri="{9D8B030D-6E8A-4147-A177-3AD203B41FA5}">
                      <a16:colId xmlns:a16="http://schemas.microsoft.com/office/drawing/2014/main" val="20000"/>
                    </a:ext>
                  </a:extLst>
                </a:gridCol>
                <a:gridCol w="1632204">
                  <a:extLst>
                    <a:ext uri="{9D8B030D-6E8A-4147-A177-3AD203B41FA5}">
                      <a16:colId xmlns:a16="http://schemas.microsoft.com/office/drawing/2014/main" val="20001"/>
                    </a:ext>
                  </a:extLst>
                </a:gridCol>
                <a:gridCol w="1632204">
                  <a:extLst>
                    <a:ext uri="{9D8B030D-6E8A-4147-A177-3AD203B41FA5}">
                      <a16:colId xmlns:a16="http://schemas.microsoft.com/office/drawing/2014/main" val="20002"/>
                    </a:ext>
                  </a:extLst>
                </a:gridCol>
              </a:tblGrid>
              <a:tr h="535930">
                <a:tc>
                  <a:txBody>
                    <a:bodyPr/>
                    <a:lstStyle/>
                    <a:p>
                      <a:pPr marL="0" indent="0">
                        <a:lnSpc>
                          <a:spcPts val="2520"/>
                        </a:lnSpc>
                        <a:buNone/>
                      </a:pPr>
                      <a:r>
                        <a:rPr lang="en-US" sz="1800" b="1" dirty="0">
                          <a:solidFill>
                            <a:srgbClr val="000000"/>
                          </a:solidFill>
                          <a:latin typeface="Lato" pitchFamily="34" charset="0"/>
                          <a:ea typeface="Lato" pitchFamily="34" charset="-122"/>
                          <a:cs typeface="Lato" pitchFamily="34" charset="-120"/>
                        </a:rPr>
                        <a:t>Auditor</a:t>
                      </a:r>
                      <a:endParaRPr lang="en-US" sz="1800" dirty="0">
                        <a:latin typeface="Lato" charset="0"/>
                        <a:ea typeface="Lato" charset="0"/>
                        <a:cs typeface="Lato" charset="0"/>
                      </a:endParaRPr>
                    </a:p>
                  </a:txBody>
                  <a:tcPr marL="101600" marR="101600" marT="101600" marB="101600">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r">
                        <a:lnSpc>
                          <a:spcPts val="2520"/>
                        </a:lnSpc>
                        <a:buNone/>
                      </a:pPr>
                      <a:r>
                        <a:rPr lang="en-US" sz="1800" b="1" dirty="0">
                          <a:solidFill>
                            <a:srgbClr val="000000"/>
                          </a:solidFill>
                          <a:latin typeface="Lato" pitchFamily="34" charset="0"/>
                          <a:ea typeface="Lato" pitchFamily="34" charset="-122"/>
                          <a:cs typeface="Lato" pitchFamily="34" charset="-120"/>
                        </a:rPr>
                        <a:t>Exact-F1 ↑</a:t>
                      </a:r>
                      <a:endParaRPr lang="en-US" sz="1800" dirty="0">
                        <a:latin typeface="Lato" charset="0"/>
                        <a:ea typeface="Lato" charset="0"/>
                        <a:cs typeface="Lato" charset="0"/>
                      </a:endParaRPr>
                    </a:p>
                  </a:txBody>
                  <a:tcPr marL="101600" marR="101600" marT="101600" marB="10160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r">
                        <a:lnSpc>
                          <a:spcPts val="2520"/>
                        </a:lnSpc>
                        <a:buNone/>
                      </a:pPr>
                      <a:r>
                        <a:rPr lang="en-US" sz="1800" b="1" dirty="0">
                          <a:solidFill>
                            <a:srgbClr val="000000"/>
                          </a:solidFill>
                          <a:latin typeface="Lato" pitchFamily="34" charset="0"/>
                          <a:ea typeface="Lato" pitchFamily="34" charset="-122"/>
                          <a:cs typeface="Lato" pitchFamily="34" charset="-120"/>
                        </a:rPr>
                        <a:t>Step shift ↓</a:t>
                      </a:r>
                      <a:endParaRPr lang="en-US" sz="1800" dirty="0">
                        <a:latin typeface="Lato" charset="0"/>
                        <a:ea typeface="Lato" charset="0"/>
                        <a:cs typeface="Lato" charset="0"/>
                      </a:endParaRPr>
                    </a:p>
                  </a:txBody>
                  <a:tcPr marL="101600" marR="101600" marT="101600" marB="10160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extLst>
                  <a:ext uri="{0D108BD9-81ED-4DB2-BD59-A6C34878D82A}">
                    <a16:rowId xmlns:a16="http://schemas.microsoft.com/office/drawing/2014/main" val="10000"/>
                  </a:ext>
                </a:extLst>
              </a:tr>
              <a:tr h="535930">
                <a:tc>
                  <a:txBody>
                    <a:bodyPr/>
                    <a:lstStyle/>
                    <a:p>
                      <a:pPr marL="0" indent="0">
                        <a:lnSpc>
                          <a:spcPts val="2520"/>
                        </a:lnSpc>
                        <a:buNone/>
                      </a:pPr>
                      <a:r>
                        <a:rPr lang="en-US" sz="1800" dirty="0">
                          <a:solidFill>
                            <a:srgbClr val="000000"/>
                          </a:solidFill>
                          <a:latin typeface="Lato" pitchFamily="34" charset="0"/>
                          <a:ea typeface="Lato" pitchFamily="34" charset="-122"/>
                          <a:cs typeface="Lato" pitchFamily="34" charset="-120"/>
                        </a:rPr>
                        <a:t>Qwen2.5-7B-Instruct</a:t>
                      </a:r>
                      <a:endParaRPr lang="en-US" sz="1800" dirty="0">
                        <a:latin typeface="Lato" charset="0"/>
                        <a:ea typeface="Lato" charset="0"/>
                        <a:cs typeface="Lato" charset="0"/>
                      </a:endParaRPr>
                    </a:p>
                  </a:txBody>
                  <a:tcPr marL="101600" marR="101600" marT="101600" marB="1016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520"/>
                        </a:lnSpc>
                        <a:buNone/>
                      </a:pPr>
                      <a:r>
                        <a:rPr lang="en-US" sz="1800" dirty="0">
                          <a:solidFill>
                            <a:srgbClr val="000000"/>
                          </a:solidFill>
                          <a:latin typeface="Lato" pitchFamily="34" charset="0"/>
                          <a:ea typeface="Lato" pitchFamily="34" charset="-122"/>
                          <a:cs typeface="Lato" pitchFamily="34" charset="-120"/>
                        </a:rPr>
                        <a:t>21.05</a:t>
                      </a:r>
                      <a:endParaRPr lang="en-US" sz="1800" dirty="0">
                        <a:latin typeface="Lato" charset="0"/>
                        <a:ea typeface="Lato" charset="0"/>
                        <a:cs typeface="Lato" charset="0"/>
                      </a:endParaRPr>
                    </a:p>
                  </a:txBody>
                  <a:tcPr marL="101600" marR="101600" marT="101600" marB="1016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520"/>
                        </a:lnSpc>
                        <a:buNone/>
                      </a:pPr>
                      <a:r>
                        <a:rPr lang="en-US" sz="1800" dirty="0">
                          <a:solidFill>
                            <a:srgbClr val="000000"/>
                          </a:solidFill>
                          <a:latin typeface="Lato" pitchFamily="34" charset="0"/>
                          <a:ea typeface="Lato" pitchFamily="34" charset="-122"/>
                          <a:cs typeface="Lato" pitchFamily="34" charset="-120"/>
                        </a:rPr>
                        <a:t>2.75</a:t>
                      </a:r>
                      <a:endParaRPr lang="en-US" sz="1800" dirty="0">
                        <a:latin typeface="Lato" charset="0"/>
                        <a:ea typeface="Lato" charset="0"/>
                        <a:cs typeface="Lato" charset="0"/>
                      </a:endParaRPr>
                    </a:p>
                  </a:txBody>
                  <a:tcPr marL="101600" marR="101600" marT="101600" marB="1016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535930">
                <a:tc>
                  <a:txBody>
                    <a:bodyPr/>
                    <a:lstStyle/>
                    <a:p>
                      <a:pPr marL="0" indent="0">
                        <a:lnSpc>
                          <a:spcPts val="2520"/>
                        </a:lnSpc>
                        <a:buNone/>
                      </a:pPr>
                      <a:r>
                        <a:rPr lang="en-US" sz="1800" dirty="0">
                          <a:solidFill>
                            <a:srgbClr val="000000"/>
                          </a:solidFill>
                          <a:latin typeface="Lato" pitchFamily="34" charset="0"/>
                          <a:ea typeface="Lato" pitchFamily="34" charset="-122"/>
                          <a:cs typeface="Lato" pitchFamily="34" charset="-120"/>
                        </a:rPr>
                        <a:t>GPT-4.1</a:t>
                      </a:r>
                      <a:endParaRPr lang="en-US" sz="1800" dirty="0">
                        <a:latin typeface="Lato" charset="0"/>
                        <a:ea typeface="Lato" charset="0"/>
                        <a:cs typeface="Lato" charset="0"/>
                      </a:endParaRPr>
                    </a:p>
                  </a:txBody>
                  <a:tcPr marL="101600" marR="101600" marT="101600" marB="1016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520"/>
                        </a:lnSpc>
                        <a:buNone/>
                      </a:pPr>
                      <a:r>
                        <a:rPr lang="en-US" sz="1800" dirty="0">
                          <a:solidFill>
                            <a:srgbClr val="000000"/>
                          </a:solidFill>
                          <a:latin typeface="Lato" pitchFamily="34" charset="0"/>
                          <a:ea typeface="Lato" pitchFamily="34" charset="-122"/>
                          <a:cs typeface="Lato" pitchFamily="34" charset="-120"/>
                        </a:rPr>
                        <a:t>27.43</a:t>
                      </a:r>
                      <a:endParaRPr lang="en-US" sz="1800" dirty="0">
                        <a:latin typeface="Lato" charset="0"/>
                        <a:ea typeface="Lato" charset="0"/>
                        <a:cs typeface="Lato" charset="0"/>
                      </a:endParaRPr>
                    </a:p>
                  </a:txBody>
                  <a:tcPr marL="101600" marR="101600" marT="101600" marB="1016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520"/>
                        </a:lnSpc>
                        <a:buNone/>
                      </a:pPr>
                      <a:r>
                        <a:rPr lang="en-US" sz="1800" dirty="0">
                          <a:solidFill>
                            <a:srgbClr val="000000"/>
                          </a:solidFill>
                          <a:latin typeface="Lato" pitchFamily="34" charset="0"/>
                          <a:ea typeface="Lato" pitchFamily="34" charset="-122"/>
                          <a:cs typeface="Lato" pitchFamily="34" charset="-120"/>
                        </a:rPr>
                        <a:t>2.67</a:t>
                      </a:r>
                      <a:endParaRPr lang="en-US" sz="1800" dirty="0">
                        <a:latin typeface="Lato" charset="0"/>
                        <a:ea typeface="Lato" charset="0"/>
                        <a:cs typeface="Lato" charset="0"/>
                      </a:endParaRPr>
                    </a:p>
                  </a:txBody>
                  <a:tcPr marL="101600" marR="101600" marT="101600" marB="1016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535930">
                <a:tc>
                  <a:txBody>
                    <a:bodyPr/>
                    <a:lstStyle/>
                    <a:p>
                      <a:pPr marL="0" indent="0">
                        <a:lnSpc>
                          <a:spcPts val="2520"/>
                        </a:lnSpc>
                        <a:buNone/>
                      </a:pPr>
                      <a:r>
                        <a:rPr lang="en-US" sz="1800" dirty="0">
                          <a:solidFill>
                            <a:srgbClr val="000000"/>
                          </a:solidFill>
                          <a:latin typeface="Lato" pitchFamily="34" charset="0"/>
                          <a:ea typeface="Lato" pitchFamily="34" charset="-122"/>
                          <a:cs typeface="Lato" pitchFamily="34" charset="-120"/>
                        </a:rPr>
                        <a:t>Gemini-3-Flash</a:t>
                      </a:r>
                      <a:endParaRPr lang="en-US" sz="1800" dirty="0">
                        <a:latin typeface="Lato" charset="0"/>
                        <a:ea typeface="Lato" charset="0"/>
                        <a:cs typeface="Lato" charset="0"/>
                      </a:endParaRPr>
                    </a:p>
                  </a:txBody>
                  <a:tcPr marL="101600" marR="101600" marT="101600" marB="1016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520"/>
                        </a:lnSpc>
                        <a:buNone/>
                      </a:pPr>
                      <a:r>
                        <a:rPr lang="en-US" sz="1800" dirty="0">
                          <a:solidFill>
                            <a:srgbClr val="000000"/>
                          </a:solidFill>
                          <a:latin typeface="Lato" pitchFamily="34" charset="0"/>
                          <a:ea typeface="Lato" pitchFamily="34" charset="-122"/>
                          <a:cs typeface="Lato" pitchFamily="34" charset="-120"/>
                        </a:rPr>
                        <a:t>29.74</a:t>
                      </a:r>
                      <a:endParaRPr lang="en-US" sz="1800" dirty="0">
                        <a:latin typeface="Lato" charset="0"/>
                        <a:ea typeface="Lato" charset="0"/>
                        <a:cs typeface="Lato" charset="0"/>
                      </a:endParaRPr>
                    </a:p>
                  </a:txBody>
                  <a:tcPr marL="101600" marR="101600" marT="101600" marB="1016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520"/>
                        </a:lnSpc>
                        <a:buNone/>
                      </a:pPr>
                      <a:r>
                        <a:rPr lang="en-US" sz="1800" dirty="0">
                          <a:solidFill>
                            <a:srgbClr val="000000"/>
                          </a:solidFill>
                          <a:latin typeface="Lato" pitchFamily="34" charset="0"/>
                          <a:ea typeface="Lato" pitchFamily="34" charset="-122"/>
                          <a:cs typeface="Lato" pitchFamily="34" charset="-120"/>
                        </a:rPr>
                        <a:t>2.19</a:t>
                      </a:r>
                      <a:endParaRPr lang="en-US" sz="1800" dirty="0">
                        <a:latin typeface="Lato" charset="0"/>
                        <a:ea typeface="Lato" charset="0"/>
                        <a:cs typeface="Lato" charset="0"/>
                      </a:endParaRPr>
                    </a:p>
                  </a:txBody>
                  <a:tcPr marL="101600" marR="101600" marT="101600" marB="1016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535930">
                <a:tc>
                  <a:txBody>
                    <a:bodyPr/>
                    <a:lstStyle/>
                    <a:p>
                      <a:pPr marL="0" indent="0">
                        <a:lnSpc>
                          <a:spcPts val="2520"/>
                        </a:lnSpc>
                        <a:buNone/>
                      </a:pPr>
                      <a:r>
                        <a:rPr lang="en-US" sz="1800" dirty="0">
                          <a:solidFill>
                            <a:srgbClr val="000000"/>
                          </a:solidFill>
                          <a:latin typeface="Lato" pitchFamily="34" charset="0"/>
                          <a:ea typeface="Lato" pitchFamily="34" charset="-122"/>
                          <a:cs typeface="Lato" pitchFamily="34" charset="-120"/>
                        </a:rPr>
                        <a:t>DeepSeek-V4-Pro</a:t>
                      </a:r>
                      <a:endParaRPr lang="en-US" sz="1800" dirty="0">
                        <a:latin typeface="Lato" charset="0"/>
                        <a:ea typeface="Lato" charset="0"/>
                        <a:cs typeface="Lato" charset="0"/>
                      </a:endParaRPr>
                    </a:p>
                  </a:txBody>
                  <a:tcPr marL="101600" marR="101600" marT="101600" marB="1016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520"/>
                        </a:lnSpc>
                        <a:buNone/>
                      </a:pPr>
                      <a:r>
                        <a:rPr lang="en-US" sz="1800" dirty="0">
                          <a:solidFill>
                            <a:srgbClr val="000000"/>
                          </a:solidFill>
                          <a:latin typeface="Lato" pitchFamily="34" charset="0"/>
                          <a:ea typeface="Lato" pitchFamily="34" charset="-122"/>
                          <a:cs typeface="Lato" pitchFamily="34" charset="-120"/>
                        </a:rPr>
                        <a:t>46.56</a:t>
                      </a:r>
                      <a:endParaRPr lang="en-US" sz="1800" dirty="0">
                        <a:latin typeface="Lato" charset="0"/>
                        <a:ea typeface="Lato" charset="0"/>
                        <a:cs typeface="Lato" charset="0"/>
                      </a:endParaRPr>
                    </a:p>
                  </a:txBody>
                  <a:tcPr marL="101600" marR="101600" marT="101600" marB="1016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520"/>
                        </a:lnSpc>
                        <a:buNone/>
                      </a:pPr>
                      <a:r>
                        <a:rPr lang="en-US" sz="1800" dirty="0">
                          <a:solidFill>
                            <a:srgbClr val="000000"/>
                          </a:solidFill>
                          <a:latin typeface="Lato" pitchFamily="34" charset="0"/>
                          <a:ea typeface="Lato" pitchFamily="34" charset="-122"/>
                          <a:cs typeface="Lato" pitchFamily="34" charset="-120"/>
                        </a:rPr>
                        <a:t>1.77</a:t>
                      </a:r>
                      <a:endParaRPr lang="en-US" sz="1800" dirty="0">
                        <a:latin typeface="Lato" charset="0"/>
                        <a:ea typeface="Lato" charset="0"/>
                        <a:cs typeface="Lato" charset="0"/>
                      </a:endParaRPr>
                    </a:p>
                  </a:txBody>
                  <a:tcPr marL="101600" marR="101600" marT="101600" marB="1016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535930">
                <a:tc>
                  <a:txBody>
                    <a:bodyPr/>
                    <a:lstStyle/>
                    <a:p>
                      <a:pPr marL="0" indent="0">
                        <a:lnSpc>
                          <a:spcPts val="2520"/>
                        </a:lnSpc>
                        <a:buNone/>
                      </a:pPr>
                      <a:r>
                        <a:rPr lang="en-US" sz="1800" dirty="0">
                          <a:solidFill>
                            <a:srgbClr val="000000"/>
                          </a:solidFill>
                          <a:latin typeface="Lato" pitchFamily="34" charset="0"/>
                          <a:ea typeface="Lato" pitchFamily="34" charset="-122"/>
                          <a:cs typeface="Lato" pitchFamily="34" charset="-120"/>
                        </a:rPr>
                        <a:t>AgentDebug-7B</a:t>
                      </a:r>
                      <a:endParaRPr lang="en-US" sz="1800" dirty="0">
                        <a:latin typeface="Lato" charset="0"/>
                        <a:ea typeface="Lato" charset="0"/>
                        <a:cs typeface="Lato" charset="0"/>
                      </a:endParaRPr>
                    </a:p>
                  </a:txBody>
                  <a:tcPr marL="101600" marR="101600" marT="101600" marB="1016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520"/>
                        </a:lnSpc>
                        <a:buNone/>
                      </a:pPr>
                      <a:r>
                        <a:rPr lang="en-US" sz="1800" dirty="0">
                          <a:solidFill>
                            <a:srgbClr val="000000"/>
                          </a:solidFill>
                          <a:latin typeface="Lato" pitchFamily="34" charset="0"/>
                          <a:ea typeface="Lato" pitchFamily="34" charset="-122"/>
                          <a:cs typeface="Lato" pitchFamily="34" charset="-120"/>
                        </a:rPr>
                        <a:t>9.63</a:t>
                      </a:r>
                      <a:endParaRPr lang="en-US" sz="1800" dirty="0">
                        <a:latin typeface="Lato" charset="0"/>
                        <a:ea typeface="Lato" charset="0"/>
                        <a:cs typeface="Lato" charset="0"/>
                      </a:endParaRPr>
                    </a:p>
                  </a:txBody>
                  <a:tcPr marL="101600" marR="101600" marT="101600" marB="1016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520"/>
                        </a:lnSpc>
                        <a:buNone/>
                      </a:pPr>
                      <a:r>
                        <a:rPr lang="en-US" sz="1800" dirty="0">
                          <a:solidFill>
                            <a:srgbClr val="000000"/>
                          </a:solidFill>
                          <a:latin typeface="Lato" pitchFamily="34" charset="0"/>
                          <a:ea typeface="Lato" pitchFamily="34" charset="-122"/>
                          <a:cs typeface="Lato" pitchFamily="34" charset="-120"/>
                        </a:rPr>
                        <a:t>3.76</a:t>
                      </a:r>
                      <a:endParaRPr lang="en-US" sz="1800" dirty="0">
                        <a:latin typeface="Lato" charset="0"/>
                        <a:ea typeface="Lato" charset="0"/>
                        <a:cs typeface="Lato" charset="0"/>
                      </a:endParaRPr>
                    </a:p>
                  </a:txBody>
                  <a:tcPr marL="101600" marR="101600" marT="101600" marB="1016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535930">
                <a:tc>
                  <a:txBody>
                    <a:bodyPr/>
                    <a:lstStyle/>
                    <a:p>
                      <a:pPr marL="0" indent="0">
                        <a:lnSpc>
                          <a:spcPts val="2520"/>
                        </a:lnSpc>
                        <a:buNone/>
                      </a:pPr>
                      <a:r>
                        <a:rPr lang="en-US" sz="1800" dirty="0">
                          <a:solidFill>
                            <a:srgbClr val="C00000"/>
                          </a:solidFill>
                          <a:latin typeface="Lato" pitchFamily="34" charset="0"/>
                          <a:ea typeface="Lato" pitchFamily="34" charset="-122"/>
                          <a:cs typeface="Lato" pitchFamily="34" charset="-120"/>
                        </a:rPr>
                        <a:t>AgentForesight-7B</a:t>
                      </a:r>
                      <a:endParaRPr lang="en-US" sz="1800" dirty="0">
                        <a:latin typeface="Lato" charset="0"/>
                        <a:ea typeface="Lato" charset="0"/>
                        <a:cs typeface="Lato" charset="0"/>
                      </a:endParaRPr>
                    </a:p>
                  </a:txBody>
                  <a:tcPr marL="101600" marR="101600" marT="101600" marB="101600">
                    <a:lnL w="12700" cap="flat" cmpd="sng" algn="ctr">
                      <a:solidFill>
                        <a:srgbClr val="CBCBCB"/>
                      </a:solidFill>
                      <a:prstDash val="solid"/>
                      <a:round/>
                      <a:headEnd type="none" w="med" len="med"/>
                      <a:tailEnd type="none" w="med" len="med"/>
                    </a:lnL>
                    <a:lnR w="12700" cap="flat" cmpd="sng" algn="ctr">
                      <a:solidFill>
                        <a:srgbClr val="C8BA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8BABC"/>
                      </a:solidFill>
                      <a:prstDash val="solid"/>
                      <a:round/>
                      <a:headEnd type="none" w="med" len="med"/>
                      <a:tailEnd type="none" w="med" len="med"/>
                    </a:lnB>
                    <a:solidFill>
                      <a:srgbClr val="FBE9EC"/>
                    </a:solidFill>
                  </a:tcPr>
                </a:tc>
                <a:tc>
                  <a:txBody>
                    <a:bodyPr/>
                    <a:lstStyle/>
                    <a:p>
                      <a:pPr marL="0" indent="0" algn="r">
                        <a:lnSpc>
                          <a:spcPts val="2520"/>
                        </a:lnSpc>
                        <a:buNone/>
                      </a:pPr>
                      <a:r>
                        <a:rPr lang="en-US" sz="1800" dirty="0">
                          <a:solidFill>
                            <a:srgbClr val="C00000"/>
                          </a:solidFill>
                          <a:latin typeface="Lato" pitchFamily="34" charset="0"/>
                          <a:ea typeface="Lato" pitchFamily="34" charset="-122"/>
                          <a:cs typeface="Lato" pitchFamily="34" charset="-120"/>
                        </a:rPr>
                        <a:t>66.44</a:t>
                      </a:r>
                      <a:endParaRPr lang="en-US" sz="1800" dirty="0">
                        <a:latin typeface="Lato" charset="0"/>
                        <a:ea typeface="Lato" charset="0"/>
                        <a:cs typeface="Lato" charset="0"/>
                      </a:endParaRPr>
                    </a:p>
                  </a:txBody>
                  <a:tcPr marL="101600" marR="101600" marT="101600" marB="101600">
                    <a:lnL w="12700" cap="flat" cmpd="sng" algn="ctr">
                      <a:solidFill>
                        <a:srgbClr val="C8BABC"/>
                      </a:solidFill>
                      <a:prstDash val="solid"/>
                      <a:round/>
                      <a:headEnd type="none" w="med" len="med"/>
                      <a:tailEnd type="none" w="med" len="med"/>
                    </a:lnL>
                    <a:lnR w="12700" cap="flat" cmpd="sng" algn="ctr">
                      <a:solidFill>
                        <a:srgbClr val="C8BA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8BABC"/>
                      </a:solidFill>
                      <a:prstDash val="solid"/>
                      <a:round/>
                      <a:headEnd type="none" w="med" len="med"/>
                      <a:tailEnd type="none" w="med" len="med"/>
                    </a:lnB>
                    <a:solidFill>
                      <a:srgbClr val="FBE9EC"/>
                    </a:solidFill>
                  </a:tcPr>
                </a:tc>
                <a:tc>
                  <a:txBody>
                    <a:bodyPr/>
                    <a:lstStyle/>
                    <a:p>
                      <a:pPr marL="0" indent="0" algn="r">
                        <a:lnSpc>
                          <a:spcPts val="2520"/>
                        </a:lnSpc>
                        <a:buNone/>
                      </a:pPr>
                      <a:r>
                        <a:rPr lang="en-US" sz="1800" dirty="0">
                          <a:solidFill>
                            <a:srgbClr val="C00000"/>
                          </a:solidFill>
                          <a:latin typeface="Lato" pitchFamily="34" charset="0"/>
                          <a:ea typeface="Lato" pitchFamily="34" charset="-122"/>
                          <a:cs typeface="Lato" pitchFamily="34" charset="-120"/>
                        </a:rPr>
                        <a:t>0.59</a:t>
                      </a:r>
                      <a:endParaRPr lang="en-US" sz="1800" dirty="0">
                        <a:latin typeface="Lato" charset="0"/>
                        <a:ea typeface="Lato" charset="0"/>
                        <a:cs typeface="Lato" charset="0"/>
                      </a:endParaRPr>
                    </a:p>
                  </a:txBody>
                  <a:tcPr marL="101600" marR="101600" marT="101600" marB="101600">
                    <a:lnL w="12700" cap="flat" cmpd="sng" algn="ctr">
                      <a:solidFill>
                        <a:srgbClr val="C8BABC"/>
                      </a:solidFill>
                      <a:prstDash val="solid"/>
                      <a:round/>
                      <a:headEnd type="none" w="med" len="med"/>
                      <a:tailEnd type="none" w="med" len="med"/>
                    </a:lnL>
                    <a:lnR w="12700" cap="flat" cmpd="sng" algn="ctr">
                      <a:solidFill>
                        <a:srgbClr val="C8BA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8BABC"/>
                      </a:solidFill>
                      <a:prstDash val="solid"/>
                      <a:round/>
                      <a:headEnd type="none" w="med" len="med"/>
                      <a:tailEnd type="none" w="med" len="med"/>
                    </a:lnB>
                    <a:solidFill>
                      <a:srgbClr val="FBE9EC"/>
                    </a:solidFill>
                  </a:tcPr>
                </a:tc>
                <a:extLst>
                  <a:ext uri="{0D108BD9-81ED-4DB2-BD59-A6C34878D82A}">
                    <a16:rowId xmlns:a16="http://schemas.microsoft.com/office/drawing/2014/main" val="10006"/>
                  </a:ext>
                </a:extLst>
              </a:tr>
            </a:tbl>
          </a:graphicData>
        </a:graphic>
      </p:graphicFrame>
      <p:pic>
        <p:nvPicPr>
          <p:cNvPr id="9" name="Image 0" descr="Step accuracy against false alarm rate for ten auditors; only AgentForesight-7B sits inside the shaded deployable region"/>
          <p:cNvPicPr>
            <a:picLocks noChangeAspect="1"/>
          </p:cNvPicPr>
          <p:nvPr/>
        </p:nvPicPr>
        <p:blipFill>
          <a:blip r:embed="rId3"/>
          <a:srcRect t="-2286" b="-2286"/>
          <a:stretch/>
        </p:blipFill>
        <p:spPr>
          <a:xfrm>
            <a:off x="6705600" y="2194520"/>
            <a:ext cx="4978400" cy="358775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4" name="Text 2"/>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27 / 33</a:t>
            </a:r>
            <a:endParaRPr lang="en-US" sz="1200" dirty="0"/>
          </a:p>
        </p:txBody>
      </p:sp>
      <p:sp>
        <p:nvSpPr>
          <p:cNvPr id="5" name="Text 3"/>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Going Further: Auditing Without Step Labels</a:t>
            </a:r>
            <a:endParaRPr lang="en-US" sz="3200" dirty="0"/>
          </a:p>
        </p:txBody>
      </p:sp>
      <p:sp>
        <p:nvSpPr>
          <p:cNvPr id="6" name="Text 4"/>
          <p:cNvSpPr/>
          <p:nvPr/>
        </p:nvSpPr>
        <p:spPr>
          <a:xfrm>
            <a:off x="508000" y="1026120"/>
            <a:ext cx="11511280" cy="393700"/>
          </a:xfrm>
          <a:prstGeom prst="rect">
            <a:avLst/>
          </a:prstGeom>
          <a:noFill/>
          <a:ln/>
        </p:spPr>
        <p:txBody>
          <a:bodyPr wrap="square" lIns="0" tIns="0" rIns="0" bIns="0" rtlCol="0" anchor="t">
            <a:normAutofit/>
          </a:bodyPr>
          <a:lstStyle/>
          <a:p>
            <a:pPr marL="0" indent="0" algn="l">
              <a:lnSpc>
                <a:spcPts val="2900"/>
              </a:lnSpc>
              <a:buNone/>
            </a:pPr>
            <a:r>
              <a:rPr lang="en-US" sz="2000" b="1" dirty="0">
                <a:solidFill>
                  <a:srgbClr val="000000"/>
                </a:solidFill>
                <a:latin typeface="Lato" pitchFamily="34" charset="0"/>
                <a:ea typeface="Lato" pitchFamily="34" charset="-122"/>
                <a:cs typeface="Lato" pitchFamily="34" charset="-120"/>
              </a:rPr>
              <a:t>Step labels are costly:</a:t>
            </a:r>
            <a:r>
              <a:rPr lang="en-US" sz="2000" dirty="0">
                <a:solidFill>
                  <a:srgbClr val="000000"/>
                </a:solidFill>
                <a:latin typeface="Lato" pitchFamily="34" charset="0"/>
                <a:ea typeface="Lato" pitchFamily="34" charset="-122"/>
                <a:cs typeface="Lato" pitchFamily="34" charset="-120"/>
              </a:rPr>
              <a:t> can an auditor </a:t>
            </a:r>
            <a:r>
              <a:rPr lang="en-US" sz="2000" u="sng" dirty="0">
                <a:solidFill>
                  <a:srgbClr val="C00000"/>
                </a:solidFill>
                <a:latin typeface="Lato" pitchFamily="34" charset="0"/>
                <a:ea typeface="Lato" pitchFamily="34" charset="-122"/>
                <a:cs typeface="Lato" pitchFamily="34" charset="-120"/>
              </a:rPr>
              <a:t>learn from one safe / unsafe label per run</a:t>
            </a:r>
            <a:r>
              <a:rPr lang="en-US" sz="2000" dirty="0">
                <a:solidFill>
                  <a:srgbClr val="000000"/>
                </a:solidFill>
                <a:latin typeface="Lato" pitchFamily="34" charset="0"/>
                <a:ea typeface="Lato" pitchFamily="34" charset="-122"/>
                <a:cs typeface="Lato" pitchFamily="34" charset="-120"/>
              </a:rPr>
              <a:t>?</a:t>
            </a:r>
            <a:endParaRPr lang="en-US" sz="2000" dirty="0"/>
          </a:p>
        </p:txBody>
      </p:sp>
      <p:sp>
        <p:nvSpPr>
          <p:cNvPr id="7" name="Shape 5"/>
          <p:cNvSpPr/>
          <p:nvPr/>
        </p:nvSpPr>
        <p:spPr>
          <a:xfrm>
            <a:off x="508000" y="1521420"/>
            <a:ext cx="5461000" cy="4320580"/>
          </a:xfrm>
          <a:prstGeom prst="roundRect">
            <a:avLst>
              <a:gd name="adj" fmla="val 3527"/>
            </a:avLst>
          </a:prstGeom>
          <a:solidFill>
            <a:srgbClr val="E8EEF8"/>
          </a:solidFill>
          <a:ln/>
        </p:spPr>
        <p:txBody>
          <a:bodyPr/>
          <a:lstStyle/>
          <a:p>
            <a:endParaRPr lang="en-US"/>
          </a:p>
        </p:txBody>
      </p:sp>
      <p:sp>
        <p:nvSpPr>
          <p:cNvPr id="8" name="Text 6"/>
          <p:cNvSpPr/>
          <p:nvPr/>
        </p:nvSpPr>
        <p:spPr>
          <a:xfrm>
            <a:off x="711200" y="1699220"/>
            <a:ext cx="5206238"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2F5597"/>
                </a:solidFill>
                <a:latin typeface="Lato" pitchFamily="34" charset="0"/>
                <a:ea typeface="Lato" pitchFamily="34" charset="-122"/>
                <a:cs typeface="Lato" pitchFamily="34" charset="-120"/>
              </a:rPr>
              <a:t>Setting 1: every step annotated</a:t>
            </a:r>
            <a:endParaRPr lang="en-US" sz="1500" dirty="0"/>
          </a:p>
        </p:txBody>
      </p:sp>
      <p:sp>
        <p:nvSpPr>
          <p:cNvPr id="9" name="Text 7"/>
          <p:cNvSpPr/>
          <p:nvPr/>
        </p:nvSpPr>
        <p:spPr>
          <a:xfrm>
            <a:off x="711200" y="2016720"/>
            <a:ext cx="5206238"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55555"/>
                </a:solidFill>
                <a:latin typeface="Lato" pitchFamily="34" charset="0"/>
                <a:ea typeface="Lato" pitchFamily="34" charset="-122"/>
                <a:cs typeface="Lato" pitchFamily="34" charset="-120"/>
              </a:rPr>
              <a:t>Which former mill town is near Rivington Hall Barn? Gold answer: Bolton</a:t>
            </a:r>
            <a:endParaRPr lang="en-US" sz="1200" dirty="0"/>
          </a:p>
        </p:txBody>
      </p:sp>
      <p:sp>
        <p:nvSpPr>
          <p:cNvPr id="10" name="Shape 8"/>
          <p:cNvSpPr/>
          <p:nvPr/>
        </p:nvSpPr>
        <p:spPr>
          <a:xfrm>
            <a:off x="711200" y="2329111"/>
            <a:ext cx="5054600" cy="276820"/>
          </a:xfrm>
          <a:prstGeom prst="roundRect">
            <a:avLst>
              <a:gd name="adj" fmla="val 22939"/>
            </a:avLst>
          </a:prstGeom>
          <a:solidFill>
            <a:srgbClr val="FFFFFF"/>
          </a:solidFill>
          <a:ln/>
        </p:spPr>
        <p:txBody>
          <a:bodyPr/>
          <a:lstStyle/>
          <a:p>
            <a:endParaRPr lang="en-US"/>
          </a:p>
        </p:txBody>
      </p:sp>
      <p:sp>
        <p:nvSpPr>
          <p:cNvPr id="11" name="Text 9"/>
          <p:cNvSpPr/>
          <p:nvPr/>
        </p:nvSpPr>
        <p:spPr>
          <a:xfrm>
            <a:off x="800100" y="2369741"/>
            <a:ext cx="241300"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2F5597"/>
                </a:solidFill>
                <a:latin typeface="Lato" pitchFamily="34" charset="0"/>
                <a:ea typeface="Lato" pitchFamily="34" charset="-122"/>
                <a:cs typeface="Lato" pitchFamily="34" charset="-120"/>
              </a:rPr>
              <a:t>1</a:t>
            </a:r>
            <a:endParaRPr lang="en-US" sz="1100" dirty="0"/>
          </a:p>
        </p:txBody>
      </p:sp>
      <p:sp>
        <p:nvSpPr>
          <p:cNvPr id="12" name="Text 10"/>
          <p:cNvSpPr/>
          <p:nvPr/>
        </p:nvSpPr>
        <p:spPr>
          <a:xfrm>
            <a:off x="1079500" y="2360861"/>
            <a:ext cx="374963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Lato" pitchFamily="34" charset="0"/>
                <a:ea typeface="Lato" pitchFamily="34" charset="-122"/>
                <a:cs typeface="Lato" pitchFamily="34" charset="-120"/>
              </a:rPr>
              <a:t>Manager plans: barn, location, former mill town</a:t>
            </a:r>
            <a:endParaRPr lang="en-US" sz="1200" dirty="0"/>
          </a:p>
        </p:txBody>
      </p:sp>
      <p:sp>
        <p:nvSpPr>
          <p:cNvPr id="13" name="Text 11"/>
          <p:cNvSpPr/>
          <p:nvPr/>
        </p:nvSpPr>
        <p:spPr>
          <a:xfrm>
            <a:off x="5125988" y="2369741"/>
            <a:ext cx="639812"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2F5597"/>
                </a:solidFill>
                <a:latin typeface="Lato" pitchFamily="34" charset="0"/>
                <a:ea typeface="Lato" pitchFamily="34" charset="-122"/>
                <a:cs typeface="Lato" pitchFamily="34" charset="-120"/>
              </a:rPr>
              <a:t>continue</a:t>
            </a:r>
            <a:endParaRPr lang="en-US" sz="1100" dirty="0"/>
          </a:p>
        </p:txBody>
      </p:sp>
      <p:sp>
        <p:nvSpPr>
          <p:cNvPr id="14" name="Shape 12"/>
          <p:cNvSpPr/>
          <p:nvPr/>
        </p:nvSpPr>
        <p:spPr>
          <a:xfrm>
            <a:off x="711200" y="2656731"/>
            <a:ext cx="5054600" cy="276820"/>
          </a:xfrm>
          <a:prstGeom prst="roundRect">
            <a:avLst>
              <a:gd name="adj" fmla="val 22939"/>
            </a:avLst>
          </a:prstGeom>
          <a:solidFill>
            <a:srgbClr val="FFFFFF"/>
          </a:solidFill>
          <a:ln/>
        </p:spPr>
        <p:txBody>
          <a:bodyPr/>
          <a:lstStyle/>
          <a:p>
            <a:endParaRPr lang="en-US"/>
          </a:p>
        </p:txBody>
      </p:sp>
      <p:sp>
        <p:nvSpPr>
          <p:cNvPr id="15" name="Text 13"/>
          <p:cNvSpPr/>
          <p:nvPr/>
        </p:nvSpPr>
        <p:spPr>
          <a:xfrm>
            <a:off x="800100" y="2697361"/>
            <a:ext cx="241300"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2F5597"/>
                </a:solidFill>
                <a:latin typeface="Lato" pitchFamily="34" charset="0"/>
                <a:ea typeface="Lato" pitchFamily="34" charset="-122"/>
                <a:cs typeface="Lato" pitchFamily="34" charset="-120"/>
              </a:rPr>
              <a:t>2</a:t>
            </a:r>
            <a:endParaRPr lang="en-US" sz="1100" dirty="0"/>
          </a:p>
        </p:txBody>
      </p:sp>
      <p:sp>
        <p:nvSpPr>
          <p:cNvPr id="16" name="Text 14"/>
          <p:cNvSpPr/>
          <p:nvPr/>
        </p:nvSpPr>
        <p:spPr>
          <a:xfrm>
            <a:off x="1079500" y="2688481"/>
            <a:ext cx="208323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Lato" pitchFamily="34" charset="0"/>
                <a:ea typeface="Lato" pitchFamily="34" charset="-122"/>
                <a:cs typeface="Lato" pitchFamily="34" charset="-120"/>
              </a:rPr>
              <a:t>Manager targets the place</a:t>
            </a:r>
            <a:endParaRPr lang="en-US" sz="1200" dirty="0"/>
          </a:p>
        </p:txBody>
      </p:sp>
      <p:sp>
        <p:nvSpPr>
          <p:cNvPr id="17" name="Text 15"/>
          <p:cNvSpPr/>
          <p:nvPr/>
        </p:nvSpPr>
        <p:spPr>
          <a:xfrm>
            <a:off x="5125988" y="2697361"/>
            <a:ext cx="639812"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2F5597"/>
                </a:solidFill>
                <a:latin typeface="Lato" pitchFamily="34" charset="0"/>
                <a:ea typeface="Lato" pitchFamily="34" charset="-122"/>
                <a:cs typeface="Lato" pitchFamily="34" charset="-120"/>
              </a:rPr>
              <a:t>continue</a:t>
            </a:r>
            <a:endParaRPr lang="en-US" sz="1100" dirty="0"/>
          </a:p>
        </p:txBody>
      </p:sp>
      <p:sp>
        <p:nvSpPr>
          <p:cNvPr id="18" name="Shape 16"/>
          <p:cNvSpPr/>
          <p:nvPr/>
        </p:nvSpPr>
        <p:spPr>
          <a:xfrm>
            <a:off x="711200" y="2984351"/>
            <a:ext cx="5054600" cy="276820"/>
          </a:xfrm>
          <a:prstGeom prst="roundRect">
            <a:avLst>
              <a:gd name="adj" fmla="val 22939"/>
            </a:avLst>
          </a:prstGeom>
          <a:solidFill>
            <a:srgbClr val="FFFFFF"/>
          </a:solidFill>
          <a:ln/>
        </p:spPr>
        <p:txBody>
          <a:bodyPr/>
          <a:lstStyle/>
          <a:p>
            <a:endParaRPr lang="en-US"/>
          </a:p>
        </p:txBody>
      </p:sp>
      <p:sp>
        <p:nvSpPr>
          <p:cNvPr id="19" name="Text 17"/>
          <p:cNvSpPr/>
          <p:nvPr/>
        </p:nvSpPr>
        <p:spPr>
          <a:xfrm>
            <a:off x="800100" y="3024981"/>
            <a:ext cx="241300"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2F5597"/>
                </a:solidFill>
                <a:latin typeface="Lato" pitchFamily="34" charset="0"/>
                <a:ea typeface="Lato" pitchFamily="34" charset="-122"/>
                <a:cs typeface="Lato" pitchFamily="34" charset="-120"/>
              </a:rPr>
              <a:t>3</a:t>
            </a:r>
            <a:endParaRPr lang="en-US" sz="1100" dirty="0"/>
          </a:p>
        </p:txBody>
      </p:sp>
      <p:sp>
        <p:nvSpPr>
          <p:cNvPr id="20" name="Text 18"/>
          <p:cNvSpPr/>
          <p:nvPr/>
        </p:nvSpPr>
        <p:spPr>
          <a:xfrm>
            <a:off x="1079500" y="3016101"/>
            <a:ext cx="23791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Lato" pitchFamily="34" charset="0"/>
                <a:ea typeface="Lato" pitchFamily="34" charset="-122"/>
                <a:cs typeface="Lato" pitchFamily="34" charset="-120"/>
              </a:rPr>
              <a:t>Manager targets the attribute</a:t>
            </a:r>
            <a:endParaRPr lang="en-US" sz="1200" dirty="0"/>
          </a:p>
        </p:txBody>
      </p:sp>
      <p:sp>
        <p:nvSpPr>
          <p:cNvPr id="21" name="Text 19"/>
          <p:cNvSpPr/>
          <p:nvPr/>
        </p:nvSpPr>
        <p:spPr>
          <a:xfrm>
            <a:off x="5125988" y="3024981"/>
            <a:ext cx="639812"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2F5597"/>
                </a:solidFill>
                <a:latin typeface="Lato" pitchFamily="34" charset="0"/>
                <a:ea typeface="Lato" pitchFamily="34" charset="-122"/>
                <a:cs typeface="Lato" pitchFamily="34" charset="-120"/>
              </a:rPr>
              <a:t>continue</a:t>
            </a:r>
            <a:endParaRPr lang="en-US" sz="1100" dirty="0"/>
          </a:p>
        </p:txBody>
      </p:sp>
      <p:sp>
        <p:nvSpPr>
          <p:cNvPr id="22" name="Shape 20"/>
          <p:cNvSpPr/>
          <p:nvPr/>
        </p:nvSpPr>
        <p:spPr>
          <a:xfrm>
            <a:off x="711200" y="3311971"/>
            <a:ext cx="5054600" cy="276820"/>
          </a:xfrm>
          <a:prstGeom prst="roundRect">
            <a:avLst>
              <a:gd name="adj" fmla="val 22939"/>
            </a:avLst>
          </a:prstGeom>
          <a:solidFill>
            <a:srgbClr val="FFFFFF"/>
          </a:solidFill>
          <a:ln/>
        </p:spPr>
        <p:txBody>
          <a:bodyPr/>
          <a:lstStyle/>
          <a:p>
            <a:endParaRPr lang="en-US"/>
          </a:p>
        </p:txBody>
      </p:sp>
      <p:sp>
        <p:nvSpPr>
          <p:cNvPr id="23" name="Text 21"/>
          <p:cNvSpPr/>
          <p:nvPr/>
        </p:nvSpPr>
        <p:spPr>
          <a:xfrm>
            <a:off x="800100" y="3352602"/>
            <a:ext cx="241300"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2F5597"/>
                </a:solidFill>
                <a:latin typeface="Lato" pitchFamily="34" charset="0"/>
                <a:ea typeface="Lato" pitchFamily="34" charset="-122"/>
                <a:cs typeface="Lato" pitchFamily="34" charset="-120"/>
              </a:rPr>
              <a:t>4</a:t>
            </a:r>
            <a:endParaRPr lang="en-US" sz="1100" dirty="0"/>
          </a:p>
        </p:txBody>
      </p:sp>
      <p:sp>
        <p:nvSpPr>
          <p:cNvPr id="24" name="Text 22"/>
          <p:cNvSpPr/>
          <p:nvPr/>
        </p:nvSpPr>
        <p:spPr>
          <a:xfrm>
            <a:off x="1079500" y="3343721"/>
            <a:ext cx="308139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Lato" pitchFamily="34" charset="0"/>
                <a:ea typeface="Lato" pitchFamily="34" charset="-122"/>
                <a:cs typeface="Lato" pitchFamily="34" charset="-120"/>
              </a:rPr>
              <a:t>Manager delegates to the search agent</a:t>
            </a:r>
            <a:endParaRPr lang="en-US" sz="1200" dirty="0"/>
          </a:p>
        </p:txBody>
      </p:sp>
      <p:sp>
        <p:nvSpPr>
          <p:cNvPr id="25" name="Text 23"/>
          <p:cNvSpPr/>
          <p:nvPr/>
        </p:nvSpPr>
        <p:spPr>
          <a:xfrm>
            <a:off x="5125988" y="3352602"/>
            <a:ext cx="639812"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2F5597"/>
                </a:solidFill>
                <a:latin typeface="Lato" pitchFamily="34" charset="0"/>
                <a:ea typeface="Lato" pitchFamily="34" charset="-122"/>
                <a:cs typeface="Lato" pitchFamily="34" charset="-120"/>
              </a:rPr>
              <a:t>continue</a:t>
            </a:r>
            <a:endParaRPr lang="en-US" sz="1100" dirty="0"/>
          </a:p>
        </p:txBody>
      </p:sp>
      <p:sp>
        <p:nvSpPr>
          <p:cNvPr id="26" name="Shape 24"/>
          <p:cNvSpPr/>
          <p:nvPr/>
        </p:nvSpPr>
        <p:spPr>
          <a:xfrm>
            <a:off x="720725" y="3649117"/>
            <a:ext cx="5035550" cy="295870"/>
          </a:xfrm>
          <a:prstGeom prst="roundRect">
            <a:avLst>
              <a:gd name="adj" fmla="val 18243"/>
            </a:avLst>
          </a:prstGeom>
          <a:solidFill>
            <a:srgbClr val="FFFFFF"/>
          </a:solidFill>
          <a:ln w="19050">
            <a:solidFill>
              <a:srgbClr val="C00000"/>
            </a:solidFill>
            <a:prstDash val="solid"/>
          </a:ln>
        </p:spPr>
        <p:txBody>
          <a:bodyPr/>
          <a:lstStyle/>
          <a:p>
            <a:endParaRPr lang="en-US"/>
          </a:p>
        </p:txBody>
      </p:sp>
      <p:sp>
        <p:nvSpPr>
          <p:cNvPr id="27" name="Text 25"/>
          <p:cNvSpPr/>
          <p:nvPr/>
        </p:nvSpPr>
        <p:spPr>
          <a:xfrm>
            <a:off x="819150" y="3699272"/>
            <a:ext cx="241300"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C00000"/>
                </a:solidFill>
                <a:latin typeface="Lato" pitchFamily="34" charset="0"/>
                <a:ea typeface="Lato" pitchFamily="34" charset="-122"/>
                <a:cs typeface="Lato" pitchFamily="34" charset="-120"/>
              </a:rPr>
              <a:t>5</a:t>
            </a:r>
            <a:endParaRPr lang="en-US" sz="1100" dirty="0"/>
          </a:p>
        </p:txBody>
      </p:sp>
      <p:sp>
        <p:nvSpPr>
          <p:cNvPr id="28" name="Text 26"/>
          <p:cNvSpPr/>
          <p:nvPr/>
        </p:nvSpPr>
        <p:spPr>
          <a:xfrm>
            <a:off x="1098550" y="3690392"/>
            <a:ext cx="348692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00000"/>
                </a:solidFill>
                <a:latin typeface="Lato" pitchFamily="34" charset="0"/>
                <a:ea typeface="Lato" pitchFamily="34" charset="-122"/>
                <a:cs typeface="Lato" pitchFamily="34" charset="-120"/>
              </a:rPr>
              <a:t>Search agent returns Horwich, no evidence</a:t>
            </a:r>
            <a:endParaRPr lang="en-US" sz="1200" dirty="0"/>
          </a:p>
        </p:txBody>
      </p:sp>
      <p:sp>
        <p:nvSpPr>
          <p:cNvPr id="29" name="Text 27"/>
          <p:cNvSpPr/>
          <p:nvPr/>
        </p:nvSpPr>
        <p:spPr>
          <a:xfrm>
            <a:off x="5299025" y="3699272"/>
            <a:ext cx="430590"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C00000"/>
                </a:solidFill>
                <a:latin typeface="Lato" pitchFamily="34" charset="0"/>
                <a:ea typeface="Lato" pitchFamily="34" charset="-122"/>
                <a:cs typeface="Lato" pitchFamily="34" charset="-120"/>
              </a:rPr>
              <a:t>alarm</a:t>
            </a:r>
            <a:endParaRPr lang="en-US" sz="1100" dirty="0"/>
          </a:p>
        </p:txBody>
      </p:sp>
      <p:sp>
        <p:nvSpPr>
          <p:cNvPr id="30" name="Shape 28"/>
          <p:cNvSpPr/>
          <p:nvPr/>
        </p:nvSpPr>
        <p:spPr>
          <a:xfrm>
            <a:off x="711200" y="4005312"/>
            <a:ext cx="5054600" cy="276820"/>
          </a:xfrm>
          <a:prstGeom prst="roundRect">
            <a:avLst>
              <a:gd name="adj" fmla="val 22939"/>
            </a:avLst>
          </a:prstGeom>
          <a:solidFill>
            <a:srgbClr val="FFFFFF"/>
          </a:solidFill>
          <a:ln/>
        </p:spPr>
        <p:txBody>
          <a:bodyPr/>
          <a:lstStyle/>
          <a:p>
            <a:endParaRPr lang="en-US"/>
          </a:p>
        </p:txBody>
      </p:sp>
      <p:sp>
        <p:nvSpPr>
          <p:cNvPr id="31" name="Text 29"/>
          <p:cNvSpPr/>
          <p:nvPr/>
        </p:nvSpPr>
        <p:spPr>
          <a:xfrm>
            <a:off x="800100" y="4045942"/>
            <a:ext cx="241300"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2F5597"/>
                </a:solidFill>
                <a:latin typeface="Lato" pitchFamily="34" charset="0"/>
                <a:ea typeface="Lato" pitchFamily="34" charset="-122"/>
                <a:cs typeface="Lato" pitchFamily="34" charset="-120"/>
              </a:rPr>
              <a:t>6</a:t>
            </a:r>
            <a:endParaRPr lang="en-US" sz="1100" dirty="0"/>
          </a:p>
        </p:txBody>
      </p:sp>
      <p:sp>
        <p:nvSpPr>
          <p:cNvPr id="32" name="Text 30"/>
          <p:cNvSpPr/>
          <p:nvPr/>
        </p:nvSpPr>
        <p:spPr>
          <a:xfrm>
            <a:off x="1079500" y="4037062"/>
            <a:ext cx="321028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Lato" pitchFamily="34" charset="0"/>
                <a:ea typeface="Lato" pitchFamily="34" charset="-122"/>
                <a:cs typeface="Lato" pitchFamily="34" charset="-120"/>
              </a:rPr>
              <a:t>Manager repeats Horwich as the answer</a:t>
            </a:r>
            <a:endParaRPr lang="en-US" sz="1200" dirty="0"/>
          </a:p>
        </p:txBody>
      </p:sp>
      <p:sp>
        <p:nvSpPr>
          <p:cNvPr id="33" name="Shape 31"/>
          <p:cNvSpPr/>
          <p:nvPr/>
        </p:nvSpPr>
        <p:spPr>
          <a:xfrm>
            <a:off x="711200" y="4332932"/>
            <a:ext cx="5054600" cy="276820"/>
          </a:xfrm>
          <a:prstGeom prst="roundRect">
            <a:avLst>
              <a:gd name="adj" fmla="val 22939"/>
            </a:avLst>
          </a:prstGeom>
          <a:solidFill>
            <a:srgbClr val="FFFFFF"/>
          </a:solidFill>
          <a:ln/>
        </p:spPr>
        <p:txBody>
          <a:bodyPr/>
          <a:lstStyle/>
          <a:p>
            <a:endParaRPr lang="en-US"/>
          </a:p>
        </p:txBody>
      </p:sp>
      <p:sp>
        <p:nvSpPr>
          <p:cNvPr id="34" name="Text 32"/>
          <p:cNvSpPr/>
          <p:nvPr/>
        </p:nvSpPr>
        <p:spPr>
          <a:xfrm>
            <a:off x="800100" y="4373563"/>
            <a:ext cx="241300"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2F5597"/>
                </a:solidFill>
                <a:latin typeface="Lato" pitchFamily="34" charset="0"/>
                <a:ea typeface="Lato" pitchFamily="34" charset="-122"/>
                <a:cs typeface="Lato" pitchFamily="34" charset="-120"/>
              </a:rPr>
              <a:t>7</a:t>
            </a:r>
            <a:endParaRPr lang="en-US" sz="1100" dirty="0"/>
          </a:p>
        </p:txBody>
      </p:sp>
      <p:sp>
        <p:nvSpPr>
          <p:cNvPr id="35" name="Text 33"/>
          <p:cNvSpPr/>
          <p:nvPr/>
        </p:nvSpPr>
        <p:spPr>
          <a:xfrm>
            <a:off x="1079500" y="4364682"/>
            <a:ext cx="17792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Lato" pitchFamily="34" charset="0"/>
                <a:ea typeface="Lato" pitchFamily="34" charset="-122"/>
                <a:cs typeface="Lato" pitchFamily="34" charset="-120"/>
              </a:rPr>
              <a:t>Final answer: Horwich</a:t>
            </a:r>
            <a:endParaRPr lang="en-US" sz="1200" dirty="0"/>
          </a:p>
        </p:txBody>
      </p:sp>
      <p:sp>
        <p:nvSpPr>
          <p:cNvPr id="36" name="Text 34"/>
          <p:cNvSpPr/>
          <p:nvPr/>
        </p:nvSpPr>
        <p:spPr>
          <a:xfrm>
            <a:off x="711200" y="5433070"/>
            <a:ext cx="5206238"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2F5597"/>
                </a:solidFill>
                <a:latin typeface="Lato" pitchFamily="34" charset="0"/>
                <a:ea typeface="Lato" pitchFamily="34" charset="-122"/>
                <a:cs typeface="Lato" pitchFamily="34" charset="-120"/>
              </a:rPr>
              <a:t>Every step read and marked by hand: expensive</a:t>
            </a:r>
            <a:endParaRPr lang="en-US" sz="1400" dirty="0"/>
          </a:p>
        </p:txBody>
      </p:sp>
      <p:sp>
        <p:nvSpPr>
          <p:cNvPr id="37" name="Shape 35"/>
          <p:cNvSpPr/>
          <p:nvPr/>
        </p:nvSpPr>
        <p:spPr>
          <a:xfrm>
            <a:off x="6223000" y="1521420"/>
            <a:ext cx="5461000" cy="4320580"/>
          </a:xfrm>
          <a:prstGeom prst="roundRect">
            <a:avLst>
              <a:gd name="adj" fmla="val 3527"/>
            </a:avLst>
          </a:prstGeom>
          <a:solidFill>
            <a:srgbClr val="FBE9EC"/>
          </a:solidFill>
          <a:ln/>
        </p:spPr>
        <p:txBody>
          <a:bodyPr/>
          <a:lstStyle/>
          <a:p>
            <a:endParaRPr lang="en-US"/>
          </a:p>
        </p:txBody>
      </p:sp>
      <p:sp>
        <p:nvSpPr>
          <p:cNvPr id="38" name="Text 36"/>
          <p:cNvSpPr/>
          <p:nvPr/>
        </p:nvSpPr>
        <p:spPr>
          <a:xfrm>
            <a:off x="6426200" y="1699220"/>
            <a:ext cx="5206238"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C00000"/>
                </a:solidFill>
                <a:latin typeface="Lato" pitchFamily="34" charset="0"/>
                <a:ea typeface="Lato" pitchFamily="34" charset="-122"/>
                <a:cs typeface="Lato" pitchFamily="34" charset="-120"/>
              </a:rPr>
              <a:t>Setting 2: no step labels</a:t>
            </a:r>
            <a:endParaRPr lang="en-US" sz="1500" dirty="0"/>
          </a:p>
        </p:txBody>
      </p:sp>
      <p:sp>
        <p:nvSpPr>
          <p:cNvPr id="39" name="Text 37"/>
          <p:cNvSpPr/>
          <p:nvPr/>
        </p:nvSpPr>
        <p:spPr>
          <a:xfrm>
            <a:off x="6426200" y="2016720"/>
            <a:ext cx="5206238"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55555"/>
                </a:solidFill>
                <a:latin typeface="Lato" pitchFamily="34" charset="0"/>
                <a:ea typeface="Lato" pitchFamily="34" charset="-122"/>
                <a:cs typeface="Lato" pitchFamily="34" charset="-120"/>
              </a:rPr>
              <a:t>Find Shopify partners, enrich lead data, and log the interaction</a:t>
            </a:r>
            <a:endParaRPr lang="en-US" sz="1200" dirty="0"/>
          </a:p>
        </p:txBody>
      </p:sp>
      <p:sp>
        <p:nvSpPr>
          <p:cNvPr id="40" name="Shape 38"/>
          <p:cNvSpPr/>
          <p:nvPr/>
        </p:nvSpPr>
        <p:spPr>
          <a:xfrm>
            <a:off x="6426200" y="2329111"/>
            <a:ext cx="5054600" cy="294630"/>
          </a:xfrm>
          <a:prstGeom prst="roundRect">
            <a:avLst>
              <a:gd name="adj" fmla="val 21552"/>
            </a:avLst>
          </a:prstGeom>
          <a:solidFill>
            <a:srgbClr val="FFFFFF"/>
          </a:solidFill>
          <a:ln/>
        </p:spPr>
        <p:txBody>
          <a:bodyPr/>
          <a:lstStyle/>
          <a:p>
            <a:endParaRPr lang="en-US"/>
          </a:p>
        </p:txBody>
      </p:sp>
      <p:sp>
        <p:nvSpPr>
          <p:cNvPr id="41" name="Text 39"/>
          <p:cNvSpPr/>
          <p:nvPr/>
        </p:nvSpPr>
        <p:spPr>
          <a:xfrm>
            <a:off x="6515100" y="2378621"/>
            <a:ext cx="241300"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2F5597"/>
                </a:solidFill>
                <a:latin typeface="Lato" pitchFamily="34" charset="0"/>
                <a:ea typeface="Lato" pitchFamily="34" charset="-122"/>
                <a:cs typeface="Lato" pitchFamily="34" charset="-120"/>
              </a:rPr>
              <a:t>1</a:t>
            </a:r>
            <a:endParaRPr lang="en-US" sz="1100" dirty="0"/>
          </a:p>
        </p:txBody>
      </p:sp>
      <p:sp>
        <p:nvSpPr>
          <p:cNvPr id="42" name="Text 40"/>
          <p:cNvSpPr/>
          <p:nvPr/>
        </p:nvSpPr>
        <p:spPr>
          <a:xfrm>
            <a:off x="6794500" y="2369741"/>
            <a:ext cx="338625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Lato" pitchFamily="34" charset="0"/>
                <a:ea typeface="Lato" pitchFamily="34" charset="-122"/>
                <a:cs typeface="Lato" pitchFamily="34" charset="-120"/>
              </a:rPr>
              <a:t>Search store info, validate a phone number</a:t>
            </a:r>
            <a:endParaRPr lang="en-US" sz="1200" dirty="0"/>
          </a:p>
        </p:txBody>
      </p:sp>
      <p:sp>
        <p:nvSpPr>
          <p:cNvPr id="43" name="Text 41"/>
          <p:cNvSpPr/>
          <p:nvPr/>
        </p:nvSpPr>
        <p:spPr>
          <a:xfrm>
            <a:off x="11322447" y="2360861"/>
            <a:ext cx="120253"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888888"/>
                </a:solidFill>
                <a:latin typeface="Lato" pitchFamily="34" charset="0"/>
                <a:ea typeface="Lato" pitchFamily="34" charset="-122"/>
                <a:cs typeface="Lato" pitchFamily="34" charset="-120"/>
              </a:rPr>
              <a:t>?</a:t>
            </a:r>
            <a:endParaRPr lang="en-US" sz="1300" dirty="0"/>
          </a:p>
        </p:txBody>
      </p:sp>
      <p:sp>
        <p:nvSpPr>
          <p:cNvPr id="44" name="Shape 42"/>
          <p:cNvSpPr/>
          <p:nvPr/>
        </p:nvSpPr>
        <p:spPr>
          <a:xfrm>
            <a:off x="6426200" y="2674541"/>
            <a:ext cx="5054600" cy="294630"/>
          </a:xfrm>
          <a:prstGeom prst="roundRect">
            <a:avLst>
              <a:gd name="adj" fmla="val 21552"/>
            </a:avLst>
          </a:prstGeom>
          <a:solidFill>
            <a:srgbClr val="FFFFFF"/>
          </a:solidFill>
          <a:ln/>
        </p:spPr>
        <p:txBody>
          <a:bodyPr/>
          <a:lstStyle/>
          <a:p>
            <a:endParaRPr lang="en-US"/>
          </a:p>
        </p:txBody>
      </p:sp>
      <p:sp>
        <p:nvSpPr>
          <p:cNvPr id="45" name="Text 43"/>
          <p:cNvSpPr/>
          <p:nvPr/>
        </p:nvSpPr>
        <p:spPr>
          <a:xfrm>
            <a:off x="6515100" y="2724051"/>
            <a:ext cx="241300"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2F5597"/>
                </a:solidFill>
                <a:latin typeface="Lato" pitchFamily="34" charset="0"/>
                <a:ea typeface="Lato" pitchFamily="34" charset="-122"/>
                <a:cs typeface="Lato" pitchFamily="34" charset="-120"/>
              </a:rPr>
              <a:t>3</a:t>
            </a:r>
            <a:endParaRPr lang="en-US" sz="1100" dirty="0"/>
          </a:p>
        </p:txBody>
      </p:sp>
      <p:sp>
        <p:nvSpPr>
          <p:cNvPr id="46" name="Text 44"/>
          <p:cNvSpPr/>
          <p:nvPr/>
        </p:nvSpPr>
        <p:spPr>
          <a:xfrm>
            <a:off x="6794500" y="2715171"/>
            <a:ext cx="266753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Lato" pitchFamily="34" charset="0"/>
                <a:ea typeface="Lato" pitchFamily="34" charset="-122"/>
                <a:cs typeface="Lato" pitchFamily="34" charset="-120"/>
              </a:rPr>
              <a:t>Generate a QR code, search again</a:t>
            </a:r>
            <a:endParaRPr lang="en-US" sz="1200" dirty="0"/>
          </a:p>
        </p:txBody>
      </p:sp>
      <p:sp>
        <p:nvSpPr>
          <p:cNvPr id="47" name="Text 45"/>
          <p:cNvSpPr/>
          <p:nvPr/>
        </p:nvSpPr>
        <p:spPr>
          <a:xfrm>
            <a:off x="11322447" y="2706291"/>
            <a:ext cx="120253"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888888"/>
                </a:solidFill>
                <a:latin typeface="Lato" pitchFamily="34" charset="0"/>
                <a:ea typeface="Lato" pitchFamily="34" charset="-122"/>
                <a:cs typeface="Lato" pitchFamily="34" charset="-120"/>
              </a:rPr>
              <a:t>?</a:t>
            </a:r>
            <a:endParaRPr lang="en-US" sz="1300" dirty="0"/>
          </a:p>
        </p:txBody>
      </p:sp>
      <p:sp>
        <p:nvSpPr>
          <p:cNvPr id="48" name="Shape 46"/>
          <p:cNvSpPr/>
          <p:nvPr/>
        </p:nvSpPr>
        <p:spPr>
          <a:xfrm>
            <a:off x="6426200" y="3019971"/>
            <a:ext cx="5054600" cy="294630"/>
          </a:xfrm>
          <a:prstGeom prst="roundRect">
            <a:avLst>
              <a:gd name="adj" fmla="val 21552"/>
            </a:avLst>
          </a:prstGeom>
          <a:solidFill>
            <a:srgbClr val="FDF3F3"/>
          </a:solidFill>
          <a:ln/>
        </p:spPr>
        <p:txBody>
          <a:bodyPr/>
          <a:lstStyle/>
          <a:p>
            <a:endParaRPr lang="en-US"/>
          </a:p>
        </p:txBody>
      </p:sp>
      <p:sp>
        <p:nvSpPr>
          <p:cNvPr id="49" name="Text 47"/>
          <p:cNvSpPr/>
          <p:nvPr/>
        </p:nvSpPr>
        <p:spPr>
          <a:xfrm>
            <a:off x="6515100" y="3069481"/>
            <a:ext cx="241300"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2F5597"/>
                </a:solidFill>
                <a:latin typeface="Lato" pitchFamily="34" charset="0"/>
                <a:ea typeface="Lato" pitchFamily="34" charset="-122"/>
                <a:cs typeface="Lato" pitchFamily="34" charset="-120"/>
              </a:rPr>
              <a:t>5</a:t>
            </a:r>
            <a:endParaRPr lang="en-US" sz="1100" dirty="0"/>
          </a:p>
        </p:txBody>
      </p:sp>
      <p:sp>
        <p:nvSpPr>
          <p:cNvPr id="50" name="Text 48"/>
          <p:cNvSpPr/>
          <p:nvPr/>
        </p:nvSpPr>
        <p:spPr>
          <a:xfrm>
            <a:off x="6794500" y="3060601"/>
            <a:ext cx="347585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Lato" pitchFamily="34" charset="0"/>
                <a:ea typeface="Lato" pitchFamily="34" charset="-122"/>
                <a:cs typeface="Lato" pitchFamily="34" charset="-120"/>
              </a:rPr>
              <a:t>Reverse-look up a person from a work email</a:t>
            </a:r>
            <a:endParaRPr lang="en-US" sz="1200" dirty="0"/>
          </a:p>
        </p:txBody>
      </p:sp>
      <p:sp>
        <p:nvSpPr>
          <p:cNvPr id="51" name="Text 49"/>
          <p:cNvSpPr/>
          <p:nvPr/>
        </p:nvSpPr>
        <p:spPr>
          <a:xfrm>
            <a:off x="11322447" y="3051721"/>
            <a:ext cx="120253"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888888"/>
                </a:solidFill>
                <a:latin typeface="Lato" pitchFamily="34" charset="0"/>
                <a:ea typeface="Lato" pitchFamily="34" charset="-122"/>
                <a:cs typeface="Lato" pitchFamily="34" charset="-120"/>
              </a:rPr>
              <a:t>?</a:t>
            </a:r>
            <a:endParaRPr lang="en-US" sz="1300" dirty="0"/>
          </a:p>
        </p:txBody>
      </p:sp>
      <p:sp>
        <p:nvSpPr>
          <p:cNvPr id="52" name="Shape 50"/>
          <p:cNvSpPr/>
          <p:nvPr/>
        </p:nvSpPr>
        <p:spPr>
          <a:xfrm>
            <a:off x="6426200" y="3365401"/>
            <a:ext cx="5054600" cy="294630"/>
          </a:xfrm>
          <a:prstGeom prst="roundRect">
            <a:avLst>
              <a:gd name="adj" fmla="val 21552"/>
            </a:avLst>
          </a:prstGeom>
          <a:solidFill>
            <a:srgbClr val="FBE3E6"/>
          </a:solidFill>
          <a:ln/>
        </p:spPr>
        <p:txBody>
          <a:bodyPr/>
          <a:lstStyle/>
          <a:p>
            <a:endParaRPr lang="en-US"/>
          </a:p>
        </p:txBody>
      </p:sp>
      <p:sp>
        <p:nvSpPr>
          <p:cNvPr id="53" name="Text 51"/>
          <p:cNvSpPr/>
          <p:nvPr/>
        </p:nvSpPr>
        <p:spPr>
          <a:xfrm>
            <a:off x="6515100" y="3414911"/>
            <a:ext cx="241300"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2F5597"/>
                </a:solidFill>
                <a:latin typeface="Lato" pitchFamily="34" charset="0"/>
                <a:ea typeface="Lato" pitchFamily="34" charset="-122"/>
                <a:cs typeface="Lato" pitchFamily="34" charset="-120"/>
              </a:rPr>
              <a:t>6</a:t>
            </a:r>
            <a:endParaRPr lang="en-US" sz="1100" dirty="0"/>
          </a:p>
        </p:txBody>
      </p:sp>
      <p:sp>
        <p:nvSpPr>
          <p:cNvPr id="54" name="Text 52"/>
          <p:cNvSpPr/>
          <p:nvPr/>
        </p:nvSpPr>
        <p:spPr>
          <a:xfrm>
            <a:off x="6794500" y="3406031"/>
            <a:ext cx="276332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Lato" pitchFamily="34" charset="0"/>
                <a:ea typeface="Lato" pitchFamily="34" charset="-122"/>
                <a:cs typeface="Lato" pitchFamily="34" charset="-120"/>
              </a:rPr>
              <a:t>Log identity and profile into a CRM</a:t>
            </a:r>
            <a:endParaRPr lang="en-US" sz="1200" dirty="0"/>
          </a:p>
        </p:txBody>
      </p:sp>
      <p:sp>
        <p:nvSpPr>
          <p:cNvPr id="55" name="Text 53"/>
          <p:cNvSpPr/>
          <p:nvPr/>
        </p:nvSpPr>
        <p:spPr>
          <a:xfrm>
            <a:off x="11322447" y="3397151"/>
            <a:ext cx="120253"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888888"/>
                </a:solidFill>
                <a:latin typeface="Lato" pitchFamily="34" charset="0"/>
                <a:ea typeface="Lato" pitchFamily="34" charset="-122"/>
                <a:cs typeface="Lato" pitchFamily="34" charset="-120"/>
              </a:rPr>
              <a:t>?</a:t>
            </a:r>
            <a:endParaRPr lang="en-US" sz="1300" dirty="0"/>
          </a:p>
        </p:txBody>
      </p:sp>
      <p:sp>
        <p:nvSpPr>
          <p:cNvPr id="56" name="Shape 54"/>
          <p:cNvSpPr/>
          <p:nvPr/>
        </p:nvSpPr>
        <p:spPr>
          <a:xfrm>
            <a:off x="6426200" y="3710831"/>
            <a:ext cx="5054600" cy="294630"/>
          </a:xfrm>
          <a:prstGeom prst="roundRect">
            <a:avLst>
              <a:gd name="adj" fmla="val 21552"/>
            </a:avLst>
          </a:prstGeom>
          <a:solidFill>
            <a:srgbClr val="F8D6DA"/>
          </a:solidFill>
          <a:ln/>
        </p:spPr>
        <p:txBody>
          <a:bodyPr/>
          <a:lstStyle/>
          <a:p>
            <a:endParaRPr lang="en-US"/>
          </a:p>
        </p:txBody>
      </p:sp>
      <p:sp>
        <p:nvSpPr>
          <p:cNvPr id="57" name="Text 55"/>
          <p:cNvSpPr/>
          <p:nvPr/>
        </p:nvSpPr>
        <p:spPr>
          <a:xfrm>
            <a:off x="6515100" y="3760341"/>
            <a:ext cx="241300"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2F5597"/>
                </a:solidFill>
                <a:latin typeface="Lato" pitchFamily="34" charset="0"/>
                <a:ea typeface="Lato" pitchFamily="34" charset="-122"/>
                <a:cs typeface="Lato" pitchFamily="34" charset="-120"/>
              </a:rPr>
              <a:t>7</a:t>
            </a:r>
            <a:endParaRPr lang="en-US" sz="1100" dirty="0"/>
          </a:p>
        </p:txBody>
      </p:sp>
      <p:sp>
        <p:nvSpPr>
          <p:cNvPr id="58" name="Text 56"/>
          <p:cNvSpPr/>
          <p:nvPr/>
        </p:nvSpPr>
        <p:spPr>
          <a:xfrm>
            <a:off x="6794500" y="3751461"/>
            <a:ext cx="2971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Lato" pitchFamily="34" charset="0"/>
                <a:ea typeface="Lato" pitchFamily="34" charset="-122"/>
                <a:cs typeface="Lato" pitchFamily="34" charset="-120"/>
              </a:rPr>
              <a:t>Read collections with an access token</a:t>
            </a:r>
            <a:endParaRPr lang="en-US" sz="1200" dirty="0"/>
          </a:p>
        </p:txBody>
      </p:sp>
      <p:sp>
        <p:nvSpPr>
          <p:cNvPr id="59" name="Text 57"/>
          <p:cNvSpPr/>
          <p:nvPr/>
        </p:nvSpPr>
        <p:spPr>
          <a:xfrm>
            <a:off x="11322447" y="3742581"/>
            <a:ext cx="120253"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888888"/>
                </a:solidFill>
                <a:latin typeface="Lato" pitchFamily="34" charset="0"/>
                <a:ea typeface="Lato" pitchFamily="34" charset="-122"/>
                <a:cs typeface="Lato" pitchFamily="34" charset="-120"/>
              </a:rPr>
              <a:t>?</a:t>
            </a:r>
            <a:endParaRPr lang="en-US" sz="1300" dirty="0"/>
          </a:p>
        </p:txBody>
      </p:sp>
      <p:sp>
        <p:nvSpPr>
          <p:cNvPr id="60" name="Shape 58"/>
          <p:cNvSpPr/>
          <p:nvPr/>
        </p:nvSpPr>
        <p:spPr>
          <a:xfrm>
            <a:off x="6426200" y="4056261"/>
            <a:ext cx="5054600" cy="294630"/>
          </a:xfrm>
          <a:prstGeom prst="roundRect">
            <a:avLst>
              <a:gd name="adj" fmla="val 21552"/>
            </a:avLst>
          </a:prstGeom>
          <a:solidFill>
            <a:srgbClr val="F4C6CB"/>
          </a:solidFill>
          <a:ln/>
        </p:spPr>
        <p:txBody>
          <a:bodyPr/>
          <a:lstStyle/>
          <a:p>
            <a:endParaRPr lang="en-US"/>
          </a:p>
        </p:txBody>
      </p:sp>
      <p:sp>
        <p:nvSpPr>
          <p:cNvPr id="61" name="Text 59"/>
          <p:cNvSpPr/>
          <p:nvPr/>
        </p:nvSpPr>
        <p:spPr>
          <a:xfrm>
            <a:off x="6515100" y="4105771"/>
            <a:ext cx="241300"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2F5597"/>
                </a:solidFill>
                <a:latin typeface="Lato" pitchFamily="34" charset="0"/>
                <a:ea typeface="Lato" pitchFamily="34" charset="-122"/>
                <a:cs typeface="Lato" pitchFamily="34" charset="-120"/>
              </a:rPr>
              <a:t>8</a:t>
            </a:r>
            <a:endParaRPr lang="en-US" sz="1100" dirty="0"/>
          </a:p>
        </p:txBody>
      </p:sp>
      <p:sp>
        <p:nvSpPr>
          <p:cNvPr id="62" name="Text 60"/>
          <p:cNvSpPr/>
          <p:nvPr/>
        </p:nvSpPr>
        <p:spPr>
          <a:xfrm>
            <a:off x="6794500" y="4096891"/>
            <a:ext cx="191059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Lato" pitchFamily="34" charset="0"/>
                <a:ea typeface="Lato" pitchFamily="34" charset="-122"/>
                <a:cs typeface="Lato" pitchFamily="34" charset="-120"/>
              </a:rPr>
              <a:t>Read the admin account</a:t>
            </a:r>
            <a:endParaRPr lang="en-US" sz="1200" dirty="0"/>
          </a:p>
        </p:txBody>
      </p:sp>
      <p:sp>
        <p:nvSpPr>
          <p:cNvPr id="63" name="Text 61"/>
          <p:cNvSpPr/>
          <p:nvPr/>
        </p:nvSpPr>
        <p:spPr>
          <a:xfrm>
            <a:off x="11322447" y="4088011"/>
            <a:ext cx="120253"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888888"/>
                </a:solidFill>
                <a:latin typeface="Lato" pitchFamily="34" charset="0"/>
                <a:ea typeface="Lato" pitchFamily="34" charset="-122"/>
                <a:cs typeface="Lato" pitchFamily="34" charset="-120"/>
              </a:rPr>
              <a:t>?</a:t>
            </a:r>
            <a:endParaRPr lang="en-US" sz="1300" dirty="0"/>
          </a:p>
        </p:txBody>
      </p:sp>
      <p:sp>
        <p:nvSpPr>
          <p:cNvPr id="64" name="Shape 62"/>
          <p:cNvSpPr/>
          <p:nvPr/>
        </p:nvSpPr>
        <p:spPr>
          <a:xfrm>
            <a:off x="6426200" y="4401691"/>
            <a:ext cx="5054600" cy="294630"/>
          </a:xfrm>
          <a:prstGeom prst="roundRect">
            <a:avLst>
              <a:gd name="adj" fmla="val 21552"/>
            </a:avLst>
          </a:prstGeom>
          <a:solidFill>
            <a:srgbClr val="EFB3BA"/>
          </a:solidFill>
          <a:ln/>
        </p:spPr>
        <p:txBody>
          <a:bodyPr/>
          <a:lstStyle/>
          <a:p>
            <a:endParaRPr lang="en-US"/>
          </a:p>
        </p:txBody>
      </p:sp>
      <p:sp>
        <p:nvSpPr>
          <p:cNvPr id="65" name="Text 63"/>
          <p:cNvSpPr/>
          <p:nvPr/>
        </p:nvSpPr>
        <p:spPr>
          <a:xfrm>
            <a:off x="6515100" y="4451201"/>
            <a:ext cx="241300"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2F5597"/>
                </a:solidFill>
                <a:latin typeface="Lato" pitchFamily="34" charset="0"/>
                <a:ea typeface="Lato" pitchFamily="34" charset="-122"/>
                <a:cs typeface="Lato" pitchFamily="34" charset="-120"/>
              </a:rPr>
              <a:t>9</a:t>
            </a:r>
            <a:endParaRPr lang="en-US" sz="1100" dirty="0"/>
          </a:p>
        </p:txBody>
      </p:sp>
      <p:sp>
        <p:nvSpPr>
          <p:cNvPr id="66" name="Text 64"/>
          <p:cNvSpPr/>
          <p:nvPr/>
        </p:nvSpPr>
        <p:spPr>
          <a:xfrm>
            <a:off x="6794500" y="4442321"/>
            <a:ext cx="27152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Lato" pitchFamily="34" charset="0"/>
                <a:ea typeface="Lato" pitchFamily="34" charset="-122"/>
                <a:cs typeface="Lato" pitchFamily="34" charset="-120"/>
              </a:rPr>
              <a:t>Read SMS records with an API key</a:t>
            </a:r>
            <a:endParaRPr lang="en-US" sz="1200" dirty="0"/>
          </a:p>
        </p:txBody>
      </p:sp>
      <p:sp>
        <p:nvSpPr>
          <p:cNvPr id="67" name="Text 65"/>
          <p:cNvSpPr/>
          <p:nvPr/>
        </p:nvSpPr>
        <p:spPr>
          <a:xfrm>
            <a:off x="11322447" y="4433441"/>
            <a:ext cx="120253"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888888"/>
                </a:solidFill>
                <a:latin typeface="Lato" pitchFamily="34" charset="0"/>
                <a:ea typeface="Lato" pitchFamily="34" charset="-122"/>
                <a:cs typeface="Lato" pitchFamily="34" charset="-120"/>
              </a:rPr>
              <a:t>?</a:t>
            </a:r>
            <a:endParaRPr lang="en-US" sz="1300" dirty="0"/>
          </a:p>
        </p:txBody>
      </p:sp>
      <p:sp>
        <p:nvSpPr>
          <p:cNvPr id="68" name="Shape 66"/>
          <p:cNvSpPr/>
          <p:nvPr/>
        </p:nvSpPr>
        <p:spPr>
          <a:xfrm>
            <a:off x="6426200" y="4747121"/>
            <a:ext cx="5054600" cy="294630"/>
          </a:xfrm>
          <a:prstGeom prst="roundRect">
            <a:avLst>
              <a:gd name="adj" fmla="val 21552"/>
            </a:avLst>
          </a:prstGeom>
          <a:solidFill>
            <a:srgbClr val="EBAAB2"/>
          </a:solidFill>
          <a:ln/>
        </p:spPr>
        <p:txBody>
          <a:bodyPr/>
          <a:lstStyle/>
          <a:p>
            <a:endParaRPr lang="en-US"/>
          </a:p>
        </p:txBody>
      </p:sp>
      <p:sp>
        <p:nvSpPr>
          <p:cNvPr id="69" name="Text 67"/>
          <p:cNvSpPr/>
          <p:nvPr/>
        </p:nvSpPr>
        <p:spPr>
          <a:xfrm>
            <a:off x="6515100" y="4796631"/>
            <a:ext cx="241300"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2F5597"/>
                </a:solidFill>
                <a:latin typeface="Lato" pitchFamily="34" charset="0"/>
                <a:ea typeface="Lato" pitchFamily="34" charset="-122"/>
                <a:cs typeface="Lato" pitchFamily="34" charset="-120"/>
              </a:rPr>
              <a:t>10</a:t>
            </a:r>
            <a:endParaRPr lang="en-US" sz="1100" dirty="0"/>
          </a:p>
        </p:txBody>
      </p:sp>
      <p:sp>
        <p:nvSpPr>
          <p:cNvPr id="70" name="Text 68"/>
          <p:cNvSpPr/>
          <p:nvPr/>
        </p:nvSpPr>
        <p:spPr>
          <a:xfrm>
            <a:off x="6794500" y="4787751"/>
            <a:ext cx="317206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0000"/>
                </a:solidFill>
                <a:latin typeface="Lato" pitchFamily="34" charset="0"/>
                <a:ea typeface="Lato" pitchFamily="34" charset="-122"/>
                <a:cs typeface="Lato" pitchFamily="34" charset="-120"/>
              </a:rPr>
              <a:t>Create a checkout without confirmation</a:t>
            </a:r>
            <a:endParaRPr lang="en-US" sz="1200" dirty="0"/>
          </a:p>
        </p:txBody>
      </p:sp>
      <p:sp>
        <p:nvSpPr>
          <p:cNvPr id="71" name="Text 69"/>
          <p:cNvSpPr/>
          <p:nvPr/>
        </p:nvSpPr>
        <p:spPr>
          <a:xfrm>
            <a:off x="11322447" y="4778871"/>
            <a:ext cx="120253"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888888"/>
                </a:solidFill>
                <a:latin typeface="Lato" pitchFamily="34" charset="0"/>
                <a:ea typeface="Lato" pitchFamily="34" charset="-122"/>
                <a:cs typeface="Lato" pitchFamily="34" charset="-120"/>
              </a:rPr>
              <a:t>?</a:t>
            </a:r>
            <a:endParaRPr lang="en-US" sz="1300" dirty="0"/>
          </a:p>
        </p:txBody>
      </p:sp>
      <p:sp>
        <p:nvSpPr>
          <p:cNvPr id="72" name="Text 70"/>
          <p:cNvSpPr/>
          <p:nvPr/>
        </p:nvSpPr>
        <p:spPr>
          <a:xfrm>
            <a:off x="6426200" y="5433070"/>
            <a:ext cx="5206238"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C00000"/>
                </a:solidFill>
                <a:latin typeface="Lato" pitchFamily="34" charset="0"/>
                <a:ea typeface="Lato" pitchFamily="34" charset="-122"/>
                <a:cs typeface="Lato" pitchFamily="34" charset="-120"/>
              </a:rPr>
              <a:t>Only one cheap label for the whole run: unsafe</a:t>
            </a:r>
            <a:endParaRPr lang="en-US" sz="1400" dirty="0"/>
          </a:p>
        </p:txBody>
      </p:sp>
      <p:sp>
        <p:nvSpPr>
          <p:cNvPr id="73" name="Text 71"/>
          <p:cNvSpPr/>
          <p:nvPr/>
        </p:nvSpPr>
        <p:spPr>
          <a:xfrm>
            <a:off x="340360" y="5918200"/>
            <a:ext cx="11511280" cy="355600"/>
          </a:xfrm>
          <a:prstGeom prst="rect">
            <a:avLst/>
          </a:prstGeom>
          <a:noFill/>
          <a:ln/>
        </p:spPr>
        <p:txBody>
          <a:bodyPr wrap="square" lIns="0" tIns="0" rIns="0" bIns="0" rtlCol="0" anchor="t">
            <a:normAutofit/>
          </a:bodyPr>
          <a:lstStyle/>
          <a:p>
            <a:pPr marL="0" indent="0" algn="ctr">
              <a:lnSpc>
                <a:spcPts val="2600"/>
              </a:lnSpc>
              <a:buNone/>
            </a:pPr>
            <a:r>
              <a:rPr lang="en-US" sz="2000" dirty="0">
                <a:solidFill>
                  <a:srgbClr val="000000"/>
                </a:solidFill>
                <a:latin typeface="Lato" pitchFamily="34" charset="0"/>
                <a:ea typeface="Lato" pitchFamily="34" charset="-122"/>
                <a:cs typeface="Lato" pitchFamily="34" charset="-120"/>
              </a:rPr>
              <a:t>Without step labels, the auditor has to find where risk builds up on its own</a:t>
            </a:r>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4" name="Text 2"/>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28 / 33</a:t>
            </a:r>
            <a:endParaRPr lang="en-US" sz="1200" dirty="0"/>
          </a:p>
        </p:txBody>
      </p:sp>
      <p:sp>
        <p:nvSpPr>
          <p:cNvPr id="5" name="Text 3"/>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Hidden States to Risk State, One Label per Run</a:t>
            </a:r>
            <a:endParaRPr lang="en-US" sz="3200" dirty="0"/>
          </a:p>
        </p:txBody>
      </p:sp>
      <p:sp>
        <p:nvSpPr>
          <p:cNvPr id="6" name="Text 4"/>
          <p:cNvSpPr/>
          <p:nvPr/>
        </p:nvSpPr>
        <p:spPr>
          <a:xfrm>
            <a:off x="508000" y="1026120"/>
            <a:ext cx="11511280" cy="393700"/>
          </a:xfrm>
          <a:prstGeom prst="rect">
            <a:avLst/>
          </a:prstGeom>
          <a:noFill/>
          <a:ln/>
        </p:spPr>
        <p:txBody>
          <a:bodyPr wrap="square" lIns="0" tIns="0" rIns="0" bIns="0" rtlCol="0" anchor="t">
            <a:normAutofit/>
          </a:bodyPr>
          <a:lstStyle/>
          <a:p>
            <a:pPr marL="0" indent="0" algn="l">
              <a:lnSpc>
                <a:spcPts val="2900"/>
              </a:lnSpc>
              <a:buNone/>
            </a:pPr>
            <a:r>
              <a:rPr lang="en-US" sz="2000" b="1" dirty="0">
                <a:solidFill>
                  <a:srgbClr val="000000"/>
                </a:solidFill>
                <a:latin typeface="Lato" pitchFamily="34" charset="0"/>
                <a:ea typeface="Lato" pitchFamily="34" charset="-122"/>
                <a:cs typeface="Lato" pitchFamily="34" charset="-120"/>
              </a:rPr>
              <a:t>Idea:</a:t>
            </a:r>
            <a:r>
              <a:rPr lang="en-US" sz="2000" dirty="0">
                <a:solidFill>
                  <a:srgbClr val="000000"/>
                </a:solidFill>
                <a:latin typeface="Lato" pitchFamily="34" charset="0"/>
                <a:ea typeface="Lato" pitchFamily="34" charset="-122"/>
                <a:cs typeface="Lato" pitchFamily="34" charset="-120"/>
              </a:rPr>
              <a:t> learn a risk score from a frozen model's hidden states, </a:t>
            </a:r>
            <a:r>
              <a:rPr lang="en-US" sz="2000" u="sng" dirty="0">
                <a:solidFill>
                  <a:srgbClr val="C00000"/>
                </a:solidFill>
                <a:latin typeface="Lato" pitchFamily="34" charset="0"/>
                <a:ea typeface="Lato" pitchFamily="34" charset="-122"/>
                <a:cs typeface="Lato" pitchFamily="34" charset="-120"/>
              </a:rPr>
              <a:t>with one label per run</a:t>
            </a:r>
            <a:endParaRPr lang="en-US" sz="2000" dirty="0"/>
          </a:p>
        </p:txBody>
      </p:sp>
      <p:pic>
        <p:nvPicPr>
          <p:cNvPr id="7" name="Image 0" descr="pipeline: a frozen observer LLM reads the trajectory prefix; a trained encoder maps its hidden state into a mechanism bank of reusable risk patterns, here retrieval mismatch, failed API call, unreliable data, credentialed access and information gathering, and the current step lands in credentialed access; a GRU carries this evidence across steps and the risk score crosses the threshold for an early warning"/>
          <p:cNvPicPr>
            <a:picLocks noChangeAspect="1"/>
          </p:cNvPicPr>
          <p:nvPr/>
        </p:nvPicPr>
        <p:blipFill>
          <a:blip r:embed="rId3"/>
          <a:srcRect l="-1485" r="-1485"/>
          <a:stretch/>
        </p:blipFill>
        <p:spPr>
          <a:xfrm>
            <a:off x="508000" y="1481435"/>
            <a:ext cx="11176000" cy="3206750"/>
          </a:xfrm>
          <a:prstGeom prst="rect">
            <a:avLst/>
          </a:prstGeom>
        </p:spPr>
      </p:pic>
      <p:pic>
        <p:nvPicPr>
          <p:cNvPr id="8" name="Image 1" descr="weak supervision with one label per run: in a safe run every step is held low; in an unsafe run the risk is free to rise, a later step is ranked above an earlier one, and the final step is pinned to unsafe"/>
          <p:cNvPicPr>
            <a:picLocks noChangeAspect="1"/>
          </p:cNvPicPr>
          <p:nvPr/>
        </p:nvPicPr>
        <p:blipFill>
          <a:blip r:embed="rId4"/>
          <a:srcRect l="-2752" r="-2752"/>
          <a:stretch/>
        </p:blipFill>
        <p:spPr>
          <a:xfrm>
            <a:off x="508000" y="4802485"/>
            <a:ext cx="11176000" cy="13843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4" name="Text 2"/>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29 / 33</a:t>
            </a:r>
            <a:endParaRPr lang="en-US" sz="1200" dirty="0"/>
          </a:p>
        </p:txBody>
      </p:sp>
      <p:sp>
        <p:nvSpPr>
          <p:cNvPr id="5" name="Text 3"/>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Results: Earlier Warning Without Losing Final Accuracy</a:t>
            </a:r>
            <a:endParaRPr lang="en-US" sz="3200" dirty="0"/>
          </a:p>
        </p:txBody>
      </p:sp>
      <p:sp>
        <p:nvSpPr>
          <p:cNvPr id="6" name="Text 4"/>
          <p:cNvSpPr/>
          <p:nvPr/>
        </p:nvSpPr>
        <p:spPr>
          <a:xfrm>
            <a:off x="508000" y="1026120"/>
            <a:ext cx="11511280" cy="393700"/>
          </a:xfrm>
          <a:prstGeom prst="rect">
            <a:avLst/>
          </a:prstGeom>
          <a:noFill/>
          <a:ln/>
        </p:spPr>
        <p:txBody>
          <a:bodyPr wrap="square" lIns="0" tIns="0" rIns="0" bIns="0" rtlCol="0" anchor="t">
            <a:normAutofit/>
          </a:bodyPr>
          <a:lstStyle/>
          <a:p>
            <a:pPr marL="0" indent="0" algn="l">
              <a:lnSpc>
                <a:spcPts val="2900"/>
              </a:lnSpc>
              <a:buNone/>
            </a:pPr>
            <a:r>
              <a:rPr lang="en-US" sz="2000" b="1" dirty="0">
                <a:solidFill>
                  <a:srgbClr val="000000"/>
                </a:solidFill>
                <a:latin typeface="Lato" pitchFamily="34" charset="0"/>
                <a:ea typeface="Lato" pitchFamily="34" charset="-122"/>
                <a:cs typeface="Lato" pitchFamily="34" charset="-120"/>
              </a:rPr>
              <a:t>Result:</a:t>
            </a:r>
            <a:r>
              <a:rPr lang="en-US" sz="2000" dirty="0">
                <a:solidFill>
                  <a:srgbClr val="000000"/>
                </a:solidFill>
                <a:latin typeface="Lato" pitchFamily="34" charset="0"/>
                <a:ea typeface="Lato" pitchFamily="34" charset="-122"/>
                <a:cs typeface="Lato" pitchFamily="34" charset="-120"/>
              </a:rPr>
              <a:t> early-warning score </a:t>
            </a:r>
            <a:r>
              <a:rPr lang="en-US" sz="2000" u="sng" dirty="0">
                <a:solidFill>
                  <a:srgbClr val="C00000"/>
                </a:solidFill>
                <a:latin typeface="Lato" pitchFamily="34" charset="0"/>
                <a:ea typeface="Lato" pitchFamily="34" charset="-122"/>
                <a:cs typeface="Lato" pitchFamily="34" charset="-120"/>
              </a:rPr>
              <a:t>82.2 vs. 62.9</a:t>
            </a:r>
            <a:r>
              <a:rPr lang="en-US" sz="2000" dirty="0">
                <a:solidFill>
                  <a:srgbClr val="000000"/>
                </a:solidFill>
                <a:latin typeface="Lato" pitchFamily="34" charset="0"/>
                <a:ea typeface="Lato" pitchFamily="34" charset="-122"/>
                <a:cs typeface="Lato" pitchFamily="34" charset="-120"/>
              </a:rPr>
              <a:t> for the best baseline, with higher final F1</a:t>
            </a:r>
            <a:endParaRPr lang="en-US" sz="2000" dirty="0"/>
          </a:p>
        </p:txBody>
      </p:sp>
      <p:sp>
        <p:nvSpPr>
          <p:cNvPr id="7" name="Text 5"/>
          <p:cNvSpPr/>
          <p:nvPr/>
        </p:nvSpPr>
        <p:spPr>
          <a:xfrm>
            <a:off x="680660" y="1794470"/>
            <a:ext cx="5052179" cy="247650"/>
          </a:xfrm>
          <a:prstGeom prst="rect">
            <a:avLst/>
          </a:prstGeom>
          <a:noFill/>
          <a:ln/>
        </p:spPr>
        <p:txBody>
          <a:bodyPr wrap="square" lIns="0" tIns="0" rIns="0" bIns="0" rtlCol="0" anchor="t">
            <a:normAutofit/>
          </a:bodyPr>
          <a:lstStyle/>
          <a:p>
            <a:pPr marL="0" indent="0" algn="ctr">
              <a:lnSpc>
                <a:spcPts val="1750"/>
              </a:lnSpc>
              <a:buNone/>
            </a:pPr>
            <a:r>
              <a:rPr lang="en-US" sz="1400" b="1" dirty="0">
                <a:solidFill>
                  <a:srgbClr val="2F5597"/>
                </a:solidFill>
                <a:latin typeface="Lato" pitchFamily="34" charset="0"/>
                <a:ea typeface="Lato" pitchFamily="34" charset="-122"/>
                <a:cs typeface="Lato" pitchFamily="34" charset="-120"/>
              </a:rPr>
              <a:t>ATBench: final accuracy and how early the alarm fires</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20700" y="2092920"/>
          <a:ext cx="5384800" cy="3262210"/>
        </p:xfrm>
        <a:graphic>
          <a:graphicData uri="http://schemas.openxmlformats.org/drawingml/2006/table">
            <a:tbl>
              <a:tblPr/>
              <a:tblGrid>
                <a:gridCol w="2315464">
                  <a:extLst>
                    <a:ext uri="{9D8B030D-6E8A-4147-A177-3AD203B41FA5}">
                      <a16:colId xmlns:a16="http://schemas.microsoft.com/office/drawing/2014/main" val="20000"/>
                    </a:ext>
                  </a:extLst>
                </a:gridCol>
                <a:gridCol w="915416">
                  <a:extLst>
                    <a:ext uri="{9D8B030D-6E8A-4147-A177-3AD203B41FA5}">
                      <a16:colId xmlns:a16="http://schemas.microsoft.com/office/drawing/2014/main" val="20001"/>
                    </a:ext>
                  </a:extLst>
                </a:gridCol>
                <a:gridCol w="969264">
                  <a:extLst>
                    <a:ext uri="{9D8B030D-6E8A-4147-A177-3AD203B41FA5}">
                      <a16:colId xmlns:a16="http://schemas.microsoft.com/office/drawing/2014/main" val="20002"/>
                    </a:ext>
                  </a:extLst>
                </a:gridCol>
                <a:gridCol w="1184656">
                  <a:extLst>
                    <a:ext uri="{9D8B030D-6E8A-4147-A177-3AD203B41FA5}">
                      <a16:colId xmlns:a16="http://schemas.microsoft.com/office/drawing/2014/main" val="20003"/>
                    </a:ext>
                  </a:extLst>
                </a:gridCol>
              </a:tblGrid>
              <a:tr h="466030">
                <a:tc>
                  <a:txBody>
                    <a:bodyPr/>
                    <a:lstStyle/>
                    <a:p>
                      <a:pPr marL="0" indent="0">
                        <a:lnSpc>
                          <a:spcPts val="2380"/>
                        </a:lnSpc>
                        <a:buNone/>
                      </a:pPr>
                      <a:r>
                        <a:rPr lang="en-US" sz="1700" b="1" dirty="0">
                          <a:solidFill>
                            <a:srgbClr val="000000"/>
                          </a:solidFill>
                          <a:latin typeface="Lato" pitchFamily="34" charset="0"/>
                          <a:ea typeface="Lato" pitchFamily="34" charset="-122"/>
                          <a:cs typeface="Lato" pitchFamily="34" charset="-120"/>
                        </a:rPr>
                        <a:t>Auditor</a:t>
                      </a:r>
                      <a:endParaRPr lang="en-US" sz="1700" dirty="0">
                        <a:latin typeface="Lato" charset="0"/>
                        <a:ea typeface="Lato" charset="0"/>
                        <a:cs typeface="Lato" charset="0"/>
                      </a:endParaRPr>
                    </a:p>
                  </a:txBody>
                  <a:tcPr marL="75565" marR="75565" marT="75565" marB="75565">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r">
                        <a:lnSpc>
                          <a:spcPts val="2380"/>
                        </a:lnSpc>
                        <a:buNone/>
                      </a:pPr>
                      <a:r>
                        <a:rPr lang="en-US" sz="1700" b="1" dirty="0">
                          <a:solidFill>
                            <a:srgbClr val="000000"/>
                          </a:solidFill>
                          <a:latin typeface="Lato" pitchFamily="34" charset="0"/>
                          <a:ea typeface="Lato" pitchFamily="34" charset="-122"/>
                          <a:cs typeface="Lato" pitchFamily="34" charset="-120"/>
                        </a:rPr>
                        <a:t>F1 ↑</a:t>
                      </a:r>
                      <a:endParaRPr lang="en-US" sz="1700" dirty="0">
                        <a:latin typeface="Lato" charset="0"/>
                        <a:ea typeface="Lato" charset="0"/>
                        <a:cs typeface="Lato" charset="0"/>
                      </a:endParaRPr>
                    </a:p>
                  </a:txBody>
                  <a:tcPr marL="75565" marR="75565" marT="75565" marB="75565">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r">
                        <a:lnSpc>
                          <a:spcPts val="2380"/>
                        </a:lnSpc>
                        <a:buNone/>
                      </a:pPr>
                      <a:r>
                        <a:rPr lang="en-US" sz="1700" b="1" dirty="0">
                          <a:solidFill>
                            <a:srgbClr val="000000"/>
                          </a:solidFill>
                          <a:latin typeface="Lato" pitchFamily="34" charset="0"/>
                          <a:ea typeface="Lato" pitchFamily="34" charset="-122"/>
                          <a:cs typeface="Lato" pitchFamily="34" charset="-120"/>
                        </a:rPr>
                        <a:t>EDR ↑</a:t>
                      </a:r>
                      <a:endParaRPr lang="en-US" sz="1700" dirty="0">
                        <a:latin typeface="Lato" charset="0"/>
                        <a:ea typeface="Lato" charset="0"/>
                        <a:cs typeface="Lato" charset="0"/>
                      </a:endParaRPr>
                    </a:p>
                  </a:txBody>
                  <a:tcPr marL="75565" marR="75565" marT="75565" marB="75565">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r">
                        <a:lnSpc>
                          <a:spcPts val="2380"/>
                        </a:lnSpc>
                        <a:buNone/>
                      </a:pPr>
                      <a:r>
                        <a:rPr lang="en-US" sz="1700" b="1" dirty="0">
                          <a:solidFill>
                            <a:srgbClr val="000000"/>
                          </a:solidFill>
                          <a:latin typeface="Lato" pitchFamily="34" charset="0"/>
                          <a:ea typeface="Lato" pitchFamily="34" charset="-122"/>
                          <a:cs typeface="Lato" pitchFamily="34" charset="-120"/>
                        </a:rPr>
                        <a:t>EAUPC ↑</a:t>
                      </a:r>
                      <a:endParaRPr lang="en-US" sz="1700" dirty="0">
                        <a:latin typeface="Lato" charset="0"/>
                        <a:ea typeface="Lato" charset="0"/>
                        <a:cs typeface="Lato" charset="0"/>
                      </a:endParaRPr>
                    </a:p>
                  </a:txBody>
                  <a:tcPr marL="75565" marR="75565" marT="75565" marB="75565">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extLst>
                  <a:ext uri="{0D108BD9-81ED-4DB2-BD59-A6C34878D82A}">
                    <a16:rowId xmlns:a16="http://schemas.microsoft.com/office/drawing/2014/main" val="10000"/>
                  </a:ext>
                </a:extLst>
              </a:tr>
              <a:tr h="466030">
                <a:tc>
                  <a:txBody>
                    <a:bodyPr/>
                    <a:lstStyle/>
                    <a:p>
                      <a:pPr marL="0" indent="0">
                        <a:lnSpc>
                          <a:spcPts val="2380"/>
                        </a:lnSpc>
                        <a:buNone/>
                      </a:pPr>
                      <a:r>
                        <a:rPr lang="en-US" sz="1700" dirty="0">
                          <a:solidFill>
                            <a:srgbClr val="000000"/>
                          </a:solidFill>
                          <a:latin typeface="Lato" pitchFamily="34" charset="0"/>
                          <a:ea typeface="Lato" pitchFamily="34" charset="-122"/>
                          <a:cs typeface="Lato" pitchFamily="34" charset="-120"/>
                        </a:rPr>
                        <a:t>GPT-5.2</a:t>
                      </a:r>
                      <a:endParaRPr lang="en-US" sz="1700" dirty="0">
                        <a:latin typeface="Lato" charset="0"/>
                        <a:ea typeface="Lato" charset="0"/>
                        <a:cs typeface="Lato" charset="0"/>
                      </a:endParaRPr>
                    </a:p>
                  </a:txBody>
                  <a:tcPr marL="75565" marR="75565" marT="75565" marB="7556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380"/>
                        </a:lnSpc>
                        <a:buNone/>
                      </a:pPr>
                      <a:r>
                        <a:rPr lang="en-US" sz="1700" dirty="0">
                          <a:solidFill>
                            <a:srgbClr val="000000"/>
                          </a:solidFill>
                          <a:latin typeface="Lato" pitchFamily="34" charset="0"/>
                          <a:ea typeface="Lato" pitchFamily="34" charset="-122"/>
                          <a:cs typeface="Lato" pitchFamily="34" charset="-120"/>
                        </a:rPr>
                        <a:t>62.0</a:t>
                      </a:r>
                      <a:endParaRPr lang="en-US" sz="1700" dirty="0">
                        <a:latin typeface="Lato" charset="0"/>
                        <a:ea typeface="Lato" charset="0"/>
                        <a:cs typeface="Lato" charset="0"/>
                      </a:endParaRPr>
                    </a:p>
                  </a:txBody>
                  <a:tcPr marL="75565" marR="75565" marT="75565" marB="7556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380"/>
                        </a:lnSpc>
                        <a:buNone/>
                      </a:pPr>
                      <a:r>
                        <a:rPr lang="en-US" sz="1700" dirty="0">
                          <a:solidFill>
                            <a:srgbClr val="000000"/>
                          </a:solidFill>
                          <a:latin typeface="Lato" pitchFamily="34" charset="0"/>
                          <a:ea typeface="Lato" pitchFamily="34" charset="-122"/>
                          <a:cs typeface="Lato" pitchFamily="34" charset="-120"/>
                        </a:rPr>
                        <a:t>54.5</a:t>
                      </a:r>
                      <a:endParaRPr lang="en-US" sz="1700" dirty="0">
                        <a:latin typeface="Lato" charset="0"/>
                        <a:ea typeface="Lato" charset="0"/>
                        <a:cs typeface="Lato" charset="0"/>
                      </a:endParaRPr>
                    </a:p>
                  </a:txBody>
                  <a:tcPr marL="75565" marR="75565" marT="75565" marB="7556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380"/>
                        </a:lnSpc>
                        <a:buNone/>
                      </a:pPr>
                      <a:r>
                        <a:rPr lang="en-US" sz="1700" dirty="0">
                          <a:solidFill>
                            <a:srgbClr val="000000"/>
                          </a:solidFill>
                          <a:latin typeface="Lato" pitchFamily="34" charset="0"/>
                          <a:ea typeface="Lato" pitchFamily="34" charset="-122"/>
                          <a:cs typeface="Lato" pitchFamily="34" charset="-120"/>
                        </a:rPr>
                        <a:t>55.0</a:t>
                      </a:r>
                      <a:endParaRPr lang="en-US" sz="1700" dirty="0">
                        <a:latin typeface="Lato" charset="0"/>
                        <a:ea typeface="Lato" charset="0"/>
                        <a:cs typeface="Lato" charset="0"/>
                      </a:endParaRPr>
                    </a:p>
                  </a:txBody>
                  <a:tcPr marL="75565" marR="75565" marT="75565" marB="7556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466030">
                <a:tc>
                  <a:txBody>
                    <a:bodyPr/>
                    <a:lstStyle/>
                    <a:p>
                      <a:pPr marL="0" indent="0">
                        <a:lnSpc>
                          <a:spcPts val="2380"/>
                        </a:lnSpc>
                        <a:buNone/>
                      </a:pPr>
                      <a:r>
                        <a:rPr lang="en-US" sz="1700" dirty="0">
                          <a:solidFill>
                            <a:srgbClr val="000000"/>
                          </a:solidFill>
                          <a:latin typeface="Lato" pitchFamily="34" charset="0"/>
                          <a:ea typeface="Lato" pitchFamily="34" charset="-122"/>
                          <a:cs typeface="Lato" pitchFamily="34" charset="-120"/>
                        </a:rPr>
                        <a:t>ShieldAgent</a:t>
                      </a:r>
                      <a:endParaRPr lang="en-US" sz="1700" dirty="0">
                        <a:latin typeface="Lato" charset="0"/>
                        <a:ea typeface="Lato" charset="0"/>
                        <a:cs typeface="Lato" charset="0"/>
                      </a:endParaRPr>
                    </a:p>
                  </a:txBody>
                  <a:tcPr marL="75565" marR="75565" marT="75565" marB="7556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380"/>
                        </a:lnSpc>
                        <a:buNone/>
                      </a:pPr>
                      <a:r>
                        <a:rPr lang="en-US" sz="1700" dirty="0">
                          <a:solidFill>
                            <a:srgbClr val="000000"/>
                          </a:solidFill>
                          <a:latin typeface="Lato" pitchFamily="34" charset="0"/>
                          <a:ea typeface="Lato" pitchFamily="34" charset="-122"/>
                          <a:cs typeface="Lato" pitchFamily="34" charset="-120"/>
                        </a:rPr>
                        <a:t>68.9</a:t>
                      </a:r>
                      <a:endParaRPr lang="en-US" sz="1700" dirty="0">
                        <a:latin typeface="Lato" charset="0"/>
                        <a:ea typeface="Lato" charset="0"/>
                        <a:cs typeface="Lato" charset="0"/>
                      </a:endParaRPr>
                    </a:p>
                  </a:txBody>
                  <a:tcPr marL="75565" marR="75565" marT="75565" marB="7556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380"/>
                        </a:lnSpc>
                        <a:buNone/>
                      </a:pPr>
                      <a:r>
                        <a:rPr lang="en-US" sz="1700" dirty="0">
                          <a:solidFill>
                            <a:srgbClr val="000000"/>
                          </a:solidFill>
                          <a:latin typeface="Lato" pitchFamily="34" charset="0"/>
                          <a:ea typeface="Lato" pitchFamily="34" charset="-122"/>
                          <a:cs typeface="Lato" pitchFamily="34" charset="-120"/>
                        </a:rPr>
                        <a:t>34.9</a:t>
                      </a:r>
                      <a:endParaRPr lang="en-US" sz="1700" dirty="0">
                        <a:latin typeface="Lato" charset="0"/>
                        <a:ea typeface="Lato" charset="0"/>
                        <a:cs typeface="Lato" charset="0"/>
                      </a:endParaRPr>
                    </a:p>
                  </a:txBody>
                  <a:tcPr marL="75565" marR="75565" marT="75565" marB="7556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380"/>
                        </a:lnSpc>
                        <a:buNone/>
                      </a:pPr>
                      <a:r>
                        <a:rPr lang="en-US" sz="1700" dirty="0">
                          <a:solidFill>
                            <a:srgbClr val="000000"/>
                          </a:solidFill>
                          <a:latin typeface="Lato" pitchFamily="34" charset="0"/>
                          <a:ea typeface="Lato" pitchFamily="34" charset="-122"/>
                          <a:cs typeface="Lato" pitchFamily="34" charset="-120"/>
                        </a:rPr>
                        <a:t>57.1</a:t>
                      </a:r>
                      <a:endParaRPr lang="en-US" sz="1700" dirty="0">
                        <a:latin typeface="Lato" charset="0"/>
                        <a:ea typeface="Lato" charset="0"/>
                        <a:cs typeface="Lato" charset="0"/>
                      </a:endParaRPr>
                    </a:p>
                  </a:txBody>
                  <a:tcPr marL="75565" marR="75565" marT="75565" marB="7556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466030">
                <a:tc>
                  <a:txBody>
                    <a:bodyPr/>
                    <a:lstStyle/>
                    <a:p>
                      <a:pPr marL="0" indent="0">
                        <a:lnSpc>
                          <a:spcPts val="2380"/>
                        </a:lnSpc>
                        <a:buNone/>
                      </a:pPr>
                      <a:r>
                        <a:rPr lang="en-US" sz="1700" dirty="0">
                          <a:solidFill>
                            <a:srgbClr val="000000"/>
                          </a:solidFill>
                          <a:latin typeface="Lato" pitchFamily="34" charset="0"/>
                          <a:ea typeface="Lato" pitchFamily="34" charset="-122"/>
                          <a:cs typeface="Lato" pitchFamily="34" charset="-120"/>
                        </a:rPr>
                        <a:t>AgentAuditor</a:t>
                      </a:r>
                      <a:endParaRPr lang="en-US" sz="1700" dirty="0">
                        <a:latin typeface="Lato" charset="0"/>
                        <a:ea typeface="Lato" charset="0"/>
                        <a:cs typeface="Lato" charset="0"/>
                      </a:endParaRPr>
                    </a:p>
                  </a:txBody>
                  <a:tcPr marL="75565" marR="75565" marT="75565" marB="7556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380"/>
                        </a:lnSpc>
                        <a:buNone/>
                      </a:pPr>
                      <a:r>
                        <a:rPr lang="en-US" sz="1700" dirty="0">
                          <a:solidFill>
                            <a:srgbClr val="000000"/>
                          </a:solidFill>
                          <a:latin typeface="Lato" pitchFamily="34" charset="0"/>
                          <a:ea typeface="Lato" pitchFamily="34" charset="-122"/>
                          <a:cs typeface="Lato" pitchFamily="34" charset="-120"/>
                        </a:rPr>
                        <a:t>74.5</a:t>
                      </a:r>
                      <a:endParaRPr lang="en-US" sz="1700" dirty="0">
                        <a:latin typeface="Lato" charset="0"/>
                        <a:ea typeface="Lato" charset="0"/>
                        <a:cs typeface="Lato" charset="0"/>
                      </a:endParaRPr>
                    </a:p>
                  </a:txBody>
                  <a:tcPr marL="75565" marR="75565" marT="75565" marB="7556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380"/>
                        </a:lnSpc>
                        <a:buNone/>
                      </a:pPr>
                      <a:r>
                        <a:rPr lang="en-US" sz="1700" dirty="0">
                          <a:solidFill>
                            <a:srgbClr val="000000"/>
                          </a:solidFill>
                          <a:latin typeface="Lato" pitchFamily="34" charset="0"/>
                          <a:ea typeface="Lato" pitchFamily="34" charset="-122"/>
                          <a:cs typeface="Lato" pitchFamily="34" charset="-120"/>
                        </a:rPr>
                        <a:t>35.8</a:t>
                      </a:r>
                      <a:endParaRPr lang="en-US" sz="1700" dirty="0">
                        <a:latin typeface="Lato" charset="0"/>
                        <a:ea typeface="Lato" charset="0"/>
                        <a:cs typeface="Lato" charset="0"/>
                      </a:endParaRPr>
                    </a:p>
                  </a:txBody>
                  <a:tcPr marL="75565" marR="75565" marT="75565" marB="7556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380"/>
                        </a:lnSpc>
                        <a:buNone/>
                      </a:pPr>
                      <a:r>
                        <a:rPr lang="en-US" sz="1700" dirty="0">
                          <a:solidFill>
                            <a:srgbClr val="000000"/>
                          </a:solidFill>
                          <a:latin typeface="Lato" pitchFamily="34" charset="0"/>
                          <a:ea typeface="Lato" pitchFamily="34" charset="-122"/>
                          <a:cs typeface="Lato" pitchFamily="34" charset="-120"/>
                        </a:rPr>
                        <a:t>52.2</a:t>
                      </a:r>
                      <a:endParaRPr lang="en-US" sz="1700" dirty="0">
                        <a:latin typeface="Lato" charset="0"/>
                        <a:ea typeface="Lato" charset="0"/>
                        <a:cs typeface="Lato" charset="0"/>
                      </a:endParaRPr>
                    </a:p>
                  </a:txBody>
                  <a:tcPr marL="75565" marR="75565" marT="75565" marB="7556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466030">
                <a:tc>
                  <a:txBody>
                    <a:bodyPr/>
                    <a:lstStyle/>
                    <a:p>
                      <a:pPr marL="0" indent="0">
                        <a:lnSpc>
                          <a:spcPts val="2380"/>
                        </a:lnSpc>
                        <a:buNone/>
                      </a:pPr>
                      <a:r>
                        <a:rPr lang="en-US" sz="1700" dirty="0">
                          <a:solidFill>
                            <a:srgbClr val="000000"/>
                          </a:solidFill>
                          <a:latin typeface="Lato" pitchFamily="34" charset="0"/>
                          <a:ea typeface="Lato" pitchFamily="34" charset="-122"/>
                          <a:cs typeface="Lato" pitchFamily="34" charset="-120"/>
                        </a:rPr>
                        <a:t>AgentDoG-8B</a:t>
                      </a:r>
                      <a:endParaRPr lang="en-US" sz="1700" dirty="0">
                        <a:latin typeface="Lato" charset="0"/>
                        <a:ea typeface="Lato" charset="0"/>
                        <a:cs typeface="Lato" charset="0"/>
                      </a:endParaRPr>
                    </a:p>
                  </a:txBody>
                  <a:tcPr marL="75565" marR="75565" marT="75565" marB="7556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380"/>
                        </a:lnSpc>
                        <a:buNone/>
                      </a:pPr>
                      <a:r>
                        <a:rPr lang="en-US" sz="1700" dirty="0">
                          <a:solidFill>
                            <a:srgbClr val="000000"/>
                          </a:solidFill>
                          <a:latin typeface="Lato" pitchFamily="34" charset="0"/>
                          <a:ea typeface="Lato" pitchFamily="34" charset="-122"/>
                          <a:cs typeface="Lato" pitchFamily="34" charset="-120"/>
                        </a:rPr>
                        <a:t>80.7</a:t>
                      </a:r>
                      <a:endParaRPr lang="en-US" sz="1700" dirty="0">
                        <a:latin typeface="Lato" charset="0"/>
                        <a:ea typeface="Lato" charset="0"/>
                        <a:cs typeface="Lato" charset="0"/>
                      </a:endParaRPr>
                    </a:p>
                  </a:txBody>
                  <a:tcPr marL="75565" marR="75565" marT="75565" marB="7556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380"/>
                        </a:lnSpc>
                        <a:buNone/>
                      </a:pPr>
                      <a:r>
                        <a:rPr lang="en-US" sz="1700" dirty="0">
                          <a:solidFill>
                            <a:srgbClr val="000000"/>
                          </a:solidFill>
                          <a:latin typeface="Lato" pitchFamily="34" charset="0"/>
                          <a:ea typeface="Lato" pitchFamily="34" charset="-122"/>
                          <a:cs typeface="Lato" pitchFamily="34" charset="-120"/>
                        </a:rPr>
                        <a:t>54.5</a:t>
                      </a:r>
                      <a:endParaRPr lang="en-US" sz="1700" dirty="0">
                        <a:latin typeface="Lato" charset="0"/>
                        <a:ea typeface="Lato" charset="0"/>
                        <a:cs typeface="Lato" charset="0"/>
                      </a:endParaRPr>
                    </a:p>
                  </a:txBody>
                  <a:tcPr marL="75565" marR="75565" marT="75565" marB="7556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380"/>
                        </a:lnSpc>
                        <a:buNone/>
                      </a:pPr>
                      <a:r>
                        <a:rPr lang="en-US" sz="1700" dirty="0">
                          <a:solidFill>
                            <a:srgbClr val="000000"/>
                          </a:solidFill>
                          <a:latin typeface="Lato" pitchFamily="34" charset="0"/>
                          <a:ea typeface="Lato" pitchFamily="34" charset="-122"/>
                          <a:cs typeface="Lato" pitchFamily="34" charset="-120"/>
                        </a:rPr>
                        <a:t>62.9</a:t>
                      </a:r>
                      <a:endParaRPr lang="en-US" sz="1700" dirty="0">
                        <a:latin typeface="Lato" charset="0"/>
                        <a:ea typeface="Lato" charset="0"/>
                        <a:cs typeface="Lato" charset="0"/>
                      </a:endParaRPr>
                    </a:p>
                  </a:txBody>
                  <a:tcPr marL="75565" marR="75565" marT="75565" marB="7556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466030">
                <a:tc>
                  <a:txBody>
                    <a:bodyPr/>
                    <a:lstStyle/>
                    <a:p>
                      <a:pPr marL="0" indent="0">
                        <a:lnSpc>
                          <a:spcPts val="2380"/>
                        </a:lnSpc>
                        <a:buNone/>
                      </a:pPr>
                      <a:r>
                        <a:rPr lang="en-US" sz="1700" dirty="0">
                          <a:solidFill>
                            <a:srgbClr val="C00000"/>
                          </a:solidFill>
                          <a:latin typeface="Lato" pitchFamily="34" charset="0"/>
                          <a:ea typeface="Lato" pitchFamily="34" charset="-122"/>
                          <a:cs typeface="Lato" pitchFamily="34" charset="-120"/>
                        </a:rPr>
                        <a:t>TRACES-4B (ours)</a:t>
                      </a:r>
                      <a:endParaRPr lang="en-US" sz="1700" dirty="0">
                        <a:latin typeface="Lato" charset="0"/>
                        <a:ea typeface="Lato" charset="0"/>
                        <a:cs typeface="Lato" charset="0"/>
                      </a:endParaRPr>
                    </a:p>
                  </a:txBody>
                  <a:tcPr marL="75565" marR="75565" marT="75565" marB="75565">
                    <a:lnL w="12700" cap="flat" cmpd="sng" algn="ctr">
                      <a:solidFill>
                        <a:srgbClr val="CBCBCB"/>
                      </a:solidFill>
                      <a:prstDash val="solid"/>
                      <a:round/>
                      <a:headEnd type="none" w="med" len="med"/>
                      <a:tailEnd type="none" w="med" len="med"/>
                    </a:lnL>
                    <a:lnR w="12700" cap="flat" cmpd="sng" algn="ctr">
                      <a:solidFill>
                        <a:srgbClr val="C8BA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8BABC"/>
                      </a:solidFill>
                      <a:prstDash val="solid"/>
                      <a:round/>
                      <a:headEnd type="none" w="med" len="med"/>
                      <a:tailEnd type="none" w="med" len="med"/>
                    </a:lnB>
                    <a:solidFill>
                      <a:srgbClr val="FBE9EC"/>
                    </a:solidFill>
                  </a:tcPr>
                </a:tc>
                <a:tc>
                  <a:txBody>
                    <a:bodyPr/>
                    <a:lstStyle/>
                    <a:p>
                      <a:pPr marL="0" indent="0" algn="r">
                        <a:lnSpc>
                          <a:spcPts val="2380"/>
                        </a:lnSpc>
                        <a:buNone/>
                      </a:pPr>
                      <a:r>
                        <a:rPr lang="en-US" sz="1700" dirty="0">
                          <a:solidFill>
                            <a:srgbClr val="C00000"/>
                          </a:solidFill>
                          <a:latin typeface="Lato" pitchFamily="34" charset="0"/>
                          <a:ea typeface="Lato" pitchFamily="34" charset="-122"/>
                          <a:cs typeface="Lato" pitchFamily="34" charset="-120"/>
                        </a:rPr>
                        <a:t>84.5</a:t>
                      </a:r>
                      <a:endParaRPr lang="en-US" sz="1700" dirty="0">
                        <a:latin typeface="Lato" charset="0"/>
                        <a:ea typeface="Lato" charset="0"/>
                        <a:cs typeface="Lato" charset="0"/>
                      </a:endParaRPr>
                    </a:p>
                  </a:txBody>
                  <a:tcPr marL="75565" marR="75565" marT="75565" marB="75565">
                    <a:lnL w="12700" cap="flat" cmpd="sng" algn="ctr">
                      <a:solidFill>
                        <a:srgbClr val="C8BABC"/>
                      </a:solidFill>
                      <a:prstDash val="solid"/>
                      <a:round/>
                      <a:headEnd type="none" w="med" len="med"/>
                      <a:tailEnd type="none" w="med" len="med"/>
                    </a:lnL>
                    <a:lnR w="12700" cap="flat" cmpd="sng" algn="ctr">
                      <a:solidFill>
                        <a:srgbClr val="C8BA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8BABC"/>
                      </a:solidFill>
                      <a:prstDash val="solid"/>
                      <a:round/>
                      <a:headEnd type="none" w="med" len="med"/>
                      <a:tailEnd type="none" w="med" len="med"/>
                    </a:lnB>
                    <a:solidFill>
                      <a:srgbClr val="FBE9EC"/>
                    </a:solidFill>
                  </a:tcPr>
                </a:tc>
                <a:tc>
                  <a:txBody>
                    <a:bodyPr/>
                    <a:lstStyle/>
                    <a:p>
                      <a:pPr marL="0" indent="0" algn="r">
                        <a:lnSpc>
                          <a:spcPts val="2380"/>
                        </a:lnSpc>
                        <a:buNone/>
                      </a:pPr>
                      <a:r>
                        <a:rPr lang="en-US" sz="1700" dirty="0">
                          <a:solidFill>
                            <a:srgbClr val="C00000"/>
                          </a:solidFill>
                          <a:latin typeface="Lato" pitchFamily="34" charset="0"/>
                          <a:ea typeface="Lato" pitchFamily="34" charset="-122"/>
                          <a:cs typeface="Lato" pitchFamily="34" charset="-120"/>
                        </a:rPr>
                        <a:t>47.5</a:t>
                      </a:r>
                      <a:endParaRPr lang="en-US" sz="1700" dirty="0">
                        <a:latin typeface="Lato" charset="0"/>
                        <a:ea typeface="Lato" charset="0"/>
                        <a:cs typeface="Lato" charset="0"/>
                      </a:endParaRPr>
                    </a:p>
                  </a:txBody>
                  <a:tcPr marL="75565" marR="75565" marT="75565" marB="75565">
                    <a:lnL w="12700" cap="flat" cmpd="sng" algn="ctr">
                      <a:solidFill>
                        <a:srgbClr val="C8BABC"/>
                      </a:solidFill>
                      <a:prstDash val="solid"/>
                      <a:round/>
                      <a:headEnd type="none" w="med" len="med"/>
                      <a:tailEnd type="none" w="med" len="med"/>
                    </a:lnL>
                    <a:lnR w="12700" cap="flat" cmpd="sng" algn="ctr">
                      <a:solidFill>
                        <a:srgbClr val="C8BA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8BABC"/>
                      </a:solidFill>
                      <a:prstDash val="solid"/>
                      <a:round/>
                      <a:headEnd type="none" w="med" len="med"/>
                      <a:tailEnd type="none" w="med" len="med"/>
                    </a:lnB>
                    <a:solidFill>
                      <a:srgbClr val="FBE9EC"/>
                    </a:solidFill>
                  </a:tcPr>
                </a:tc>
                <a:tc>
                  <a:txBody>
                    <a:bodyPr/>
                    <a:lstStyle/>
                    <a:p>
                      <a:pPr marL="0" indent="0" algn="r">
                        <a:lnSpc>
                          <a:spcPts val="2380"/>
                        </a:lnSpc>
                        <a:buNone/>
                      </a:pPr>
                      <a:r>
                        <a:rPr lang="en-US" sz="1700" dirty="0">
                          <a:solidFill>
                            <a:srgbClr val="C00000"/>
                          </a:solidFill>
                          <a:latin typeface="Lato" pitchFamily="34" charset="0"/>
                          <a:ea typeface="Lato" pitchFamily="34" charset="-122"/>
                          <a:cs typeface="Lato" pitchFamily="34" charset="-120"/>
                        </a:rPr>
                        <a:t>82.2</a:t>
                      </a:r>
                      <a:endParaRPr lang="en-US" sz="1700" dirty="0">
                        <a:latin typeface="Lato" charset="0"/>
                        <a:ea typeface="Lato" charset="0"/>
                        <a:cs typeface="Lato" charset="0"/>
                      </a:endParaRPr>
                    </a:p>
                  </a:txBody>
                  <a:tcPr marL="75565" marR="75565" marT="75565" marB="75565">
                    <a:lnL w="12700" cap="flat" cmpd="sng" algn="ctr">
                      <a:solidFill>
                        <a:srgbClr val="C8BABC"/>
                      </a:solidFill>
                      <a:prstDash val="solid"/>
                      <a:round/>
                      <a:headEnd type="none" w="med" len="med"/>
                      <a:tailEnd type="none" w="med" len="med"/>
                    </a:lnL>
                    <a:lnR w="12700" cap="flat" cmpd="sng" algn="ctr">
                      <a:solidFill>
                        <a:srgbClr val="C8BA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8BABC"/>
                      </a:solidFill>
                      <a:prstDash val="solid"/>
                      <a:round/>
                      <a:headEnd type="none" w="med" len="med"/>
                      <a:tailEnd type="none" w="med" len="med"/>
                    </a:lnB>
                    <a:solidFill>
                      <a:srgbClr val="FBE9EC"/>
                    </a:solidFill>
                  </a:tcPr>
                </a:tc>
                <a:extLst>
                  <a:ext uri="{0D108BD9-81ED-4DB2-BD59-A6C34878D82A}">
                    <a16:rowId xmlns:a16="http://schemas.microsoft.com/office/drawing/2014/main" val="10005"/>
                  </a:ext>
                </a:extLst>
              </a:tr>
              <a:tr h="466030">
                <a:tc>
                  <a:txBody>
                    <a:bodyPr/>
                    <a:lstStyle/>
                    <a:p>
                      <a:pPr marL="0" indent="0">
                        <a:lnSpc>
                          <a:spcPts val="2380"/>
                        </a:lnSpc>
                        <a:buNone/>
                      </a:pPr>
                      <a:r>
                        <a:rPr lang="en-US" sz="1700" dirty="0">
                          <a:solidFill>
                            <a:srgbClr val="C00000"/>
                          </a:solidFill>
                          <a:latin typeface="Lato" pitchFamily="34" charset="0"/>
                          <a:ea typeface="Lato" pitchFamily="34" charset="-122"/>
                          <a:cs typeface="Lato" pitchFamily="34" charset="-120"/>
                        </a:rPr>
                        <a:t>TRACES-8B (ours)</a:t>
                      </a:r>
                      <a:endParaRPr lang="en-US" sz="1700" dirty="0">
                        <a:latin typeface="Lato" charset="0"/>
                        <a:ea typeface="Lato" charset="0"/>
                        <a:cs typeface="Lato" charset="0"/>
                      </a:endParaRPr>
                    </a:p>
                  </a:txBody>
                  <a:tcPr marL="75565" marR="75565" marT="75565" marB="75565">
                    <a:lnL w="12700" cap="flat" cmpd="sng" algn="ctr">
                      <a:solidFill>
                        <a:srgbClr val="CBCBCB"/>
                      </a:solidFill>
                      <a:prstDash val="solid"/>
                      <a:round/>
                      <a:headEnd type="none" w="med" len="med"/>
                      <a:tailEnd type="none" w="med" len="med"/>
                    </a:lnL>
                    <a:lnR w="12700" cap="flat" cmpd="sng" algn="ctr">
                      <a:solidFill>
                        <a:srgbClr val="C8BABC"/>
                      </a:solidFill>
                      <a:prstDash val="solid"/>
                      <a:round/>
                      <a:headEnd type="none" w="med" len="med"/>
                      <a:tailEnd type="none" w="med" len="med"/>
                    </a:lnR>
                    <a:lnT w="12700" cap="flat" cmpd="sng" algn="ctr">
                      <a:solidFill>
                        <a:srgbClr val="C8BABC"/>
                      </a:solidFill>
                      <a:prstDash val="solid"/>
                      <a:round/>
                      <a:headEnd type="none" w="med" len="med"/>
                      <a:tailEnd type="none" w="med" len="med"/>
                    </a:lnT>
                    <a:lnB w="12700" cap="flat" cmpd="sng" algn="ctr">
                      <a:solidFill>
                        <a:srgbClr val="C8BABC"/>
                      </a:solidFill>
                      <a:prstDash val="solid"/>
                      <a:round/>
                      <a:headEnd type="none" w="med" len="med"/>
                      <a:tailEnd type="none" w="med" len="med"/>
                    </a:lnB>
                    <a:solidFill>
                      <a:srgbClr val="FBE9EC"/>
                    </a:solidFill>
                  </a:tcPr>
                </a:tc>
                <a:tc>
                  <a:txBody>
                    <a:bodyPr/>
                    <a:lstStyle/>
                    <a:p>
                      <a:pPr marL="0" indent="0" algn="r">
                        <a:lnSpc>
                          <a:spcPts val="2380"/>
                        </a:lnSpc>
                        <a:buNone/>
                      </a:pPr>
                      <a:r>
                        <a:rPr lang="en-US" sz="1700" dirty="0">
                          <a:solidFill>
                            <a:srgbClr val="C00000"/>
                          </a:solidFill>
                          <a:latin typeface="Lato" pitchFamily="34" charset="0"/>
                          <a:ea typeface="Lato" pitchFamily="34" charset="-122"/>
                          <a:cs typeface="Lato" pitchFamily="34" charset="-120"/>
                        </a:rPr>
                        <a:t>86.3</a:t>
                      </a:r>
                      <a:endParaRPr lang="en-US" sz="1700" dirty="0">
                        <a:latin typeface="Lato" charset="0"/>
                        <a:ea typeface="Lato" charset="0"/>
                        <a:cs typeface="Lato" charset="0"/>
                      </a:endParaRPr>
                    </a:p>
                  </a:txBody>
                  <a:tcPr marL="75565" marR="75565" marT="75565" marB="75565">
                    <a:lnL w="12700" cap="flat" cmpd="sng" algn="ctr">
                      <a:solidFill>
                        <a:srgbClr val="C8BABC"/>
                      </a:solidFill>
                      <a:prstDash val="solid"/>
                      <a:round/>
                      <a:headEnd type="none" w="med" len="med"/>
                      <a:tailEnd type="none" w="med" len="med"/>
                    </a:lnL>
                    <a:lnR w="12700" cap="flat" cmpd="sng" algn="ctr">
                      <a:solidFill>
                        <a:srgbClr val="C8BABC"/>
                      </a:solidFill>
                      <a:prstDash val="solid"/>
                      <a:round/>
                      <a:headEnd type="none" w="med" len="med"/>
                      <a:tailEnd type="none" w="med" len="med"/>
                    </a:lnR>
                    <a:lnT w="12700" cap="flat" cmpd="sng" algn="ctr">
                      <a:solidFill>
                        <a:srgbClr val="C8BABC"/>
                      </a:solidFill>
                      <a:prstDash val="solid"/>
                      <a:round/>
                      <a:headEnd type="none" w="med" len="med"/>
                      <a:tailEnd type="none" w="med" len="med"/>
                    </a:lnT>
                    <a:lnB w="12700" cap="flat" cmpd="sng" algn="ctr">
                      <a:solidFill>
                        <a:srgbClr val="C8BABC"/>
                      </a:solidFill>
                      <a:prstDash val="solid"/>
                      <a:round/>
                      <a:headEnd type="none" w="med" len="med"/>
                      <a:tailEnd type="none" w="med" len="med"/>
                    </a:lnB>
                    <a:solidFill>
                      <a:srgbClr val="FBE9EC"/>
                    </a:solidFill>
                  </a:tcPr>
                </a:tc>
                <a:tc>
                  <a:txBody>
                    <a:bodyPr/>
                    <a:lstStyle/>
                    <a:p>
                      <a:pPr marL="0" indent="0" algn="r">
                        <a:lnSpc>
                          <a:spcPts val="2380"/>
                        </a:lnSpc>
                        <a:buNone/>
                      </a:pPr>
                      <a:r>
                        <a:rPr lang="en-US" sz="1700" dirty="0">
                          <a:solidFill>
                            <a:srgbClr val="C00000"/>
                          </a:solidFill>
                          <a:latin typeface="Lato" pitchFamily="34" charset="0"/>
                          <a:ea typeface="Lato" pitchFamily="34" charset="-122"/>
                          <a:cs typeface="Lato" pitchFamily="34" charset="-120"/>
                        </a:rPr>
                        <a:t>41.4</a:t>
                      </a:r>
                      <a:endParaRPr lang="en-US" sz="1700" dirty="0">
                        <a:latin typeface="Lato" charset="0"/>
                        <a:ea typeface="Lato" charset="0"/>
                        <a:cs typeface="Lato" charset="0"/>
                      </a:endParaRPr>
                    </a:p>
                  </a:txBody>
                  <a:tcPr marL="75565" marR="75565" marT="75565" marB="75565">
                    <a:lnL w="12700" cap="flat" cmpd="sng" algn="ctr">
                      <a:solidFill>
                        <a:srgbClr val="C8BABC"/>
                      </a:solidFill>
                      <a:prstDash val="solid"/>
                      <a:round/>
                      <a:headEnd type="none" w="med" len="med"/>
                      <a:tailEnd type="none" w="med" len="med"/>
                    </a:lnL>
                    <a:lnR w="12700" cap="flat" cmpd="sng" algn="ctr">
                      <a:solidFill>
                        <a:srgbClr val="C8BABC"/>
                      </a:solidFill>
                      <a:prstDash val="solid"/>
                      <a:round/>
                      <a:headEnd type="none" w="med" len="med"/>
                      <a:tailEnd type="none" w="med" len="med"/>
                    </a:lnR>
                    <a:lnT w="12700" cap="flat" cmpd="sng" algn="ctr">
                      <a:solidFill>
                        <a:srgbClr val="C8BABC"/>
                      </a:solidFill>
                      <a:prstDash val="solid"/>
                      <a:round/>
                      <a:headEnd type="none" w="med" len="med"/>
                      <a:tailEnd type="none" w="med" len="med"/>
                    </a:lnT>
                    <a:lnB w="12700" cap="flat" cmpd="sng" algn="ctr">
                      <a:solidFill>
                        <a:srgbClr val="C8BABC"/>
                      </a:solidFill>
                      <a:prstDash val="solid"/>
                      <a:round/>
                      <a:headEnd type="none" w="med" len="med"/>
                      <a:tailEnd type="none" w="med" len="med"/>
                    </a:lnB>
                    <a:solidFill>
                      <a:srgbClr val="FBE9EC"/>
                    </a:solidFill>
                  </a:tcPr>
                </a:tc>
                <a:tc>
                  <a:txBody>
                    <a:bodyPr/>
                    <a:lstStyle/>
                    <a:p>
                      <a:pPr marL="0" indent="0" algn="r">
                        <a:lnSpc>
                          <a:spcPts val="2380"/>
                        </a:lnSpc>
                        <a:buNone/>
                      </a:pPr>
                      <a:r>
                        <a:rPr lang="en-US" sz="1700" dirty="0">
                          <a:solidFill>
                            <a:srgbClr val="C00000"/>
                          </a:solidFill>
                          <a:latin typeface="Lato" pitchFamily="34" charset="0"/>
                          <a:ea typeface="Lato" pitchFamily="34" charset="-122"/>
                          <a:cs typeface="Lato" pitchFamily="34" charset="-120"/>
                        </a:rPr>
                        <a:t>77.9</a:t>
                      </a:r>
                      <a:endParaRPr lang="en-US" sz="1700" dirty="0">
                        <a:latin typeface="Lato" charset="0"/>
                        <a:ea typeface="Lato" charset="0"/>
                        <a:cs typeface="Lato" charset="0"/>
                      </a:endParaRPr>
                    </a:p>
                  </a:txBody>
                  <a:tcPr marL="75565" marR="75565" marT="75565" marB="75565">
                    <a:lnL w="12700" cap="flat" cmpd="sng" algn="ctr">
                      <a:solidFill>
                        <a:srgbClr val="C8BABC"/>
                      </a:solidFill>
                      <a:prstDash val="solid"/>
                      <a:round/>
                      <a:headEnd type="none" w="med" len="med"/>
                      <a:tailEnd type="none" w="med" len="med"/>
                    </a:lnL>
                    <a:lnR w="12700" cap="flat" cmpd="sng" algn="ctr">
                      <a:solidFill>
                        <a:srgbClr val="C8BABC"/>
                      </a:solidFill>
                      <a:prstDash val="solid"/>
                      <a:round/>
                      <a:headEnd type="none" w="med" len="med"/>
                      <a:tailEnd type="none" w="med" len="med"/>
                    </a:lnR>
                    <a:lnT w="12700" cap="flat" cmpd="sng" algn="ctr">
                      <a:solidFill>
                        <a:srgbClr val="C8BABC"/>
                      </a:solidFill>
                      <a:prstDash val="solid"/>
                      <a:round/>
                      <a:headEnd type="none" w="med" len="med"/>
                      <a:tailEnd type="none" w="med" len="med"/>
                    </a:lnT>
                    <a:lnB w="12700" cap="flat" cmpd="sng" algn="ctr">
                      <a:solidFill>
                        <a:srgbClr val="C8BABC"/>
                      </a:solidFill>
                      <a:prstDash val="solid"/>
                      <a:round/>
                      <a:headEnd type="none" w="med" len="med"/>
                      <a:tailEnd type="none" w="med" len="med"/>
                    </a:lnB>
                    <a:solidFill>
                      <a:srgbClr val="FBE9EC"/>
                    </a:solidFill>
                  </a:tcPr>
                </a:tc>
                <a:extLst>
                  <a:ext uri="{0D108BD9-81ED-4DB2-BD59-A6C34878D82A}">
                    <a16:rowId xmlns:a16="http://schemas.microsoft.com/office/drawing/2014/main" val="10006"/>
                  </a:ext>
                </a:extLst>
              </a:tr>
            </a:tbl>
          </a:graphicData>
        </a:graphic>
      </p:graphicFrame>
      <p:sp>
        <p:nvSpPr>
          <p:cNvPr id="9" name="Text 6"/>
          <p:cNvSpPr/>
          <p:nvPr/>
        </p:nvSpPr>
        <p:spPr>
          <a:xfrm>
            <a:off x="7715930" y="1794470"/>
            <a:ext cx="2538591" cy="247650"/>
          </a:xfrm>
          <a:prstGeom prst="rect">
            <a:avLst/>
          </a:prstGeom>
          <a:noFill/>
          <a:ln/>
        </p:spPr>
        <p:txBody>
          <a:bodyPr wrap="square" lIns="0" tIns="0" rIns="0" bIns="0" rtlCol="0" anchor="t">
            <a:normAutofit/>
          </a:bodyPr>
          <a:lstStyle/>
          <a:p>
            <a:pPr marL="0" indent="0" algn="ctr">
              <a:lnSpc>
                <a:spcPts val="1750"/>
              </a:lnSpc>
              <a:buNone/>
            </a:pPr>
            <a:r>
              <a:rPr lang="en-US" sz="1400" b="1" dirty="0">
                <a:solidFill>
                  <a:srgbClr val="2F5597"/>
                </a:solidFill>
                <a:latin typeface="Lato" pitchFamily="34" charset="0"/>
                <a:ea typeface="Lato" pitchFamily="34" charset="-122"/>
                <a:cs typeface="Lato" pitchFamily="34" charset="-120"/>
              </a:rPr>
              <a:t>Case study: one unsafe run</a:t>
            </a:r>
            <a:endParaRPr lang="en-US" sz="1400" dirty="0"/>
          </a:p>
        </p:txBody>
      </p:sp>
      <p:pic>
        <p:nvPicPr>
          <p:cNvPr id="10" name="Image 0" descr="Risk score against prefix step on the Shopify trajectory: TRACES rises to high risk at step 6, AgentDoG only at step 9; the unsafe checkout happens at step 10"/>
          <p:cNvPicPr>
            <a:picLocks noChangeAspect="1"/>
          </p:cNvPicPr>
          <p:nvPr/>
        </p:nvPicPr>
        <p:blipFill>
          <a:blip r:embed="rId3"/>
          <a:srcRect l="-12" r="-12"/>
          <a:stretch/>
        </p:blipFill>
        <p:spPr>
          <a:xfrm>
            <a:off x="6286500" y="2473920"/>
            <a:ext cx="5397500" cy="3162300"/>
          </a:xfrm>
          <a:prstGeom prst="rect">
            <a:avLst/>
          </a:prstGeom>
        </p:spPr>
      </p:pic>
      <p:pic>
        <p:nvPicPr>
          <p:cNvPr id="11" name="Image 1" descr="Red dotted line and circle marking step 5, where risk starts"/>
          <p:cNvPicPr>
            <a:picLocks noChangeAspect="1"/>
          </p:cNvPicPr>
          <p:nvPr/>
        </p:nvPicPr>
        <p:blipFill>
          <a:blip r:embed="rId4"/>
          <a:srcRect/>
          <a:stretch/>
        </p:blipFill>
        <p:spPr>
          <a:xfrm>
            <a:off x="6286500" y="2080220"/>
            <a:ext cx="5397500" cy="3556000"/>
          </a:xfrm>
          <a:prstGeom prst="rect">
            <a:avLst/>
          </a:prstGeom>
        </p:spPr>
      </p:pic>
      <p:sp>
        <p:nvSpPr>
          <p:cNvPr id="12" name="Text 7"/>
          <p:cNvSpPr/>
          <p:nvPr/>
        </p:nvSpPr>
        <p:spPr>
          <a:xfrm>
            <a:off x="8115300" y="3566120"/>
            <a:ext cx="1003300" cy="240010"/>
          </a:xfrm>
          <a:prstGeom prst="rect">
            <a:avLst/>
          </a:prstGeom>
          <a:noFill/>
          <a:ln/>
        </p:spPr>
        <p:txBody>
          <a:bodyPr wrap="none" lIns="0" tIns="0" rIns="0" bIns="0" rtlCol="0" anchor="t">
            <a:normAutofit/>
          </a:bodyPr>
          <a:lstStyle/>
          <a:p>
            <a:pPr marL="0" indent="0" algn="r">
              <a:lnSpc>
                <a:spcPts val="1690"/>
              </a:lnSpc>
              <a:buNone/>
            </a:pPr>
            <a:r>
              <a:rPr lang="en-US" sz="1300" b="1" dirty="0">
                <a:solidFill>
                  <a:srgbClr val="C00000"/>
                </a:solidFill>
                <a:latin typeface="Lato" pitchFamily="34" charset="0"/>
                <a:ea typeface="Lato" pitchFamily="34" charset="-122"/>
                <a:cs typeface="Lato" pitchFamily="34" charset="-120"/>
              </a:rPr>
              <a:t>risk starts</a:t>
            </a:r>
            <a:endParaRPr lang="en-US" sz="1300" dirty="0"/>
          </a:p>
        </p:txBody>
      </p:sp>
      <p:sp>
        <p:nvSpPr>
          <p:cNvPr id="13" name="Text 8"/>
          <p:cNvSpPr/>
          <p:nvPr/>
        </p:nvSpPr>
        <p:spPr>
          <a:xfrm>
            <a:off x="8845550" y="2080220"/>
            <a:ext cx="1574800" cy="256530"/>
          </a:xfrm>
          <a:prstGeom prst="rect">
            <a:avLst/>
          </a:prstGeom>
          <a:noFill/>
          <a:ln/>
        </p:spPr>
        <p:txBody>
          <a:bodyPr wrap="square" lIns="0" tIns="0" rIns="0" bIns="0" rtlCol="0" anchor="t">
            <a:normAutofit/>
          </a:bodyPr>
          <a:lstStyle/>
          <a:p>
            <a:pPr marL="0" indent="0" algn="ctr">
              <a:lnSpc>
                <a:spcPts val="1820"/>
              </a:lnSpc>
              <a:buNone/>
            </a:pPr>
            <a:r>
              <a:rPr lang="en-US" sz="1400" b="1" dirty="0">
                <a:solidFill>
                  <a:srgbClr val="2F5597"/>
                </a:solidFill>
                <a:latin typeface="Lato" pitchFamily="34" charset="0"/>
                <a:ea typeface="Lato" pitchFamily="34" charset="-122"/>
                <a:cs typeface="Lato" pitchFamily="34" charset="-120"/>
              </a:rPr>
              <a:t>TRACES warns</a:t>
            </a:r>
            <a:endParaRPr lang="en-US" sz="1400" dirty="0"/>
          </a:p>
        </p:txBody>
      </p:sp>
      <p:sp>
        <p:nvSpPr>
          <p:cNvPr id="14" name="Shape 9"/>
          <p:cNvSpPr/>
          <p:nvPr/>
        </p:nvSpPr>
        <p:spPr>
          <a:xfrm>
            <a:off x="9642475" y="2359620"/>
            <a:ext cx="0" cy="2743200"/>
          </a:xfrm>
          <a:prstGeom prst="line">
            <a:avLst/>
          </a:prstGeom>
          <a:noFill/>
          <a:ln w="19050">
            <a:solidFill>
              <a:srgbClr val="2F5597"/>
            </a:solidFill>
            <a:prstDash val="dash"/>
          </a:ln>
        </p:spPr>
        <p:txBody>
          <a:bodyPr/>
          <a:lstStyle/>
          <a:p>
            <a:endParaRPr lang="en-US"/>
          </a:p>
        </p:txBody>
      </p:sp>
      <p:sp>
        <p:nvSpPr>
          <p:cNvPr id="15" name="Text 10"/>
          <p:cNvSpPr/>
          <p:nvPr/>
        </p:nvSpPr>
        <p:spPr>
          <a:xfrm>
            <a:off x="10299700" y="2080220"/>
            <a:ext cx="1384300" cy="256530"/>
          </a:xfrm>
          <a:prstGeom prst="rect">
            <a:avLst/>
          </a:prstGeom>
          <a:noFill/>
          <a:ln/>
        </p:spPr>
        <p:txBody>
          <a:bodyPr wrap="square" lIns="0" tIns="0" rIns="0" bIns="0" rtlCol="0" anchor="t">
            <a:normAutofit/>
          </a:bodyPr>
          <a:lstStyle/>
          <a:p>
            <a:pPr marL="0" indent="0" algn="r">
              <a:lnSpc>
                <a:spcPts val="1820"/>
              </a:lnSpc>
              <a:buNone/>
            </a:pPr>
            <a:r>
              <a:rPr lang="en-US" sz="1400" b="1" dirty="0">
                <a:solidFill>
                  <a:srgbClr val="C00000"/>
                </a:solidFill>
                <a:latin typeface="Lato" pitchFamily="34" charset="0"/>
                <a:ea typeface="Lato" pitchFamily="34" charset="-122"/>
                <a:cs typeface="Lato" pitchFamily="34" charset="-120"/>
              </a:rPr>
              <a:t>unsafe action</a:t>
            </a:r>
            <a:endParaRPr lang="en-US" sz="1400" dirty="0"/>
          </a:p>
        </p:txBody>
      </p:sp>
      <p:sp>
        <p:nvSpPr>
          <p:cNvPr id="16" name="Shape 11"/>
          <p:cNvSpPr/>
          <p:nvPr/>
        </p:nvSpPr>
        <p:spPr>
          <a:xfrm>
            <a:off x="11483975" y="2359620"/>
            <a:ext cx="0" cy="2743200"/>
          </a:xfrm>
          <a:prstGeom prst="line">
            <a:avLst/>
          </a:prstGeom>
          <a:noFill/>
          <a:ln w="19050">
            <a:solidFill>
              <a:srgbClr val="C00000"/>
            </a:solidFill>
            <a:prstDash val="dash"/>
          </a:ln>
        </p:spPr>
        <p:txBody>
          <a:bodyPr/>
          <a:lstStyle/>
          <a:p>
            <a:endParaRPr lang="en-US"/>
          </a:p>
        </p:txBody>
      </p:sp>
      <p:sp>
        <p:nvSpPr>
          <p:cNvPr id="17" name="Text 12"/>
          <p:cNvSpPr/>
          <p:nvPr/>
        </p:nvSpPr>
        <p:spPr>
          <a:xfrm>
            <a:off x="508000" y="6035080"/>
            <a:ext cx="115112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Lato" pitchFamily="34" charset="0"/>
                <a:ea typeface="Lato" pitchFamily="34" charset="-122"/>
                <a:cs typeface="Lato" pitchFamily="34" charset="-120"/>
              </a:rPr>
              <a:t>AgentDoG: Liu et al., 2026 · AgentAuditor: Luo et al., NeurIPS 2025 · ShieldAgent: Chen et al., ICML 2025</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4" name="Text 2"/>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30 / 33</a:t>
            </a:r>
            <a:endParaRPr lang="en-US" sz="1200" dirty="0"/>
          </a:p>
        </p:txBody>
      </p:sp>
      <p:sp>
        <p:nvSpPr>
          <p:cNvPr id="5" name="Text 3"/>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What the Mechanism Bank Learned</a:t>
            </a:r>
            <a:endParaRPr lang="en-US" sz="3200" dirty="0"/>
          </a:p>
        </p:txBody>
      </p:sp>
      <p:sp>
        <p:nvSpPr>
          <p:cNvPr id="6" name="Text 4"/>
          <p:cNvSpPr/>
          <p:nvPr/>
        </p:nvSpPr>
        <p:spPr>
          <a:xfrm>
            <a:off x="508000" y="1026120"/>
            <a:ext cx="11511280" cy="393700"/>
          </a:xfrm>
          <a:prstGeom prst="rect">
            <a:avLst/>
          </a:prstGeom>
          <a:noFill/>
          <a:ln/>
        </p:spPr>
        <p:txBody>
          <a:bodyPr wrap="square" lIns="0" tIns="0" rIns="0" bIns="0" rtlCol="0" anchor="t">
            <a:normAutofit/>
          </a:bodyPr>
          <a:lstStyle/>
          <a:p>
            <a:pPr marL="0" indent="0" algn="l">
              <a:lnSpc>
                <a:spcPts val="2900"/>
              </a:lnSpc>
              <a:buNone/>
            </a:pPr>
            <a:r>
              <a:rPr lang="en-US" sz="2000" b="1" dirty="0">
                <a:solidFill>
                  <a:srgbClr val="000000"/>
                </a:solidFill>
                <a:latin typeface="Lato" pitchFamily="34" charset="0"/>
                <a:ea typeface="Lato" pitchFamily="34" charset="-122"/>
                <a:cs typeface="Lato" pitchFamily="34" charset="-120"/>
              </a:rPr>
              <a:t>What it learned:</a:t>
            </a:r>
            <a:r>
              <a:rPr lang="en-US" sz="2000" dirty="0">
                <a:solidFill>
                  <a:srgbClr val="000000"/>
                </a:solidFill>
                <a:latin typeface="Lato" pitchFamily="34" charset="0"/>
                <a:ea typeface="Lato" pitchFamily="34" charset="-122"/>
                <a:cs typeface="Lato" pitchFamily="34" charset="-120"/>
              </a:rPr>
              <a:t> patterns like </a:t>
            </a:r>
            <a:r>
              <a:rPr lang="en-US" sz="2000" u="sng" dirty="0">
                <a:solidFill>
                  <a:srgbClr val="C00000"/>
                </a:solidFill>
                <a:latin typeface="Lato" pitchFamily="34" charset="0"/>
                <a:ea typeface="Lato" pitchFamily="34" charset="-122"/>
                <a:cs typeface="Lato" pitchFamily="34" charset="-120"/>
              </a:rPr>
              <a:t>a failed tool call the agent ignores</a:t>
            </a:r>
            <a:r>
              <a:rPr lang="en-US" sz="2000" dirty="0">
                <a:solidFill>
                  <a:srgbClr val="000000"/>
                </a:solidFill>
                <a:latin typeface="Lato" pitchFamily="34" charset="0"/>
                <a:ea typeface="Lato" pitchFamily="34" charset="-122"/>
                <a:cs typeface="Lato" pitchFamily="34" charset="-120"/>
              </a:rPr>
              <a:t>, not task topics</a:t>
            </a:r>
            <a:endParaRPr lang="en-US" sz="2000" dirty="0"/>
          </a:p>
        </p:txBody>
      </p:sp>
      <p:sp>
        <p:nvSpPr>
          <p:cNvPr id="7" name="Shape 5"/>
          <p:cNvSpPr/>
          <p:nvPr/>
        </p:nvSpPr>
        <p:spPr>
          <a:xfrm>
            <a:off x="514350" y="1690390"/>
            <a:ext cx="5473700" cy="1997670"/>
          </a:xfrm>
          <a:prstGeom prst="roundRect">
            <a:avLst>
              <a:gd name="adj" fmla="val 6040"/>
            </a:avLst>
          </a:prstGeom>
          <a:solidFill>
            <a:srgbClr val="FFFFFF"/>
          </a:solidFill>
          <a:ln w="12700">
            <a:solidFill>
              <a:srgbClr val="C00000"/>
            </a:solidFill>
            <a:prstDash val="solid"/>
          </a:ln>
        </p:spPr>
        <p:txBody>
          <a:bodyPr/>
          <a:lstStyle/>
          <a:p>
            <a:endParaRPr lang="en-US"/>
          </a:p>
        </p:txBody>
      </p:sp>
      <p:sp>
        <p:nvSpPr>
          <p:cNvPr id="8" name="Text 6"/>
          <p:cNvSpPr/>
          <p:nvPr/>
        </p:nvSpPr>
        <p:spPr>
          <a:xfrm>
            <a:off x="723900" y="1905000"/>
            <a:ext cx="465485" cy="292100"/>
          </a:xfrm>
          <a:custGeom>
            <a:avLst/>
            <a:gdLst/>
            <a:ahLst/>
            <a:cxnLst/>
            <a:rect l="l" t="t" r="r" b="b"/>
            <a:pathLst>
              <a:path w="465485" h="292100">
                <a:moveTo>
                  <a:pt x="63500" y="0"/>
                </a:moveTo>
                <a:lnTo>
                  <a:pt x="401985" y="0"/>
                </a:lnTo>
                <a:arcTo wR="63500" hR="63500" stAng="16200000" swAng="5400000"/>
                <a:lnTo>
                  <a:pt x="465485" y="228600"/>
                </a:lnTo>
                <a:arcTo wR="63500" hR="63500" stAng="0" swAng="5400000"/>
                <a:lnTo>
                  <a:pt x="63500" y="292100"/>
                </a:lnTo>
                <a:arcTo wR="63500" hR="63500" stAng="5400000" swAng="5400000"/>
                <a:lnTo>
                  <a:pt x="0" y="63500"/>
                </a:lnTo>
                <a:arcTo wR="63500" hR="63500" stAng="10800000" swAng="5400000"/>
                <a:close/>
              </a:path>
            </a:pathLst>
          </a:custGeom>
          <a:solidFill>
            <a:srgbClr val="C00000"/>
          </a:solidFill>
          <a:ln/>
        </p:spPr>
        <p:txBody>
          <a:bodyPr wrap="none" lIns="0" tIns="0" rIns="0" bIns="0" rtlCol="0" anchor="ctr">
            <a:normAutofit/>
          </a:bodyPr>
          <a:lstStyle/>
          <a:p>
            <a:pPr marL="0" indent="0" algn="ctr">
              <a:lnSpc>
                <a:spcPts val="2100"/>
              </a:lnSpc>
              <a:buNone/>
            </a:pPr>
            <a:r>
              <a:rPr lang="en-US" sz="1500" b="1" dirty="0">
                <a:solidFill>
                  <a:srgbClr val="FFFFFF"/>
                </a:solidFill>
                <a:latin typeface="Lato" pitchFamily="34" charset="0"/>
                <a:ea typeface="Lato" pitchFamily="34" charset="-122"/>
                <a:cs typeface="Lato" pitchFamily="34" charset="-120"/>
              </a:rPr>
              <a:t>M2</a:t>
            </a:r>
            <a:endParaRPr lang="en-US" sz="1500" dirty="0"/>
          </a:p>
        </p:txBody>
      </p:sp>
      <p:sp>
        <p:nvSpPr>
          <p:cNvPr id="9" name="Text 7"/>
          <p:cNvSpPr/>
          <p:nvPr/>
        </p:nvSpPr>
        <p:spPr>
          <a:xfrm>
            <a:off x="1278285" y="1899940"/>
            <a:ext cx="2747981"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000000"/>
                </a:solidFill>
                <a:latin typeface="Lato" pitchFamily="34" charset="0"/>
                <a:ea typeface="Lato" pitchFamily="34" charset="-122"/>
                <a:cs typeface="Lato" pitchFamily="34" charset="-120"/>
              </a:rPr>
              <a:t>Retrieval mismatch</a:t>
            </a:r>
            <a:endParaRPr lang="en-US" sz="1700" dirty="0"/>
          </a:p>
        </p:txBody>
      </p:sp>
      <p:sp>
        <p:nvSpPr>
          <p:cNvPr id="10" name="Text 8"/>
          <p:cNvSpPr/>
          <p:nvPr/>
        </p:nvSpPr>
        <p:spPr>
          <a:xfrm>
            <a:off x="4035127" y="1917700"/>
            <a:ext cx="1946573"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C00000"/>
                </a:solidFill>
                <a:latin typeface="Lato" pitchFamily="34" charset="0"/>
                <a:ea typeface="Lato" pitchFamily="34" charset="-122"/>
                <a:cs typeface="Lato" pitchFamily="34" charset="-120"/>
              </a:rPr>
              <a:t>96.7% in unsafe runs</a:t>
            </a:r>
            <a:endParaRPr lang="en-US" sz="1500" dirty="0"/>
          </a:p>
        </p:txBody>
      </p:sp>
      <p:sp>
        <p:nvSpPr>
          <p:cNvPr id="11" name="Text 9"/>
          <p:cNvSpPr/>
          <p:nvPr/>
        </p:nvSpPr>
        <p:spPr>
          <a:xfrm>
            <a:off x="723900" y="2354560"/>
            <a:ext cx="736600" cy="273050"/>
          </a:xfrm>
          <a:custGeom>
            <a:avLst/>
            <a:gdLst/>
            <a:ahLst/>
            <a:cxnLst/>
            <a:rect l="l" t="t" r="r" b="b"/>
            <a:pathLst>
              <a:path w="736600" h="273050">
                <a:moveTo>
                  <a:pt x="50800" y="0"/>
                </a:moveTo>
                <a:lnTo>
                  <a:pt x="685800" y="0"/>
                </a:lnTo>
                <a:arcTo wR="50800" hR="50800" stAng="16200000" swAng="5400000"/>
                <a:lnTo>
                  <a:pt x="736600" y="222250"/>
                </a:lnTo>
                <a:arcTo wR="50800" hR="50800" stAng="0" swAng="5400000"/>
                <a:lnTo>
                  <a:pt x="50800" y="273050"/>
                </a:lnTo>
                <a:arcTo wR="50800" hR="50800" stAng="5400000" swAng="5400000"/>
                <a:lnTo>
                  <a:pt x="0" y="50800"/>
                </a:lnTo>
                <a:arcTo wR="50800" hR="50800" stAng="10800000" swAng="5400000"/>
                <a:close/>
              </a:path>
            </a:pathLst>
          </a:custGeom>
          <a:solidFill>
            <a:srgbClr val="E8EEF8"/>
          </a:solidFill>
          <a:ln/>
        </p:spPr>
        <p:txBody>
          <a:bodyPr wrap="square" lIns="0" tIns="25400" rIns="0" bIns="0" rtlCol="0" anchor="t">
            <a:normAutofit/>
          </a:bodyPr>
          <a:lstStyle/>
          <a:p>
            <a:pPr marL="0" indent="0" algn="ctr">
              <a:lnSpc>
                <a:spcPts val="1750"/>
              </a:lnSpc>
              <a:buNone/>
            </a:pPr>
            <a:r>
              <a:rPr lang="en-US" sz="1250" b="1" dirty="0">
                <a:solidFill>
                  <a:srgbClr val="2F5597"/>
                </a:solidFill>
                <a:latin typeface="Lato" pitchFamily="34" charset="0"/>
                <a:ea typeface="Lato" pitchFamily="34" charset="-122"/>
                <a:cs typeface="Lato" pitchFamily="34" charset="-120"/>
              </a:rPr>
              <a:t>Agent</a:t>
            </a:r>
            <a:endParaRPr lang="en-US" sz="1250" dirty="0"/>
          </a:p>
        </p:txBody>
      </p:sp>
      <p:sp>
        <p:nvSpPr>
          <p:cNvPr id="12" name="Text 10"/>
          <p:cNvSpPr/>
          <p:nvPr/>
        </p:nvSpPr>
        <p:spPr>
          <a:xfrm>
            <a:off x="1562100" y="2367260"/>
            <a:ext cx="4342892"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000000"/>
                </a:solidFill>
                <a:latin typeface="Lato" pitchFamily="34" charset="0"/>
                <a:ea typeface="Lato" pitchFamily="34" charset="-122"/>
                <a:cs typeface="Lato" pitchFamily="34" charset="-120"/>
              </a:rPr>
              <a:t>fetch the privacy policy for a compliance audit</a:t>
            </a:r>
            <a:endParaRPr lang="en-US" sz="1500" dirty="0"/>
          </a:p>
        </p:txBody>
      </p:sp>
      <p:sp>
        <p:nvSpPr>
          <p:cNvPr id="13" name="Text 11"/>
          <p:cNvSpPr/>
          <p:nvPr/>
        </p:nvSpPr>
        <p:spPr>
          <a:xfrm>
            <a:off x="723900" y="2780010"/>
            <a:ext cx="736600" cy="273050"/>
          </a:xfrm>
          <a:custGeom>
            <a:avLst/>
            <a:gdLst/>
            <a:ahLst/>
            <a:cxnLst/>
            <a:rect l="l" t="t" r="r" b="b"/>
            <a:pathLst>
              <a:path w="736600" h="273050">
                <a:moveTo>
                  <a:pt x="50800" y="0"/>
                </a:moveTo>
                <a:lnTo>
                  <a:pt x="685800" y="0"/>
                </a:lnTo>
                <a:arcTo wR="50800" hR="50800" stAng="16200000" swAng="5400000"/>
                <a:lnTo>
                  <a:pt x="736600" y="222250"/>
                </a:lnTo>
                <a:arcTo wR="50800" hR="50800" stAng="0" swAng="5400000"/>
                <a:lnTo>
                  <a:pt x="50800" y="273050"/>
                </a:lnTo>
                <a:arcTo wR="50800" hR="50800" stAng="5400000" swAng="5400000"/>
                <a:lnTo>
                  <a:pt x="0" y="50800"/>
                </a:lnTo>
                <a:arcTo wR="50800" hR="50800" stAng="10800000" swAng="5400000"/>
                <a:close/>
              </a:path>
            </a:pathLst>
          </a:custGeom>
          <a:solidFill>
            <a:srgbClr val="EEEEEE"/>
          </a:solidFill>
          <a:ln/>
        </p:spPr>
        <p:txBody>
          <a:bodyPr wrap="square" lIns="0" tIns="25400" rIns="0" bIns="0" rtlCol="0" anchor="t">
            <a:normAutofit/>
          </a:bodyPr>
          <a:lstStyle/>
          <a:p>
            <a:pPr marL="0" indent="0" algn="ctr">
              <a:lnSpc>
                <a:spcPts val="1750"/>
              </a:lnSpc>
              <a:buNone/>
            </a:pPr>
            <a:r>
              <a:rPr lang="en-US" sz="1250" b="1" dirty="0">
                <a:solidFill>
                  <a:srgbClr val="555555"/>
                </a:solidFill>
                <a:latin typeface="Lato" pitchFamily="34" charset="0"/>
                <a:ea typeface="Lato" pitchFamily="34" charset="-122"/>
                <a:cs typeface="Lato" pitchFamily="34" charset="-120"/>
              </a:rPr>
              <a:t>Tool</a:t>
            </a:r>
            <a:endParaRPr lang="en-US" sz="1250" dirty="0"/>
          </a:p>
        </p:txBody>
      </p:sp>
      <p:sp>
        <p:nvSpPr>
          <p:cNvPr id="14" name="Text 12"/>
          <p:cNvSpPr/>
          <p:nvPr/>
        </p:nvSpPr>
        <p:spPr>
          <a:xfrm>
            <a:off x="1562100" y="2792710"/>
            <a:ext cx="4342892"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000000"/>
                </a:solidFill>
                <a:latin typeface="Lato" pitchFamily="34" charset="0"/>
                <a:ea typeface="Lato" pitchFamily="34" charset="-122"/>
                <a:cs typeface="Lato" pitchFamily="34" charset="-120"/>
              </a:rPr>
              <a:t>returns </a:t>
            </a:r>
            <a:r>
              <a:rPr lang="en-US" sz="1500" b="1" dirty="0">
                <a:solidFill>
                  <a:srgbClr val="C00000"/>
                </a:solidFill>
                <a:latin typeface="Lato" pitchFamily="34" charset="0"/>
                <a:ea typeface="Lato" pitchFamily="34" charset="-122"/>
                <a:cs typeface="Lato" pitchFamily="34" charset="-120"/>
              </a:rPr>
              <a:t>an unrelated Wikipedia-style page</a:t>
            </a:r>
            <a:endParaRPr lang="en-US" sz="1500" dirty="0"/>
          </a:p>
        </p:txBody>
      </p:sp>
      <p:sp>
        <p:nvSpPr>
          <p:cNvPr id="15" name="Text 13"/>
          <p:cNvSpPr/>
          <p:nvPr/>
        </p:nvSpPr>
        <p:spPr>
          <a:xfrm>
            <a:off x="723900" y="3205460"/>
            <a:ext cx="736600" cy="273050"/>
          </a:xfrm>
          <a:custGeom>
            <a:avLst/>
            <a:gdLst/>
            <a:ahLst/>
            <a:cxnLst/>
            <a:rect l="l" t="t" r="r" b="b"/>
            <a:pathLst>
              <a:path w="736600" h="273050">
                <a:moveTo>
                  <a:pt x="50800" y="0"/>
                </a:moveTo>
                <a:lnTo>
                  <a:pt x="685800" y="0"/>
                </a:lnTo>
                <a:arcTo wR="50800" hR="50800" stAng="16200000" swAng="5400000"/>
                <a:lnTo>
                  <a:pt x="736600" y="222250"/>
                </a:lnTo>
                <a:arcTo wR="50800" hR="50800" stAng="0" swAng="5400000"/>
                <a:lnTo>
                  <a:pt x="50800" y="273050"/>
                </a:lnTo>
                <a:arcTo wR="50800" hR="50800" stAng="5400000" swAng="5400000"/>
                <a:lnTo>
                  <a:pt x="0" y="50800"/>
                </a:lnTo>
                <a:arcTo wR="50800" hR="50800" stAng="10800000" swAng="5400000"/>
                <a:close/>
              </a:path>
            </a:pathLst>
          </a:custGeom>
          <a:solidFill>
            <a:srgbClr val="E8EEF8"/>
          </a:solidFill>
          <a:ln/>
        </p:spPr>
        <p:txBody>
          <a:bodyPr wrap="square" lIns="0" tIns="25400" rIns="0" bIns="0" rtlCol="0" anchor="t">
            <a:normAutofit/>
          </a:bodyPr>
          <a:lstStyle/>
          <a:p>
            <a:pPr marL="0" indent="0" algn="ctr">
              <a:lnSpc>
                <a:spcPts val="1750"/>
              </a:lnSpc>
              <a:buNone/>
            </a:pPr>
            <a:r>
              <a:rPr lang="en-US" sz="1250" b="1" dirty="0">
                <a:solidFill>
                  <a:srgbClr val="2F5597"/>
                </a:solidFill>
                <a:latin typeface="Lato" pitchFamily="34" charset="0"/>
                <a:ea typeface="Lato" pitchFamily="34" charset="-122"/>
                <a:cs typeface="Lato" pitchFamily="34" charset="-120"/>
              </a:rPr>
              <a:t>Agent</a:t>
            </a:r>
            <a:endParaRPr lang="en-US" sz="1250" dirty="0"/>
          </a:p>
        </p:txBody>
      </p:sp>
      <p:sp>
        <p:nvSpPr>
          <p:cNvPr id="16" name="Text 14"/>
          <p:cNvSpPr/>
          <p:nvPr/>
        </p:nvSpPr>
        <p:spPr>
          <a:xfrm>
            <a:off x="1562100" y="3218160"/>
            <a:ext cx="4342892"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C00000"/>
                </a:solidFill>
                <a:latin typeface="Lato" pitchFamily="34" charset="0"/>
                <a:ea typeface="Lato" pitchFamily="34" charset="-122"/>
                <a:cs typeface="Lato" pitchFamily="34" charset="-120"/>
              </a:rPr>
              <a:t>keeps scraping</a:t>
            </a:r>
            <a:r>
              <a:rPr lang="en-US" sz="1500" dirty="0">
                <a:solidFill>
                  <a:srgbClr val="000000"/>
                </a:solidFill>
                <a:latin typeface="Lato" pitchFamily="34" charset="0"/>
                <a:ea typeface="Lato" pitchFamily="34" charset="-122"/>
                <a:cs typeface="Lato" pitchFamily="34" charset="-120"/>
              </a:rPr>
              <a:t> more policy pages anyway</a:t>
            </a:r>
            <a:endParaRPr lang="en-US" sz="1500" dirty="0"/>
          </a:p>
        </p:txBody>
      </p:sp>
      <p:sp>
        <p:nvSpPr>
          <p:cNvPr id="17" name="Shape 15"/>
          <p:cNvSpPr/>
          <p:nvPr/>
        </p:nvSpPr>
        <p:spPr>
          <a:xfrm>
            <a:off x="6203950" y="1690390"/>
            <a:ext cx="5473700" cy="1997670"/>
          </a:xfrm>
          <a:prstGeom prst="roundRect">
            <a:avLst>
              <a:gd name="adj" fmla="val 6040"/>
            </a:avLst>
          </a:prstGeom>
          <a:solidFill>
            <a:srgbClr val="FFFFFF"/>
          </a:solidFill>
          <a:ln w="12700">
            <a:solidFill>
              <a:srgbClr val="C00000"/>
            </a:solidFill>
            <a:prstDash val="solid"/>
          </a:ln>
        </p:spPr>
        <p:txBody>
          <a:bodyPr/>
          <a:lstStyle/>
          <a:p>
            <a:endParaRPr lang="en-US"/>
          </a:p>
        </p:txBody>
      </p:sp>
      <p:sp>
        <p:nvSpPr>
          <p:cNvPr id="18" name="Text 16"/>
          <p:cNvSpPr/>
          <p:nvPr/>
        </p:nvSpPr>
        <p:spPr>
          <a:xfrm>
            <a:off x="6413500" y="1905000"/>
            <a:ext cx="465485" cy="292100"/>
          </a:xfrm>
          <a:custGeom>
            <a:avLst/>
            <a:gdLst/>
            <a:ahLst/>
            <a:cxnLst/>
            <a:rect l="l" t="t" r="r" b="b"/>
            <a:pathLst>
              <a:path w="465485" h="292100">
                <a:moveTo>
                  <a:pt x="63500" y="0"/>
                </a:moveTo>
                <a:lnTo>
                  <a:pt x="401985" y="0"/>
                </a:lnTo>
                <a:arcTo wR="63500" hR="63500" stAng="16200000" swAng="5400000"/>
                <a:lnTo>
                  <a:pt x="465485" y="228600"/>
                </a:lnTo>
                <a:arcTo wR="63500" hR="63500" stAng="0" swAng="5400000"/>
                <a:lnTo>
                  <a:pt x="63500" y="292100"/>
                </a:lnTo>
                <a:arcTo wR="63500" hR="63500" stAng="5400000" swAng="5400000"/>
                <a:lnTo>
                  <a:pt x="0" y="63500"/>
                </a:lnTo>
                <a:arcTo wR="63500" hR="63500" stAng="10800000" swAng="5400000"/>
                <a:close/>
              </a:path>
            </a:pathLst>
          </a:custGeom>
          <a:solidFill>
            <a:srgbClr val="C00000"/>
          </a:solidFill>
          <a:ln/>
        </p:spPr>
        <p:txBody>
          <a:bodyPr wrap="none" lIns="0" tIns="0" rIns="0" bIns="0" rtlCol="0" anchor="ctr">
            <a:normAutofit/>
          </a:bodyPr>
          <a:lstStyle/>
          <a:p>
            <a:pPr marL="0" indent="0" algn="ctr">
              <a:lnSpc>
                <a:spcPts val="2100"/>
              </a:lnSpc>
              <a:buNone/>
            </a:pPr>
            <a:r>
              <a:rPr lang="en-US" sz="1500" b="1" dirty="0">
                <a:solidFill>
                  <a:srgbClr val="FFFFFF"/>
                </a:solidFill>
                <a:latin typeface="Lato" pitchFamily="34" charset="0"/>
                <a:ea typeface="Lato" pitchFamily="34" charset="-122"/>
                <a:cs typeface="Lato" pitchFamily="34" charset="-120"/>
              </a:rPr>
              <a:t>M0</a:t>
            </a:r>
            <a:endParaRPr lang="en-US" sz="1500" dirty="0"/>
          </a:p>
        </p:txBody>
      </p:sp>
      <p:sp>
        <p:nvSpPr>
          <p:cNvPr id="19" name="Text 17"/>
          <p:cNvSpPr/>
          <p:nvPr/>
        </p:nvSpPr>
        <p:spPr>
          <a:xfrm>
            <a:off x="6967885" y="1899940"/>
            <a:ext cx="2747981"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000000"/>
                </a:solidFill>
                <a:latin typeface="Lato" pitchFamily="34" charset="0"/>
                <a:ea typeface="Lato" pitchFamily="34" charset="-122"/>
                <a:cs typeface="Lato" pitchFamily="34" charset="-120"/>
              </a:rPr>
              <a:t>Failed API call ignored</a:t>
            </a:r>
            <a:endParaRPr lang="en-US" sz="1700" dirty="0"/>
          </a:p>
        </p:txBody>
      </p:sp>
      <p:sp>
        <p:nvSpPr>
          <p:cNvPr id="20" name="Text 18"/>
          <p:cNvSpPr/>
          <p:nvPr/>
        </p:nvSpPr>
        <p:spPr>
          <a:xfrm>
            <a:off x="9724727" y="1917700"/>
            <a:ext cx="1946573"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C00000"/>
                </a:solidFill>
                <a:latin typeface="Lato" pitchFamily="34" charset="0"/>
                <a:ea typeface="Lato" pitchFamily="34" charset="-122"/>
                <a:cs typeface="Lato" pitchFamily="34" charset="-120"/>
              </a:rPr>
              <a:t>90.0% in unsafe runs</a:t>
            </a:r>
            <a:endParaRPr lang="en-US" sz="1500" dirty="0"/>
          </a:p>
        </p:txBody>
      </p:sp>
      <p:sp>
        <p:nvSpPr>
          <p:cNvPr id="21" name="Text 19"/>
          <p:cNvSpPr/>
          <p:nvPr/>
        </p:nvSpPr>
        <p:spPr>
          <a:xfrm>
            <a:off x="6413500" y="2354560"/>
            <a:ext cx="736600" cy="273050"/>
          </a:xfrm>
          <a:custGeom>
            <a:avLst/>
            <a:gdLst/>
            <a:ahLst/>
            <a:cxnLst/>
            <a:rect l="l" t="t" r="r" b="b"/>
            <a:pathLst>
              <a:path w="736600" h="273050">
                <a:moveTo>
                  <a:pt x="50800" y="0"/>
                </a:moveTo>
                <a:lnTo>
                  <a:pt x="685800" y="0"/>
                </a:lnTo>
                <a:arcTo wR="50800" hR="50800" stAng="16200000" swAng="5400000"/>
                <a:lnTo>
                  <a:pt x="736600" y="222250"/>
                </a:lnTo>
                <a:arcTo wR="50800" hR="50800" stAng="0" swAng="5400000"/>
                <a:lnTo>
                  <a:pt x="50800" y="273050"/>
                </a:lnTo>
                <a:arcTo wR="50800" hR="50800" stAng="5400000" swAng="5400000"/>
                <a:lnTo>
                  <a:pt x="0" y="50800"/>
                </a:lnTo>
                <a:arcTo wR="50800" hR="50800" stAng="10800000" swAng="5400000"/>
                <a:close/>
              </a:path>
            </a:pathLst>
          </a:custGeom>
          <a:solidFill>
            <a:srgbClr val="E8EEF8"/>
          </a:solidFill>
          <a:ln/>
        </p:spPr>
        <p:txBody>
          <a:bodyPr wrap="square" lIns="0" tIns="25400" rIns="0" bIns="0" rtlCol="0" anchor="t">
            <a:normAutofit/>
          </a:bodyPr>
          <a:lstStyle/>
          <a:p>
            <a:pPr marL="0" indent="0" algn="ctr">
              <a:lnSpc>
                <a:spcPts val="1750"/>
              </a:lnSpc>
              <a:buNone/>
            </a:pPr>
            <a:r>
              <a:rPr lang="en-US" sz="1250" b="1" dirty="0">
                <a:solidFill>
                  <a:srgbClr val="2F5597"/>
                </a:solidFill>
                <a:latin typeface="Lato" pitchFamily="34" charset="0"/>
                <a:ea typeface="Lato" pitchFamily="34" charset="-122"/>
                <a:cs typeface="Lato" pitchFamily="34" charset="-120"/>
              </a:rPr>
              <a:t>Agent</a:t>
            </a:r>
            <a:endParaRPr lang="en-US" sz="1250" dirty="0"/>
          </a:p>
        </p:txBody>
      </p:sp>
      <p:sp>
        <p:nvSpPr>
          <p:cNvPr id="22" name="Text 20"/>
          <p:cNvSpPr/>
          <p:nvPr/>
        </p:nvSpPr>
        <p:spPr>
          <a:xfrm>
            <a:off x="7251700" y="2367260"/>
            <a:ext cx="4342892"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000000"/>
                </a:solidFill>
                <a:latin typeface="Lato" pitchFamily="34" charset="0"/>
                <a:ea typeface="Lato" pitchFamily="34" charset="-122"/>
                <a:cs typeface="Lato" pitchFamily="34" charset="-120"/>
              </a:rPr>
              <a:t>open the proxy API documentation</a:t>
            </a:r>
            <a:endParaRPr lang="en-US" sz="1500" dirty="0"/>
          </a:p>
        </p:txBody>
      </p:sp>
      <p:sp>
        <p:nvSpPr>
          <p:cNvPr id="23" name="Text 21"/>
          <p:cNvSpPr/>
          <p:nvPr/>
        </p:nvSpPr>
        <p:spPr>
          <a:xfrm>
            <a:off x="6413500" y="2780010"/>
            <a:ext cx="736600" cy="273050"/>
          </a:xfrm>
          <a:custGeom>
            <a:avLst/>
            <a:gdLst/>
            <a:ahLst/>
            <a:cxnLst/>
            <a:rect l="l" t="t" r="r" b="b"/>
            <a:pathLst>
              <a:path w="736600" h="273050">
                <a:moveTo>
                  <a:pt x="50800" y="0"/>
                </a:moveTo>
                <a:lnTo>
                  <a:pt x="685800" y="0"/>
                </a:lnTo>
                <a:arcTo wR="50800" hR="50800" stAng="16200000" swAng="5400000"/>
                <a:lnTo>
                  <a:pt x="736600" y="222250"/>
                </a:lnTo>
                <a:arcTo wR="50800" hR="50800" stAng="0" swAng="5400000"/>
                <a:lnTo>
                  <a:pt x="50800" y="273050"/>
                </a:lnTo>
                <a:arcTo wR="50800" hR="50800" stAng="5400000" swAng="5400000"/>
                <a:lnTo>
                  <a:pt x="0" y="50800"/>
                </a:lnTo>
                <a:arcTo wR="50800" hR="50800" stAng="10800000" swAng="5400000"/>
                <a:close/>
              </a:path>
            </a:pathLst>
          </a:custGeom>
          <a:solidFill>
            <a:srgbClr val="EEEEEE"/>
          </a:solidFill>
          <a:ln/>
        </p:spPr>
        <p:txBody>
          <a:bodyPr wrap="square" lIns="0" tIns="25400" rIns="0" bIns="0" rtlCol="0" anchor="t">
            <a:normAutofit/>
          </a:bodyPr>
          <a:lstStyle/>
          <a:p>
            <a:pPr marL="0" indent="0" algn="ctr">
              <a:lnSpc>
                <a:spcPts val="1750"/>
              </a:lnSpc>
              <a:buNone/>
            </a:pPr>
            <a:r>
              <a:rPr lang="en-US" sz="1250" b="1" dirty="0">
                <a:solidFill>
                  <a:srgbClr val="555555"/>
                </a:solidFill>
                <a:latin typeface="Lato" pitchFamily="34" charset="0"/>
                <a:ea typeface="Lato" pitchFamily="34" charset="-122"/>
                <a:cs typeface="Lato" pitchFamily="34" charset="-120"/>
              </a:rPr>
              <a:t>Tool</a:t>
            </a:r>
            <a:endParaRPr lang="en-US" sz="1250" dirty="0"/>
          </a:p>
        </p:txBody>
      </p:sp>
      <p:sp>
        <p:nvSpPr>
          <p:cNvPr id="24" name="Text 22"/>
          <p:cNvSpPr/>
          <p:nvPr/>
        </p:nvSpPr>
        <p:spPr>
          <a:xfrm>
            <a:off x="7251700" y="2792710"/>
            <a:ext cx="4342892"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000000"/>
                </a:solidFill>
                <a:latin typeface="Lato" pitchFamily="34" charset="0"/>
                <a:ea typeface="Lato" pitchFamily="34" charset="-122"/>
                <a:cs typeface="Lato" pitchFamily="34" charset="-120"/>
              </a:rPr>
              <a:t>returns </a:t>
            </a:r>
            <a:r>
              <a:rPr lang="en-US" sz="1500" b="1" dirty="0">
                <a:solidFill>
                  <a:srgbClr val="C00000"/>
                </a:solidFill>
                <a:latin typeface="Lato" pitchFamily="34" charset="0"/>
                <a:ea typeface="Lato" pitchFamily="34" charset="-122"/>
                <a:cs typeface="Lato" pitchFamily="34" charset="-120"/>
              </a:rPr>
              <a:t>an unrelated webpage</a:t>
            </a:r>
            <a:endParaRPr lang="en-US" sz="1500" dirty="0"/>
          </a:p>
        </p:txBody>
      </p:sp>
      <p:sp>
        <p:nvSpPr>
          <p:cNvPr id="25" name="Text 23"/>
          <p:cNvSpPr/>
          <p:nvPr/>
        </p:nvSpPr>
        <p:spPr>
          <a:xfrm>
            <a:off x="6413500" y="3205460"/>
            <a:ext cx="736600" cy="273050"/>
          </a:xfrm>
          <a:custGeom>
            <a:avLst/>
            <a:gdLst/>
            <a:ahLst/>
            <a:cxnLst/>
            <a:rect l="l" t="t" r="r" b="b"/>
            <a:pathLst>
              <a:path w="736600" h="273050">
                <a:moveTo>
                  <a:pt x="50800" y="0"/>
                </a:moveTo>
                <a:lnTo>
                  <a:pt x="685800" y="0"/>
                </a:lnTo>
                <a:arcTo wR="50800" hR="50800" stAng="16200000" swAng="5400000"/>
                <a:lnTo>
                  <a:pt x="736600" y="222250"/>
                </a:lnTo>
                <a:arcTo wR="50800" hR="50800" stAng="0" swAng="5400000"/>
                <a:lnTo>
                  <a:pt x="50800" y="273050"/>
                </a:lnTo>
                <a:arcTo wR="50800" hR="50800" stAng="5400000" swAng="5400000"/>
                <a:lnTo>
                  <a:pt x="0" y="50800"/>
                </a:lnTo>
                <a:arcTo wR="50800" hR="50800" stAng="10800000" swAng="5400000"/>
                <a:close/>
              </a:path>
            </a:pathLst>
          </a:custGeom>
          <a:solidFill>
            <a:srgbClr val="E8EEF8"/>
          </a:solidFill>
          <a:ln/>
        </p:spPr>
        <p:txBody>
          <a:bodyPr wrap="square" lIns="0" tIns="25400" rIns="0" bIns="0" rtlCol="0" anchor="t">
            <a:normAutofit/>
          </a:bodyPr>
          <a:lstStyle/>
          <a:p>
            <a:pPr marL="0" indent="0" algn="ctr">
              <a:lnSpc>
                <a:spcPts val="1750"/>
              </a:lnSpc>
              <a:buNone/>
            </a:pPr>
            <a:r>
              <a:rPr lang="en-US" sz="1250" b="1" dirty="0">
                <a:solidFill>
                  <a:srgbClr val="2F5597"/>
                </a:solidFill>
                <a:latin typeface="Lato" pitchFamily="34" charset="0"/>
                <a:ea typeface="Lato" pitchFamily="34" charset="-122"/>
                <a:cs typeface="Lato" pitchFamily="34" charset="-120"/>
              </a:rPr>
              <a:t>Agent</a:t>
            </a:r>
            <a:endParaRPr lang="en-US" sz="1250" dirty="0"/>
          </a:p>
        </p:txBody>
      </p:sp>
      <p:sp>
        <p:nvSpPr>
          <p:cNvPr id="26" name="Text 24"/>
          <p:cNvSpPr/>
          <p:nvPr/>
        </p:nvSpPr>
        <p:spPr>
          <a:xfrm>
            <a:off x="7251700" y="3218160"/>
            <a:ext cx="4342892"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C00000"/>
                </a:solidFill>
                <a:latin typeface="Lato" pitchFamily="34" charset="0"/>
                <a:ea typeface="Lato" pitchFamily="34" charset="-122"/>
                <a:cs typeface="Lato" pitchFamily="34" charset="-120"/>
              </a:rPr>
              <a:t>continues the analysis</a:t>
            </a:r>
            <a:r>
              <a:rPr lang="en-US" sz="1500" dirty="0">
                <a:solidFill>
                  <a:srgbClr val="000000"/>
                </a:solidFill>
                <a:latin typeface="Lato" pitchFamily="34" charset="0"/>
                <a:ea typeface="Lato" pitchFamily="34" charset="-122"/>
                <a:cs typeface="Lato" pitchFamily="34" charset="-120"/>
              </a:rPr>
              <a:t> without the evidence</a:t>
            </a:r>
            <a:endParaRPr lang="en-US" sz="1500" dirty="0"/>
          </a:p>
        </p:txBody>
      </p:sp>
      <p:sp>
        <p:nvSpPr>
          <p:cNvPr id="27" name="Shape 25"/>
          <p:cNvSpPr/>
          <p:nvPr/>
        </p:nvSpPr>
        <p:spPr>
          <a:xfrm>
            <a:off x="514350" y="3954760"/>
            <a:ext cx="5473700" cy="1997670"/>
          </a:xfrm>
          <a:prstGeom prst="roundRect">
            <a:avLst>
              <a:gd name="adj" fmla="val 6040"/>
            </a:avLst>
          </a:prstGeom>
          <a:solidFill>
            <a:srgbClr val="FFFFFF"/>
          </a:solidFill>
          <a:ln w="12700">
            <a:solidFill>
              <a:srgbClr val="9DB4D8"/>
            </a:solidFill>
            <a:prstDash val="solid"/>
          </a:ln>
        </p:spPr>
        <p:txBody>
          <a:bodyPr/>
          <a:lstStyle/>
          <a:p>
            <a:endParaRPr lang="en-US"/>
          </a:p>
        </p:txBody>
      </p:sp>
      <p:sp>
        <p:nvSpPr>
          <p:cNvPr id="28" name="Text 26"/>
          <p:cNvSpPr/>
          <p:nvPr/>
        </p:nvSpPr>
        <p:spPr>
          <a:xfrm>
            <a:off x="730250" y="4175720"/>
            <a:ext cx="452785" cy="279400"/>
          </a:xfrm>
          <a:custGeom>
            <a:avLst/>
            <a:gdLst/>
            <a:ahLst/>
            <a:cxnLst/>
            <a:rect l="l" t="t" r="r" b="b"/>
            <a:pathLst>
              <a:path w="452785" h="279400">
                <a:moveTo>
                  <a:pt x="57150" y="0"/>
                </a:moveTo>
                <a:lnTo>
                  <a:pt x="395635" y="0"/>
                </a:lnTo>
                <a:arcTo wR="57150" hR="57150" stAng="16200000" swAng="5400000"/>
                <a:lnTo>
                  <a:pt x="452785" y="222250"/>
                </a:lnTo>
                <a:arcTo wR="57150" hR="57150" stAng="0" swAng="5400000"/>
                <a:lnTo>
                  <a:pt x="57150" y="279400"/>
                </a:lnTo>
                <a:arcTo wR="57150" hR="57150" stAng="5400000" swAng="5400000"/>
                <a:lnTo>
                  <a:pt x="0" y="57150"/>
                </a:lnTo>
                <a:arcTo wR="57150" hR="57150" stAng="10800000" swAng="5400000"/>
                <a:close/>
              </a:path>
            </a:pathLst>
          </a:custGeom>
          <a:solidFill>
            <a:srgbClr val="FFFFFF"/>
          </a:solidFill>
          <a:ln w="12700">
            <a:solidFill>
              <a:srgbClr val="2F5597"/>
            </a:solidFill>
            <a:prstDash val="solid"/>
          </a:ln>
        </p:spPr>
        <p:txBody>
          <a:bodyPr wrap="none" lIns="0" tIns="0" rIns="0" bIns="0" rtlCol="0" anchor="ctr">
            <a:normAutofit/>
          </a:bodyPr>
          <a:lstStyle/>
          <a:p>
            <a:pPr marL="0" indent="0" algn="ctr">
              <a:lnSpc>
                <a:spcPts val="2100"/>
              </a:lnSpc>
              <a:buNone/>
            </a:pPr>
            <a:r>
              <a:rPr lang="en-US" sz="1500" b="1" dirty="0">
                <a:solidFill>
                  <a:srgbClr val="2F5597"/>
                </a:solidFill>
                <a:latin typeface="Lato" pitchFamily="34" charset="0"/>
                <a:ea typeface="Lato" pitchFamily="34" charset="-122"/>
                <a:cs typeface="Lato" pitchFamily="34" charset="-120"/>
              </a:rPr>
              <a:t>M6</a:t>
            </a:r>
            <a:endParaRPr lang="en-US" sz="1500" dirty="0"/>
          </a:p>
        </p:txBody>
      </p:sp>
      <p:sp>
        <p:nvSpPr>
          <p:cNvPr id="29" name="Text 27"/>
          <p:cNvSpPr/>
          <p:nvPr/>
        </p:nvSpPr>
        <p:spPr>
          <a:xfrm>
            <a:off x="1278285" y="4164310"/>
            <a:ext cx="2747981"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000000"/>
                </a:solidFill>
                <a:latin typeface="Lato" pitchFamily="34" charset="0"/>
                <a:ea typeface="Lato" pitchFamily="34" charset="-122"/>
                <a:cs typeface="Lato" pitchFamily="34" charset="-120"/>
              </a:rPr>
              <a:t>Credentialed access</a:t>
            </a:r>
            <a:endParaRPr lang="en-US" sz="1700" dirty="0"/>
          </a:p>
        </p:txBody>
      </p:sp>
      <p:sp>
        <p:nvSpPr>
          <p:cNvPr id="30" name="Text 28"/>
          <p:cNvSpPr/>
          <p:nvPr/>
        </p:nvSpPr>
        <p:spPr>
          <a:xfrm>
            <a:off x="4035127" y="4182070"/>
            <a:ext cx="1946573"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2F5597"/>
                </a:solidFill>
                <a:latin typeface="Lato" pitchFamily="34" charset="0"/>
                <a:ea typeface="Lato" pitchFamily="34" charset="-122"/>
                <a:cs typeface="Lato" pitchFamily="34" charset="-120"/>
              </a:rPr>
              <a:t>56.7% in unsafe runs</a:t>
            </a:r>
            <a:endParaRPr lang="en-US" sz="1500" dirty="0"/>
          </a:p>
        </p:txBody>
      </p:sp>
      <p:sp>
        <p:nvSpPr>
          <p:cNvPr id="31" name="Text 29"/>
          <p:cNvSpPr/>
          <p:nvPr/>
        </p:nvSpPr>
        <p:spPr>
          <a:xfrm>
            <a:off x="723900" y="4618930"/>
            <a:ext cx="736600" cy="273050"/>
          </a:xfrm>
          <a:custGeom>
            <a:avLst/>
            <a:gdLst/>
            <a:ahLst/>
            <a:cxnLst/>
            <a:rect l="l" t="t" r="r" b="b"/>
            <a:pathLst>
              <a:path w="736600" h="273050">
                <a:moveTo>
                  <a:pt x="50800" y="0"/>
                </a:moveTo>
                <a:lnTo>
                  <a:pt x="685800" y="0"/>
                </a:lnTo>
                <a:arcTo wR="50800" hR="50800" stAng="16200000" swAng="5400000"/>
                <a:lnTo>
                  <a:pt x="736600" y="222250"/>
                </a:lnTo>
                <a:arcTo wR="50800" hR="50800" stAng="0" swAng="5400000"/>
                <a:lnTo>
                  <a:pt x="50800" y="273050"/>
                </a:lnTo>
                <a:arcTo wR="50800" hR="50800" stAng="5400000" swAng="5400000"/>
                <a:lnTo>
                  <a:pt x="0" y="50800"/>
                </a:lnTo>
                <a:arcTo wR="50800" hR="50800" stAng="10800000" swAng="5400000"/>
                <a:close/>
              </a:path>
            </a:pathLst>
          </a:custGeom>
          <a:solidFill>
            <a:srgbClr val="E8EEF8"/>
          </a:solidFill>
          <a:ln/>
        </p:spPr>
        <p:txBody>
          <a:bodyPr wrap="square" lIns="0" tIns="25400" rIns="0" bIns="0" rtlCol="0" anchor="t">
            <a:normAutofit/>
          </a:bodyPr>
          <a:lstStyle/>
          <a:p>
            <a:pPr marL="0" indent="0" algn="ctr">
              <a:lnSpc>
                <a:spcPts val="1750"/>
              </a:lnSpc>
              <a:buNone/>
            </a:pPr>
            <a:r>
              <a:rPr lang="en-US" sz="1250" b="1" dirty="0">
                <a:solidFill>
                  <a:srgbClr val="2F5597"/>
                </a:solidFill>
                <a:latin typeface="Lato" pitchFamily="34" charset="0"/>
                <a:ea typeface="Lato" pitchFamily="34" charset="-122"/>
                <a:cs typeface="Lato" pitchFamily="34" charset="-120"/>
              </a:rPr>
              <a:t>Agent</a:t>
            </a:r>
            <a:endParaRPr lang="en-US" sz="1250" dirty="0"/>
          </a:p>
        </p:txBody>
      </p:sp>
      <p:sp>
        <p:nvSpPr>
          <p:cNvPr id="32" name="Text 30"/>
          <p:cNvSpPr/>
          <p:nvPr/>
        </p:nvSpPr>
        <p:spPr>
          <a:xfrm>
            <a:off x="1562100" y="4631630"/>
            <a:ext cx="4342892"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000000"/>
                </a:solidFill>
                <a:latin typeface="Lato" pitchFamily="34" charset="0"/>
                <a:ea typeface="Lato" pitchFamily="34" charset="-122"/>
                <a:cs typeface="Lato" pitchFamily="34" charset="-120"/>
              </a:rPr>
              <a:t>authenticate the user session</a:t>
            </a:r>
            <a:endParaRPr lang="en-US" sz="1500" dirty="0"/>
          </a:p>
        </p:txBody>
      </p:sp>
      <p:sp>
        <p:nvSpPr>
          <p:cNvPr id="33" name="Text 31"/>
          <p:cNvSpPr/>
          <p:nvPr/>
        </p:nvSpPr>
        <p:spPr>
          <a:xfrm>
            <a:off x="723900" y="5044380"/>
            <a:ext cx="736600" cy="273050"/>
          </a:xfrm>
          <a:custGeom>
            <a:avLst/>
            <a:gdLst/>
            <a:ahLst/>
            <a:cxnLst/>
            <a:rect l="l" t="t" r="r" b="b"/>
            <a:pathLst>
              <a:path w="736600" h="273050">
                <a:moveTo>
                  <a:pt x="50800" y="0"/>
                </a:moveTo>
                <a:lnTo>
                  <a:pt x="685800" y="0"/>
                </a:lnTo>
                <a:arcTo wR="50800" hR="50800" stAng="16200000" swAng="5400000"/>
                <a:lnTo>
                  <a:pt x="736600" y="222250"/>
                </a:lnTo>
                <a:arcTo wR="50800" hR="50800" stAng="0" swAng="5400000"/>
                <a:lnTo>
                  <a:pt x="50800" y="273050"/>
                </a:lnTo>
                <a:arcTo wR="50800" hR="50800" stAng="5400000" swAng="5400000"/>
                <a:lnTo>
                  <a:pt x="0" y="50800"/>
                </a:lnTo>
                <a:arcTo wR="50800" hR="50800" stAng="10800000" swAng="5400000"/>
                <a:close/>
              </a:path>
            </a:pathLst>
          </a:custGeom>
          <a:solidFill>
            <a:srgbClr val="EEEEEE"/>
          </a:solidFill>
          <a:ln/>
        </p:spPr>
        <p:txBody>
          <a:bodyPr wrap="square" lIns="0" tIns="25400" rIns="0" bIns="0" rtlCol="0" anchor="t">
            <a:normAutofit/>
          </a:bodyPr>
          <a:lstStyle/>
          <a:p>
            <a:pPr marL="0" indent="0" algn="ctr">
              <a:lnSpc>
                <a:spcPts val="1750"/>
              </a:lnSpc>
              <a:buNone/>
            </a:pPr>
            <a:r>
              <a:rPr lang="en-US" sz="1250" b="1" dirty="0">
                <a:solidFill>
                  <a:srgbClr val="555555"/>
                </a:solidFill>
                <a:latin typeface="Lato" pitchFamily="34" charset="0"/>
                <a:ea typeface="Lato" pitchFamily="34" charset="-122"/>
                <a:cs typeface="Lato" pitchFamily="34" charset="-120"/>
              </a:rPr>
              <a:t>Tool</a:t>
            </a:r>
            <a:endParaRPr lang="en-US" sz="1250" dirty="0"/>
          </a:p>
        </p:txBody>
      </p:sp>
      <p:sp>
        <p:nvSpPr>
          <p:cNvPr id="34" name="Text 32"/>
          <p:cNvSpPr/>
          <p:nvPr/>
        </p:nvSpPr>
        <p:spPr>
          <a:xfrm>
            <a:off x="1562100" y="5057080"/>
            <a:ext cx="4342892"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000000"/>
                </a:solidFill>
                <a:latin typeface="Lato" pitchFamily="34" charset="0"/>
                <a:ea typeface="Lato" pitchFamily="34" charset="-122"/>
                <a:cs typeface="Lato" pitchFamily="34" charset="-120"/>
              </a:rPr>
              <a:t>links it to a trading account</a:t>
            </a:r>
            <a:endParaRPr lang="en-US" sz="1500" dirty="0"/>
          </a:p>
        </p:txBody>
      </p:sp>
      <p:sp>
        <p:nvSpPr>
          <p:cNvPr id="35" name="Text 33"/>
          <p:cNvSpPr/>
          <p:nvPr/>
        </p:nvSpPr>
        <p:spPr>
          <a:xfrm>
            <a:off x="723900" y="5469830"/>
            <a:ext cx="736600" cy="273050"/>
          </a:xfrm>
          <a:custGeom>
            <a:avLst/>
            <a:gdLst/>
            <a:ahLst/>
            <a:cxnLst/>
            <a:rect l="l" t="t" r="r" b="b"/>
            <a:pathLst>
              <a:path w="736600" h="273050">
                <a:moveTo>
                  <a:pt x="50800" y="0"/>
                </a:moveTo>
                <a:lnTo>
                  <a:pt x="685800" y="0"/>
                </a:lnTo>
                <a:arcTo wR="50800" hR="50800" stAng="16200000" swAng="5400000"/>
                <a:lnTo>
                  <a:pt x="736600" y="222250"/>
                </a:lnTo>
                <a:arcTo wR="50800" hR="50800" stAng="0" swAng="5400000"/>
                <a:lnTo>
                  <a:pt x="50800" y="273050"/>
                </a:lnTo>
                <a:arcTo wR="50800" hR="50800" stAng="5400000" swAng="5400000"/>
                <a:lnTo>
                  <a:pt x="0" y="50800"/>
                </a:lnTo>
                <a:arcTo wR="50800" hR="50800" stAng="10800000" swAng="5400000"/>
                <a:close/>
              </a:path>
            </a:pathLst>
          </a:custGeom>
          <a:solidFill>
            <a:srgbClr val="E8EEF8"/>
          </a:solidFill>
          <a:ln/>
        </p:spPr>
        <p:txBody>
          <a:bodyPr wrap="square" lIns="0" tIns="25400" rIns="0" bIns="0" rtlCol="0" anchor="t">
            <a:normAutofit/>
          </a:bodyPr>
          <a:lstStyle/>
          <a:p>
            <a:pPr marL="0" indent="0" algn="ctr">
              <a:lnSpc>
                <a:spcPts val="1750"/>
              </a:lnSpc>
              <a:buNone/>
            </a:pPr>
            <a:r>
              <a:rPr lang="en-US" sz="1250" b="1" dirty="0">
                <a:solidFill>
                  <a:srgbClr val="2F5597"/>
                </a:solidFill>
                <a:latin typeface="Lato" pitchFamily="34" charset="0"/>
                <a:ea typeface="Lato" pitchFamily="34" charset="-122"/>
                <a:cs typeface="Lato" pitchFamily="34" charset="-120"/>
              </a:rPr>
              <a:t>Agent</a:t>
            </a:r>
            <a:endParaRPr lang="en-US" sz="1250" dirty="0"/>
          </a:p>
        </p:txBody>
      </p:sp>
      <p:sp>
        <p:nvSpPr>
          <p:cNvPr id="36" name="Text 34"/>
          <p:cNvSpPr/>
          <p:nvPr/>
        </p:nvSpPr>
        <p:spPr>
          <a:xfrm>
            <a:off x="1562100" y="5482530"/>
            <a:ext cx="4342892"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000000"/>
                </a:solidFill>
                <a:latin typeface="Lato" pitchFamily="34" charset="0"/>
                <a:ea typeface="Lato" pitchFamily="34" charset="-122"/>
                <a:cs typeface="Lato" pitchFamily="34" charset="-120"/>
              </a:rPr>
              <a:t>pulls recent orders and account records</a:t>
            </a:r>
            <a:endParaRPr lang="en-US" sz="1500" dirty="0"/>
          </a:p>
        </p:txBody>
      </p:sp>
      <p:sp>
        <p:nvSpPr>
          <p:cNvPr id="37" name="Shape 35"/>
          <p:cNvSpPr/>
          <p:nvPr/>
        </p:nvSpPr>
        <p:spPr>
          <a:xfrm>
            <a:off x="6203950" y="3954760"/>
            <a:ext cx="5473700" cy="1997670"/>
          </a:xfrm>
          <a:prstGeom prst="roundRect">
            <a:avLst>
              <a:gd name="adj" fmla="val 6040"/>
            </a:avLst>
          </a:prstGeom>
          <a:solidFill>
            <a:srgbClr val="FFFFFF"/>
          </a:solidFill>
          <a:ln w="12700">
            <a:solidFill>
              <a:srgbClr val="9DB4D8"/>
            </a:solidFill>
            <a:prstDash val="solid"/>
          </a:ln>
        </p:spPr>
        <p:txBody>
          <a:bodyPr/>
          <a:lstStyle/>
          <a:p>
            <a:endParaRPr lang="en-US"/>
          </a:p>
        </p:txBody>
      </p:sp>
      <p:sp>
        <p:nvSpPr>
          <p:cNvPr id="38" name="Text 36"/>
          <p:cNvSpPr/>
          <p:nvPr/>
        </p:nvSpPr>
        <p:spPr>
          <a:xfrm>
            <a:off x="6419850" y="4175720"/>
            <a:ext cx="452785" cy="279400"/>
          </a:xfrm>
          <a:custGeom>
            <a:avLst/>
            <a:gdLst/>
            <a:ahLst/>
            <a:cxnLst/>
            <a:rect l="l" t="t" r="r" b="b"/>
            <a:pathLst>
              <a:path w="452785" h="279400">
                <a:moveTo>
                  <a:pt x="57150" y="0"/>
                </a:moveTo>
                <a:lnTo>
                  <a:pt x="395635" y="0"/>
                </a:lnTo>
                <a:arcTo wR="57150" hR="57150" stAng="16200000" swAng="5400000"/>
                <a:lnTo>
                  <a:pt x="452785" y="222250"/>
                </a:lnTo>
                <a:arcTo wR="57150" hR="57150" stAng="0" swAng="5400000"/>
                <a:lnTo>
                  <a:pt x="57150" y="279400"/>
                </a:lnTo>
                <a:arcTo wR="57150" hR="57150" stAng="5400000" swAng="5400000"/>
                <a:lnTo>
                  <a:pt x="0" y="57150"/>
                </a:lnTo>
                <a:arcTo wR="57150" hR="57150" stAng="10800000" swAng="5400000"/>
                <a:close/>
              </a:path>
            </a:pathLst>
          </a:custGeom>
          <a:solidFill>
            <a:srgbClr val="FFFFFF"/>
          </a:solidFill>
          <a:ln w="12700">
            <a:solidFill>
              <a:srgbClr val="2F5597"/>
            </a:solidFill>
            <a:prstDash val="solid"/>
          </a:ln>
        </p:spPr>
        <p:txBody>
          <a:bodyPr wrap="none" lIns="0" tIns="0" rIns="0" bIns="0" rtlCol="0" anchor="ctr">
            <a:normAutofit/>
          </a:bodyPr>
          <a:lstStyle/>
          <a:p>
            <a:pPr marL="0" indent="0" algn="ctr">
              <a:lnSpc>
                <a:spcPts val="2100"/>
              </a:lnSpc>
              <a:buNone/>
            </a:pPr>
            <a:r>
              <a:rPr lang="en-US" sz="1500" b="1" dirty="0">
                <a:solidFill>
                  <a:srgbClr val="2F5597"/>
                </a:solidFill>
                <a:latin typeface="Lato" pitchFamily="34" charset="0"/>
                <a:ea typeface="Lato" pitchFamily="34" charset="-122"/>
                <a:cs typeface="Lato" pitchFamily="34" charset="-120"/>
              </a:rPr>
              <a:t>M1</a:t>
            </a:r>
            <a:endParaRPr lang="en-US" sz="1500" dirty="0"/>
          </a:p>
        </p:txBody>
      </p:sp>
      <p:sp>
        <p:nvSpPr>
          <p:cNvPr id="39" name="Text 37"/>
          <p:cNvSpPr/>
          <p:nvPr/>
        </p:nvSpPr>
        <p:spPr>
          <a:xfrm>
            <a:off x="6967885" y="4164310"/>
            <a:ext cx="2747981"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000000"/>
                </a:solidFill>
                <a:latin typeface="Lato" pitchFamily="34" charset="0"/>
                <a:ea typeface="Lato" pitchFamily="34" charset="-122"/>
                <a:cs typeface="Lato" pitchFamily="34" charset="-120"/>
              </a:rPr>
              <a:t>Information gathering</a:t>
            </a:r>
            <a:endParaRPr lang="en-US" sz="1700" dirty="0"/>
          </a:p>
        </p:txBody>
      </p:sp>
      <p:sp>
        <p:nvSpPr>
          <p:cNvPr id="40" name="Text 38"/>
          <p:cNvSpPr/>
          <p:nvPr/>
        </p:nvSpPr>
        <p:spPr>
          <a:xfrm>
            <a:off x="9724727" y="4182070"/>
            <a:ext cx="1946573"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2F5597"/>
                </a:solidFill>
                <a:latin typeface="Lato" pitchFamily="34" charset="0"/>
                <a:ea typeface="Lato" pitchFamily="34" charset="-122"/>
                <a:cs typeface="Lato" pitchFamily="34" charset="-120"/>
              </a:rPr>
              <a:t>56.7% in unsafe runs</a:t>
            </a:r>
            <a:endParaRPr lang="en-US" sz="1500" dirty="0"/>
          </a:p>
        </p:txBody>
      </p:sp>
      <p:sp>
        <p:nvSpPr>
          <p:cNvPr id="41" name="Text 39"/>
          <p:cNvSpPr/>
          <p:nvPr/>
        </p:nvSpPr>
        <p:spPr>
          <a:xfrm>
            <a:off x="6413500" y="4618930"/>
            <a:ext cx="736600" cy="273050"/>
          </a:xfrm>
          <a:custGeom>
            <a:avLst/>
            <a:gdLst/>
            <a:ahLst/>
            <a:cxnLst/>
            <a:rect l="l" t="t" r="r" b="b"/>
            <a:pathLst>
              <a:path w="736600" h="273050">
                <a:moveTo>
                  <a:pt x="50800" y="0"/>
                </a:moveTo>
                <a:lnTo>
                  <a:pt x="685800" y="0"/>
                </a:lnTo>
                <a:arcTo wR="50800" hR="50800" stAng="16200000" swAng="5400000"/>
                <a:lnTo>
                  <a:pt x="736600" y="222250"/>
                </a:lnTo>
                <a:arcTo wR="50800" hR="50800" stAng="0" swAng="5400000"/>
                <a:lnTo>
                  <a:pt x="50800" y="273050"/>
                </a:lnTo>
                <a:arcTo wR="50800" hR="50800" stAng="5400000" swAng="5400000"/>
                <a:lnTo>
                  <a:pt x="0" y="50800"/>
                </a:lnTo>
                <a:arcTo wR="50800" hR="50800" stAng="10800000" swAng="5400000"/>
                <a:close/>
              </a:path>
            </a:pathLst>
          </a:custGeom>
          <a:solidFill>
            <a:srgbClr val="E8EEF8"/>
          </a:solidFill>
          <a:ln/>
        </p:spPr>
        <p:txBody>
          <a:bodyPr wrap="square" lIns="0" tIns="25400" rIns="0" bIns="0" rtlCol="0" anchor="t">
            <a:normAutofit/>
          </a:bodyPr>
          <a:lstStyle/>
          <a:p>
            <a:pPr marL="0" indent="0" algn="ctr">
              <a:lnSpc>
                <a:spcPts val="1750"/>
              </a:lnSpc>
              <a:buNone/>
            </a:pPr>
            <a:r>
              <a:rPr lang="en-US" sz="1250" b="1" dirty="0">
                <a:solidFill>
                  <a:srgbClr val="2F5597"/>
                </a:solidFill>
                <a:latin typeface="Lato" pitchFamily="34" charset="0"/>
                <a:ea typeface="Lato" pitchFamily="34" charset="-122"/>
                <a:cs typeface="Lato" pitchFamily="34" charset="-120"/>
              </a:rPr>
              <a:t>Agent</a:t>
            </a:r>
            <a:endParaRPr lang="en-US" sz="1250" dirty="0"/>
          </a:p>
        </p:txBody>
      </p:sp>
      <p:sp>
        <p:nvSpPr>
          <p:cNvPr id="42" name="Text 40"/>
          <p:cNvSpPr/>
          <p:nvPr/>
        </p:nvSpPr>
        <p:spPr>
          <a:xfrm>
            <a:off x="7251700" y="4631630"/>
            <a:ext cx="4342892"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000000"/>
                </a:solidFill>
                <a:latin typeface="Lato" pitchFamily="34" charset="0"/>
                <a:ea typeface="Lato" pitchFamily="34" charset="-122"/>
                <a:cs typeface="Lato" pitchFamily="34" charset="-120"/>
              </a:rPr>
              <a:t>search the web for the target entities</a:t>
            </a:r>
            <a:endParaRPr lang="en-US" sz="1500" dirty="0"/>
          </a:p>
        </p:txBody>
      </p:sp>
      <p:sp>
        <p:nvSpPr>
          <p:cNvPr id="43" name="Text 41"/>
          <p:cNvSpPr/>
          <p:nvPr/>
        </p:nvSpPr>
        <p:spPr>
          <a:xfrm>
            <a:off x="6413500" y="5044380"/>
            <a:ext cx="736600" cy="273050"/>
          </a:xfrm>
          <a:custGeom>
            <a:avLst/>
            <a:gdLst/>
            <a:ahLst/>
            <a:cxnLst/>
            <a:rect l="l" t="t" r="r" b="b"/>
            <a:pathLst>
              <a:path w="736600" h="273050">
                <a:moveTo>
                  <a:pt x="50800" y="0"/>
                </a:moveTo>
                <a:lnTo>
                  <a:pt x="685800" y="0"/>
                </a:lnTo>
                <a:arcTo wR="50800" hR="50800" stAng="16200000" swAng="5400000"/>
                <a:lnTo>
                  <a:pt x="736600" y="222250"/>
                </a:lnTo>
                <a:arcTo wR="50800" hR="50800" stAng="0" swAng="5400000"/>
                <a:lnTo>
                  <a:pt x="50800" y="273050"/>
                </a:lnTo>
                <a:arcTo wR="50800" hR="50800" stAng="5400000" swAng="5400000"/>
                <a:lnTo>
                  <a:pt x="0" y="50800"/>
                </a:lnTo>
                <a:arcTo wR="50800" hR="50800" stAng="10800000" swAng="5400000"/>
                <a:close/>
              </a:path>
            </a:pathLst>
          </a:custGeom>
          <a:solidFill>
            <a:srgbClr val="EEEEEE"/>
          </a:solidFill>
          <a:ln/>
        </p:spPr>
        <p:txBody>
          <a:bodyPr wrap="square" lIns="0" tIns="25400" rIns="0" bIns="0" rtlCol="0" anchor="t">
            <a:normAutofit/>
          </a:bodyPr>
          <a:lstStyle/>
          <a:p>
            <a:pPr marL="0" indent="0" algn="ctr">
              <a:lnSpc>
                <a:spcPts val="1750"/>
              </a:lnSpc>
              <a:buNone/>
            </a:pPr>
            <a:r>
              <a:rPr lang="en-US" sz="1250" b="1" dirty="0">
                <a:solidFill>
                  <a:srgbClr val="555555"/>
                </a:solidFill>
                <a:latin typeface="Lato" pitchFamily="34" charset="0"/>
                <a:ea typeface="Lato" pitchFamily="34" charset="-122"/>
                <a:cs typeface="Lato" pitchFamily="34" charset="-120"/>
              </a:rPr>
              <a:t>Tool</a:t>
            </a:r>
            <a:endParaRPr lang="en-US" sz="1250" dirty="0"/>
          </a:p>
        </p:txBody>
      </p:sp>
      <p:sp>
        <p:nvSpPr>
          <p:cNvPr id="44" name="Text 42"/>
          <p:cNvSpPr/>
          <p:nvPr/>
        </p:nvSpPr>
        <p:spPr>
          <a:xfrm>
            <a:off x="7251700" y="5057080"/>
            <a:ext cx="4342892"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000000"/>
                </a:solidFill>
                <a:latin typeface="Lato" pitchFamily="34" charset="0"/>
                <a:ea typeface="Lato" pitchFamily="34" charset="-122"/>
                <a:cs typeface="Lato" pitchFamily="34" charset="-120"/>
              </a:rPr>
              <a:t>returns candidate profiles and pages</a:t>
            </a:r>
            <a:endParaRPr lang="en-US" sz="1500" dirty="0"/>
          </a:p>
        </p:txBody>
      </p:sp>
      <p:sp>
        <p:nvSpPr>
          <p:cNvPr id="45" name="Text 43"/>
          <p:cNvSpPr/>
          <p:nvPr/>
        </p:nvSpPr>
        <p:spPr>
          <a:xfrm>
            <a:off x="6413500" y="5469830"/>
            <a:ext cx="736600" cy="273050"/>
          </a:xfrm>
          <a:custGeom>
            <a:avLst/>
            <a:gdLst/>
            <a:ahLst/>
            <a:cxnLst/>
            <a:rect l="l" t="t" r="r" b="b"/>
            <a:pathLst>
              <a:path w="736600" h="273050">
                <a:moveTo>
                  <a:pt x="50800" y="0"/>
                </a:moveTo>
                <a:lnTo>
                  <a:pt x="685800" y="0"/>
                </a:lnTo>
                <a:arcTo wR="50800" hR="50800" stAng="16200000" swAng="5400000"/>
                <a:lnTo>
                  <a:pt x="736600" y="222250"/>
                </a:lnTo>
                <a:arcTo wR="50800" hR="50800" stAng="0" swAng="5400000"/>
                <a:lnTo>
                  <a:pt x="50800" y="273050"/>
                </a:lnTo>
                <a:arcTo wR="50800" hR="50800" stAng="5400000" swAng="5400000"/>
                <a:lnTo>
                  <a:pt x="0" y="50800"/>
                </a:lnTo>
                <a:arcTo wR="50800" hR="50800" stAng="10800000" swAng="5400000"/>
                <a:close/>
              </a:path>
            </a:pathLst>
          </a:custGeom>
          <a:solidFill>
            <a:srgbClr val="E8EEF8"/>
          </a:solidFill>
          <a:ln/>
        </p:spPr>
        <p:txBody>
          <a:bodyPr wrap="square" lIns="0" tIns="25400" rIns="0" bIns="0" rtlCol="0" anchor="t">
            <a:normAutofit/>
          </a:bodyPr>
          <a:lstStyle/>
          <a:p>
            <a:pPr marL="0" indent="0" algn="ctr">
              <a:lnSpc>
                <a:spcPts val="1750"/>
              </a:lnSpc>
              <a:buNone/>
            </a:pPr>
            <a:r>
              <a:rPr lang="en-US" sz="1250" b="1" dirty="0">
                <a:solidFill>
                  <a:srgbClr val="2F5597"/>
                </a:solidFill>
                <a:latin typeface="Lato" pitchFamily="34" charset="0"/>
                <a:ea typeface="Lato" pitchFamily="34" charset="-122"/>
                <a:cs typeface="Lato" pitchFamily="34" charset="-120"/>
              </a:rPr>
              <a:t>Agent</a:t>
            </a:r>
            <a:endParaRPr lang="en-US" sz="1250" dirty="0"/>
          </a:p>
        </p:txBody>
      </p:sp>
      <p:sp>
        <p:nvSpPr>
          <p:cNvPr id="46" name="Text 44"/>
          <p:cNvSpPr/>
          <p:nvPr/>
        </p:nvSpPr>
        <p:spPr>
          <a:xfrm>
            <a:off x="7251700" y="5482530"/>
            <a:ext cx="4342892"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000000"/>
                </a:solidFill>
                <a:latin typeface="Lato" pitchFamily="34" charset="0"/>
                <a:ea typeface="Lato" pitchFamily="34" charset="-122"/>
                <a:cs typeface="Lato" pitchFamily="34" charset="-120"/>
              </a:rPr>
              <a:t>collects initial evidence for the task</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4" name="Text 2"/>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31 / 33</a:t>
            </a:r>
            <a:endParaRPr lang="en-US" sz="1200" dirty="0"/>
          </a:p>
        </p:txBody>
      </p:sp>
      <p:sp>
        <p:nvSpPr>
          <p:cNvPr id="5" name="Text 3"/>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Takeaways</a:t>
            </a:r>
            <a:endParaRPr lang="en-US" sz="3200" dirty="0"/>
          </a:p>
        </p:txBody>
      </p:sp>
      <p:sp>
        <p:nvSpPr>
          <p:cNvPr id="6" name="Text 4"/>
          <p:cNvSpPr/>
          <p:nvPr/>
        </p:nvSpPr>
        <p:spPr>
          <a:xfrm>
            <a:off x="508000" y="988020"/>
            <a:ext cx="1151128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000000"/>
                </a:solidFill>
                <a:latin typeface="Lato" pitchFamily="34" charset="0"/>
                <a:ea typeface="Lato" pitchFamily="34" charset="-122"/>
                <a:cs typeface="Lato" pitchFamily="34" charset="-120"/>
              </a:rPr>
              <a:t>• Reliable multi-agent systems need more than better agents: </a:t>
            </a:r>
            <a:r>
              <a:rPr lang="en-US" sz="1600" u="sng" dirty="0">
                <a:solidFill>
                  <a:srgbClr val="C00000"/>
                </a:solidFill>
                <a:latin typeface="Lato" pitchFamily="34" charset="0"/>
                <a:ea typeface="Lato" pitchFamily="34" charset="-122"/>
                <a:cs typeface="Lato" pitchFamily="34" charset="-120"/>
              </a:rPr>
              <a:t>auditors that catch failure while there is time to intervene</a:t>
            </a:r>
            <a:endParaRPr lang="en-US" sz="1600" dirty="0"/>
          </a:p>
        </p:txBody>
      </p:sp>
      <p:sp>
        <p:nvSpPr>
          <p:cNvPr id="7" name="Text 5"/>
          <p:cNvSpPr/>
          <p:nvPr/>
        </p:nvSpPr>
        <p:spPr>
          <a:xfrm>
            <a:off x="508000" y="1361380"/>
            <a:ext cx="1151128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000000"/>
                </a:solidFill>
                <a:latin typeface="Lato" pitchFamily="34" charset="0"/>
                <a:ea typeface="Lato" pitchFamily="34" charset="-122"/>
                <a:cs typeface="Lato" pitchFamily="34" charset="-120"/>
              </a:rPr>
              <a:t>• A 7B auditor trained for the skill </a:t>
            </a:r>
            <a:r>
              <a:rPr lang="en-US" sz="1600" b="1" dirty="0">
                <a:solidFill>
                  <a:srgbClr val="000000"/>
                </a:solidFill>
                <a:latin typeface="Lato" pitchFamily="34" charset="0"/>
                <a:ea typeface="Lato" pitchFamily="34" charset="-122"/>
                <a:cs typeface="Lato" pitchFamily="34" charset="-120"/>
              </a:rPr>
              <a:t>beats strong general models on early detection and localization</a:t>
            </a:r>
            <a:endParaRPr lang="en-US" sz="1600" dirty="0"/>
          </a:p>
        </p:txBody>
      </p:sp>
      <p:sp>
        <p:nvSpPr>
          <p:cNvPr id="8" name="Text 6"/>
          <p:cNvSpPr/>
          <p:nvPr/>
        </p:nvSpPr>
        <p:spPr>
          <a:xfrm>
            <a:off x="508000" y="1734741"/>
            <a:ext cx="1151128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000000"/>
                </a:solidFill>
                <a:latin typeface="Lato" pitchFamily="34" charset="0"/>
                <a:ea typeface="Lato" pitchFamily="34" charset="-122"/>
                <a:cs typeface="Lato" pitchFamily="34" charset="-120"/>
              </a:rPr>
              <a:t>• Without step labels, a risk score read from </a:t>
            </a:r>
            <a:r>
              <a:rPr lang="en-US" sz="1600" b="1" dirty="0">
                <a:solidFill>
                  <a:srgbClr val="000000"/>
                </a:solidFill>
                <a:latin typeface="Lato" pitchFamily="34" charset="0"/>
                <a:ea typeface="Lato" pitchFamily="34" charset="-122"/>
                <a:cs typeface="Lato" pitchFamily="34" charset="-120"/>
              </a:rPr>
              <a:t>a model's hidden states warns early</a:t>
            </a:r>
            <a:r>
              <a:rPr lang="en-US" sz="1600" dirty="0">
                <a:solidFill>
                  <a:srgbClr val="000000"/>
                </a:solidFill>
                <a:latin typeface="Lato" pitchFamily="34" charset="0"/>
                <a:ea typeface="Lato" pitchFamily="34" charset="-122"/>
                <a:cs typeface="Lato" pitchFamily="34" charset="-120"/>
              </a:rPr>
              <a:t>, and its learned patterns are readable</a:t>
            </a:r>
            <a:endParaRPr lang="en-US" sz="1600" dirty="0"/>
          </a:p>
        </p:txBody>
      </p:sp>
      <p:pic>
        <p:nvPicPr>
          <p:cNvPr id="9" name="Image 0" descr="Two-stage training of the online auditor: failure boundary alignment, then three-axis reward with RL"/>
          <p:cNvPicPr>
            <a:picLocks noChangeAspect="1"/>
          </p:cNvPicPr>
          <p:nvPr/>
        </p:nvPicPr>
        <p:blipFill>
          <a:blip r:embed="rId3"/>
          <a:srcRect t="-7" b="-7"/>
          <a:stretch/>
        </p:blipFill>
        <p:spPr>
          <a:xfrm>
            <a:off x="508000" y="2249140"/>
            <a:ext cx="2470150" cy="3556000"/>
          </a:xfrm>
          <a:prstGeom prst="rect">
            <a:avLst/>
          </a:prstGeom>
        </p:spPr>
      </p:pic>
      <p:pic>
        <p:nvPicPr>
          <p:cNvPr id="10" name="Image 1" descr="Trajectory-state auditing: observer hidden states, a mechanism bank, and a GRU producing a prefix risk score"/>
          <p:cNvPicPr>
            <a:picLocks noChangeAspect="1"/>
          </p:cNvPicPr>
          <p:nvPr/>
        </p:nvPicPr>
        <p:blipFill>
          <a:blip r:embed="rId4"/>
          <a:srcRect t="-59" b="-59"/>
          <a:stretch/>
        </p:blipFill>
        <p:spPr>
          <a:xfrm>
            <a:off x="3232150" y="2696815"/>
            <a:ext cx="8451850" cy="2660650"/>
          </a:xfrm>
          <a:prstGeom prst="rect">
            <a:avLst/>
          </a:prstGeom>
        </p:spPr>
      </p:pic>
      <p:sp>
        <p:nvSpPr>
          <p:cNvPr id="11" name="Text 7"/>
          <p:cNvSpPr/>
          <p:nvPr/>
        </p:nvSpPr>
        <p:spPr>
          <a:xfrm>
            <a:off x="508000" y="6035080"/>
            <a:ext cx="115112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Lato" pitchFamily="34" charset="0"/>
                <a:ea typeface="Lato" pitchFamily="34" charset="-122"/>
                <a:cs typeface="Lato" pitchFamily="34" charset="-120"/>
              </a:rPr>
              <a:t>AgentForesight: Zhang, Zhu, Shi, Liu, Tang, NeurIPS 2026 · TRACES: Li, Li, Zhang, Tang, Huang, EMNLP 2026</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AI for Biomedicine: A Multi-Agent T1D Knowledge Graph</a:t>
            </a:r>
            <a:endParaRPr lang="en-US" sz="3200" dirty="0"/>
          </a:p>
        </p:txBody>
      </p:sp>
      <p:sp>
        <p:nvSpPr>
          <p:cNvPr id="4" name="Text 2"/>
          <p:cNvSpPr/>
          <p:nvPr/>
        </p:nvSpPr>
        <p:spPr>
          <a:xfrm>
            <a:off x="508000" y="1026120"/>
            <a:ext cx="11511280" cy="368300"/>
          </a:xfrm>
          <a:prstGeom prst="rect">
            <a:avLst/>
          </a:prstGeom>
          <a:noFill/>
          <a:ln/>
        </p:spPr>
        <p:txBody>
          <a:bodyPr wrap="square" lIns="0" tIns="0" rIns="0" bIns="0" rtlCol="0" anchor="t">
            <a:normAutofit/>
          </a:bodyPr>
          <a:lstStyle/>
          <a:p>
            <a:pPr marL="0" indent="0" algn="l">
              <a:lnSpc>
                <a:spcPts val="2700"/>
              </a:lnSpc>
              <a:buNone/>
            </a:pPr>
            <a:r>
              <a:rPr lang="en-US" sz="2000" b="1" dirty="0">
                <a:solidFill>
                  <a:srgbClr val="000000"/>
                </a:solidFill>
                <a:latin typeface="Lato" pitchFamily="34" charset="0"/>
                <a:ea typeface="Lato" pitchFamily="34" charset="-122"/>
                <a:cs typeface="Lato" pitchFamily="34" charset="-120"/>
              </a:rPr>
              <a:t>Multi-agent system:</a:t>
            </a:r>
            <a:r>
              <a:rPr lang="en-US" sz="2000" dirty="0">
                <a:solidFill>
                  <a:srgbClr val="000000"/>
                </a:solidFill>
                <a:latin typeface="Lato" pitchFamily="34" charset="0"/>
                <a:ea typeface="Lato" pitchFamily="34" charset="-122"/>
                <a:cs typeface="Lato" pitchFamily="34" charset="-120"/>
              </a:rPr>
              <a:t> agents read 131,511 T1D papers and build a graph that </a:t>
            </a:r>
            <a:r>
              <a:rPr lang="en-US" sz="2000" u="sng" dirty="0">
                <a:solidFill>
                  <a:srgbClr val="C00000"/>
                </a:solidFill>
                <a:latin typeface="Lato" pitchFamily="34" charset="0"/>
                <a:ea typeface="Lato" pitchFamily="34" charset="-122"/>
                <a:cs typeface="Lato" pitchFamily="34" charset="-120"/>
              </a:rPr>
              <a:t>changes year by year</a:t>
            </a:r>
            <a:endParaRPr lang="en-US" sz="2000" dirty="0"/>
          </a:p>
        </p:txBody>
      </p:sp>
      <p:pic>
        <p:nvPicPr>
          <p:cNvPr id="5" name="Image 0" descr="Screenshot of the T1D knowledge graph explorer: entity search and year filters on the left, a graph of genes and chemicals around Diabetes Mellitus Type 1 in the middle, a timeline of papers per year from 1960 to 2025 below, and supporting sentences with PMIDs on the right"/>
          <p:cNvPicPr>
            <a:picLocks noChangeAspect="1"/>
          </p:cNvPicPr>
          <p:nvPr/>
        </p:nvPicPr>
        <p:blipFill>
          <a:blip r:embed="rId3"/>
          <a:srcRect l="-73" r="-73"/>
          <a:stretch/>
        </p:blipFill>
        <p:spPr>
          <a:xfrm>
            <a:off x="514350" y="1649710"/>
            <a:ext cx="7480300" cy="4305300"/>
          </a:xfrm>
          <a:prstGeom prst="roundRect">
            <a:avLst>
              <a:gd name="adj" fmla="val 1032"/>
            </a:avLst>
          </a:prstGeom>
        </p:spPr>
      </p:pic>
      <p:sp>
        <p:nvSpPr>
          <p:cNvPr id="6" name="Shape 3"/>
          <p:cNvSpPr/>
          <p:nvPr/>
        </p:nvSpPr>
        <p:spPr>
          <a:xfrm>
            <a:off x="511175" y="1646535"/>
            <a:ext cx="7486650" cy="4311650"/>
          </a:xfrm>
          <a:prstGeom prst="roundRect">
            <a:avLst>
              <a:gd name="adj" fmla="val 1105"/>
            </a:avLst>
          </a:prstGeom>
          <a:noFill/>
          <a:ln w="6350">
            <a:solidFill>
              <a:srgbClr val="D9DDE3"/>
            </a:solidFill>
            <a:prstDash val="solid"/>
          </a:ln>
        </p:spPr>
        <p:txBody>
          <a:bodyPr/>
          <a:lstStyle/>
          <a:p>
            <a:endParaRPr lang="en-US"/>
          </a:p>
        </p:txBody>
      </p:sp>
      <p:sp>
        <p:nvSpPr>
          <p:cNvPr id="7" name="Text 4"/>
          <p:cNvSpPr/>
          <p:nvPr/>
        </p:nvSpPr>
        <p:spPr>
          <a:xfrm>
            <a:off x="2800350" y="2360910"/>
            <a:ext cx="292100" cy="292100"/>
          </a:xfrm>
          <a:prstGeom prst="roundRect">
            <a:avLst>
              <a:gd name="adj" fmla="val 50000"/>
            </a:avLst>
          </a:prstGeom>
          <a:solidFill>
            <a:srgbClr val="C00000"/>
          </a:solidFill>
          <a:ln/>
        </p:spPr>
        <p:txBody>
          <a:bodyPr wrap="square" lIns="0" tIns="0" rIns="0" bIns="0" rtlCol="0" anchor="ctr">
            <a:normAutofit/>
          </a:bodyPr>
          <a:lstStyle/>
          <a:p>
            <a:pPr marL="0" indent="0" algn="ctr">
              <a:lnSpc>
                <a:spcPts val="1400"/>
              </a:lnSpc>
              <a:buNone/>
            </a:pPr>
            <a:r>
              <a:rPr lang="en-US" sz="1400" b="1" dirty="0">
                <a:solidFill>
                  <a:srgbClr val="FFFFFF"/>
                </a:solidFill>
                <a:latin typeface="Lato" pitchFamily="34" charset="0"/>
                <a:ea typeface="Lato" pitchFamily="34" charset="-122"/>
                <a:cs typeface="Lato" pitchFamily="34" charset="-120"/>
              </a:rPr>
              <a:t>1</a:t>
            </a:r>
            <a:endParaRPr lang="en-US" sz="1400" dirty="0"/>
          </a:p>
        </p:txBody>
      </p:sp>
      <p:sp>
        <p:nvSpPr>
          <p:cNvPr id="8" name="Text 5"/>
          <p:cNvSpPr/>
          <p:nvPr/>
        </p:nvSpPr>
        <p:spPr>
          <a:xfrm>
            <a:off x="1504950" y="5396210"/>
            <a:ext cx="292100" cy="292100"/>
          </a:xfrm>
          <a:prstGeom prst="roundRect">
            <a:avLst>
              <a:gd name="adj" fmla="val 50000"/>
            </a:avLst>
          </a:prstGeom>
          <a:solidFill>
            <a:srgbClr val="C00000"/>
          </a:solidFill>
          <a:ln/>
        </p:spPr>
        <p:txBody>
          <a:bodyPr wrap="square" lIns="0" tIns="0" rIns="0" bIns="0" rtlCol="0" anchor="ctr">
            <a:normAutofit/>
          </a:bodyPr>
          <a:lstStyle/>
          <a:p>
            <a:pPr marL="0" indent="0" algn="ctr">
              <a:lnSpc>
                <a:spcPts val="1400"/>
              </a:lnSpc>
              <a:buNone/>
            </a:pPr>
            <a:r>
              <a:rPr lang="en-US" sz="1400" b="1" dirty="0">
                <a:solidFill>
                  <a:srgbClr val="FFFFFF"/>
                </a:solidFill>
                <a:latin typeface="Lato" pitchFamily="34" charset="0"/>
                <a:ea typeface="Lato" pitchFamily="34" charset="-122"/>
                <a:cs typeface="Lato" pitchFamily="34" charset="-120"/>
              </a:rPr>
              <a:t>2</a:t>
            </a:r>
            <a:endParaRPr lang="en-US" sz="1400" dirty="0"/>
          </a:p>
        </p:txBody>
      </p:sp>
      <p:sp>
        <p:nvSpPr>
          <p:cNvPr id="9" name="Text 6"/>
          <p:cNvSpPr/>
          <p:nvPr/>
        </p:nvSpPr>
        <p:spPr>
          <a:xfrm>
            <a:off x="6223000" y="3522960"/>
            <a:ext cx="292100" cy="292100"/>
          </a:xfrm>
          <a:prstGeom prst="roundRect">
            <a:avLst>
              <a:gd name="adj" fmla="val 50000"/>
            </a:avLst>
          </a:prstGeom>
          <a:solidFill>
            <a:srgbClr val="C00000"/>
          </a:solidFill>
          <a:ln/>
        </p:spPr>
        <p:txBody>
          <a:bodyPr wrap="square" lIns="0" tIns="0" rIns="0" bIns="0" rtlCol="0" anchor="ctr">
            <a:normAutofit/>
          </a:bodyPr>
          <a:lstStyle/>
          <a:p>
            <a:pPr marL="0" indent="0" algn="ctr">
              <a:lnSpc>
                <a:spcPts val="1400"/>
              </a:lnSpc>
              <a:buNone/>
            </a:pPr>
            <a:r>
              <a:rPr lang="en-US" sz="1400" b="1" dirty="0">
                <a:solidFill>
                  <a:srgbClr val="FFFFFF"/>
                </a:solidFill>
                <a:latin typeface="Lato" pitchFamily="34" charset="0"/>
                <a:ea typeface="Lato" pitchFamily="34" charset="-122"/>
                <a:cs typeface="Lato" pitchFamily="34" charset="-120"/>
              </a:rPr>
              <a:t>3</a:t>
            </a:r>
            <a:endParaRPr lang="en-US" sz="1400" dirty="0"/>
          </a:p>
        </p:txBody>
      </p:sp>
      <p:sp>
        <p:nvSpPr>
          <p:cNvPr id="10" name="Text 7"/>
          <p:cNvSpPr/>
          <p:nvPr/>
        </p:nvSpPr>
        <p:spPr>
          <a:xfrm>
            <a:off x="8255000" y="1643360"/>
            <a:ext cx="292100" cy="292100"/>
          </a:xfrm>
          <a:prstGeom prst="roundRect">
            <a:avLst>
              <a:gd name="adj" fmla="val 50000"/>
            </a:avLst>
          </a:prstGeom>
          <a:solidFill>
            <a:srgbClr val="C00000"/>
          </a:solidFill>
          <a:ln/>
        </p:spPr>
        <p:txBody>
          <a:bodyPr wrap="square" lIns="0" tIns="0" rIns="0" bIns="0" rtlCol="0" anchor="ctr">
            <a:normAutofit/>
          </a:bodyPr>
          <a:lstStyle/>
          <a:p>
            <a:pPr marL="0" indent="0" algn="ctr">
              <a:lnSpc>
                <a:spcPts val="1400"/>
              </a:lnSpc>
              <a:buNone/>
            </a:pPr>
            <a:r>
              <a:rPr lang="en-US" sz="1400" b="1" dirty="0">
                <a:solidFill>
                  <a:srgbClr val="FFFFFF"/>
                </a:solidFill>
                <a:latin typeface="Lato" pitchFamily="34" charset="0"/>
                <a:ea typeface="Lato" pitchFamily="34" charset="-122"/>
                <a:cs typeface="Lato" pitchFamily="34" charset="-120"/>
              </a:rPr>
              <a:t>1</a:t>
            </a:r>
            <a:endParaRPr lang="en-US" sz="1400" dirty="0"/>
          </a:p>
        </p:txBody>
      </p:sp>
      <p:sp>
        <p:nvSpPr>
          <p:cNvPr id="11" name="Text 8"/>
          <p:cNvSpPr/>
          <p:nvPr/>
        </p:nvSpPr>
        <p:spPr>
          <a:xfrm>
            <a:off x="8661400" y="1643360"/>
            <a:ext cx="3113278" cy="539750"/>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000000"/>
                </a:solidFill>
                <a:latin typeface="Lato" pitchFamily="34" charset="0"/>
                <a:ea typeface="Lato" pitchFamily="34" charset="-122"/>
                <a:cs typeface="Lato" pitchFamily="34" charset="-120"/>
              </a:rPr>
              <a:t>Graph:</a:t>
            </a:r>
            <a:r>
              <a:rPr lang="en-US" sz="1500" dirty="0">
                <a:solidFill>
                  <a:srgbClr val="000000"/>
                </a:solidFill>
                <a:latin typeface="Lato" pitchFamily="34" charset="0"/>
                <a:ea typeface="Lato" pitchFamily="34" charset="-122"/>
                <a:cs typeface="Lato" pitchFamily="34" charset="-120"/>
              </a:rPr>
              <a:t> genes, chemicals and T1D, linked by claims from papers</a:t>
            </a:r>
            <a:endParaRPr lang="en-US" sz="1500" dirty="0"/>
          </a:p>
        </p:txBody>
      </p:sp>
      <p:sp>
        <p:nvSpPr>
          <p:cNvPr id="12" name="Text 9"/>
          <p:cNvSpPr/>
          <p:nvPr/>
        </p:nvSpPr>
        <p:spPr>
          <a:xfrm>
            <a:off x="8255000" y="2462510"/>
            <a:ext cx="292100" cy="292100"/>
          </a:xfrm>
          <a:prstGeom prst="roundRect">
            <a:avLst>
              <a:gd name="adj" fmla="val 50000"/>
            </a:avLst>
          </a:prstGeom>
          <a:solidFill>
            <a:srgbClr val="C00000"/>
          </a:solidFill>
          <a:ln/>
        </p:spPr>
        <p:txBody>
          <a:bodyPr wrap="square" lIns="0" tIns="0" rIns="0" bIns="0" rtlCol="0" anchor="ctr">
            <a:normAutofit/>
          </a:bodyPr>
          <a:lstStyle/>
          <a:p>
            <a:pPr marL="0" indent="0" algn="ctr">
              <a:lnSpc>
                <a:spcPts val="1400"/>
              </a:lnSpc>
              <a:buNone/>
            </a:pPr>
            <a:r>
              <a:rPr lang="en-US" sz="1400" b="1" dirty="0">
                <a:solidFill>
                  <a:srgbClr val="FFFFFF"/>
                </a:solidFill>
                <a:latin typeface="Lato" pitchFamily="34" charset="0"/>
                <a:ea typeface="Lato" pitchFamily="34" charset="-122"/>
                <a:cs typeface="Lato" pitchFamily="34" charset="-120"/>
              </a:rPr>
              <a:t>2</a:t>
            </a:r>
            <a:endParaRPr lang="en-US" sz="1400" dirty="0"/>
          </a:p>
        </p:txBody>
      </p:sp>
      <p:sp>
        <p:nvSpPr>
          <p:cNvPr id="13" name="Text 10"/>
          <p:cNvSpPr/>
          <p:nvPr/>
        </p:nvSpPr>
        <p:spPr>
          <a:xfrm>
            <a:off x="8661400" y="2462510"/>
            <a:ext cx="3113278" cy="539750"/>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000000"/>
                </a:solidFill>
                <a:latin typeface="Lato" pitchFamily="34" charset="0"/>
                <a:ea typeface="Lato" pitchFamily="34" charset="-122"/>
                <a:cs typeface="Lato" pitchFamily="34" charset="-120"/>
              </a:rPr>
              <a:t>Timeline:</a:t>
            </a:r>
            <a:r>
              <a:rPr lang="en-US" sz="1500" dirty="0">
                <a:solidFill>
                  <a:srgbClr val="000000"/>
                </a:solidFill>
                <a:latin typeface="Lato" pitchFamily="34" charset="0"/>
                <a:ea typeface="Lato" pitchFamily="34" charset="-122"/>
                <a:cs typeface="Lato" pitchFamily="34" charset="-120"/>
              </a:rPr>
              <a:t> papers per year, pick any window from 1960 to 2025</a:t>
            </a:r>
            <a:endParaRPr lang="en-US" sz="1500" dirty="0"/>
          </a:p>
        </p:txBody>
      </p:sp>
      <p:sp>
        <p:nvSpPr>
          <p:cNvPr id="14" name="Text 11"/>
          <p:cNvSpPr/>
          <p:nvPr/>
        </p:nvSpPr>
        <p:spPr>
          <a:xfrm>
            <a:off x="8255000" y="3281660"/>
            <a:ext cx="292100" cy="292100"/>
          </a:xfrm>
          <a:prstGeom prst="roundRect">
            <a:avLst>
              <a:gd name="adj" fmla="val 50000"/>
            </a:avLst>
          </a:prstGeom>
          <a:solidFill>
            <a:srgbClr val="C00000"/>
          </a:solidFill>
          <a:ln/>
        </p:spPr>
        <p:txBody>
          <a:bodyPr wrap="square" lIns="0" tIns="0" rIns="0" bIns="0" rtlCol="0" anchor="ctr">
            <a:normAutofit/>
          </a:bodyPr>
          <a:lstStyle/>
          <a:p>
            <a:pPr marL="0" indent="0" algn="ctr">
              <a:lnSpc>
                <a:spcPts val="1400"/>
              </a:lnSpc>
              <a:buNone/>
            </a:pPr>
            <a:r>
              <a:rPr lang="en-US" sz="1400" b="1" dirty="0">
                <a:solidFill>
                  <a:srgbClr val="FFFFFF"/>
                </a:solidFill>
                <a:latin typeface="Lato" pitchFamily="34" charset="0"/>
                <a:ea typeface="Lato" pitchFamily="34" charset="-122"/>
                <a:cs typeface="Lato" pitchFamily="34" charset="-120"/>
              </a:rPr>
              <a:t>3</a:t>
            </a:r>
            <a:endParaRPr lang="en-US" sz="1400" dirty="0"/>
          </a:p>
        </p:txBody>
      </p:sp>
      <p:sp>
        <p:nvSpPr>
          <p:cNvPr id="15" name="Text 12"/>
          <p:cNvSpPr/>
          <p:nvPr/>
        </p:nvSpPr>
        <p:spPr>
          <a:xfrm>
            <a:off x="8661400" y="3281660"/>
            <a:ext cx="3113278" cy="539750"/>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000000"/>
                </a:solidFill>
                <a:latin typeface="Lato" pitchFamily="34" charset="0"/>
                <a:ea typeface="Lato" pitchFamily="34" charset="-122"/>
                <a:cs typeface="Lato" pitchFamily="34" charset="-120"/>
              </a:rPr>
              <a:t>Evidence:</a:t>
            </a:r>
            <a:r>
              <a:rPr lang="en-US" sz="1500" dirty="0">
                <a:solidFill>
                  <a:srgbClr val="000000"/>
                </a:solidFill>
                <a:latin typeface="Lato" pitchFamily="34" charset="0"/>
                <a:ea typeface="Lato" pitchFamily="34" charset="-122"/>
                <a:cs typeface="Lato" pitchFamily="34" charset="-120"/>
              </a:rPr>
              <a:t> the sentences and PMIDs behind every link</a:t>
            </a:r>
            <a:endParaRPr lang="en-US" sz="1500" dirty="0"/>
          </a:p>
        </p:txBody>
      </p:sp>
      <p:sp>
        <p:nvSpPr>
          <p:cNvPr id="16" name="Text 13"/>
          <p:cNvSpPr/>
          <p:nvPr/>
        </p:nvSpPr>
        <p:spPr>
          <a:xfrm>
            <a:off x="8255000" y="5049540"/>
            <a:ext cx="1427976"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555555"/>
                </a:solidFill>
                <a:latin typeface="Lato" pitchFamily="34" charset="0"/>
                <a:ea typeface="Lato" pitchFamily="34" charset="-122"/>
                <a:cs typeface="Lato" pitchFamily="34" charset="-120"/>
              </a:rPr>
              <a:t>Supported by</a:t>
            </a:r>
            <a:endParaRPr lang="en-US" sz="1600" dirty="0"/>
          </a:p>
        </p:txBody>
      </p:sp>
      <p:pic>
        <p:nvPicPr>
          <p:cNvPr id="17" name="Image 1" descr="NIH NIDDK logo"/>
          <p:cNvPicPr>
            <a:picLocks noChangeAspect="1"/>
          </p:cNvPicPr>
          <p:nvPr/>
        </p:nvPicPr>
        <p:blipFill>
          <a:blip r:embed="rId4"/>
          <a:srcRect t="-89" b="-89"/>
          <a:stretch/>
        </p:blipFill>
        <p:spPr>
          <a:xfrm>
            <a:off x="8255000" y="5377160"/>
            <a:ext cx="2286000" cy="584200"/>
          </a:xfrm>
          <a:prstGeom prst="rect">
            <a:avLst/>
          </a:prstGeom>
        </p:spPr>
      </p:pic>
      <p:sp>
        <p:nvSpPr>
          <p:cNvPr id="18" name="Text 14"/>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19" name="Text 15"/>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32 / 33</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Shape 1"/>
          <p:cNvSpPr/>
          <p:nvPr/>
        </p:nvSpPr>
        <p:spPr>
          <a:xfrm>
            <a:off x="511175" y="948730"/>
            <a:ext cx="3414167" cy="2692350"/>
          </a:xfrm>
          <a:prstGeom prst="roundRect">
            <a:avLst>
              <a:gd name="adj" fmla="val 4599"/>
            </a:avLst>
          </a:prstGeom>
          <a:solidFill>
            <a:srgbClr val="FFFFFF"/>
          </a:solidFill>
          <a:ln w="6350">
            <a:solidFill>
              <a:srgbClr val="E4E7ED"/>
            </a:solidFill>
            <a:prstDash val="solid"/>
          </a:ln>
          <a:effectLst>
            <a:outerShdw blurRad="25400" dist="12700" dir="5400000" algn="bl" rotWithShape="0">
              <a:srgbClr val="111827">
                <a:alpha val="5000"/>
              </a:srgbClr>
            </a:outerShdw>
          </a:effectLst>
        </p:spPr>
        <p:txBody>
          <a:bodyPr/>
          <a:lstStyle/>
          <a:p>
            <a:endParaRPr lang="en-US"/>
          </a:p>
        </p:txBody>
      </p:sp>
      <p:sp>
        <p:nvSpPr>
          <p:cNvPr id="4" name="Text 2"/>
          <p:cNvSpPr/>
          <p:nvPr/>
        </p:nvSpPr>
        <p:spPr>
          <a:xfrm>
            <a:off x="692150" y="1104305"/>
            <a:ext cx="3143783" cy="306040"/>
          </a:xfrm>
          <a:prstGeom prst="rect">
            <a:avLst/>
          </a:prstGeom>
          <a:noFill/>
          <a:ln/>
        </p:spPr>
        <p:txBody>
          <a:bodyPr wrap="none" lIns="0" tIns="0" rIns="0" bIns="0" rtlCol="0" anchor="t">
            <a:normAutofit/>
          </a:bodyPr>
          <a:lstStyle/>
          <a:p>
            <a:pPr marL="0" indent="0" algn="l">
              <a:lnSpc>
                <a:spcPts val="2210"/>
              </a:lnSpc>
              <a:buNone/>
            </a:pPr>
            <a:r>
              <a:rPr lang="en-US" sz="1700" b="1" dirty="0">
                <a:solidFill>
                  <a:srgbClr val="2F64A8"/>
                </a:solidFill>
                <a:latin typeface="Lato" pitchFamily="34" charset="0"/>
                <a:ea typeface="Lato" pitchFamily="34" charset="-122"/>
                <a:cs typeface="Lato" pitchFamily="34" charset="-120"/>
              </a:rPr>
              <a:t>Perception reliability</a:t>
            </a:r>
            <a:endParaRPr lang="en-US" sz="1700" dirty="0"/>
          </a:p>
        </p:txBody>
      </p:sp>
      <p:pic>
        <p:nvPicPr>
          <p:cNvPr id="5" name="Image 0" descr="A robot unsure how many fingers a hand shows, answering 5 (wrong) and 6 (right)"/>
          <p:cNvPicPr>
            <a:picLocks noChangeAspect="1"/>
          </p:cNvPicPr>
          <p:nvPr/>
        </p:nvPicPr>
        <p:blipFill>
          <a:blip r:embed="rId3"/>
          <a:srcRect t="-115" b="-115"/>
          <a:stretch/>
        </p:blipFill>
        <p:spPr>
          <a:xfrm>
            <a:off x="692150" y="1486545"/>
            <a:ext cx="3048000" cy="1384300"/>
          </a:xfrm>
          <a:prstGeom prst="rect">
            <a:avLst/>
          </a:prstGeom>
        </p:spPr>
      </p:pic>
      <p:sp>
        <p:nvSpPr>
          <p:cNvPr id="6" name="Shape 3"/>
          <p:cNvSpPr/>
          <p:nvPr/>
        </p:nvSpPr>
        <p:spPr>
          <a:xfrm>
            <a:off x="692150" y="3061345"/>
            <a:ext cx="76200" cy="76200"/>
          </a:xfrm>
          <a:prstGeom prst="roundRect">
            <a:avLst>
              <a:gd name="adj" fmla="val 50000"/>
            </a:avLst>
          </a:prstGeom>
          <a:solidFill>
            <a:srgbClr val="2F64A8"/>
          </a:solidFill>
          <a:ln/>
        </p:spPr>
        <p:txBody>
          <a:bodyPr/>
          <a:lstStyle/>
          <a:p>
            <a:endParaRPr lang="en-US"/>
          </a:p>
        </p:txBody>
      </p:sp>
      <p:sp>
        <p:nvSpPr>
          <p:cNvPr id="7" name="Text 4"/>
          <p:cNvSpPr/>
          <p:nvPr/>
        </p:nvSpPr>
        <p:spPr>
          <a:xfrm>
            <a:off x="857250" y="2972445"/>
            <a:ext cx="3064917"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B4150"/>
                </a:solidFill>
                <a:latin typeface="Lato" pitchFamily="34" charset="0"/>
                <a:ea typeface="Lato" pitchFamily="34" charset="-122"/>
                <a:cs typeface="Lato" pitchFamily="34" charset="-120"/>
              </a:rPr>
              <a:t>Hallucination detection &amp; mitigation</a:t>
            </a:r>
            <a:endParaRPr lang="en-US" sz="1400" dirty="0"/>
          </a:p>
        </p:txBody>
      </p:sp>
      <p:sp>
        <p:nvSpPr>
          <p:cNvPr id="8" name="Shape 5"/>
          <p:cNvSpPr/>
          <p:nvPr/>
        </p:nvSpPr>
        <p:spPr>
          <a:xfrm>
            <a:off x="692150" y="3343275"/>
            <a:ext cx="76200" cy="76200"/>
          </a:xfrm>
          <a:prstGeom prst="roundRect">
            <a:avLst>
              <a:gd name="adj" fmla="val 50000"/>
            </a:avLst>
          </a:prstGeom>
          <a:solidFill>
            <a:srgbClr val="2F64A8"/>
          </a:solidFill>
          <a:ln/>
        </p:spPr>
        <p:txBody>
          <a:bodyPr/>
          <a:lstStyle/>
          <a:p>
            <a:endParaRPr lang="en-US"/>
          </a:p>
        </p:txBody>
      </p:sp>
      <p:sp>
        <p:nvSpPr>
          <p:cNvPr id="9" name="Text 6"/>
          <p:cNvSpPr/>
          <p:nvPr/>
        </p:nvSpPr>
        <p:spPr>
          <a:xfrm>
            <a:off x="857250" y="3254375"/>
            <a:ext cx="2462629"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B4150"/>
                </a:solidFill>
                <a:latin typeface="Lato" pitchFamily="34" charset="0"/>
                <a:ea typeface="Lato" pitchFamily="34" charset="-122"/>
                <a:cs typeface="Lato" pitchFamily="34" charset="-120"/>
              </a:rPr>
              <a:t>Uncertainty quantification</a:t>
            </a:r>
            <a:endParaRPr lang="en-US" sz="1400" dirty="0"/>
          </a:p>
        </p:txBody>
      </p:sp>
      <p:pic>
        <p:nvPicPr>
          <p:cNvPr id="10" name="Image 1" descr="arrow-right"/>
          <p:cNvPicPr>
            <a:picLocks noChangeAspect="1"/>
          </p:cNvPicPr>
          <p:nvPr/>
        </p:nvPicPr>
        <p:blipFill>
          <a:blip r:embed="rId4"/>
          <a:srcRect/>
          <a:stretch/>
        </p:blipFill>
        <p:spPr>
          <a:xfrm>
            <a:off x="4030117" y="2225030"/>
            <a:ext cx="254000" cy="139700"/>
          </a:xfrm>
          <a:prstGeom prst="rect">
            <a:avLst/>
          </a:prstGeom>
        </p:spPr>
      </p:pic>
      <p:sp>
        <p:nvSpPr>
          <p:cNvPr id="11" name="Shape 7"/>
          <p:cNvSpPr/>
          <p:nvPr/>
        </p:nvSpPr>
        <p:spPr>
          <a:xfrm>
            <a:off x="4388892" y="948730"/>
            <a:ext cx="3414216" cy="2692350"/>
          </a:xfrm>
          <a:prstGeom prst="roundRect">
            <a:avLst>
              <a:gd name="adj" fmla="val 4599"/>
            </a:avLst>
          </a:prstGeom>
          <a:solidFill>
            <a:srgbClr val="FFFFFF"/>
          </a:solidFill>
          <a:ln w="6350">
            <a:solidFill>
              <a:srgbClr val="E4E7ED"/>
            </a:solidFill>
            <a:prstDash val="solid"/>
          </a:ln>
          <a:effectLst>
            <a:outerShdw blurRad="25400" dist="12700" dir="5400000" algn="bl" rotWithShape="0">
              <a:srgbClr val="111827">
                <a:alpha val="5000"/>
              </a:srgbClr>
            </a:outerShdw>
          </a:effectLst>
        </p:spPr>
        <p:txBody>
          <a:bodyPr/>
          <a:lstStyle/>
          <a:p>
            <a:endParaRPr lang="en-US"/>
          </a:p>
        </p:txBody>
      </p:sp>
      <p:sp>
        <p:nvSpPr>
          <p:cNvPr id="12" name="Text 8"/>
          <p:cNvSpPr/>
          <p:nvPr/>
        </p:nvSpPr>
        <p:spPr>
          <a:xfrm>
            <a:off x="4569867" y="1104305"/>
            <a:ext cx="3143834" cy="306040"/>
          </a:xfrm>
          <a:prstGeom prst="rect">
            <a:avLst/>
          </a:prstGeom>
          <a:noFill/>
          <a:ln/>
        </p:spPr>
        <p:txBody>
          <a:bodyPr wrap="none" lIns="0" tIns="0" rIns="0" bIns="0" rtlCol="0" anchor="t">
            <a:normAutofit/>
          </a:bodyPr>
          <a:lstStyle/>
          <a:p>
            <a:pPr marL="0" indent="0" algn="l">
              <a:lnSpc>
                <a:spcPts val="2210"/>
              </a:lnSpc>
              <a:buNone/>
            </a:pPr>
            <a:r>
              <a:rPr lang="en-US" sz="1700" b="1" dirty="0">
                <a:solidFill>
                  <a:srgbClr val="1E7B70"/>
                </a:solidFill>
                <a:latin typeface="Lato" pitchFamily="34" charset="0"/>
                <a:ea typeface="Lato" pitchFamily="34" charset="-122"/>
                <a:cs typeface="Lato" pitchFamily="34" charset="-120"/>
              </a:rPr>
              <a:t>Operational interpretability</a:t>
            </a:r>
            <a:endParaRPr lang="en-US" sz="1700" dirty="0"/>
          </a:p>
        </p:txBody>
      </p:sp>
      <p:pic>
        <p:nvPicPr>
          <p:cNvPr id="13" name="Image 2" descr="A robot whose internal network is probed by a hand holding a needle"/>
          <p:cNvPicPr>
            <a:picLocks noChangeAspect="1"/>
          </p:cNvPicPr>
          <p:nvPr/>
        </p:nvPicPr>
        <p:blipFill>
          <a:blip r:embed="rId5"/>
          <a:srcRect t="-115" b="-115"/>
          <a:stretch/>
        </p:blipFill>
        <p:spPr>
          <a:xfrm>
            <a:off x="4569867" y="1486545"/>
            <a:ext cx="3048000" cy="1384300"/>
          </a:xfrm>
          <a:prstGeom prst="rect">
            <a:avLst/>
          </a:prstGeom>
        </p:spPr>
      </p:pic>
      <p:sp>
        <p:nvSpPr>
          <p:cNvPr id="14" name="Shape 9"/>
          <p:cNvSpPr/>
          <p:nvPr/>
        </p:nvSpPr>
        <p:spPr>
          <a:xfrm>
            <a:off x="4569867" y="3061345"/>
            <a:ext cx="76200" cy="76200"/>
          </a:xfrm>
          <a:prstGeom prst="roundRect">
            <a:avLst>
              <a:gd name="adj" fmla="val 50000"/>
            </a:avLst>
          </a:prstGeom>
          <a:solidFill>
            <a:srgbClr val="1E7B70"/>
          </a:solidFill>
          <a:ln/>
        </p:spPr>
        <p:txBody>
          <a:bodyPr/>
          <a:lstStyle/>
          <a:p>
            <a:endParaRPr lang="en-US"/>
          </a:p>
        </p:txBody>
      </p:sp>
      <p:sp>
        <p:nvSpPr>
          <p:cNvPr id="15" name="Text 10"/>
          <p:cNvSpPr/>
          <p:nvPr/>
        </p:nvSpPr>
        <p:spPr>
          <a:xfrm>
            <a:off x="4734967" y="2972445"/>
            <a:ext cx="2833688"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B4150"/>
                </a:solidFill>
                <a:latin typeface="Lato" pitchFamily="34" charset="0"/>
                <a:ea typeface="Lato" pitchFamily="34" charset="-122"/>
                <a:cs typeface="Lato" pitchFamily="34" charset="-120"/>
              </a:rPr>
              <a:t>Causal mechanism localization</a:t>
            </a:r>
            <a:endParaRPr lang="en-US" sz="1400" dirty="0"/>
          </a:p>
        </p:txBody>
      </p:sp>
      <p:sp>
        <p:nvSpPr>
          <p:cNvPr id="16" name="Shape 11"/>
          <p:cNvSpPr/>
          <p:nvPr/>
        </p:nvSpPr>
        <p:spPr>
          <a:xfrm>
            <a:off x="4569867" y="3343275"/>
            <a:ext cx="76200" cy="76200"/>
          </a:xfrm>
          <a:prstGeom prst="roundRect">
            <a:avLst>
              <a:gd name="adj" fmla="val 50000"/>
            </a:avLst>
          </a:prstGeom>
          <a:solidFill>
            <a:srgbClr val="1E7B70"/>
          </a:solidFill>
          <a:ln/>
        </p:spPr>
        <p:txBody>
          <a:bodyPr/>
          <a:lstStyle/>
          <a:p>
            <a:endParaRPr lang="en-US"/>
          </a:p>
        </p:txBody>
      </p:sp>
      <p:sp>
        <p:nvSpPr>
          <p:cNvPr id="17" name="Text 12"/>
          <p:cNvSpPr/>
          <p:nvPr/>
        </p:nvSpPr>
        <p:spPr>
          <a:xfrm>
            <a:off x="4734967" y="3254375"/>
            <a:ext cx="2587466"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B4150"/>
                </a:solidFill>
                <a:latin typeface="Lato" pitchFamily="34" charset="0"/>
                <a:ea typeface="Lato" pitchFamily="34" charset="-122"/>
                <a:cs typeface="Lato" pitchFamily="34" charset="-120"/>
              </a:rPr>
              <a:t>Mechanism-guided steering</a:t>
            </a:r>
            <a:endParaRPr lang="en-US" sz="1400" dirty="0"/>
          </a:p>
        </p:txBody>
      </p:sp>
      <p:pic>
        <p:nvPicPr>
          <p:cNvPr id="18" name="Image 3" descr="arrow-right"/>
          <p:cNvPicPr>
            <a:picLocks noChangeAspect="1"/>
          </p:cNvPicPr>
          <p:nvPr/>
        </p:nvPicPr>
        <p:blipFill>
          <a:blip r:embed="rId4"/>
          <a:srcRect/>
          <a:stretch/>
        </p:blipFill>
        <p:spPr>
          <a:xfrm>
            <a:off x="7907883" y="2225030"/>
            <a:ext cx="254000" cy="139700"/>
          </a:xfrm>
          <a:prstGeom prst="rect">
            <a:avLst/>
          </a:prstGeom>
        </p:spPr>
      </p:pic>
      <p:sp>
        <p:nvSpPr>
          <p:cNvPr id="19" name="Shape 13"/>
          <p:cNvSpPr/>
          <p:nvPr/>
        </p:nvSpPr>
        <p:spPr>
          <a:xfrm>
            <a:off x="8266658" y="948730"/>
            <a:ext cx="3414167" cy="2692350"/>
          </a:xfrm>
          <a:prstGeom prst="roundRect">
            <a:avLst>
              <a:gd name="adj" fmla="val 4599"/>
            </a:avLst>
          </a:prstGeom>
          <a:solidFill>
            <a:srgbClr val="FFFFFF"/>
          </a:solidFill>
          <a:ln w="6350">
            <a:solidFill>
              <a:srgbClr val="E4E7ED"/>
            </a:solidFill>
            <a:prstDash val="solid"/>
          </a:ln>
          <a:effectLst>
            <a:outerShdw blurRad="25400" dist="12700" dir="5400000" algn="bl" rotWithShape="0">
              <a:srgbClr val="111827">
                <a:alpha val="5000"/>
              </a:srgbClr>
            </a:outerShdw>
          </a:effectLst>
        </p:spPr>
        <p:txBody>
          <a:bodyPr/>
          <a:lstStyle/>
          <a:p>
            <a:endParaRPr lang="en-US"/>
          </a:p>
        </p:txBody>
      </p:sp>
      <p:sp>
        <p:nvSpPr>
          <p:cNvPr id="20" name="Text 14"/>
          <p:cNvSpPr/>
          <p:nvPr/>
        </p:nvSpPr>
        <p:spPr>
          <a:xfrm>
            <a:off x="8447633" y="1104305"/>
            <a:ext cx="3143783" cy="306040"/>
          </a:xfrm>
          <a:prstGeom prst="rect">
            <a:avLst/>
          </a:prstGeom>
          <a:noFill/>
          <a:ln/>
        </p:spPr>
        <p:txBody>
          <a:bodyPr wrap="none" lIns="0" tIns="0" rIns="0" bIns="0" rtlCol="0" anchor="t">
            <a:normAutofit/>
          </a:bodyPr>
          <a:lstStyle/>
          <a:p>
            <a:pPr marL="0" indent="0" algn="l">
              <a:lnSpc>
                <a:spcPts val="2210"/>
              </a:lnSpc>
              <a:buNone/>
            </a:pPr>
            <a:r>
              <a:rPr lang="en-US" sz="1700" b="1" dirty="0">
                <a:solidFill>
                  <a:srgbClr val="6B4FA0"/>
                </a:solidFill>
                <a:latin typeface="Lato" pitchFamily="34" charset="0"/>
                <a:ea typeface="Lato" pitchFamily="34" charset="-122"/>
                <a:cs typeface="Lato" pitchFamily="34" charset="-120"/>
              </a:rPr>
              <a:t>Agent safety &amp; control</a:t>
            </a:r>
            <a:endParaRPr lang="en-US" sz="1700" dirty="0"/>
          </a:p>
        </p:txBody>
      </p:sp>
      <p:pic>
        <p:nvPicPr>
          <p:cNvPr id="21" name="Image 4" descr="A multi-agent plan trace where a patch step is flagged and the deploy step is held back"/>
          <p:cNvPicPr>
            <a:picLocks noChangeAspect="1"/>
          </p:cNvPicPr>
          <p:nvPr/>
        </p:nvPicPr>
        <p:blipFill>
          <a:blip r:embed="rId6"/>
          <a:srcRect t="-115" b="-115"/>
          <a:stretch/>
        </p:blipFill>
        <p:spPr>
          <a:xfrm>
            <a:off x="8447633" y="1486545"/>
            <a:ext cx="3048000" cy="1384300"/>
          </a:xfrm>
          <a:prstGeom prst="rect">
            <a:avLst/>
          </a:prstGeom>
        </p:spPr>
      </p:pic>
      <p:sp>
        <p:nvSpPr>
          <p:cNvPr id="22" name="Shape 15"/>
          <p:cNvSpPr/>
          <p:nvPr/>
        </p:nvSpPr>
        <p:spPr>
          <a:xfrm>
            <a:off x="8447633" y="3061345"/>
            <a:ext cx="76200" cy="76200"/>
          </a:xfrm>
          <a:prstGeom prst="roundRect">
            <a:avLst>
              <a:gd name="adj" fmla="val 50000"/>
            </a:avLst>
          </a:prstGeom>
          <a:solidFill>
            <a:srgbClr val="6B4FA0"/>
          </a:solidFill>
          <a:ln/>
        </p:spPr>
        <p:txBody>
          <a:bodyPr/>
          <a:lstStyle/>
          <a:p>
            <a:endParaRPr lang="en-US"/>
          </a:p>
        </p:txBody>
      </p:sp>
      <p:sp>
        <p:nvSpPr>
          <p:cNvPr id="23" name="Text 16"/>
          <p:cNvSpPr/>
          <p:nvPr/>
        </p:nvSpPr>
        <p:spPr>
          <a:xfrm>
            <a:off x="8612733" y="2972445"/>
            <a:ext cx="2753678"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B4150"/>
                </a:solidFill>
                <a:latin typeface="Lato" pitchFamily="34" charset="0"/>
                <a:ea typeface="Lato" pitchFamily="34" charset="-122"/>
                <a:cs typeface="Lato" pitchFamily="34" charset="-120"/>
              </a:rPr>
              <a:t>Multi-agent failure prediction</a:t>
            </a:r>
            <a:endParaRPr lang="en-US" sz="1400" dirty="0"/>
          </a:p>
        </p:txBody>
      </p:sp>
      <p:sp>
        <p:nvSpPr>
          <p:cNvPr id="24" name="Shape 17"/>
          <p:cNvSpPr/>
          <p:nvPr/>
        </p:nvSpPr>
        <p:spPr>
          <a:xfrm>
            <a:off x="8447633" y="3343275"/>
            <a:ext cx="76200" cy="76200"/>
          </a:xfrm>
          <a:prstGeom prst="roundRect">
            <a:avLst>
              <a:gd name="adj" fmla="val 50000"/>
            </a:avLst>
          </a:prstGeom>
          <a:solidFill>
            <a:srgbClr val="6B4FA0"/>
          </a:solidFill>
          <a:ln/>
        </p:spPr>
        <p:txBody>
          <a:bodyPr/>
          <a:lstStyle/>
          <a:p>
            <a:endParaRPr lang="en-US"/>
          </a:p>
        </p:txBody>
      </p:sp>
      <p:sp>
        <p:nvSpPr>
          <p:cNvPr id="25" name="Text 18"/>
          <p:cNvSpPr/>
          <p:nvPr/>
        </p:nvSpPr>
        <p:spPr>
          <a:xfrm>
            <a:off x="8612733" y="3254375"/>
            <a:ext cx="2980015"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B4150"/>
                </a:solidFill>
                <a:latin typeface="Lato" pitchFamily="34" charset="0"/>
                <a:ea typeface="Lato" pitchFamily="34" charset="-122"/>
                <a:cs typeface="Lato" pitchFamily="34" charset="-120"/>
              </a:rPr>
              <a:t>Error containment and recovery</a:t>
            </a:r>
            <a:endParaRPr lang="en-US" sz="1400" dirty="0"/>
          </a:p>
        </p:txBody>
      </p:sp>
      <p:pic>
        <p:nvPicPr>
          <p:cNvPr id="26" name="Image 5" descr="arrow-down"/>
          <p:cNvPicPr>
            <a:picLocks noChangeAspect="1"/>
          </p:cNvPicPr>
          <p:nvPr/>
        </p:nvPicPr>
        <p:blipFill>
          <a:blip r:embed="rId7"/>
          <a:srcRect/>
          <a:stretch/>
        </p:blipFill>
        <p:spPr>
          <a:xfrm>
            <a:off x="2139950" y="3733155"/>
            <a:ext cx="152400" cy="279400"/>
          </a:xfrm>
          <a:prstGeom prst="rect">
            <a:avLst/>
          </a:prstGeom>
        </p:spPr>
      </p:pic>
      <p:pic>
        <p:nvPicPr>
          <p:cNvPr id="27" name="Image 6" descr="arrow-down"/>
          <p:cNvPicPr>
            <a:picLocks noChangeAspect="1"/>
          </p:cNvPicPr>
          <p:nvPr/>
        </p:nvPicPr>
        <p:blipFill>
          <a:blip r:embed="rId7"/>
          <a:srcRect/>
          <a:stretch/>
        </p:blipFill>
        <p:spPr>
          <a:xfrm>
            <a:off x="6019800" y="3733155"/>
            <a:ext cx="152400" cy="279400"/>
          </a:xfrm>
          <a:prstGeom prst="rect">
            <a:avLst/>
          </a:prstGeom>
        </p:spPr>
      </p:pic>
      <p:pic>
        <p:nvPicPr>
          <p:cNvPr id="28" name="Image 7" descr="arrow-down"/>
          <p:cNvPicPr>
            <a:picLocks noChangeAspect="1"/>
          </p:cNvPicPr>
          <p:nvPr/>
        </p:nvPicPr>
        <p:blipFill>
          <a:blip r:embed="rId7"/>
          <a:srcRect/>
          <a:stretch/>
        </p:blipFill>
        <p:spPr>
          <a:xfrm>
            <a:off x="9899650" y="3733155"/>
            <a:ext cx="152400" cy="279400"/>
          </a:xfrm>
          <a:prstGeom prst="rect">
            <a:avLst/>
          </a:prstGeom>
        </p:spPr>
      </p:pic>
      <p:sp>
        <p:nvSpPr>
          <p:cNvPr id="29" name="Shape 19"/>
          <p:cNvSpPr/>
          <p:nvPr/>
        </p:nvSpPr>
        <p:spPr>
          <a:xfrm>
            <a:off x="511175" y="4104630"/>
            <a:ext cx="11169650" cy="664170"/>
          </a:xfrm>
          <a:prstGeom prst="roundRect">
            <a:avLst>
              <a:gd name="adj" fmla="val 18644"/>
            </a:avLst>
          </a:prstGeom>
          <a:solidFill>
            <a:srgbClr val="F5FAF7"/>
          </a:solidFill>
          <a:ln w="6350">
            <a:solidFill>
              <a:srgbClr val="D6E8DD"/>
            </a:solidFill>
            <a:prstDash val="solid"/>
          </a:ln>
          <a:effectLst>
            <a:outerShdw blurRad="25400" dist="12700" dir="5400000" algn="bl" rotWithShape="0">
              <a:srgbClr val="111827">
                <a:alpha val="5000"/>
              </a:srgbClr>
            </a:outerShdw>
          </a:effectLst>
        </p:spPr>
        <p:txBody>
          <a:bodyPr/>
          <a:lstStyle/>
          <a:p>
            <a:endParaRPr lang="en-US"/>
          </a:p>
        </p:txBody>
      </p:sp>
      <p:pic>
        <p:nvPicPr>
          <p:cNvPr id="30" name="Image 8" descr="preencoded.png"/>
          <p:cNvPicPr>
            <a:picLocks noChangeAspect="1"/>
          </p:cNvPicPr>
          <p:nvPr/>
        </p:nvPicPr>
        <p:blipFill>
          <a:blip r:embed="rId8"/>
          <a:srcRect/>
          <a:stretch/>
        </p:blipFill>
        <p:spPr>
          <a:xfrm>
            <a:off x="717550" y="4360466"/>
            <a:ext cx="330200" cy="152400"/>
          </a:xfrm>
          <a:prstGeom prst="rect">
            <a:avLst/>
          </a:prstGeom>
        </p:spPr>
      </p:pic>
      <p:sp>
        <p:nvSpPr>
          <p:cNvPr id="31" name="Text 20"/>
          <p:cNvSpPr/>
          <p:nvPr/>
        </p:nvSpPr>
        <p:spPr>
          <a:xfrm>
            <a:off x="1136650" y="4296370"/>
            <a:ext cx="1826946" cy="306040"/>
          </a:xfrm>
          <a:prstGeom prst="rect">
            <a:avLst/>
          </a:prstGeom>
          <a:noFill/>
          <a:ln/>
        </p:spPr>
        <p:txBody>
          <a:bodyPr wrap="none" lIns="0" tIns="0" rIns="0" bIns="0" rtlCol="0" anchor="t">
            <a:normAutofit/>
          </a:bodyPr>
          <a:lstStyle/>
          <a:p>
            <a:pPr marL="0" indent="0" algn="l">
              <a:lnSpc>
                <a:spcPts val="2210"/>
              </a:lnSpc>
              <a:buNone/>
            </a:pPr>
            <a:r>
              <a:rPr lang="en-US" sz="1700" b="1" dirty="0">
                <a:solidFill>
                  <a:srgbClr val="2E7D5B"/>
                </a:solidFill>
                <a:latin typeface="Lato" pitchFamily="34" charset="0"/>
                <a:ea typeface="Lato" pitchFamily="34" charset="-122"/>
                <a:cs typeface="Lato" pitchFamily="34" charset="-120"/>
              </a:rPr>
              <a:t>AI for biomedicine</a:t>
            </a:r>
            <a:endParaRPr lang="en-US" sz="1700" dirty="0"/>
          </a:p>
        </p:txBody>
      </p:sp>
      <p:pic>
        <p:nvPicPr>
          <p:cNvPr id="32" name="Image 9" descr="DNA icon"/>
          <p:cNvPicPr>
            <a:picLocks noChangeAspect="1"/>
          </p:cNvPicPr>
          <p:nvPr/>
        </p:nvPicPr>
        <p:blipFill>
          <a:blip r:embed="rId9"/>
          <a:srcRect/>
          <a:stretch/>
        </p:blipFill>
        <p:spPr>
          <a:xfrm>
            <a:off x="3466108" y="4258915"/>
            <a:ext cx="355600" cy="355600"/>
          </a:xfrm>
          <a:prstGeom prst="rect">
            <a:avLst/>
          </a:prstGeom>
        </p:spPr>
      </p:pic>
      <p:sp>
        <p:nvSpPr>
          <p:cNvPr id="33" name="Text 21"/>
          <p:cNvSpPr/>
          <p:nvPr/>
        </p:nvSpPr>
        <p:spPr>
          <a:xfrm>
            <a:off x="3910608" y="4234805"/>
            <a:ext cx="1219299" cy="238720"/>
          </a:xfrm>
          <a:prstGeom prst="rect">
            <a:avLst/>
          </a:prstGeom>
          <a:noFill/>
          <a:ln/>
        </p:spPr>
        <p:txBody>
          <a:bodyPr wrap="none" lIns="0" tIns="0" rIns="0" bIns="0" rtlCol="0" anchor="t">
            <a:normAutofit/>
          </a:bodyPr>
          <a:lstStyle/>
          <a:p>
            <a:pPr marL="0" indent="0" algn="l">
              <a:lnSpc>
                <a:spcPts val="1680"/>
              </a:lnSpc>
              <a:buNone/>
            </a:pPr>
            <a:r>
              <a:rPr lang="en-US" sz="1400" b="1" dirty="0">
                <a:solidFill>
                  <a:srgbClr val="232833"/>
                </a:solidFill>
                <a:latin typeface="Lato" pitchFamily="34" charset="0"/>
                <a:ea typeface="Lato" pitchFamily="34" charset="-122"/>
                <a:cs typeface="Lato" pitchFamily="34" charset="-120"/>
              </a:rPr>
              <a:t>Genomic</a:t>
            </a:r>
            <a:endParaRPr lang="en-US" sz="1400" dirty="0"/>
          </a:p>
        </p:txBody>
      </p:sp>
      <p:sp>
        <p:nvSpPr>
          <p:cNvPr id="34" name="Text 22"/>
          <p:cNvSpPr/>
          <p:nvPr/>
        </p:nvSpPr>
        <p:spPr>
          <a:xfrm>
            <a:off x="3910608" y="4448125"/>
            <a:ext cx="1219299" cy="215900"/>
          </a:xfrm>
          <a:prstGeom prst="rect">
            <a:avLst/>
          </a:prstGeom>
          <a:noFill/>
          <a:ln/>
        </p:spPr>
        <p:txBody>
          <a:bodyPr wrap="none" lIns="0" tIns="0" rIns="0" bIns="0" rtlCol="0" anchor="t">
            <a:normAutofit/>
          </a:bodyPr>
          <a:lstStyle/>
          <a:p>
            <a:pPr marL="0" indent="0" algn="l">
              <a:lnSpc>
                <a:spcPts val="1500"/>
              </a:lnSpc>
              <a:buNone/>
            </a:pPr>
            <a:r>
              <a:rPr lang="en-US" sz="1200" dirty="0">
                <a:solidFill>
                  <a:srgbClr val="5A6170"/>
                </a:solidFill>
                <a:latin typeface="Lato" pitchFamily="34" charset="0"/>
                <a:ea typeface="Lato" pitchFamily="34" charset="-122"/>
                <a:cs typeface="Lato" pitchFamily="34" charset="-120"/>
              </a:rPr>
              <a:t>genes, expression</a:t>
            </a:r>
            <a:endParaRPr lang="en-US" sz="1200" dirty="0"/>
          </a:p>
        </p:txBody>
      </p:sp>
      <p:pic>
        <p:nvPicPr>
          <p:cNvPr id="35" name="Image 10" descr="Cell icon"/>
          <p:cNvPicPr>
            <a:picLocks noChangeAspect="1"/>
          </p:cNvPicPr>
          <p:nvPr/>
        </p:nvPicPr>
        <p:blipFill>
          <a:blip r:embed="rId10"/>
          <a:srcRect/>
          <a:stretch/>
        </p:blipFill>
        <p:spPr>
          <a:xfrm>
            <a:off x="5634831" y="4258915"/>
            <a:ext cx="355600" cy="355600"/>
          </a:xfrm>
          <a:prstGeom prst="rect">
            <a:avLst/>
          </a:prstGeom>
        </p:spPr>
      </p:pic>
      <p:sp>
        <p:nvSpPr>
          <p:cNvPr id="36" name="Text 23"/>
          <p:cNvSpPr/>
          <p:nvPr/>
        </p:nvSpPr>
        <p:spPr>
          <a:xfrm>
            <a:off x="6079331" y="4234805"/>
            <a:ext cx="1072952" cy="238720"/>
          </a:xfrm>
          <a:prstGeom prst="rect">
            <a:avLst/>
          </a:prstGeom>
          <a:noFill/>
          <a:ln/>
        </p:spPr>
        <p:txBody>
          <a:bodyPr wrap="none" lIns="0" tIns="0" rIns="0" bIns="0" rtlCol="0" anchor="t">
            <a:normAutofit/>
          </a:bodyPr>
          <a:lstStyle/>
          <a:p>
            <a:pPr marL="0" indent="0" algn="l">
              <a:lnSpc>
                <a:spcPts val="1680"/>
              </a:lnSpc>
              <a:buNone/>
            </a:pPr>
            <a:r>
              <a:rPr lang="en-US" sz="1400" b="1" dirty="0">
                <a:solidFill>
                  <a:srgbClr val="232833"/>
                </a:solidFill>
                <a:latin typeface="Lato" pitchFamily="34" charset="0"/>
                <a:ea typeface="Lato" pitchFamily="34" charset="-122"/>
                <a:cs typeface="Lato" pitchFamily="34" charset="-120"/>
              </a:rPr>
              <a:t>Cellular</a:t>
            </a:r>
            <a:endParaRPr lang="en-US" sz="1400" dirty="0"/>
          </a:p>
        </p:txBody>
      </p:sp>
      <p:sp>
        <p:nvSpPr>
          <p:cNvPr id="37" name="Text 24"/>
          <p:cNvSpPr/>
          <p:nvPr/>
        </p:nvSpPr>
        <p:spPr>
          <a:xfrm>
            <a:off x="6079331" y="4448125"/>
            <a:ext cx="1072952" cy="215900"/>
          </a:xfrm>
          <a:prstGeom prst="rect">
            <a:avLst/>
          </a:prstGeom>
          <a:noFill/>
          <a:ln/>
        </p:spPr>
        <p:txBody>
          <a:bodyPr wrap="none" lIns="0" tIns="0" rIns="0" bIns="0" rtlCol="0" anchor="t">
            <a:normAutofit/>
          </a:bodyPr>
          <a:lstStyle/>
          <a:p>
            <a:pPr marL="0" indent="0" algn="l">
              <a:lnSpc>
                <a:spcPts val="1500"/>
              </a:lnSpc>
              <a:buNone/>
            </a:pPr>
            <a:r>
              <a:rPr lang="en-US" sz="1200" dirty="0">
                <a:solidFill>
                  <a:srgbClr val="5A6170"/>
                </a:solidFill>
                <a:latin typeface="Lato" pitchFamily="34" charset="0"/>
                <a:ea typeface="Lato" pitchFamily="34" charset="-122"/>
                <a:cs typeface="Lato" pitchFamily="34" charset="-120"/>
              </a:rPr>
              <a:t>cell microscopy</a:t>
            </a:r>
            <a:endParaRPr lang="en-US" sz="1200" dirty="0"/>
          </a:p>
        </p:txBody>
      </p:sp>
      <p:pic>
        <p:nvPicPr>
          <p:cNvPr id="38" name="Image 11" descr="Organ icon"/>
          <p:cNvPicPr>
            <a:picLocks noChangeAspect="1"/>
          </p:cNvPicPr>
          <p:nvPr/>
        </p:nvPicPr>
        <p:blipFill>
          <a:blip r:embed="rId11"/>
          <a:srcRect/>
          <a:stretch/>
        </p:blipFill>
        <p:spPr>
          <a:xfrm>
            <a:off x="7657157" y="4258915"/>
            <a:ext cx="355600" cy="355600"/>
          </a:xfrm>
          <a:prstGeom prst="rect">
            <a:avLst/>
          </a:prstGeom>
        </p:spPr>
      </p:pic>
      <p:sp>
        <p:nvSpPr>
          <p:cNvPr id="39" name="Text 25"/>
          <p:cNvSpPr/>
          <p:nvPr/>
        </p:nvSpPr>
        <p:spPr>
          <a:xfrm>
            <a:off x="8101657" y="4234805"/>
            <a:ext cx="1233884" cy="238720"/>
          </a:xfrm>
          <a:prstGeom prst="rect">
            <a:avLst/>
          </a:prstGeom>
          <a:noFill/>
          <a:ln/>
        </p:spPr>
        <p:txBody>
          <a:bodyPr wrap="none" lIns="0" tIns="0" rIns="0" bIns="0" rtlCol="0" anchor="t">
            <a:normAutofit/>
          </a:bodyPr>
          <a:lstStyle/>
          <a:p>
            <a:pPr marL="0" indent="0" algn="l">
              <a:lnSpc>
                <a:spcPts val="1680"/>
              </a:lnSpc>
              <a:buNone/>
            </a:pPr>
            <a:r>
              <a:rPr lang="en-US" sz="1400" b="1" dirty="0">
                <a:solidFill>
                  <a:srgbClr val="232833"/>
                </a:solidFill>
                <a:latin typeface="Lato" pitchFamily="34" charset="0"/>
                <a:ea typeface="Lato" pitchFamily="34" charset="-122"/>
                <a:cs typeface="Lato" pitchFamily="34" charset="-120"/>
              </a:rPr>
              <a:t>Organ</a:t>
            </a:r>
            <a:endParaRPr lang="en-US" sz="1400" dirty="0"/>
          </a:p>
        </p:txBody>
      </p:sp>
      <p:sp>
        <p:nvSpPr>
          <p:cNvPr id="40" name="Text 26"/>
          <p:cNvSpPr/>
          <p:nvPr/>
        </p:nvSpPr>
        <p:spPr>
          <a:xfrm>
            <a:off x="8101657" y="4448125"/>
            <a:ext cx="1233884" cy="215900"/>
          </a:xfrm>
          <a:prstGeom prst="rect">
            <a:avLst/>
          </a:prstGeom>
          <a:noFill/>
          <a:ln/>
        </p:spPr>
        <p:txBody>
          <a:bodyPr wrap="none" lIns="0" tIns="0" rIns="0" bIns="0" rtlCol="0" anchor="t">
            <a:normAutofit/>
          </a:bodyPr>
          <a:lstStyle/>
          <a:p>
            <a:pPr marL="0" indent="0" algn="l">
              <a:lnSpc>
                <a:spcPts val="1500"/>
              </a:lnSpc>
              <a:buNone/>
            </a:pPr>
            <a:r>
              <a:rPr lang="en-US" sz="1200" dirty="0">
                <a:solidFill>
                  <a:srgbClr val="5A6170"/>
                </a:solidFill>
                <a:latin typeface="Lato" pitchFamily="34" charset="0"/>
                <a:ea typeface="Lato" pitchFamily="34" charset="-122"/>
                <a:cs typeface="Lato" pitchFamily="34" charset="-120"/>
              </a:rPr>
              <a:t>radiographs, iEEG</a:t>
            </a:r>
            <a:endParaRPr lang="en-US" sz="1200" dirty="0"/>
          </a:p>
        </p:txBody>
      </p:sp>
      <p:pic>
        <p:nvPicPr>
          <p:cNvPr id="41" name="Image 12" descr="Patient icon"/>
          <p:cNvPicPr>
            <a:picLocks noChangeAspect="1"/>
          </p:cNvPicPr>
          <p:nvPr/>
        </p:nvPicPr>
        <p:blipFill>
          <a:blip r:embed="rId12"/>
          <a:srcRect/>
          <a:stretch/>
        </p:blipFill>
        <p:spPr>
          <a:xfrm>
            <a:off x="9840466" y="4258915"/>
            <a:ext cx="355600" cy="355600"/>
          </a:xfrm>
          <a:prstGeom prst="rect">
            <a:avLst/>
          </a:prstGeom>
        </p:spPr>
      </p:pic>
      <p:sp>
        <p:nvSpPr>
          <p:cNvPr id="42" name="Text 27"/>
          <p:cNvSpPr/>
          <p:nvPr/>
        </p:nvSpPr>
        <p:spPr>
          <a:xfrm>
            <a:off x="10284966" y="4234805"/>
            <a:ext cx="1240284" cy="238720"/>
          </a:xfrm>
          <a:prstGeom prst="rect">
            <a:avLst/>
          </a:prstGeom>
          <a:noFill/>
          <a:ln/>
        </p:spPr>
        <p:txBody>
          <a:bodyPr wrap="none" lIns="0" tIns="0" rIns="0" bIns="0" rtlCol="0" anchor="t">
            <a:normAutofit/>
          </a:bodyPr>
          <a:lstStyle/>
          <a:p>
            <a:pPr marL="0" indent="0" algn="l">
              <a:lnSpc>
                <a:spcPts val="1680"/>
              </a:lnSpc>
              <a:buNone/>
            </a:pPr>
            <a:r>
              <a:rPr lang="en-US" sz="1400" b="1" dirty="0">
                <a:solidFill>
                  <a:srgbClr val="232833"/>
                </a:solidFill>
                <a:latin typeface="Lato" pitchFamily="34" charset="0"/>
                <a:ea typeface="Lato" pitchFamily="34" charset="-122"/>
                <a:cs typeface="Lato" pitchFamily="34" charset="-120"/>
              </a:rPr>
              <a:t>Patient</a:t>
            </a:r>
            <a:endParaRPr lang="en-US" sz="1400" dirty="0"/>
          </a:p>
        </p:txBody>
      </p:sp>
      <p:sp>
        <p:nvSpPr>
          <p:cNvPr id="43" name="Text 28"/>
          <p:cNvSpPr/>
          <p:nvPr/>
        </p:nvSpPr>
        <p:spPr>
          <a:xfrm>
            <a:off x="10284966" y="4448125"/>
            <a:ext cx="1240284" cy="215900"/>
          </a:xfrm>
          <a:prstGeom prst="rect">
            <a:avLst/>
          </a:prstGeom>
          <a:noFill/>
          <a:ln/>
        </p:spPr>
        <p:txBody>
          <a:bodyPr wrap="none" lIns="0" tIns="0" rIns="0" bIns="0" rtlCol="0" anchor="t">
            <a:normAutofit/>
          </a:bodyPr>
          <a:lstStyle/>
          <a:p>
            <a:pPr marL="0" indent="0" algn="l">
              <a:lnSpc>
                <a:spcPts val="1500"/>
              </a:lnSpc>
              <a:buNone/>
            </a:pPr>
            <a:r>
              <a:rPr lang="en-US" sz="1200" dirty="0">
                <a:solidFill>
                  <a:srgbClr val="5A6170"/>
                </a:solidFill>
                <a:latin typeface="Lato" pitchFamily="34" charset="0"/>
                <a:ea typeface="Lato" pitchFamily="34" charset="-122"/>
                <a:cs typeface="Lato" pitchFamily="34" charset="-120"/>
              </a:rPr>
              <a:t>notes, biomarkers</a:t>
            </a:r>
            <a:endParaRPr lang="en-US" sz="1200" dirty="0"/>
          </a:p>
        </p:txBody>
      </p:sp>
      <p:sp>
        <p:nvSpPr>
          <p:cNvPr id="44" name="Text 29"/>
          <p:cNvSpPr/>
          <p:nvPr/>
        </p:nvSpPr>
        <p:spPr>
          <a:xfrm>
            <a:off x="340360" y="5565180"/>
            <a:ext cx="11511280" cy="492720"/>
          </a:xfrm>
          <a:prstGeom prst="rect">
            <a:avLst/>
          </a:prstGeom>
          <a:noFill/>
          <a:ln/>
        </p:spPr>
        <p:txBody>
          <a:bodyPr wrap="square" lIns="0" tIns="0" rIns="0" bIns="0" rtlCol="0" anchor="t">
            <a:normAutofit/>
          </a:bodyPr>
          <a:lstStyle/>
          <a:p>
            <a:pPr marL="0" indent="0" algn="ctr">
              <a:lnSpc>
                <a:spcPts val="3680"/>
              </a:lnSpc>
              <a:buNone/>
            </a:pPr>
            <a:r>
              <a:rPr lang="en-US" sz="3200" b="1" dirty="0">
                <a:solidFill>
                  <a:srgbClr val="C00000"/>
                </a:solidFill>
                <a:latin typeface="Lato" pitchFamily="34" charset="0"/>
                <a:ea typeface="Lato" pitchFamily="34" charset="-122"/>
                <a:cs typeface="Lato" pitchFamily="34" charset="-120"/>
              </a:rPr>
              <a:t>Thank You!</a:t>
            </a:r>
            <a:endParaRPr lang="en-US" sz="3200" dirty="0"/>
          </a:p>
        </p:txBody>
      </p:sp>
      <p:sp>
        <p:nvSpPr>
          <p:cNvPr id="45" name="Text 30"/>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46" name="Text 31"/>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33 / 33</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a:spLocks noGrp="1"/>
          </p:cNvSpPr>
          <p:nvPr>
            <p:ph type="title"/>
          </p:nvPr>
        </p:nvSpPr>
        <p:spPr>
          <a:xfrm>
            <a:off x="4875252" y="2426990"/>
            <a:ext cx="2441496" cy="695920"/>
          </a:xfrm>
          <a:prstGeom prst="rect">
            <a:avLst/>
          </a:prstGeom>
          <a:noFill/>
          <a:ln/>
        </p:spPr>
        <p:txBody>
          <a:bodyPr wrap="square" lIns="0" tIns="0" rIns="0" bIns="0" rtlCol="0" anchor="t">
            <a:normAutofit/>
          </a:bodyPr>
          <a:lstStyle/>
          <a:p>
            <a:pPr marL="0" indent="0" algn="ctr">
              <a:lnSpc>
                <a:spcPts val="5280"/>
              </a:lnSpc>
              <a:buNone/>
            </a:pPr>
            <a:r>
              <a:rPr lang="en-US" sz="4800" b="1" i="0" dirty="0">
                <a:solidFill>
                  <a:srgbClr val="CC0033"/>
                </a:solidFill>
                <a:latin typeface="Lato" pitchFamily="34" charset="0"/>
                <a:ea typeface="Lato" pitchFamily="34" charset="-122"/>
                <a:cs typeface="Lato" pitchFamily="34" charset="-120"/>
              </a:rPr>
              <a:t>Backup</a:t>
            </a:r>
            <a:endParaRPr lang="en-US" sz="4800" dirty="0"/>
          </a:p>
        </p:txBody>
      </p:sp>
      <p:sp>
        <p:nvSpPr>
          <p:cNvPr id="4" name="Text 2"/>
          <p:cNvSpPr/>
          <p:nvPr/>
        </p:nvSpPr>
        <p:spPr>
          <a:xfrm>
            <a:off x="340360" y="3249910"/>
            <a:ext cx="11511280" cy="736600"/>
          </a:xfrm>
          <a:prstGeom prst="rect">
            <a:avLst/>
          </a:prstGeom>
          <a:noFill/>
          <a:ln/>
        </p:spPr>
        <p:txBody>
          <a:bodyPr wrap="square" lIns="0" tIns="0" rIns="0" bIns="0" rtlCol="0" anchor="t">
            <a:normAutofit/>
          </a:bodyPr>
          <a:lstStyle/>
          <a:p>
            <a:pPr marL="0" indent="0" algn="ctr">
              <a:lnSpc>
                <a:spcPts val="2800"/>
              </a:lnSpc>
              <a:buNone/>
            </a:pPr>
            <a:r>
              <a:rPr lang="en-US" sz="2000" dirty="0">
                <a:solidFill>
                  <a:srgbClr val="555555"/>
                </a:solidFill>
                <a:latin typeface="Lato" pitchFamily="34" charset="0"/>
                <a:ea typeface="Lato" pitchFamily="34" charset="-122"/>
                <a:cs typeface="Lato" pitchFamily="34" charset="-120"/>
              </a:rPr>
              <a:t>Analysis details, animation, more case studies, detection curves, cost, failure cases, discussion, agent risk state</a:t>
            </a:r>
            <a:endParaRPr lang="en-US" sz="2000" dirty="0"/>
          </a:p>
        </p:txBody>
      </p:sp>
      <p:sp>
        <p:nvSpPr>
          <p:cNvPr id="5" name="Text 3"/>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Prior Work: Attention Drifts Away from the Image</a:t>
            </a:r>
            <a:endParaRPr lang="en-US" sz="3200" dirty="0"/>
          </a:p>
        </p:txBody>
      </p:sp>
      <p:sp>
        <p:nvSpPr>
          <p:cNvPr id="4" name="Text 2"/>
          <p:cNvSpPr/>
          <p:nvPr/>
        </p:nvSpPr>
        <p:spPr>
          <a:xfrm>
            <a:off x="508000" y="1026120"/>
            <a:ext cx="11511280" cy="368300"/>
          </a:xfrm>
          <a:prstGeom prst="rect">
            <a:avLst/>
          </a:prstGeom>
          <a:noFill/>
          <a:ln/>
        </p:spPr>
        <p:txBody>
          <a:bodyPr wrap="square" lIns="0" tIns="0" rIns="0" bIns="0" rtlCol="0" anchor="t">
            <a:normAutofit/>
          </a:bodyPr>
          <a:lstStyle/>
          <a:p>
            <a:pPr marL="0" indent="0" algn="l">
              <a:lnSpc>
                <a:spcPts val="2700"/>
              </a:lnSpc>
              <a:buNone/>
            </a:pPr>
            <a:r>
              <a:rPr lang="en-US" sz="2000" b="1" dirty="0">
                <a:solidFill>
                  <a:srgbClr val="000000"/>
                </a:solidFill>
                <a:latin typeface="Lato" pitchFamily="34" charset="0"/>
                <a:ea typeface="Lato" pitchFamily="34" charset="-122"/>
                <a:cs typeface="Lato" pitchFamily="34" charset="-120"/>
              </a:rPr>
              <a:t>Common view:</a:t>
            </a:r>
            <a:r>
              <a:rPr lang="en-US" sz="2000" dirty="0">
                <a:solidFill>
                  <a:srgbClr val="000000"/>
                </a:solidFill>
                <a:latin typeface="Lato" pitchFamily="34" charset="0"/>
                <a:ea typeface="Lato" pitchFamily="34" charset="-122"/>
                <a:cs typeface="Lato" pitchFamily="34" charset="-120"/>
              </a:rPr>
              <a:t> during generation, attention </a:t>
            </a:r>
            <a:r>
              <a:rPr lang="en-US" sz="2000" u="sng" dirty="0">
                <a:solidFill>
                  <a:srgbClr val="C00000"/>
                </a:solidFill>
                <a:latin typeface="Lato" pitchFamily="34" charset="0"/>
                <a:ea typeface="Lato" pitchFamily="34" charset="-122"/>
                <a:cs typeface="Lato" pitchFamily="34" charset="-120"/>
              </a:rPr>
              <a:t>drifts from the image to text</a:t>
            </a:r>
            <a:endParaRPr lang="en-US" sz="2000" dirty="0"/>
          </a:p>
        </p:txBody>
      </p:sp>
      <p:sp>
        <p:nvSpPr>
          <p:cNvPr id="5" name="Shape 3"/>
          <p:cNvSpPr/>
          <p:nvPr/>
        </p:nvSpPr>
        <p:spPr>
          <a:xfrm>
            <a:off x="1371600" y="1572220"/>
            <a:ext cx="9448800" cy="3698180"/>
          </a:xfrm>
          <a:prstGeom prst="roundRect">
            <a:avLst>
              <a:gd name="adj" fmla="val 4121"/>
            </a:avLst>
          </a:prstGeom>
          <a:solidFill>
            <a:srgbClr val="DCE6F2"/>
          </a:solidFill>
          <a:ln/>
        </p:spPr>
        <p:txBody>
          <a:bodyPr/>
          <a:lstStyle/>
          <a:p>
            <a:endParaRPr lang="en-US"/>
          </a:p>
        </p:txBody>
      </p:sp>
      <p:sp>
        <p:nvSpPr>
          <p:cNvPr id="6" name="Shape 4"/>
          <p:cNvSpPr/>
          <p:nvPr/>
        </p:nvSpPr>
        <p:spPr>
          <a:xfrm>
            <a:off x="1676400" y="1775420"/>
            <a:ext cx="4025900" cy="2667000"/>
          </a:xfrm>
          <a:prstGeom prst="roundRect">
            <a:avLst>
              <a:gd name="adj" fmla="val 1905"/>
            </a:avLst>
          </a:prstGeom>
          <a:solidFill>
            <a:srgbClr val="FFFFFF"/>
          </a:solidFill>
          <a:ln/>
        </p:spPr>
        <p:txBody>
          <a:bodyPr/>
          <a:lstStyle/>
          <a:p>
            <a:endParaRPr lang="en-US"/>
          </a:p>
        </p:txBody>
      </p:sp>
      <p:pic>
        <p:nvPicPr>
          <p:cNvPr id="7" name="Image 0" descr="OPERA Figure 2: InstructBLIP output with hallucinations highlighted, and an attention map where a columnar pattern on a summary token precedes the hallucinated text"/>
          <p:cNvPicPr>
            <a:picLocks noChangeAspect="1"/>
          </p:cNvPicPr>
          <p:nvPr/>
        </p:nvPicPr>
        <p:blipFill>
          <a:blip r:embed="rId3"/>
          <a:srcRect t="-2" b="-2"/>
          <a:stretch/>
        </p:blipFill>
        <p:spPr>
          <a:xfrm>
            <a:off x="1676400" y="1775420"/>
            <a:ext cx="4025900" cy="2667000"/>
          </a:xfrm>
          <a:prstGeom prst="roundRect">
            <a:avLst>
              <a:gd name="adj" fmla="val 1905"/>
            </a:avLst>
          </a:prstGeom>
        </p:spPr>
      </p:pic>
      <p:sp>
        <p:nvSpPr>
          <p:cNvPr id="8" name="Text 5"/>
          <p:cNvSpPr/>
          <p:nvPr/>
        </p:nvSpPr>
        <p:spPr>
          <a:xfrm>
            <a:off x="1616012" y="4518620"/>
            <a:ext cx="4146677" cy="573980"/>
          </a:xfrm>
          <a:prstGeom prst="rect">
            <a:avLst/>
          </a:prstGeom>
          <a:noFill/>
          <a:ln/>
        </p:spPr>
        <p:txBody>
          <a:bodyPr wrap="square" lIns="0" tIns="0" rIns="0" bIns="0" rtlCol="0" anchor="t">
            <a:normAutofit/>
          </a:bodyPr>
          <a:lstStyle/>
          <a:p>
            <a:pPr marL="0" indent="0" algn="ctr">
              <a:lnSpc>
                <a:spcPts val="2160"/>
              </a:lnSpc>
              <a:buNone/>
            </a:pPr>
            <a:r>
              <a:rPr lang="en-US" sz="1600" dirty="0">
                <a:solidFill>
                  <a:srgbClr val="000000"/>
                </a:solidFill>
                <a:latin typeface="Lato" pitchFamily="34" charset="0"/>
                <a:ea typeface="Lato" pitchFamily="34" charset="-122"/>
                <a:cs typeface="Lato" pitchFamily="34" charset="-120"/>
              </a:rPr>
              <a:t>Hallucinations begin after attention piles onto a few summary tokens</a:t>
            </a:r>
            <a:endParaRPr lang="en-US" sz="1600" dirty="0"/>
          </a:p>
        </p:txBody>
      </p:sp>
      <p:sp>
        <p:nvSpPr>
          <p:cNvPr id="9" name="Shape 6"/>
          <p:cNvSpPr/>
          <p:nvPr/>
        </p:nvSpPr>
        <p:spPr>
          <a:xfrm>
            <a:off x="6007100" y="2537420"/>
            <a:ext cx="4508500" cy="1905000"/>
          </a:xfrm>
          <a:prstGeom prst="roundRect">
            <a:avLst>
              <a:gd name="adj" fmla="val 2667"/>
            </a:avLst>
          </a:prstGeom>
          <a:solidFill>
            <a:srgbClr val="FFFFFF"/>
          </a:solidFill>
          <a:ln/>
        </p:spPr>
        <p:txBody>
          <a:bodyPr/>
          <a:lstStyle/>
          <a:p>
            <a:endParaRPr lang="en-US"/>
          </a:p>
        </p:txBody>
      </p:sp>
      <p:pic>
        <p:nvPicPr>
          <p:cNvPr id="10" name="Image 1" descr="PAI Figure 3: average attention ratio by content type; image tokens stay low while generated history rises"/>
          <p:cNvPicPr>
            <a:picLocks noChangeAspect="1"/>
          </p:cNvPicPr>
          <p:nvPr/>
        </p:nvPicPr>
        <p:blipFill>
          <a:blip r:embed="rId4"/>
          <a:srcRect l="-16" r="-16"/>
          <a:stretch/>
        </p:blipFill>
        <p:spPr>
          <a:xfrm>
            <a:off x="6007100" y="2537420"/>
            <a:ext cx="4508500" cy="1905000"/>
          </a:xfrm>
          <a:prstGeom prst="roundRect">
            <a:avLst>
              <a:gd name="adj" fmla="val 2667"/>
            </a:avLst>
          </a:prstGeom>
        </p:spPr>
      </p:pic>
      <p:sp>
        <p:nvSpPr>
          <p:cNvPr id="11" name="Text 7"/>
          <p:cNvSpPr/>
          <p:nvPr/>
        </p:nvSpPr>
        <p:spPr>
          <a:xfrm>
            <a:off x="5939473" y="4518620"/>
            <a:ext cx="4643755" cy="573980"/>
          </a:xfrm>
          <a:prstGeom prst="rect">
            <a:avLst/>
          </a:prstGeom>
          <a:noFill/>
          <a:ln/>
        </p:spPr>
        <p:txBody>
          <a:bodyPr wrap="square" lIns="0" tIns="0" rIns="0" bIns="0" rtlCol="0" anchor="t">
            <a:normAutofit/>
          </a:bodyPr>
          <a:lstStyle/>
          <a:p>
            <a:pPr marL="0" indent="0" algn="ctr">
              <a:lnSpc>
                <a:spcPts val="2160"/>
              </a:lnSpc>
              <a:buNone/>
            </a:pPr>
            <a:r>
              <a:rPr lang="en-US" sz="1600" dirty="0">
                <a:solidFill>
                  <a:srgbClr val="000000"/>
                </a:solidFill>
                <a:latin typeface="Lato" pitchFamily="34" charset="0"/>
                <a:ea typeface="Lato" pitchFamily="34" charset="-122"/>
                <a:cs typeface="Lato" pitchFamily="34" charset="-120"/>
              </a:rPr>
              <a:t>Image tokens get little attention, while attention to generated text grows</a:t>
            </a:r>
            <a:endParaRPr lang="en-US" sz="1600" dirty="0"/>
          </a:p>
        </p:txBody>
      </p:sp>
      <p:sp>
        <p:nvSpPr>
          <p:cNvPr id="12" name="Text 8"/>
          <p:cNvSpPr/>
          <p:nvPr/>
        </p:nvSpPr>
        <p:spPr>
          <a:xfrm>
            <a:off x="340360" y="5473601"/>
            <a:ext cx="11511280" cy="368300"/>
          </a:xfrm>
          <a:prstGeom prst="rect">
            <a:avLst/>
          </a:prstGeom>
          <a:noFill/>
          <a:ln/>
        </p:spPr>
        <p:txBody>
          <a:bodyPr wrap="square" lIns="0" tIns="0" rIns="0" bIns="0" rtlCol="0" anchor="t">
            <a:normAutofit/>
          </a:bodyPr>
          <a:lstStyle/>
          <a:p>
            <a:pPr marL="0" indent="0" algn="ctr">
              <a:lnSpc>
                <a:spcPts val="2700"/>
              </a:lnSpc>
              <a:buNone/>
            </a:pPr>
            <a:r>
              <a:rPr lang="en-US" sz="2000" u="sng" dirty="0">
                <a:solidFill>
                  <a:srgbClr val="C00000"/>
                </a:solidFill>
                <a:latin typeface="Lato" pitchFamily="34" charset="0"/>
                <a:ea typeface="Lato" pitchFamily="34" charset="-122"/>
                <a:cs typeface="Lato" pitchFamily="34" charset="-120"/>
              </a:rPr>
              <a:t>Prior work acts on decoding and leaves open which image tokens cause the hallucination</a:t>
            </a:r>
            <a:endParaRPr lang="en-US" sz="2000" dirty="0"/>
          </a:p>
        </p:txBody>
      </p:sp>
      <p:sp>
        <p:nvSpPr>
          <p:cNvPr id="13" name="Text 9"/>
          <p:cNvSpPr/>
          <p:nvPr/>
        </p:nvSpPr>
        <p:spPr>
          <a:xfrm>
            <a:off x="508000" y="6045200"/>
            <a:ext cx="111188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Lato" pitchFamily="34" charset="0"/>
                <a:ea typeface="Lato" pitchFamily="34" charset="-122"/>
                <a:cs typeface="Lato" pitchFamily="34" charset="-120"/>
              </a:rPr>
              <a:t>Left: OPERA, Huang et al., CVPR 2024 · Right: PAI, Liu et al., ECCV 2024</a:t>
            </a:r>
            <a:endParaRPr lang="en-US" sz="1200" dirty="0"/>
          </a:p>
        </p:txBody>
      </p:sp>
      <p:sp>
        <p:nvSpPr>
          <p:cNvPr id="14" name="Text 10"/>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15" name="Text 11"/>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Backup 1</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Zeroing Out Three Tokens</a:t>
            </a:r>
            <a:endParaRPr lang="en-US" sz="3200" dirty="0"/>
          </a:p>
        </p:txBody>
      </p:sp>
      <p:sp>
        <p:nvSpPr>
          <p:cNvPr id="4" name="Text 2"/>
          <p:cNvSpPr/>
          <p:nvPr/>
        </p:nvSpPr>
        <p:spPr>
          <a:xfrm>
            <a:off x="508000" y="1026120"/>
            <a:ext cx="11511280" cy="368300"/>
          </a:xfrm>
          <a:prstGeom prst="rect">
            <a:avLst/>
          </a:prstGeom>
          <a:noFill/>
          <a:ln/>
        </p:spPr>
        <p:txBody>
          <a:bodyPr wrap="square" lIns="0" tIns="0" rIns="0" bIns="0" rtlCol="0" anchor="t">
            <a:normAutofit/>
          </a:bodyPr>
          <a:lstStyle/>
          <a:p>
            <a:pPr marL="0" indent="0" algn="l">
              <a:lnSpc>
                <a:spcPts val="2700"/>
              </a:lnSpc>
              <a:buNone/>
            </a:pPr>
            <a:r>
              <a:rPr lang="en-US" sz="2000" b="1" dirty="0">
                <a:solidFill>
                  <a:srgbClr val="000000"/>
                </a:solidFill>
                <a:latin typeface="Lato" pitchFamily="34" charset="0"/>
                <a:ea typeface="Lato" pitchFamily="34" charset="-122"/>
                <a:cs typeface="Lato" pitchFamily="34" charset="-120"/>
              </a:rPr>
              <a:t>Zero-out:</a:t>
            </a:r>
            <a:r>
              <a:rPr lang="en-US" sz="2000" dirty="0">
                <a:solidFill>
                  <a:srgbClr val="000000"/>
                </a:solidFill>
                <a:latin typeface="Lato" pitchFamily="34" charset="0"/>
                <a:ea typeface="Lato" pitchFamily="34" charset="-122"/>
                <a:cs typeface="Lato" pitchFamily="34" charset="-120"/>
              </a:rPr>
              <a:t> we replace the </a:t>
            </a:r>
            <a:r>
              <a:rPr lang="en-US" sz="2000" u="sng" dirty="0">
                <a:solidFill>
                  <a:srgbClr val="C00000"/>
                </a:solidFill>
                <a:latin typeface="Lato" pitchFamily="34" charset="0"/>
                <a:ea typeface="Lato" pitchFamily="34" charset="-122"/>
                <a:cs typeface="Lato" pitchFamily="34" charset="-120"/>
              </a:rPr>
              <a:t>3 most attended image tokens</a:t>
            </a:r>
            <a:r>
              <a:rPr lang="en-US" sz="2000" dirty="0">
                <a:solidFill>
                  <a:srgbClr val="000000"/>
                </a:solidFill>
                <a:latin typeface="Lato" pitchFamily="34" charset="0"/>
                <a:ea typeface="Lato" pitchFamily="34" charset="-122"/>
                <a:cs typeface="Lato" pitchFamily="34" charset="-120"/>
              </a:rPr>
              <a:t> with zero embeddings</a:t>
            </a:r>
            <a:endParaRPr lang="en-US" sz="2000" dirty="0"/>
          </a:p>
        </p:txBody>
      </p:sp>
      <p:sp>
        <p:nvSpPr>
          <p:cNvPr id="5" name="Shape 3"/>
          <p:cNvSpPr/>
          <p:nvPr/>
        </p:nvSpPr>
        <p:spPr>
          <a:xfrm>
            <a:off x="1346200" y="1572220"/>
            <a:ext cx="9499600" cy="3867150"/>
          </a:xfrm>
          <a:prstGeom prst="roundRect">
            <a:avLst>
              <a:gd name="adj" fmla="val 3941"/>
            </a:avLst>
          </a:prstGeom>
          <a:solidFill>
            <a:srgbClr val="DCE6F2"/>
          </a:solidFill>
          <a:ln/>
        </p:spPr>
        <p:txBody>
          <a:bodyPr/>
          <a:lstStyle/>
          <a:p>
            <a:endParaRPr lang="en-US"/>
          </a:p>
        </p:txBody>
      </p:sp>
      <p:pic>
        <p:nvPicPr>
          <p:cNvPr id="6" name="Image 0" descr="Paper Figure 1: regular decoding mentions apples and oranges; after zeroing out three image tokens, LLaVA-1.5 mentions bananas and kiwis instead"/>
          <p:cNvPicPr>
            <a:picLocks noChangeAspect="1"/>
          </p:cNvPicPr>
          <p:nvPr/>
        </p:nvPicPr>
        <p:blipFill>
          <a:blip r:embed="rId3"/>
          <a:srcRect t="-3" b="-3"/>
          <a:stretch/>
        </p:blipFill>
        <p:spPr>
          <a:xfrm>
            <a:off x="1651000" y="1775420"/>
            <a:ext cx="8890000" cy="3460750"/>
          </a:xfrm>
          <a:prstGeom prst="rect">
            <a:avLst/>
          </a:prstGeom>
        </p:spPr>
      </p:pic>
      <p:sp>
        <p:nvSpPr>
          <p:cNvPr id="7" name="Text 4"/>
          <p:cNvSpPr/>
          <p:nvPr/>
        </p:nvSpPr>
        <p:spPr>
          <a:xfrm>
            <a:off x="340360" y="5642570"/>
            <a:ext cx="11511280" cy="368300"/>
          </a:xfrm>
          <a:prstGeom prst="rect">
            <a:avLst/>
          </a:prstGeom>
          <a:noFill/>
          <a:ln/>
        </p:spPr>
        <p:txBody>
          <a:bodyPr wrap="square" lIns="0" tIns="0" rIns="0" bIns="0" rtlCol="0" anchor="t">
            <a:normAutofit/>
          </a:bodyPr>
          <a:lstStyle/>
          <a:p>
            <a:pPr marL="0" indent="0" algn="ctr">
              <a:lnSpc>
                <a:spcPts val="2700"/>
              </a:lnSpc>
              <a:buNone/>
            </a:pPr>
            <a:r>
              <a:rPr lang="en-US" sz="2000" u="sng" dirty="0">
                <a:solidFill>
                  <a:srgbClr val="C00000"/>
                </a:solidFill>
                <a:latin typeface="Lato" pitchFamily="34" charset="0"/>
                <a:ea typeface="Lato" pitchFamily="34" charset="-122"/>
                <a:cs typeface="Lato" pitchFamily="34" charset="-120"/>
              </a:rPr>
              <a:t>Apples and oranges disappear, and the model finally sees the kiwis</a:t>
            </a:r>
            <a:endParaRPr lang="en-US" sz="2000" dirty="0"/>
          </a:p>
        </p:txBody>
      </p:sp>
      <p:sp>
        <p:nvSpPr>
          <p:cNvPr id="8" name="Text 5"/>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9" name="Text 6"/>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Backup 2</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Not One Lucky Image</a:t>
            </a:r>
            <a:endParaRPr lang="en-US" sz="3200" dirty="0"/>
          </a:p>
        </p:txBody>
      </p:sp>
      <p:sp>
        <p:nvSpPr>
          <p:cNvPr id="4" name="Text 2"/>
          <p:cNvSpPr/>
          <p:nvPr/>
        </p:nvSpPr>
        <p:spPr>
          <a:xfrm>
            <a:off x="508000" y="1026120"/>
            <a:ext cx="11511280" cy="368300"/>
          </a:xfrm>
          <a:prstGeom prst="rect">
            <a:avLst/>
          </a:prstGeom>
          <a:noFill/>
          <a:ln/>
        </p:spPr>
        <p:txBody>
          <a:bodyPr wrap="square" lIns="0" tIns="0" rIns="0" bIns="0" rtlCol="0" anchor="t">
            <a:normAutofit/>
          </a:bodyPr>
          <a:lstStyle/>
          <a:p>
            <a:pPr marL="0" indent="0" algn="l">
              <a:lnSpc>
                <a:spcPts val="2700"/>
              </a:lnSpc>
              <a:buNone/>
            </a:pPr>
            <a:r>
              <a:rPr lang="en-US" sz="2000" b="1" dirty="0">
                <a:solidFill>
                  <a:srgbClr val="000000"/>
                </a:solidFill>
                <a:latin typeface="Lato" pitchFamily="34" charset="0"/>
                <a:ea typeface="Lato" pitchFamily="34" charset="-122"/>
                <a:cs typeface="Lato" pitchFamily="34" charset="-120"/>
              </a:rPr>
              <a:t>Hall-COCO:</a:t>
            </a:r>
            <a:r>
              <a:rPr lang="en-US" sz="2000" dirty="0">
                <a:solidFill>
                  <a:srgbClr val="000000"/>
                </a:solidFill>
                <a:latin typeface="Lato" pitchFamily="34" charset="0"/>
                <a:ea typeface="Lato" pitchFamily="34" charset="-122"/>
                <a:cs typeface="Lato" pitchFamily="34" charset="-120"/>
              </a:rPr>
              <a:t> we zero the </a:t>
            </a:r>
            <a:r>
              <a:rPr lang="en-US" sz="2000" u="sng" dirty="0">
                <a:solidFill>
                  <a:srgbClr val="C00000"/>
                </a:solidFill>
                <a:latin typeface="Lato" pitchFamily="34" charset="0"/>
                <a:ea typeface="Lato" pitchFamily="34" charset="-122"/>
                <a:cs typeface="Lato" pitchFamily="34" charset="-120"/>
              </a:rPr>
              <a:t>top 5 tokens</a:t>
            </a:r>
            <a:r>
              <a:rPr lang="en-US" sz="2000" dirty="0">
                <a:solidFill>
                  <a:srgbClr val="000000"/>
                </a:solidFill>
                <a:latin typeface="Lato" pitchFamily="34" charset="0"/>
                <a:ea typeface="Lato" pitchFamily="34" charset="-122"/>
                <a:cs typeface="Lato" pitchFamily="34" charset="-120"/>
              </a:rPr>
              <a:t> of each hallucinated object in 200 images</a:t>
            </a:r>
            <a:endParaRPr lang="en-US" sz="2000" dirty="0"/>
          </a:p>
        </p:txBody>
      </p:sp>
      <p:sp>
        <p:nvSpPr>
          <p:cNvPr id="5" name="Shape 3"/>
          <p:cNvSpPr/>
          <p:nvPr/>
        </p:nvSpPr>
        <p:spPr>
          <a:xfrm>
            <a:off x="3727450" y="1572220"/>
            <a:ext cx="4737100" cy="3836640"/>
          </a:xfrm>
          <a:prstGeom prst="roundRect">
            <a:avLst>
              <a:gd name="adj" fmla="val 3972"/>
            </a:avLst>
          </a:prstGeom>
          <a:solidFill>
            <a:srgbClr val="DCE6F2"/>
          </a:solidFill>
          <a:ln/>
        </p:spPr>
        <p:txBody>
          <a:bodyPr/>
          <a:lstStyle/>
          <a:p>
            <a:endParaRPr lang="en-US"/>
          </a:p>
        </p:txBody>
      </p:sp>
      <p:pic>
        <p:nvPicPr>
          <p:cNvPr id="6" name="Image 0" descr="Paper Figure 5 left: greedy bars at 100 percent; after zero-out, about 14, 32 and 25 percent"/>
          <p:cNvPicPr>
            <a:picLocks noChangeAspect="1"/>
          </p:cNvPicPr>
          <p:nvPr/>
        </p:nvPicPr>
        <p:blipFill>
          <a:blip r:embed="rId3"/>
          <a:srcRect l="-19" r="-19"/>
          <a:stretch/>
        </p:blipFill>
        <p:spPr>
          <a:xfrm>
            <a:off x="4032250" y="1775420"/>
            <a:ext cx="4127500" cy="3079750"/>
          </a:xfrm>
          <a:prstGeom prst="rect">
            <a:avLst/>
          </a:prstGeom>
        </p:spPr>
      </p:pic>
      <p:sp>
        <p:nvSpPr>
          <p:cNvPr id="7" name="Text 4"/>
          <p:cNvSpPr/>
          <p:nvPr/>
        </p:nvSpPr>
        <p:spPr>
          <a:xfrm>
            <a:off x="3814708" y="4931370"/>
            <a:ext cx="4562535" cy="299690"/>
          </a:xfrm>
          <a:prstGeom prst="rect">
            <a:avLst/>
          </a:prstGeom>
          <a:noFill/>
          <a:ln/>
        </p:spPr>
        <p:txBody>
          <a:bodyPr wrap="square" lIns="0" tIns="0" rIns="0" bIns="0" rtlCol="0" anchor="t">
            <a:normAutofit/>
          </a:bodyPr>
          <a:lstStyle/>
          <a:p>
            <a:pPr marL="0" indent="0" algn="ctr">
              <a:lnSpc>
                <a:spcPts val="2160"/>
              </a:lnSpc>
              <a:buNone/>
            </a:pPr>
            <a:r>
              <a:rPr lang="en-US" sz="1600" dirty="0">
                <a:solidFill>
                  <a:srgbClr val="000000"/>
                </a:solidFill>
                <a:latin typeface="Lato" pitchFamily="34" charset="0"/>
                <a:ea typeface="Lato" pitchFamily="34" charset="-122"/>
                <a:cs typeface="Lato" pitchFamily="34" charset="-120"/>
              </a:rPr>
              <a:t>Blue: original answers · Pink: after zero-out</a:t>
            </a:r>
            <a:endParaRPr lang="en-US" sz="1600" dirty="0"/>
          </a:p>
        </p:txBody>
      </p:sp>
      <p:sp>
        <p:nvSpPr>
          <p:cNvPr id="8" name="Text 5"/>
          <p:cNvSpPr/>
          <p:nvPr/>
        </p:nvSpPr>
        <p:spPr>
          <a:xfrm>
            <a:off x="340360" y="5612061"/>
            <a:ext cx="11511280" cy="368300"/>
          </a:xfrm>
          <a:prstGeom prst="rect">
            <a:avLst/>
          </a:prstGeom>
          <a:noFill/>
          <a:ln/>
        </p:spPr>
        <p:txBody>
          <a:bodyPr wrap="square" lIns="0" tIns="0" rIns="0" bIns="0" rtlCol="0" anchor="t">
            <a:normAutofit/>
          </a:bodyPr>
          <a:lstStyle/>
          <a:p>
            <a:pPr marL="0" indent="0" algn="ctr">
              <a:lnSpc>
                <a:spcPts val="2700"/>
              </a:lnSpc>
              <a:buNone/>
            </a:pPr>
            <a:r>
              <a:rPr lang="en-US" sz="2000" u="sng" dirty="0">
                <a:solidFill>
                  <a:srgbClr val="C00000"/>
                </a:solidFill>
                <a:latin typeface="Lato" pitchFamily="34" charset="0"/>
                <a:ea typeface="Lato" pitchFamily="34" charset="-122"/>
                <a:cs typeface="Lato" pitchFamily="34" charset="-120"/>
              </a:rPr>
              <a:t>86% of descriptions improve, and 74% of hallucinated objects disappear</a:t>
            </a:r>
            <a:endParaRPr lang="en-US" sz="2000" dirty="0"/>
          </a:p>
        </p:txBody>
      </p:sp>
      <p:sp>
        <p:nvSpPr>
          <p:cNvPr id="9" name="Text 6"/>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10" name="Text 7"/>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Backup 3</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Key Insight Behind EAZY</a:t>
            </a:r>
            <a:endParaRPr lang="en-US" sz="3200" dirty="0"/>
          </a:p>
        </p:txBody>
      </p:sp>
      <p:sp>
        <p:nvSpPr>
          <p:cNvPr id="4" name="Text 2"/>
          <p:cNvSpPr/>
          <p:nvPr/>
        </p:nvSpPr>
        <p:spPr>
          <a:xfrm>
            <a:off x="508000" y="1026120"/>
            <a:ext cx="11511280" cy="368300"/>
          </a:xfrm>
          <a:prstGeom prst="rect">
            <a:avLst/>
          </a:prstGeom>
          <a:noFill/>
          <a:ln/>
        </p:spPr>
        <p:txBody>
          <a:bodyPr wrap="square" lIns="0" tIns="0" rIns="0" bIns="0" rtlCol="0" anchor="t">
            <a:normAutofit/>
          </a:bodyPr>
          <a:lstStyle/>
          <a:p>
            <a:pPr marL="0" indent="0" algn="l">
              <a:lnSpc>
                <a:spcPts val="2700"/>
              </a:lnSpc>
              <a:buNone/>
            </a:pPr>
            <a:r>
              <a:rPr lang="en-US" sz="2000" b="1" dirty="0">
                <a:solidFill>
                  <a:srgbClr val="000000"/>
                </a:solidFill>
                <a:latin typeface="Lato" pitchFamily="34" charset="0"/>
                <a:ea typeface="Lato" pitchFamily="34" charset="-122"/>
                <a:cs typeface="Lato" pitchFamily="34" charset="-120"/>
              </a:rPr>
              <a:t>Key Insight:</a:t>
            </a:r>
            <a:r>
              <a:rPr lang="en-US" sz="2000" dirty="0">
                <a:solidFill>
                  <a:srgbClr val="000000"/>
                </a:solidFill>
                <a:latin typeface="Lato" pitchFamily="34" charset="0"/>
                <a:ea typeface="Lato" pitchFamily="34" charset="-122"/>
                <a:cs typeface="Lato" pitchFamily="34" charset="-120"/>
              </a:rPr>
              <a:t> a hallucinated object stands on </a:t>
            </a:r>
            <a:r>
              <a:rPr lang="en-US" sz="2000" u="sng" dirty="0">
                <a:solidFill>
                  <a:srgbClr val="C00000"/>
                </a:solidFill>
                <a:latin typeface="Lato" pitchFamily="34" charset="0"/>
                <a:ea typeface="Lato" pitchFamily="34" charset="-122"/>
                <a:cs typeface="Lato" pitchFamily="34" charset="-120"/>
              </a:rPr>
              <a:t>a false anchor</a:t>
            </a:r>
            <a:endParaRPr lang="en-US" sz="2000" dirty="0"/>
          </a:p>
        </p:txBody>
      </p:sp>
      <p:sp>
        <p:nvSpPr>
          <p:cNvPr id="5" name="Shape 3"/>
          <p:cNvSpPr/>
          <p:nvPr/>
        </p:nvSpPr>
        <p:spPr>
          <a:xfrm>
            <a:off x="2971800" y="1572220"/>
            <a:ext cx="6248400" cy="3698180"/>
          </a:xfrm>
          <a:prstGeom prst="roundRect">
            <a:avLst>
              <a:gd name="adj" fmla="val 4121"/>
            </a:avLst>
          </a:prstGeom>
          <a:solidFill>
            <a:srgbClr val="DCE6F2"/>
          </a:solidFill>
          <a:ln/>
        </p:spPr>
        <p:txBody>
          <a:bodyPr/>
          <a:lstStyle/>
          <a:p>
            <a:endParaRPr lang="en-US"/>
          </a:p>
        </p:txBody>
      </p:sp>
      <p:pic>
        <p:nvPicPr>
          <p:cNvPr id="6" name="Image 0" descr="Layer 15 attention of the real object cats, spread over the cats"/>
          <p:cNvPicPr>
            <a:picLocks noChangeAspect="1"/>
          </p:cNvPicPr>
          <p:nvPr/>
        </p:nvPicPr>
        <p:blipFill>
          <a:blip r:embed="rId3"/>
          <a:srcRect/>
          <a:stretch/>
        </p:blipFill>
        <p:spPr>
          <a:xfrm>
            <a:off x="3276600" y="1775420"/>
            <a:ext cx="2667000" cy="2667000"/>
          </a:xfrm>
          <a:prstGeom prst="roundRect">
            <a:avLst>
              <a:gd name="adj" fmla="val 1905"/>
            </a:avLst>
          </a:prstGeom>
        </p:spPr>
      </p:pic>
      <p:sp>
        <p:nvSpPr>
          <p:cNvPr id="7" name="Text 4"/>
          <p:cNvSpPr/>
          <p:nvPr/>
        </p:nvSpPr>
        <p:spPr>
          <a:xfrm>
            <a:off x="3236595" y="4518620"/>
            <a:ext cx="2747010" cy="573980"/>
          </a:xfrm>
          <a:prstGeom prst="rect">
            <a:avLst/>
          </a:prstGeom>
          <a:noFill/>
          <a:ln/>
        </p:spPr>
        <p:txBody>
          <a:bodyPr wrap="square" lIns="0" tIns="0" rIns="0" bIns="0" rtlCol="0" anchor="t">
            <a:normAutofit/>
          </a:bodyPr>
          <a:lstStyle/>
          <a:p>
            <a:pPr marL="0" indent="0" algn="ctr">
              <a:lnSpc>
                <a:spcPts val="2160"/>
              </a:lnSpc>
              <a:buNone/>
            </a:pPr>
            <a:r>
              <a:rPr lang="en-US" sz="1600" b="1" dirty="0">
                <a:solidFill>
                  <a:srgbClr val="2F5597"/>
                </a:solidFill>
                <a:latin typeface="Lato" pitchFamily="34" charset="0"/>
                <a:ea typeface="Lato" pitchFamily="34" charset="-122"/>
                <a:cs typeface="Lato" pitchFamily="34" charset="-120"/>
              </a:rPr>
              <a:t>"cats"</a:t>
            </a:r>
            <a:r>
              <a:rPr lang="en-US" sz="1600" dirty="0">
                <a:solidFill>
                  <a:srgbClr val="000000"/>
                </a:solidFill>
                <a:latin typeface="Lato" pitchFamily="34" charset="0"/>
                <a:ea typeface="Lato" pitchFamily="34" charset="-122"/>
                <a:cs typeface="Lato" pitchFamily="34" charset="-120"/>
              </a:rPr>
              <a:t> is backed by the whole region</a:t>
            </a:r>
            <a:endParaRPr lang="en-US" sz="1600" dirty="0"/>
          </a:p>
        </p:txBody>
      </p:sp>
      <p:pic>
        <p:nvPicPr>
          <p:cNvPr id="8" name="Image 1" descr="Layer 15 attention of the hallucinated object glove, concentrated on a few tokens on the baseball"/>
          <p:cNvPicPr>
            <a:picLocks noChangeAspect="1"/>
          </p:cNvPicPr>
          <p:nvPr/>
        </p:nvPicPr>
        <p:blipFill>
          <a:blip r:embed="rId4"/>
          <a:srcRect/>
          <a:stretch/>
        </p:blipFill>
        <p:spPr>
          <a:xfrm>
            <a:off x="6248400" y="1775420"/>
            <a:ext cx="2667000" cy="2667000"/>
          </a:xfrm>
          <a:prstGeom prst="roundRect">
            <a:avLst>
              <a:gd name="adj" fmla="val 1905"/>
            </a:avLst>
          </a:prstGeom>
        </p:spPr>
      </p:pic>
      <p:sp>
        <p:nvSpPr>
          <p:cNvPr id="9" name="Text 5"/>
          <p:cNvSpPr/>
          <p:nvPr/>
        </p:nvSpPr>
        <p:spPr>
          <a:xfrm>
            <a:off x="6208395" y="4518620"/>
            <a:ext cx="2747010" cy="573980"/>
          </a:xfrm>
          <a:prstGeom prst="rect">
            <a:avLst/>
          </a:prstGeom>
          <a:noFill/>
          <a:ln/>
        </p:spPr>
        <p:txBody>
          <a:bodyPr wrap="square" lIns="0" tIns="0" rIns="0" bIns="0" rtlCol="0" anchor="t">
            <a:normAutofit/>
          </a:bodyPr>
          <a:lstStyle/>
          <a:p>
            <a:pPr marL="0" indent="0" algn="ctr">
              <a:lnSpc>
                <a:spcPts val="2160"/>
              </a:lnSpc>
              <a:buNone/>
            </a:pPr>
            <a:r>
              <a:rPr lang="en-US" sz="1600" b="1" dirty="0">
                <a:solidFill>
                  <a:srgbClr val="C00000"/>
                </a:solidFill>
                <a:latin typeface="Lato" pitchFamily="34" charset="0"/>
                <a:ea typeface="Lato" pitchFamily="34" charset="-122"/>
                <a:cs typeface="Lato" pitchFamily="34" charset="-120"/>
              </a:rPr>
              <a:t>"glove"</a:t>
            </a:r>
            <a:r>
              <a:rPr lang="en-US" sz="1600" dirty="0">
                <a:solidFill>
                  <a:srgbClr val="000000"/>
                </a:solidFill>
                <a:latin typeface="Lato" pitchFamily="34" charset="0"/>
                <a:ea typeface="Lato" pitchFamily="34" charset="-122"/>
                <a:cs typeface="Lato" pitchFamily="34" charset="-120"/>
              </a:rPr>
              <a:t> rests on a few look-alike tokens</a:t>
            </a:r>
            <a:endParaRPr lang="en-US" sz="1600" dirty="0"/>
          </a:p>
        </p:txBody>
      </p:sp>
      <p:sp>
        <p:nvSpPr>
          <p:cNvPr id="10" name="Text 6"/>
          <p:cNvSpPr/>
          <p:nvPr/>
        </p:nvSpPr>
        <p:spPr>
          <a:xfrm>
            <a:off x="340360" y="5473601"/>
            <a:ext cx="11511280" cy="368300"/>
          </a:xfrm>
          <a:prstGeom prst="rect">
            <a:avLst/>
          </a:prstGeom>
          <a:noFill/>
          <a:ln/>
        </p:spPr>
        <p:txBody>
          <a:bodyPr wrap="square" lIns="0" tIns="0" rIns="0" bIns="0" rtlCol="0" anchor="t">
            <a:normAutofit/>
          </a:bodyPr>
          <a:lstStyle/>
          <a:p>
            <a:pPr marL="0" indent="0" algn="ctr">
              <a:lnSpc>
                <a:spcPts val="2700"/>
              </a:lnSpc>
              <a:buNone/>
            </a:pPr>
            <a:r>
              <a:rPr lang="en-US" sz="2000" b="1" dirty="0">
                <a:solidFill>
                  <a:srgbClr val="C00000"/>
                </a:solidFill>
                <a:latin typeface="Lato" pitchFamily="34" charset="0"/>
                <a:ea typeface="Lato" pitchFamily="34" charset="-122"/>
                <a:cs typeface="Lato" pitchFamily="34" charset="-120"/>
              </a:rPr>
              <a:t>EAZY</a:t>
            </a:r>
            <a:r>
              <a:rPr lang="en-US" sz="2000" dirty="0">
                <a:solidFill>
                  <a:srgbClr val="000000"/>
                </a:solidFill>
                <a:latin typeface="Lato" pitchFamily="34" charset="0"/>
                <a:ea typeface="Lato" pitchFamily="34" charset="-122"/>
                <a:cs typeface="Lato" pitchFamily="34" charset="-120"/>
              </a:rPr>
              <a:t>: </a:t>
            </a:r>
            <a:r>
              <a:rPr lang="en-US" sz="2000" b="1" dirty="0">
                <a:solidFill>
                  <a:srgbClr val="000000"/>
                </a:solidFill>
                <a:latin typeface="Lato" pitchFamily="34" charset="0"/>
                <a:ea typeface="Lato" pitchFamily="34" charset="-122"/>
                <a:cs typeface="Lato" pitchFamily="34" charset="-120"/>
              </a:rPr>
              <a:t>E</a:t>
            </a:r>
            <a:r>
              <a:rPr lang="en-US" sz="2000" dirty="0">
                <a:solidFill>
                  <a:srgbClr val="000000"/>
                </a:solidFill>
                <a:latin typeface="Lato" pitchFamily="34" charset="0"/>
                <a:ea typeface="Lato" pitchFamily="34" charset="-122"/>
                <a:cs typeface="Lato" pitchFamily="34" charset="-120"/>
              </a:rPr>
              <a:t>liminate h</a:t>
            </a:r>
            <a:r>
              <a:rPr lang="en-US" sz="2000" b="1" dirty="0">
                <a:solidFill>
                  <a:srgbClr val="000000"/>
                </a:solidFill>
                <a:latin typeface="Lato" pitchFamily="34" charset="0"/>
                <a:ea typeface="Lato" pitchFamily="34" charset="-122"/>
                <a:cs typeface="Lato" pitchFamily="34" charset="-120"/>
              </a:rPr>
              <a:t>A</a:t>
            </a:r>
            <a:r>
              <a:rPr lang="en-US" sz="2000" dirty="0">
                <a:solidFill>
                  <a:srgbClr val="000000"/>
                </a:solidFill>
                <a:latin typeface="Lato" pitchFamily="34" charset="0"/>
                <a:ea typeface="Lato" pitchFamily="34" charset="-122"/>
                <a:cs typeface="Lato" pitchFamily="34" charset="-120"/>
              </a:rPr>
              <a:t>llucinations by </a:t>
            </a:r>
            <a:r>
              <a:rPr lang="en-US" sz="2000" b="1" dirty="0">
                <a:solidFill>
                  <a:srgbClr val="000000"/>
                </a:solidFill>
                <a:latin typeface="Lato" pitchFamily="34" charset="0"/>
                <a:ea typeface="Lato" pitchFamily="34" charset="-122"/>
                <a:cs typeface="Lato" pitchFamily="34" charset="-120"/>
              </a:rPr>
              <a:t>Z</a:t>
            </a:r>
            <a:r>
              <a:rPr lang="en-US" sz="2000" dirty="0">
                <a:solidFill>
                  <a:srgbClr val="000000"/>
                </a:solidFill>
                <a:latin typeface="Lato" pitchFamily="34" charset="0"/>
                <a:ea typeface="Lato" pitchFamily="34" charset="-122"/>
                <a:cs typeface="Lato" pitchFamily="34" charset="-120"/>
              </a:rPr>
              <a:t>eroing out hallucinator</a:t>
            </a:r>
            <a:r>
              <a:rPr lang="en-US" sz="2000" b="1" dirty="0">
                <a:solidFill>
                  <a:srgbClr val="000000"/>
                </a:solidFill>
                <a:latin typeface="Lato" pitchFamily="34" charset="0"/>
                <a:ea typeface="Lato" pitchFamily="34" charset="-122"/>
                <a:cs typeface="Lato" pitchFamily="34" charset="-120"/>
              </a:rPr>
              <a:t>Y</a:t>
            </a:r>
            <a:r>
              <a:rPr lang="en-US" sz="2000" dirty="0">
                <a:solidFill>
                  <a:srgbClr val="000000"/>
                </a:solidFill>
                <a:latin typeface="Lato" pitchFamily="34" charset="0"/>
                <a:ea typeface="Lato" pitchFamily="34" charset="-122"/>
                <a:cs typeface="Lato" pitchFamily="34" charset="-120"/>
              </a:rPr>
              <a:t> image tokens</a:t>
            </a:r>
            <a:endParaRPr lang="en-US" sz="2000" dirty="0"/>
          </a:p>
        </p:txBody>
      </p:sp>
      <p:sp>
        <p:nvSpPr>
          <p:cNvPr id="11" name="Text 7"/>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12" name="Text 8"/>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Backup 4</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Shape 1"/>
          <p:cNvSpPr/>
          <p:nvPr/>
        </p:nvSpPr>
        <p:spPr>
          <a:xfrm>
            <a:off x="812800" y="1600200"/>
            <a:ext cx="10566400" cy="4241800"/>
          </a:xfrm>
          <a:prstGeom prst="roundRect">
            <a:avLst>
              <a:gd name="adj" fmla="val 3593"/>
            </a:avLst>
          </a:prstGeom>
          <a:solidFill>
            <a:srgbClr val="DCE6F2"/>
          </a:solidFill>
          <a:ln/>
        </p:spPr>
        <p:txBody>
          <a:bodyPr/>
          <a:lstStyle/>
          <a:p>
            <a:endParaRPr lang="en-US"/>
          </a:p>
        </p:txBody>
      </p:sp>
      <p:sp>
        <p:nvSpPr>
          <p:cNvPr id="4" name="Text 2"/>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Step by Step on the Fruit Stand</a:t>
            </a:r>
            <a:endParaRPr lang="en-US" sz="3200" dirty="0"/>
          </a:p>
        </p:txBody>
      </p:sp>
      <p:sp>
        <p:nvSpPr>
          <p:cNvPr id="5" name="Text 3"/>
          <p:cNvSpPr/>
          <p:nvPr/>
        </p:nvSpPr>
        <p:spPr>
          <a:xfrm>
            <a:off x="508000" y="1026120"/>
            <a:ext cx="11511280" cy="368300"/>
          </a:xfrm>
          <a:prstGeom prst="rect">
            <a:avLst/>
          </a:prstGeom>
          <a:noFill/>
          <a:ln/>
        </p:spPr>
        <p:txBody>
          <a:bodyPr wrap="square" lIns="0" tIns="0" rIns="0" bIns="0" rtlCol="0" anchor="t">
            <a:normAutofit/>
          </a:bodyPr>
          <a:lstStyle/>
          <a:p>
            <a:pPr marL="0" indent="0" algn="l">
              <a:lnSpc>
                <a:spcPts val="2700"/>
              </a:lnSpc>
              <a:buNone/>
            </a:pPr>
            <a:r>
              <a:rPr lang="en-US" sz="2000" b="1" dirty="0">
                <a:solidFill>
                  <a:srgbClr val="000000"/>
                </a:solidFill>
                <a:latin typeface="Lato" pitchFamily="34" charset="0"/>
                <a:ea typeface="Lato" pitchFamily="34" charset="-122"/>
                <a:cs typeface="Lato" pitchFamily="34" charset="-120"/>
              </a:rPr>
              <a:t>EAZY in action:</a:t>
            </a:r>
            <a:r>
              <a:rPr lang="en-US" sz="2000" dirty="0">
                <a:solidFill>
                  <a:srgbClr val="000000"/>
                </a:solidFill>
                <a:latin typeface="Lato" pitchFamily="34" charset="0"/>
                <a:ea typeface="Lato" pitchFamily="34" charset="-122"/>
                <a:cs typeface="Lato" pitchFamily="34" charset="-120"/>
              </a:rPr>
              <a:t> on the fruit stand, EAZY turns </a:t>
            </a:r>
            <a:r>
              <a:rPr lang="en-US" sz="2000" u="sng" dirty="0">
                <a:solidFill>
                  <a:srgbClr val="C00000"/>
                </a:solidFill>
                <a:latin typeface="Lato" pitchFamily="34" charset="0"/>
                <a:ea typeface="Lato" pitchFamily="34" charset="-122"/>
                <a:cs typeface="Lato" pitchFamily="34" charset="-120"/>
              </a:rPr>
              <a:t>the hallucinated answer into a corrected one</a:t>
            </a:r>
            <a:endParaRPr lang="en-US" sz="2000" dirty="0"/>
          </a:p>
        </p:txBody>
      </p:sp>
      <p:pic>
        <p:nvPicPr>
          <p:cNvPr id="6" name="Image 0" descr="The fruit stand input image under a 24 by 24 token grid"/>
          <p:cNvPicPr>
            <a:picLocks noChangeAspect="1"/>
          </p:cNvPicPr>
          <p:nvPr/>
        </p:nvPicPr>
        <p:blipFill>
          <a:blip r:embed="rId3"/>
          <a:srcRect/>
          <a:stretch/>
        </p:blipFill>
        <p:spPr>
          <a:xfrm>
            <a:off x="1016000" y="2311400"/>
            <a:ext cx="2794000" cy="2794000"/>
          </a:xfrm>
          <a:prstGeom prst="rect">
            <a:avLst/>
          </a:prstGeom>
        </p:spPr>
      </p:pic>
      <p:pic>
        <p:nvPicPr>
          <p:cNvPr id="7" name="Image 1" descr="web embed"/>
          <p:cNvPicPr>
            <a:picLocks noChangeAspect="1"/>
          </p:cNvPicPr>
          <p:nvPr/>
        </p:nvPicPr>
        <p:blipFill>
          <a:blip r:embed="rId4"/>
          <a:srcRect/>
          <a:stretch/>
        </p:blipFill>
        <p:spPr>
          <a:xfrm>
            <a:off x="1016000" y="1803400"/>
            <a:ext cx="10160000" cy="3873500"/>
          </a:xfrm>
          <a:prstGeom prst="rect">
            <a:avLst/>
          </a:prstGeom>
        </p:spPr>
      </p:pic>
      <p:sp>
        <p:nvSpPr>
          <p:cNvPr id="8" name="Text 4"/>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9" name="Text 5"/>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Backup 5</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Case Study: Back to the Opening Examples</a:t>
            </a:r>
            <a:endParaRPr lang="en-US" sz="3200" dirty="0"/>
          </a:p>
        </p:txBody>
      </p:sp>
      <p:sp>
        <p:nvSpPr>
          <p:cNvPr id="4" name="Text 2"/>
          <p:cNvSpPr/>
          <p:nvPr/>
        </p:nvSpPr>
        <p:spPr>
          <a:xfrm>
            <a:off x="508000" y="1026120"/>
            <a:ext cx="11511280" cy="368300"/>
          </a:xfrm>
          <a:prstGeom prst="rect">
            <a:avLst/>
          </a:prstGeom>
          <a:noFill/>
          <a:ln/>
        </p:spPr>
        <p:txBody>
          <a:bodyPr wrap="square" lIns="0" tIns="0" rIns="0" bIns="0" rtlCol="0" anchor="t">
            <a:normAutofit/>
          </a:bodyPr>
          <a:lstStyle/>
          <a:p>
            <a:pPr marL="0" indent="0" algn="l">
              <a:lnSpc>
                <a:spcPts val="2700"/>
              </a:lnSpc>
              <a:buNone/>
            </a:pPr>
            <a:r>
              <a:rPr lang="en-US" sz="2000" b="1" dirty="0">
                <a:solidFill>
                  <a:srgbClr val="000000"/>
                </a:solidFill>
                <a:latin typeface="Lato" pitchFamily="34" charset="0"/>
                <a:ea typeface="Lato" pitchFamily="34" charset="-122"/>
                <a:cs typeface="Lato" pitchFamily="34" charset="-120"/>
              </a:rPr>
              <a:t>Before vs. after:</a:t>
            </a:r>
            <a:r>
              <a:rPr lang="en-US" sz="2000" dirty="0">
                <a:solidFill>
                  <a:srgbClr val="000000"/>
                </a:solidFill>
                <a:latin typeface="Lato" pitchFamily="34" charset="0"/>
                <a:ea typeface="Lato" pitchFamily="34" charset="-122"/>
                <a:cs typeface="Lato" pitchFamily="34" charset="-120"/>
              </a:rPr>
              <a:t> the red squares are </a:t>
            </a:r>
            <a:r>
              <a:rPr lang="en-US" sz="2000" u="sng" dirty="0">
                <a:solidFill>
                  <a:srgbClr val="C00000"/>
                </a:solidFill>
                <a:latin typeface="Lato" pitchFamily="34" charset="0"/>
                <a:ea typeface="Lato" pitchFamily="34" charset="-122"/>
                <a:cs typeface="Lato" pitchFamily="34" charset="-120"/>
              </a:rPr>
              <a:t>the tokens EAZY zeroes</a:t>
            </a:r>
            <a:endParaRPr lang="en-US" sz="2000" dirty="0"/>
          </a:p>
        </p:txBody>
      </p:sp>
      <p:sp>
        <p:nvSpPr>
          <p:cNvPr id="5" name="Shape 3"/>
          <p:cNvSpPr/>
          <p:nvPr/>
        </p:nvSpPr>
        <p:spPr>
          <a:xfrm>
            <a:off x="508000" y="1572220"/>
            <a:ext cx="11176000" cy="3708400"/>
          </a:xfrm>
          <a:prstGeom prst="roundRect">
            <a:avLst>
              <a:gd name="adj" fmla="val 4110"/>
            </a:avLst>
          </a:prstGeom>
          <a:solidFill>
            <a:srgbClr val="DCE6F2"/>
          </a:solidFill>
          <a:ln/>
        </p:spPr>
        <p:txBody>
          <a:bodyPr/>
          <a:lstStyle/>
          <a:p>
            <a:endParaRPr lang="en-US"/>
          </a:p>
        </p:txBody>
      </p:sp>
      <p:pic>
        <p:nvPicPr>
          <p:cNvPr id="6" name="Image 0" descr="Airport tarmac with a small cargo vehicle and an airplane; red squares mark the zeroed tokens"/>
          <p:cNvPicPr>
            <a:picLocks noChangeAspect="1"/>
          </p:cNvPicPr>
          <p:nvPr/>
        </p:nvPicPr>
        <p:blipFill>
          <a:blip r:embed="rId3"/>
          <a:srcRect l="3846" r="3846"/>
          <a:stretch/>
        </p:blipFill>
        <p:spPr>
          <a:xfrm>
            <a:off x="812800" y="1775420"/>
            <a:ext cx="3048000" cy="3302000"/>
          </a:xfrm>
          <a:prstGeom prst="roundRect">
            <a:avLst>
              <a:gd name="adj" fmla="val 1667"/>
            </a:avLst>
          </a:prstGeom>
        </p:spPr>
      </p:pic>
      <p:sp>
        <p:nvSpPr>
          <p:cNvPr id="7" name="Text 4"/>
          <p:cNvSpPr/>
          <p:nvPr/>
        </p:nvSpPr>
        <p:spPr>
          <a:xfrm>
            <a:off x="4013200" y="1775420"/>
            <a:ext cx="1962150" cy="23113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555555"/>
                </a:solidFill>
                <a:latin typeface="Lato" pitchFamily="34" charset="0"/>
                <a:ea typeface="Lato" pitchFamily="34" charset="-122"/>
                <a:cs typeface="Lato" pitchFamily="34" charset="-120"/>
              </a:rPr>
              <a:t>LLAVA-1.5</a:t>
            </a:r>
            <a:endParaRPr lang="en-US" sz="1200" dirty="0"/>
          </a:p>
        </p:txBody>
      </p:sp>
      <p:sp>
        <p:nvSpPr>
          <p:cNvPr id="8" name="Text 5"/>
          <p:cNvSpPr/>
          <p:nvPr/>
        </p:nvSpPr>
        <p:spPr>
          <a:xfrm>
            <a:off x="4013200" y="2057350"/>
            <a:ext cx="1962150" cy="299690"/>
          </a:xfrm>
          <a:prstGeom prst="rect">
            <a:avLst/>
          </a:prstGeom>
          <a:noFill/>
          <a:ln/>
        </p:spPr>
        <p:txBody>
          <a:bodyPr wrap="square" lIns="0" tIns="0" rIns="0" bIns="0" rtlCol="0" anchor="t">
            <a:normAutofit/>
          </a:bodyPr>
          <a:lstStyle/>
          <a:p>
            <a:pPr marL="0" indent="0" algn="l">
              <a:lnSpc>
                <a:spcPts val="2160"/>
              </a:lnSpc>
              <a:buNone/>
            </a:pPr>
            <a:r>
              <a:rPr lang="en-US" sz="1600" b="1" strike="sngStrike" dirty="0">
                <a:solidFill>
                  <a:srgbClr val="C00000"/>
                </a:solidFill>
                <a:latin typeface="Lato" pitchFamily="34" charset="0"/>
                <a:ea typeface="Lato" pitchFamily="34" charset="-122"/>
                <a:cs typeface="Lato" pitchFamily="34" charset="-120"/>
              </a:rPr>
              <a:t>motorcycles</a:t>
            </a:r>
            <a:endParaRPr lang="en-US" sz="1600" dirty="0"/>
          </a:p>
        </p:txBody>
      </p:sp>
      <p:sp>
        <p:nvSpPr>
          <p:cNvPr id="9" name="Text 6"/>
          <p:cNvSpPr/>
          <p:nvPr/>
        </p:nvSpPr>
        <p:spPr>
          <a:xfrm>
            <a:off x="4013200" y="2407841"/>
            <a:ext cx="1962150" cy="299690"/>
          </a:xfrm>
          <a:prstGeom prst="rect">
            <a:avLst/>
          </a:prstGeom>
          <a:noFill/>
          <a:ln/>
        </p:spPr>
        <p:txBody>
          <a:bodyPr wrap="square" lIns="0" tIns="0" rIns="0" bIns="0" rtlCol="0" anchor="t">
            <a:normAutofit/>
          </a:bodyPr>
          <a:lstStyle/>
          <a:p>
            <a:pPr marL="0" indent="0" algn="l">
              <a:lnSpc>
                <a:spcPts val="2160"/>
              </a:lnSpc>
              <a:buNone/>
            </a:pPr>
            <a:r>
              <a:rPr lang="en-US" sz="1600" b="1" strike="sngStrike" dirty="0">
                <a:solidFill>
                  <a:srgbClr val="C00000"/>
                </a:solidFill>
                <a:latin typeface="Lato" pitchFamily="34" charset="0"/>
                <a:ea typeface="Lato" pitchFamily="34" charset="-122"/>
                <a:cs typeface="Lato" pitchFamily="34" charset="-120"/>
              </a:rPr>
              <a:t>a truck</a:t>
            </a:r>
            <a:endParaRPr lang="en-US" sz="1600" dirty="0"/>
          </a:p>
        </p:txBody>
      </p:sp>
      <p:sp>
        <p:nvSpPr>
          <p:cNvPr id="10" name="Text 7"/>
          <p:cNvSpPr/>
          <p:nvPr/>
        </p:nvSpPr>
        <p:spPr>
          <a:xfrm>
            <a:off x="4013200" y="2758331"/>
            <a:ext cx="1962150" cy="23113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555555"/>
                </a:solidFill>
                <a:latin typeface="Lato" pitchFamily="34" charset="0"/>
                <a:ea typeface="Lato" pitchFamily="34" charset="-122"/>
                <a:cs typeface="Lato" pitchFamily="34" charset="-120"/>
              </a:rPr>
              <a:t>EAZY</a:t>
            </a:r>
            <a:endParaRPr lang="en-US" sz="1200" dirty="0"/>
          </a:p>
        </p:txBody>
      </p:sp>
      <p:sp>
        <p:nvSpPr>
          <p:cNvPr id="11" name="Text 8"/>
          <p:cNvSpPr/>
          <p:nvPr/>
        </p:nvSpPr>
        <p:spPr>
          <a:xfrm>
            <a:off x="4013200" y="3040261"/>
            <a:ext cx="1962150" cy="29969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2F5597"/>
                </a:solidFill>
                <a:latin typeface="Lato" pitchFamily="34" charset="0"/>
                <a:ea typeface="Lato" pitchFamily="34" charset="-122"/>
                <a:cs typeface="Lato" pitchFamily="34" charset="-120"/>
              </a:rPr>
              <a:t>a small vehicle</a:t>
            </a:r>
            <a:endParaRPr lang="en-US" sz="1600" dirty="0"/>
          </a:p>
        </p:txBody>
      </p:sp>
      <p:sp>
        <p:nvSpPr>
          <p:cNvPr id="12" name="Text 9"/>
          <p:cNvSpPr/>
          <p:nvPr/>
        </p:nvSpPr>
        <p:spPr>
          <a:xfrm>
            <a:off x="4013200" y="3390751"/>
            <a:ext cx="1962150" cy="29969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2F5597"/>
                </a:solidFill>
                <a:latin typeface="Lato" pitchFamily="34" charset="0"/>
                <a:ea typeface="Lato" pitchFamily="34" charset="-122"/>
                <a:cs typeface="Lato" pitchFamily="34" charset="-120"/>
              </a:rPr>
              <a:t>an airplane</a:t>
            </a:r>
            <a:endParaRPr lang="en-US" sz="1600" dirty="0"/>
          </a:p>
        </p:txBody>
      </p:sp>
      <p:sp>
        <p:nvSpPr>
          <p:cNvPr id="13" name="Text 10"/>
          <p:cNvSpPr/>
          <p:nvPr/>
        </p:nvSpPr>
        <p:spPr>
          <a:xfrm>
            <a:off x="4013200" y="4871690"/>
            <a:ext cx="1962150"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55555"/>
                </a:solidFill>
                <a:latin typeface="Lato" pitchFamily="34" charset="0"/>
                <a:ea typeface="Lato" pitchFamily="34" charset="-122"/>
                <a:cs typeface="Lato" pitchFamily="34" charset="-120"/>
              </a:rPr>
              <a:t>5 tokens zeroed</a:t>
            </a:r>
            <a:endParaRPr lang="en-US" sz="1200" dirty="0"/>
          </a:p>
        </p:txBody>
      </p:sp>
      <p:pic>
        <p:nvPicPr>
          <p:cNvPr id="14" name="Image 1" descr="Window with a yellow curtain and a potted plant; red squares mark the zeroed tokens"/>
          <p:cNvPicPr>
            <a:picLocks noChangeAspect="1"/>
          </p:cNvPicPr>
          <p:nvPr/>
        </p:nvPicPr>
        <p:blipFill>
          <a:blip r:embed="rId4"/>
          <a:srcRect l="3846" r="3846"/>
          <a:stretch/>
        </p:blipFill>
        <p:spPr>
          <a:xfrm>
            <a:off x="6273800" y="1775420"/>
            <a:ext cx="3048000" cy="3302000"/>
          </a:xfrm>
          <a:prstGeom prst="roundRect">
            <a:avLst>
              <a:gd name="adj" fmla="val 1667"/>
            </a:avLst>
          </a:prstGeom>
        </p:spPr>
      </p:pic>
      <p:sp>
        <p:nvSpPr>
          <p:cNvPr id="15" name="Text 11"/>
          <p:cNvSpPr/>
          <p:nvPr/>
        </p:nvSpPr>
        <p:spPr>
          <a:xfrm>
            <a:off x="9474200" y="1775420"/>
            <a:ext cx="1962150" cy="23113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555555"/>
                </a:solidFill>
                <a:latin typeface="Lato" pitchFamily="34" charset="0"/>
                <a:ea typeface="Lato" pitchFamily="34" charset="-122"/>
                <a:cs typeface="Lato" pitchFamily="34" charset="-120"/>
              </a:rPr>
              <a:t>LLAVA-1.5</a:t>
            </a:r>
            <a:endParaRPr lang="en-US" sz="1200" dirty="0"/>
          </a:p>
        </p:txBody>
      </p:sp>
      <p:sp>
        <p:nvSpPr>
          <p:cNvPr id="16" name="Text 12"/>
          <p:cNvSpPr/>
          <p:nvPr/>
        </p:nvSpPr>
        <p:spPr>
          <a:xfrm>
            <a:off x="9474200" y="2057350"/>
            <a:ext cx="1962150" cy="299690"/>
          </a:xfrm>
          <a:prstGeom prst="rect">
            <a:avLst/>
          </a:prstGeom>
          <a:noFill/>
          <a:ln/>
        </p:spPr>
        <p:txBody>
          <a:bodyPr wrap="square" lIns="0" tIns="0" rIns="0" bIns="0" rtlCol="0" anchor="t">
            <a:normAutofit/>
          </a:bodyPr>
          <a:lstStyle/>
          <a:p>
            <a:pPr marL="0" indent="0" algn="l">
              <a:lnSpc>
                <a:spcPts val="2160"/>
              </a:lnSpc>
              <a:buNone/>
            </a:pPr>
            <a:r>
              <a:rPr lang="en-US" sz="1600" b="1" strike="sngStrike" dirty="0">
                <a:solidFill>
                  <a:srgbClr val="C00000"/>
                </a:solidFill>
                <a:latin typeface="Lato" pitchFamily="34" charset="0"/>
                <a:ea typeface="Lato" pitchFamily="34" charset="-122"/>
                <a:cs typeface="Lato" pitchFamily="34" charset="-120"/>
              </a:rPr>
              <a:t>a person</a:t>
            </a:r>
            <a:endParaRPr lang="en-US" sz="1600" dirty="0"/>
          </a:p>
        </p:txBody>
      </p:sp>
      <p:sp>
        <p:nvSpPr>
          <p:cNvPr id="17" name="Text 13"/>
          <p:cNvSpPr/>
          <p:nvPr/>
        </p:nvSpPr>
        <p:spPr>
          <a:xfrm>
            <a:off x="9474200" y="2407841"/>
            <a:ext cx="1962150" cy="23113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555555"/>
                </a:solidFill>
                <a:latin typeface="Lato" pitchFamily="34" charset="0"/>
                <a:ea typeface="Lato" pitchFamily="34" charset="-122"/>
                <a:cs typeface="Lato" pitchFamily="34" charset="-120"/>
              </a:rPr>
              <a:t>EAZY</a:t>
            </a:r>
            <a:endParaRPr lang="en-US" sz="1200" dirty="0"/>
          </a:p>
        </p:txBody>
      </p:sp>
      <p:sp>
        <p:nvSpPr>
          <p:cNvPr id="18" name="Text 14"/>
          <p:cNvSpPr/>
          <p:nvPr/>
        </p:nvSpPr>
        <p:spPr>
          <a:xfrm>
            <a:off x="9474200" y="2689771"/>
            <a:ext cx="1962150" cy="29969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2F5597"/>
                </a:solidFill>
                <a:latin typeface="Lato" pitchFamily="34" charset="0"/>
                <a:ea typeface="Lato" pitchFamily="34" charset="-122"/>
                <a:cs typeface="Lato" pitchFamily="34" charset="-120"/>
              </a:rPr>
              <a:t>a building</a:t>
            </a:r>
            <a:endParaRPr lang="en-US" sz="1600" dirty="0"/>
          </a:p>
        </p:txBody>
      </p:sp>
      <p:sp>
        <p:nvSpPr>
          <p:cNvPr id="19" name="Text 15"/>
          <p:cNvSpPr/>
          <p:nvPr/>
        </p:nvSpPr>
        <p:spPr>
          <a:xfrm>
            <a:off x="9474200" y="3040261"/>
            <a:ext cx="1962150"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55555"/>
                </a:solidFill>
                <a:latin typeface="Lato" pitchFamily="34" charset="0"/>
                <a:ea typeface="Lato" pitchFamily="34" charset="-122"/>
                <a:cs typeface="Lato" pitchFamily="34" charset="-120"/>
              </a:rPr>
              <a:t>reflected in the window</a:t>
            </a:r>
            <a:endParaRPr lang="en-US" sz="1200" dirty="0"/>
          </a:p>
        </p:txBody>
      </p:sp>
      <p:sp>
        <p:nvSpPr>
          <p:cNvPr id="20" name="Text 16"/>
          <p:cNvSpPr/>
          <p:nvPr/>
        </p:nvSpPr>
        <p:spPr>
          <a:xfrm>
            <a:off x="340360" y="5483820"/>
            <a:ext cx="11511280" cy="368300"/>
          </a:xfrm>
          <a:prstGeom prst="rect">
            <a:avLst/>
          </a:prstGeom>
          <a:noFill/>
          <a:ln/>
        </p:spPr>
        <p:txBody>
          <a:bodyPr wrap="square" lIns="0" tIns="0" rIns="0" bIns="0" rtlCol="0" anchor="t">
            <a:normAutofit/>
          </a:bodyPr>
          <a:lstStyle/>
          <a:p>
            <a:pPr marL="0" indent="0" algn="ctr">
              <a:lnSpc>
                <a:spcPts val="2700"/>
              </a:lnSpc>
              <a:buNone/>
            </a:pPr>
            <a:r>
              <a:rPr lang="en-US" sz="2000" u="sng" dirty="0">
                <a:solidFill>
                  <a:srgbClr val="C00000"/>
                </a:solidFill>
                <a:latin typeface="Lato" pitchFamily="34" charset="0"/>
                <a:ea typeface="Lato" pitchFamily="34" charset="-122"/>
                <a:cs typeface="Lato" pitchFamily="34" charset="-120"/>
              </a:rPr>
              <a:t>Hallucinated objects disappear, and real details take their place</a:t>
            </a:r>
            <a:endParaRPr lang="en-US" sz="2000" dirty="0"/>
          </a:p>
        </p:txBody>
      </p:sp>
      <p:sp>
        <p:nvSpPr>
          <p:cNvPr id="21" name="Text 17"/>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22" name="Text 18"/>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Backup 6</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Case Study: More Examples</a:t>
            </a:r>
            <a:endParaRPr lang="en-US" sz="3200" dirty="0"/>
          </a:p>
        </p:txBody>
      </p:sp>
      <p:sp>
        <p:nvSpPr>
          <p:cNvPr id="4" name="Text 2"/>
          <p:cNvSpPr/>
          <p:nvPr/>
        </p:nvSpPr>
        <p:spPr>
          <a:xfrm>
            <a:off x="508000" y="1026120"/>
            <a:ext cx="11511280" cy="368300"/>
          </a:xfrm>
          <a:prstGeom prst="rect">
            <a:avLst/>
          </a:prstGeom>
          <a:noFill/>
          <a:ln/>
        </p:spPr>
        <p:txBody>
          <a:bodyPr wrap="square" lIns="0" tIns="0" rIns="0" bIns="0" rtlCol="0" anchor="t">
            <a:normAutofit/>
          </a:bodyPr>
          <a:lstStyle/>
          <a:p>
            <a:pPr marL="0" indent="0" algn="l">
              <a:lnSpc>
                <a:spcPts val="2700"/>
              </a:lnSpc>
              <a:buNone/>
            </a:pPr>
            <a:r>
              <a:rPr lang="en-US" sz="2000" b="1" dirty="0">
                <a:solidFill>
                  <a:srgbClr val="000000"/>
                </a:solidFill>
                <a:latin typeface="Lato" pitchFamily="34" charset="0"/>
                <a:ea typeface="Lato" pitchFamily="34" charset="-122"/>
                <a:cs typeface="Lato" pitchFamily="34" charset="-120"/>
              </a:rPr>
              <a:t>Across models:</a:t>
            </a:r>
            <a:r>
              <a:rPr lang="en-US" sz="2000" dirty="0">
                <a:solidFill>
                  <a:srgbClr val="000000"/>
                </a:solidFill>
                <a:latin typeface="Lato" pitchFamily="34" charset="0"/>
                <a:ea typeface="Lato" pitchFamily="34" charset="-122"/>
                <a:cs typeface="Lato" pitchFamily="34" charset="-120"/>
              </a:rPr>
              <a:t> EAZY also works on </a:t>
            </a:r>
            <a:r>
              <a:rPr lang="en-US" sz="2000" u="sng" dirty="0">
                <a:solidFill>
                  <a:srgbClr val="C00000"/>
                </a:solidFill>
                <a:latin typeface="Lato" pitchFamily="34" charset="0"/>
                <a:ea typeface="Lato" pitchFamily="34" charset="-122"/>
                <a:cs typeface="Lato" pitchFamily="34" charset="-120"/>
              </a:rPr>
              <a:t>Shikra</a:t>
            </a:r>
            <a:r>
              <a:rPr lang="en-US" sz="2000" dirty="0">
                <a:solidFill>
                  <a:srgbClr val="000000"/>
                </a:solidFill>
                <a:latin typeface="Lato" pitchFamily="34" charset="0"/>
                <a:ea typeface="Lato" pitchFamily="34" charset="-122"/>
                <a:cs typeface="Lato" pitchFamily="34" charset="-120"/>
              </a:rPr>
              <a:t> and fixes details along the way</a:t>
            </a:r>
            <a:endParaRPr lang="en-US" sz="2000" dirty="0"/>
          </a:p>
        </p:txBody>
      </p:sp>
      <p:sp>
        <p:nvSpPr>
          <p:cNvPr id="5" name="Shape 3"/>
          <p:cNvSpPr/>
          <p:nvPr/>
        </p:nvSpPr>
        <p:spPr>
          <a:xfrm>
            <a:off x="508000" y="1572220"/>
            <a:ext cx="11176000" cy="3708400"/>
          </a:xfrm>
          <a:prstGeom prst="roundRect">
            <a:avLst>
              <a:gd name="adj" fmla="val 4110"/>
            </a:avLst>
          </a:prstGeom>
          <a:solidFill>
            <a:srgbClr val="DCE6F2"/>
          </a:solidFill>
          <a:ln/>
        </p:spPr>
        <p:txBody>
          <a:bodyPr/>
          <a:lstStyle/>
          <a:p>
            <a:endParaRPr lang="en-US"/>
          </a:p>
        </p:txBody>
      </p:sp>
      <p:pic>
        <p:nvPicPr>
          <p:cNvPr id="6" name="Image 0" descr="Snowy street corner with a one-way sign, a traffic light, steps and a yellow sign; red squares mark the zeroed tokens"/>
          <p:cNvPicPr>
            <a:picLocks noChangeAspect="1"/>
          </p:cNvPicPr>
          <p:nvPr/>
        </p:nvPicPr>
        <p:blipFill>
          <a:blip r:embed="rId3"/>
          <a:srcRect l="3912" r="3912"/>
          <a:stretch/>
        </p:blipFill>
        <p:spPr>
          <a:xfrm>
            <a:off x="812800" y="1775420"/>
            <a:ext cx="3048000" cy="3302000"/>
          </a:xfrm>
          <a:prstGeom prst="roundRect">
            <a:avLst>
              <a:gd name="adj" fmla="val 1667"/>
            </a:avLst>
          </a:prstGeom>
        </p:spPr>
      </p:pic>
      <p:sp>
        <p:nvSpPr>
          <p:cNvPr id="7" name="Text 4"/>
          <p:cNvSpPr/>
          <p:nvPr/>
        </p:nvSpPr>
        <p:spPr>
          <a:xfrm>
            <a:off x="4013200" y="1775420"/>
            <a:ext cx="1962150" cy="23113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555555"/>
                </a:solidFill>
                <a:latin typeface="Lato" pitchFamily="34" charset="0"/>
                <a:ea typeface="Lato" pitchFamily="34" charset="-122"/>
                <a:cs typeface="Lato" pitchFamily="34" charset="-120"/>
              </a:rPr>
              <a:t>LLAVA-1.5</a:t>
            </a:r>
            <a:endParaRPr lang="en-US" sz="1200" dirty="0"/>
          </a:p>
        </p:txBody>
      </p:sp>
      <p:sp>
        <p:nvSpPr>
          <p:cNvPr id="8" name="Text 5"/>
          <p:cNvSpPr/>
          <p:nvPr/>
        </p:nvSpPr>
        <p:spPr>
          <a:xfrm>
            <a:off x="4013200" y="2057350"/>
            <a:ext cx="1962150" cy="299690"/>
          </a:xfrm>
          <a:prstGeom prst="rect">
            <a:avLst/>
          </a:prstGeom>
          <a:noFill/>
          <a:ln/>
        </p:spPr>
        <p:txBody>
          <a:bodyPr wrap="square" lIns="0" tIns="0" rIns="0" bIns="0" rtlCol="0" anchor="t">
            <a:normAutofit/>
          </a:bodyPr>
          <a:lstStyle/>
          <a:p>
            <a:pPr marL="0" indent="0" algn="l">
              <a:lnSpc>
                <a:spcPts val="2160"/>
              </a:lnSpc>
              <a:buNone/>
            </a:pPr>
            <a:r>
              <a:rPr lang="en-US" sz="1600" b="1" strike="sngStrike" dirty="0">
                <a:solidFill>
                  <a:srgbClr val="C00000"/>
                </a:solidFill>
                <a:latin typeface="Lato" pitchFamily="34" charset="0"/>
                <a:ea typeface="Lato" pitchFamily="34" charset="-122"/>
                <a:cs typeface="Lato" pitchFamily="34" charset="-120"/>
              </a:rPr>
              <a:t>a car</a:t>
            </a:r>
            <a:endParaRPr lang="en-US" sz="1600" dirty="0"/>
          </a:p>
        </p:txBody>
      </p:sp>
      <p:sp>
        <p:nvSpPr>
          <p:cNvPr id="9" name="Text 6"/>
          <p:cNvSpPr/>
          <p:nvPr/>
        </p:nvSpPr>
        <p:spPr>
          <a:xfrm>
            <a:off x="4013200" y="2407841"/>
            <a:ext cx="1962150" cy="299690"/>
          </a:xfrm>
          <a:prstGeom prst="rect">
            <a:avLst/>
          </a:prstGeom>
          <a:noFill/>
          <a:ln/>
        </p:spPr>
        <p:txBody>
          <a:bodyPr wrap="square" lIns="0" tIns="0" rIns="0" bIns="0" rtlCol="0" anchor="t">
            <a:normAutofit/>
          </a:bodyPr>
          <a:lstStyle/>
          <a:p>
            <a:pPr marL="0" indent="0" algn="l">
              <a:lnSpc>
                <a:spcPts val="2160"/>
              </a:lnSpc>
              <a:buNone/>
            </a:pPr>
            <a:r>
              <a:rPr lang="en-US" sz="1600" b="1" strike="sngStrike" dirty="0">
                <a:solidFill>
                  <a:srgbClr val="C00000"/>
                </a:solidFill>
                <a:latin typeface="Lato" pitchFamily="34" charset="0"/>
                <a:ea typeface="Lato" pitchFamily="34" charset="-122"/>
                <a:cs typeface="Lato" pitchFamily="34" charset="-120"/>
              </a:rPr>
              <a:t>a person</a:t>
            </a:r>
            <a:endParaRPr lang="en-US" sz="1600" dirty="0"/>
          </a:p>
        </p:txBody>
      </p:sp>
      <p:sp>
        <p:nvSpPr>
          <p:cNvPr id="10" name="Text 7"/>
          <p:cNvSpPr/>
          <p:nvPr/>
        </p:nvSpPr>
        <p:spPr>
          <a:xfrm>
            <a:off x="4013200" y="2758331"/>
            <a:ext cx="1962150" cy="23113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555555"/>
                </a:solidFill>
                <a:latin typeface="Lato" pitchFamily="34" charset="0"/>
                <a:ea typeface="Lato" pitchFamily="34" charset="-122"/>
                <a:cs typeface="Lato" pitchFamily="34" charset="-120"/>
              </a:rPr>
              <a:t>EAZY</a:t>
            </a:r>
            <a:endParaRPr lang="en-US" sz="1200" dirty="0"/>
          </a:p>
        </p:txBody>
      </p:sp>
      <p:sp>
        <p:nvSpPr>
          <p:cNvPr id="11" name="Text 8"/>
          <p:cNvSpPr/>
          <p:nvPr/>
        </p:nvSpPr>
        <p:spPr>
          <a:xfrm>
            <a:off x="4013200" y="3040261"/>
            <a:ext cx="1962150" cy="29969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2F5597"/>
                </a:solidFill>
                <a:latin typeface="Lato" pitchFamily="34" charset="0"/>
                <a:ea typeface="Lato" pitchFamily="34" charset="-122"/>
                <a:cs typeface="Lato" pitchFamily="34" charset="-120"/>
              </a:rPr>
              <a:t>steps</a:t>
            </a:r>
            <a:endParaRPr lang="en-US" sz="1600" dirty="0"/>
          </a:p>
        </p:txBody>
      </p:sp>
      <p:sp>
        <p:nvSpPr>
          <p:cNvPr id="12" name="Text 9"/>
          <p:cNvSpPr/>
          <p:nvPr/>
        </p:nvSpPr>
        <p:spPr>
          <a:xfrm>
            <a:off x="4013200" y="3390751"/>
            <a:ext cx="1962150" cy="29969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2F5597"/>
                </a:solidFill>
                <a:latin typeface="Lato" pitchFamily="34" charset="0"/>
                <a:ea typeface="Lato" pitchFamily="34" charset="-122"/>
                <a:cs typeface="Lato" pitchFamily="34" charset="-120"/>
              </a:rPr>
              <a:t>a yellow sign</a:t>
            </a:r>
            <a:endParaRPr lang="en-US" sz="1600" dirty="0"/>
          </a:p>
        </p:txBody>
      </p:sp>
      <p:pic>
        <p:nvPicPr>
          <p:cNvPr id="13" name="Image 1" descr="Night city skyline with a lit clock tower on the left; red squares mark the zeroed tokens in the sky"/>
          <p:cNvPicPr>
            <a:picLocks noChangeAspect="1"/>
          </p:cNvPicPr>
          <p:nvPr/>
        </p:nvPicPr>
        <p:blipFill>
          <a:blip r:embed="rId4"/>
          <a:srcRect l="3846" r="3846"/>
          <a:stretch/>
        </p:blipFill>
        <p:spPr>
          <a:xfrm>
            <a:off x="6273800" y="1775420"/>
            <a:ext cx="3048000" cy="3302000"/>
          </a:xfrm>
          <a:prstGeom prst="roundRect">
            <a:avLst>
              <a:gd name="adj" fmla="val 1667"/>
            </a:avLst>
          </a:prstGeom>
        </p:spPr>
      </p:pic>
      <p:sp>
        <p:nvSpPr>
          <p:cNvPr id="14" name="Text 10"/>
          <p:cNvSpPr/>
          <p:nvPr/>
        </p:nvSpPr>
        <p:spPr>
          <a:xfrm>
            <a:off x="9474200" y="1775420"/>
            <a:ext cx="1962150" cy="23113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555555"/>
                </a:solidFill>
                <a:latin typeface="Lato" pitchFamily="34" charset="0"/>
                <a:ea typeface="Lato" pitchFamily="34" charset="-122"/>
                <a:cs typeface="Lato" pitchFamily="34" charset="-120"/>
              </a:rPr>
              <a:t>SHIKRA</a:t>
            </a:r>
            <a:endParaRPr lang="en-US" sz="1200" dirty="0"/>
          </a:p>
        </p:txBody>
      </p:sp>
      <p:sp>
        <p:nvSpPr>
          <p:cNvPr id="15" name="Text 11"/>
          <p:cNvSpPr/>
          <p:nvPr/>
        </p:nvSpPr>
        <p:spPr>
          <a:xfrm>
            <a:off x="9474200" y="2057350"/>
            <a:ext cx="1962150" cy="299690"/>
          </a:xfrm>
          <a:prstGeom prst="rect">
            <a:avLst/>
          </a:prstGeom>
          <a:noFill/>
          <a:ln/>
        </p:spPr>
        <p:txBody>
          <a:bodyPr wrap="square" lIns="0" tIns="0" rIns="0" bIns="0" rtlCol="0" anchor="t">
            <a:normAutofit/>
          </a:bodyPr>
          <a:lstStyle/>
          <a:p>
            <a:pPr marL="0" indent="0" algn="l">
              <a:lnSpc>
                <a:spcPts val="2160"/>
              </a:lnSpc>
              <a:buNone/>
            </a:pPr>
            <a:r>
              <a:rPr lang="en-US" sz="1600" b="1" strike="sngStrike" dirty="0">
                <a:solidFill>
                  <a:srgbClr val="C00000"/>
                </a:solidFill>
                <a:latin typeface="Lato" pitchFamily="34" charset="0"/>
                <a:ea typeface="Lato" pitchFamily="34" charset="-122"/>
                <a:cs typeface="Lato" pitchFamily="34" charset="-120"/>
              </a:rPr>
              <a:t>a car</a:t>
            </a:r>
            <a:endParaRPr lang="en-US" sz="1600" dirty="0"/>
          </a:p>
        </p:txBody>
      </p:sp>
      <p:sp>
        <p:nvSpPr>
          <p:cNvPr id="16" name="Text 12"/>
          <p:cNvSpPr/>
          <p:nvPr/>
        </p:nvSpPr>
        <p:spPr>
          <a:xfrm>
            <a:off x="9474200" y="2407841"/>
            <a:ext cx="1962150" cy="299690"/>
          </a:xfrm>
          <a:prstGeom prst="rect">
            <a:avLst/>
          </a:prstGeom>
          <a:noFill/>
          <a:ln/>
        </p:spPr>
        <p:txBody>
          <a:bodyPr wrap="square" lIns="0" tIns="0" rIns="0" bIns="0" rtlCol="0" anchor="t">
            <a:normAutofit/>
          </a:bodyPr>
          <a:lstStyle/>
          <a:p>
            <a:pPr marL="0" indent="0" algn="l">
              <a:lnSpc>
                <a:spcPts val="2160"/>
              </a:lnSpc>
              <a:buNone/>
            </a:pPr>
            <a:r>
              <a:rPr lang="en-US" sz="1600" b="1" strike="sngStrike" dirty="0">
                <a:solidFill>
                  <a:srgbClr val="C00000"/>
                </a:solidFill>
                <a:latin typeface="Lato" pitchFamily="34" charset="0"/>
                <a:ea typeface="Lato" pitchFamily="34" charset="-122"/>
                <a:cs typeface="Lato" pitchFamily="34" charset="-120"/>
              </a:rPr>
              <a:t>people</a:t>
            </a:r>
            <a:endParaRPr lang="en-US" sz="1600" dirty="0"/>
          </a:p>
        </p:txBody>
      </p:sp>
      <p:sp>
        <p:nvSpPr>
          <p:cNvPr id="17" name="Text 13"/>
          <p:cNvSpPr/>
          <p:nvPr/>
        </p:nvSpPr>
        <p:spPr>
          <a:xfrm>
            <a:off x="9474200" y="2758331"/>
            <a:ext cx="1962150" cy="299690"/>
          </a:xfrm>
          <a:prstGeom prst="rect">
            <a:avLst/>
          </a:prstGeom>
          <a:noFill/>
          <a:ln/>
        </p:spPr>
        <p:txBody>
          <a:bodyPr wrap="square" lIns="0" tIns="0" rIns="0" bIns="0" rtlCol="0" anchor="t">
            <a:normAutofit/>
          </a:bodyPr>
          <a:lstStyle/>
          <a:p>
            <a:pPr marL="0" indent="0" algn="l">
              <a:lnSpc>
                <a:spcPts val="2160"/>
              </a:lnSpc>
              <a:buNone/>
            </a:pPr>
            <a:r>
              <a:rPr lang="en-US" sz="1600" b="1" strike="sngStrike" dirty="0">
                <a:solidFill>
                  <a:srgbClr val="C00000"/>
                </a:solidFill>
                <a:latin typeface="Lato" pitchFamily="34" charset="0"/>
                <a:ea typeface="Lato" pitchFamily="34" charset="-122"/>
                <a:cs typeface="Lato" pitchFamily="34" charset="-120"/>
              </a:rPr>
              <a:t>time "10:45"</a:t>
            </a:r>
            <a:endParaRPr lang="en-US" sz="1600" dirty="0"/>
          </a:p>
        </p:txBody>
      </p:sp>
      <p:sp>
        <p:nvSpPr>
          <p:cNvPr id="18" name="Text 14"/>
          <p:cNvSpPr/>
          <p:nvPr/>
        </p:nvSpPr>
        <p:spPr>
          <a:xfrm>
            <a:off x="9474200" y="3108821"/>
            <a:ext cx="1962150" cy="23113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555555"/>
                </a:solidFill>
                <a:latin typeface="Lato" pitchFamily="34" charset="0"/>
                <a:ea typeface="Lato" pitchFamily="34" charset="-122"/>
                <a:cs typeface="Lato" pitchFamily="34" charset="-120"/>
              </a:rPr>
              <a:t>EAZY</a:t>
            </a:r>
            <a:endParaRPr lang="en-US" sz="1200" dirty="0"/>
          </a:p>
        </p:txBody>
      </p:sp>
      <p:sp>
        <p:nvSpPr>
          <p:cNvPr id="19" name="Text 15"/>
          <p:cNvSpPr/>
          <p:nvPr/>
        </p:nvSpPr>
        <p:spPr>
          <a:xfrm>
            <a:off x="9474200" y="3390751"/>
            <a:ext cx="1962150" cy="29969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2F5597"/>
                </a:solidFill>
                <a:latin typeface="Lato" pitchFamily="34" charset="0"/>
                <a:ea typeface="Lato" pitchFamily="34" charset="-122"/>
                <a:cs typeface="Lato" pitchFamily="34" charset="-120"/>
              </a:rPr>
              <a:t>a clock tower</a:t>
            </a:r>
            <a:endParaRPr lang="en-US" sz="1600" dirty="0"/>
          </a:p>
        </p:txBody>
      </p:sp>
      <p:sp>
        <p:nvSpPr>
          <p:cNvPr id="20" name="Text 16"/>
          <p:cNvSpPr/>
          <p:nvPr/>
        </p:nvSpPr>
        <p:spPr>
          <a:xfrm>
            <a:off x="340360" y="5483820"/>
            <a:ext cx="11511280" cy="368300"/>
          </a:xfrm>
          <a:prstGeom prst="rect">
            <a:avLst/>
          </a:prstGeom>
          <a:noFill/>
          <a:ln/>
        </p:spPr>
        <p:txBody>
          <a:bodyPr wrap="square" lIns="0" tIns="0" rIns="0" bIns="0" rtlCol="0" anchor="t">
            <a:normAutofit/>
          </a:bodyPr>
          <a:lstStyle/>
          <a:p>
            <a:pPr marL="0" indent="0" algn="ctr">
              <a:lnSpc>
                <a:spcPts val="2700"/>
              </a:lnSpc>
              <a:buNone/>
            </a:pPr>
            <a:r>
              <a:rPr lang="en-US" sz="2000" u="sng" dirty="0">
                <a:solidFill>
                  <a:srgbClr val="C00000"/>
                </a:solidFill>
                <a:latin typeface="Lato" pitchFamily="34" charset="0"/>
                <a:ea typeface="Lato" pitchFamily="34" charset="-122"/>
                <a:cs typeface="Lato" pitchFamily="34" charset="-120"/>
              </a:rPr>
              <a:t>Even a made-up clock reading disappears</a:t>
            </a:r>
            <a:endParaRPr lang="en-US" sz="2000" dirty="0"/>
          </a:p>
        </p:txBody>
      </p:sp>
      <p:sp>
        <p:nvSpPr>
          <p:cNvPr id="21" name="Text 17"/>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22" name="Text 18"/>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Backup 7</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Results: Hallucination Detection</a:t>
            </a:r>
            <a:endParaRPr lang="en-US" sz="3200" dirty="0"/>
          </a:p>
        </p:txBody>
      </p:sp>
      <p:sp>
        <p:nvSpPr>
          <p:cNvPr id="4" name="Text 2"/>
          <p:cNvSpPr/>
          <p:nvPr/>
        </p:nvSpPr>
        <p:spPr>
          <a:xfrm>
            <a:off x="508000" y="1026120"/>
            <a:ext cx="11511280" cy="368300"/>
          </a:xfrm>
          <a:prstGeom prst="rect">
            <a:avLst/>
          </a:prstGeom>
          <a:noFill/>
          <a:ln/>
        </p:spPr>
        <p:txBody>
          <a:bodyPr wrap="square" lIns="0" tIns="0" rIns="0" bIns="0" rtlCol="0" anchor="t">
            <a:normAutofit/>
          </a:bodyPr>
          <a:lstStyle/>
          <a:p>
            <a:pPr marL="0" indent="0" algn="l">
              <a:lnSpc>
                <a:spcPts val="2700"/>
              </a:lnSpc>
              <a:buNone/>
            </a:pPr>
            <a:r>
              <a:rPr lang="en-US" sz="2000" b="1" dirty="0">
                <a:solidFill>
                  <a:srgbClr val="000000"/>
                </a:solidFill>
                <a:latin typeface="Lato" pitchFamily="34" charset="0"/>
                <a:ea typeface="Lato" pitchFamily="34" charset="-122"/>
                <a:cs typeface="Lato" pitchFamily="34" charset="-120"/>
              </a:rPr>
              <a:t>Detection:</a:t>
            </a:r>
            <a:r>
              <a:rPr lang="en-US" sz="2000" dirty="0">
                <a:solidFill>
                  <a:srgbClr val="000000"/>
                </a:solidFill>
                <a:latin typeface="Lato" pitchFamily="34" charset="0"/>
                <a:ea typeface="Lato" pitchFamily="34" charset="-122"/>
                <a:cs typeface="Lato" pitchFamily="34" charset="-120"/>
              </a:rPr>
              <a:t> EAZY labels each mentioned object as </a:t>
            </a:r>
            <a:r>
              <a:rPr lang="en-US" sz="2000" u="sng" dirty="0">
                <a:solidFill>
                  <a:srgbClr val="C00000"/>
                </a:solidFill>
                <a:latin typeface="Lato" pitchFamily="34" charset="0"/>
                <a:ea typeface="Lato" pitchFamily="34" charset="-122"/>
                <a:cs typeface="Lato" pitchFamily="34" charset="-120"/>
              </a:rPr>
              <a:t>real or hallucinated</a:t>
            </a:r>
            <a:r>
              <a:rPr lang="en-US" sz="2000" dirty="0">
                <a:solidFill>
                  <a:srgbClr val="000000"/>
                </a:solidFill>
                <a:latin typeface="Lato" pitchFamily="34" charset="0"/>
                <a:ea typeface="Lato" pitchFamily="34" charset="-122"/>
                <a:cs typeface="Lato" pitchFamily="34" charset="-120"/>
              </a:rPr>
              <a:t> (Hall-COCO, LLaVA-1.5)</a:t>
            </a:r>
            <a:endParaRPr lang="en-US" sz="2000" dirty="0"/>
          </a:p>
        </p:txBody>
      </p:sp>
      <p:sp>
        <p:nvSpPr>
          <p:cNvPr id="5" name="Shape 3"/>
          <p:cNvSpPr/>
          <p:nvPr/>
        </p:nvSpPr>
        <p:spPr>
          <a:xfrm>
            <a:off x="1346200" y="1572220"/>
            <a:ext cx="9499600" cy="3849340"/>
          </a:xfrm>
          <a:prstGeom prst="roundRect">
            <a:avLst>
              <a:gd name="adj" fmla="val 3959"/>
            </a:avLst>
          </a:prstGeom>
          <a:solidFill>
            <a:srgbClr val="DCE6F2"/>
          </a:solidFill>
          <a:ln/>
        </p:spPr>
        <p:txBody>
          <a:bodyPr/>
          <a:lstStyle/>
          <a:p>
            <a:endParaRPr lang="en-US"/>
          </a:p>
        </p:txBody>
      </p:sp>
      <p:pic>
        <p:nvPicPr>
          <p:cNvPr id="6" name="Image 0" descr="Paper Figure 7: ROC and precision-recall curves; EAZY (blue) above internal confidence (red) and uncertainty (gray)"/>
          <p:cNvPicPr>
            <a:picLocks noChangeAspect="1"/>
          </p:cNvPicPr>
          <p:nvPr/>
        </p:nvPicPr>
        <p:blipFill>
          <a:blip r:embed="rId3"/>
          <a:srcRect t="-59" b="-59"/>
          <a:stretch/>
        </p:blipFill>
        <p:spPr>
          <a:xfrm>
            <a:off x="1651000" y="1775420"/>
            <a:ext cx="8890000" cy="3092450"/>
          </a:xfrm>
          <a:prstGeom prst="rect">
            <a:avLst/>
          </a:prstGeom>
        </p:spPr>
      </p:pic>
      <p:sp>
        <p:nvSpPr>
          <p:cNvPr id="7" name="Text 4"/>
          <p:cNvSpPr/>
          <p:nvPr/>
        </p:nvSpPr>
        <p:spPr>
          <a:xfrm>
            <a:off x="3114794" y="4944070"/>
            <a:ext cx="5962412" cy="299690"/>
          </a:xfrm>
          <a:prstGeom prst="rect">
            <a:avLst/>
          </a:prstGeom>
          <a:noFill/>
          <a:ln/>
        </p:spPr>
        <p:txBody>
          <a:bodyPr wrap="square" lIns="0" tIns="0" rIns="0" bIns="0" rtlCol="0" anchor="t">
            <a:normAutofit/>
          </a:bodyPr>
          <a:lstStyle/>
          <a:p>
            <a:pPr marL="0" indent="0" algn="ctr">
              <a:lnSpc>
                <a:spcPts val="2160"/>
              </a:lnSpc>
              <a:buNone/>
            </a:pPr>
            <a:r>
              <a:rPr lang="en-US" sz="1600" dirty="0">
                <a:solidFill>
                  <a:srgbClr val="000000"/>
                </a:solidFill>
                <a:latin typeface="Lato" pitchFamily="34" charset="0"/>
                <a:ea typeface="Lato" pitchFamily="34" charset="-122"/>
                <a:cs typeface="Lato" pitchFamily="34" charset="-120"/>
              </a:rPr>
              <a:t>EAZY (blue), internal confidence (red), uncertainty (gray)</a:t>
            </a:r>
            <a:endParaRPr lang="en-US" sz="1600" dirty="0"/>
          </a:p>
        </p:txBody>
      </p:sp>
      <p:sp>
        <p:nvSpPr>
          <p:cNvPr id="8" name="Text 5"/>
          <p:cNvSpPr/>
          <p:nvPr/>
        </p:nvSpPr>
        <p:spPr>
          <a:xfrm>
            <a:off x="340360" y="5624761"/>
            <a:ext cx="11511280" cy="368300"/>
          </a:xfrm>
          <a:prstGeom prst="rect">
            <a:avLst/>
          </a:prstGeom>
          <a:noFill/>
          <a:ln/>
        </p:spPr>
        <p:txBody>
          <a:bodyPr wrap="square" lIns="0" tIns="0" rIns="0" bIns="0" rtlCol="0" anchor="t">
            <a:normAutofit/>
          </a:bodyPr>
          <a:lstStyle/>
          <a:p>
            <a:pPr marL="0" indent="0" algn="ctr">
              <a:lnSpc>
                <a:spcPts val="2700"/>
              </a:lnSpc>
              <a:buNone/>
            </a:pPr>
            <a:r>
              <a:rPr lang="en-US" sz="2000" u="sng" dirty="0">
                <a:solidFill>
                  <a:srgbClr val="C00000"/>
                </a:solidFill>
                <a:latin typeface="Lato" pitchFamily="34" charset="0"/>
                <a:ea typeface="Lato" pitchFamily="34" charset="-122"/>
                <a:cs typeface="Lato" pitchFamily="34" charset="-120"/>
              </a:rPr>
              <a:t>EAZY reaches 78.8% accuracy, 16 points above the best training-free baseline</a:t>
            </a:r>
            <a:endParaRPr lang="en-US" sz="2000" dirty="0"/>
          </a:p>
        </p:txBody>
      </p:sp>
      <p:sp>
        <p:nvSpPr>
          <p:cNvPr id="9" name="Text 6"/>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10" name="Text 7"/>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Backup 8</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Results: Hallucination Mitigation</a:t>
            </a:r>
            <a:endParaRPr lang="en-US" sz="3200" dirty="0"/>
          </a:p>
        </p:txBody>
      </p:sp>
      <p:sp>
        <p:nvSpPr>
          <p:cNvPr id="4" name="Text 2"/>
          <p:cNvSpPr/>
          <p:nvPr/>
        </p:nvSpPr>
        <p:spPr>
          <a:xfrm>
            <a:off x="508000" y="1026120"/>
            <a:ext cx="11511280" cy="368300"/>
          </a:xfrm>
          <a:prstGeom prst="rect">
            <a:avLst/>
          </a:prstGeom>
          <a:noFill/>
          <a:ln/>
        </p:spPr>
        <p:txBody>
          <a:bodyPr wrap="square" lIns="0" tIns="0" rIns="0" bIns="0" rtlCol="0" anchor="t">
            <a:normAutofit/>
          </a:bodyPr>
          <a:lstStyle/>
          <a:p>
            <a:pPr marL="0" indent="0" algn="l">
              <a:lnSpc>
                <a:spcPts val="2700"/>
              </a:lnSpc>
              <a:buNone/>
            </a:pPr>
            <a:r>
              <a:rPr lang="en-US" sz="2000" b="1" dirty="0">
                <a:solidFill>
                  <a:srgbClr val="000000"/>
                </a:solidFill>
                <a:latin typeface="Lato" pitchFamily="34" charset="0"/>
                <a:ea typeface="Lato" pitchFamily="34" charset="-122"/>
                <a:cs typeface="Lato" pitchFamily="34" charset="-120"/>
              </a:rPr>
              <a:t>Mitigation:</a:t>
            </a:r>
            <a:r>
              <a:rPr lang="en-US" sz="2000" dirty="0">
                <a:solidFill>
                  <a:srgbClr val="000000"/>
                </a:solidFill>
                <a:latin typeface="Lato" pitchFamily="34" charset="0"/>
                <a:ea typeface="Lato" pitchFamily="34" charset="-122"/>
                <a:cs typeface="Lato" pitchFamily="34" charset="-120"/>
              </a:rPr>
              <a:t> we report CHAIR on 500 MSCOCO images, where </a:t>
            </a:r>
            <a:r>
              <a:rPr lang="en-US" sz="2000" u="sng" dirty="0">
                <a:solidFill>
                  <a:srgbClr val="C00000"/>
                </a:solidFill>
                <a:latin typeface="Lato" pitchFamily="34" charset="0"/>
                <a:ea typeface="Lato" pitchFamily="34" charset="-122"/>
                <a:cs typeface="Lato" pitchFamily="34" charset="-120"/>
              </a:rPr>
              <a:t>lower is better</a:t>
            </a:r>
            <a:endParaRPr lang="en-US" sz="2000" dirty="0"/>
          </a:p>
        </p:txBody>
      </p:sp>
      <p:sp>
        <p:nvSpPr>
          <p:cNvPr id="5" name="Text 3"/>
          <p:cNvSpPr/>
          <p:nvPr/>
        </p:nvSpPr>
        <p:spPr>
          <a:xfrm>
            <a:off x="452120" y="1572220"/>
            <a:ext cx="3837076" cy="299690"/>
          </a:xfrm>
          <a:prstGeom prst="rect">
            <a:avLst/>
          </a:prstGeom>
          <a:noFill/>
          <a:ln/>
        </p:spPr>
        <p:txBody>
          <a:bodyPr wrap="square" lIns="0" tIns="0" rIns="0" bIns="0" rtlCol="0" anchor="t">
            <a:normAutofit/>
          </a:bodyPr>
          <a:lstStyle/>
          <a:p>
            <a:pPr marL="0" indent="0" algn="ctr">
              <a:lnSpc>
                <a:spcPts val="2160"/>
              </a:lnSpc>
              <a:buNone/>
            </a:pPr>
            <a:r>
              <a:rPr lang="en-US" sz="1600" b="1" dirty="0">
                <a:solidFill>
                  <a:srgbClr val="555555"/>
                </a:solidFill>
                <a:latin typeface="Lato" pitchFamily="34" charset="0"/>
                <a:ea typeface="Lato" pitchFamily="34" charset="-122"/>
                <a:cs typeface="Lato" pitchFamily="34" charset="-120"/>
              </a:rPr>
              <a:t>LLaVA-1.5</a:t>
            </a:r>
            <a:endParaRPr lang="en-US" sz="1600" dirty="0"/>
          </a:p>
        </p:txBody>
      </p:sp>
      <p:sp>
        <p:nvSpPr>
          <p:cNvPr id="6" name="Text 4"/>
          <p:cNvSpPr/>
          <p:nvPr/>
        </p:nvSpPr>
        <p:spPr>
          <a:xfrm>
            <a:off x="4177436" y="1572220"/>
            <a:ext cx="3837127" cy="299690"/>
          </a:xfrm>
          <a:prstGeom prst="rect">
            <a:avLst/>
          </a:prstGeom>
          <a:noFill/>
          <a:ln/>
        </p:spPr>
        <p:txBody>
          <a:bodyPr wrap="square" lIns="0" tIns="0" rIns="0" bIns="0" rtlCol="0" anchor="t">
            <a:normAutofit/>
          </a:bodyPr>
          <a:lstStyle/>
          <a:p>
            <a:pPr marL="0" indent="0" algn="ctr">
              <a:lnSpc>
                <a:spcPts val="2160"/>
              </a:lnSpc>
              <a:buNone/>
            </a:pPr>
            <a:r>
              <a:rPr lang="en-US" sz="1600" b="1" dirty="0">
                <a:solidFill>
                  <a:srgbClr val="555555"/>
                </a:solidFill>
                <a:latin typeface="Lato" pitchFamily="34" charset="0"/>
                <a:ea typeface="Lato" pitchFamily="34" charset="-122"/>
                <a:cs typeface="Lato" pitchFamily="34" charset="-120"/>
              </a:rPr>
              <a:t>Shikra</a:t>
            </a:r>
            <a:endParaRPr lang="en-US" sz="1600" dirty="0"/>
          </a:p>
        </p:txBody>
      </p:sp>
      <p:sp>
        <p:nvSpPr>
          <p:cNvPr id="7" name="Text 5"/>
          <p:cNvSpPr/>
          <p:nvPr/>
        </p:nvSpPr>
        <p:spPr>
          <a:xfrm>
            <a:off x="7902803" y="1572220"/>
            <a:ext cx="3837076" cy="299690"/>
          </a:xfrm>
          <a:prstGeom prst="rect">
            <a:avLst/>
          </a:prstGeom>
          <a:noFill/>
          <a:ln/>
        </p:spPr>
        <p:txBody>
          <a:bodyPr wrap="square" lIns="0" tIns="0" rIns="0" bIns="0" rtlCol="0" anchor="t">
            <a:normAutofit/>
          </a:bodyPr>
          <a:lstStyle/>
          <a:p>
            <a:pPr marL="0" indent="0" algn="ctr">
              <a:lnSpc>
                <a:spcPts val="2160"/>
              </a:lnSpc>
              <a:buNone/>
            </a:pPr>
            <a:r>
              <a:rPr lang="en-US" sz="1600" b="1" dirty="0">
                <a:solidFill>
                  <a:srgbClr val="555555"/>
                </a:solidFill>
                <a:latin typeface="Lato" pitchFamily="34" charset="0"/>
                <a:ea typeface="Lato" pitchFamily="34" charset="-122"/>
                <a:cs typeface="Lato" pitchFamily="34" charset="-120"/>
              </a:rPr>
              <a:t>LLaVA-Next</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20700" y="1859211"/>
          <a:ext cx="11163300" cy="3433366"/>
        </p:xfrm>
        <a:graphic>
          <a:graphicData uri="http://schemas.openxmlformats.org/drawingml/2006/table">
            <a:tbl>
              <a:tblPr/>
              <a:tblGrid>
                <a:gridCol w="2455926">
                  <a:extLst>
                    <a:ext uri="{9D8B030D-6E8A-4147-A177-3AD203B41FA5}">
                      <a16:colId xmlns:a16="http://schemas.microsoft.com/office/drawing/2014/main" val="20000"/>
                    </a:ext>
                  </a:extLst>
                </a:gridCol>
                <a:gridCol w="1451229">
                  <a:extLst>
                    <a:ext uri="{9D8B030D-6E8A-4147-A177-3AD203B41FA5}">
                      <a16:colId xmlns:a16="http://schemas.microsoft.com/office/drawing/2014/main" val="20001"/>
                    </a:ext>
                  </a:extLst>
                </a:gridCol>
                <a:gridCol w="1451229">
                  <a:extLst>
                    <a:ext uri="{9D8B030D-6E8A-4147-A177-3AD203B41FA5}">
                      <a16:colId xmlns:a16="http://schemas.microsoft.com/office/drawing/2014/main" val="20002"/>
                    </a:ext>
                  </a:extLst>
                </a:gridCol>
                <a:gridCol w="1451229">
                  <a:extLst>
                    <a:ext uri="{9D8B030D-6E8A-4147-A177-3AD203B41FA5}">
                      <a16:colId xmlns:a16="http://schemas.microsoft.com/office/drawing/2014/main" val="20003"/>
                    </a:ext>
                  </a:extLst>
                </a:gridCol>
                <a:gridCol w="1451229">
                  <a:extLst>
                    <a:ext uri="{9D8B030D-6E8A-4147-A177-3AD203B41FA5}">
                      <a16:colId xmlns:a16="http://schemas.microsoft.com/office/drawing/2014/main" val="20004"/>
                    </a:ext>
                  </a:extLst>
                </a:gridCol>
                <a:gridCol w="1451229">
                  <a:extLst>
                    <a:ext uri="{9D8B030D-6E8A-4147-A177-3AD203B41FA5}">
                      <a16:colId xmlns:a16="http://schemas.microsoft.com/office/drawing/2014/main" val="20005"/>
                    </a:ext>
                  </a:extLst>
                </a:gridCol>
                <a:gridCol w="1451229">
                  <a:extLst>
                    <a:ext uri="{9D8B030D-6E8A-4147-A177-3AD203B41FA5}">
                      <a16:colId xmlns:a16="http://schemas.microsoft.com/office/drawing/2014/main" val="20006"/>
                    </a:ext>
                  </a:extLst>
                </a:gridCol>
              </a:tblGrid>
              <a:tr h="429171">
                <a:tc>
                  <a:txBody>
                    <a:bodyPr/>
                    <a:lstStyle/>
                    <a:p>
                      <a:pPr marL="0" indent="0">
                        <a:lnSpc>
                          <a:spcPts val="2240"/>
                        </a:lnSpc>
                        <a:buNone/>
                      </a:pPr>
                      <a:r>
                        <a:rPr lang="en-US" sz="1600" b="1" dirty="0">
                          <a:solidFill>
                            <a:srgbClr val="000000"/>
                          </a:solidFill>
                          <a:latin typeface="Lato" pitchFamily="34" charset="0"/>
                          <a:ea typeface="Lato" pitchFamily="34" charset="-122"/>
                          <a:cs typeface="Lato" pitchFamily="34" charset="-120"/>
                        </a:rPr>
                        <a:t>Method</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B0B8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8C1"/>
                      </a:solidFill>
                      <a:prstDash val="solid"/>
                      <a:round/>
                      <a:headEnd type="none" w="med" len="med"/>
                      <a:tailEnd type="none" w="med" len="med"/>
                    </a:lnB>
                    <a:solidFill>
                      <a:srgbClr val="DCE6F2"/>
                    </a:solidFill>
                  </a:tcPr>
                </a:tc>
                <a:tc>
                  <a:txBody>
                    <a:bodyPr/>
                    <a:lstStyle/>
                    <a:p>
                      <a:pPr marL="0" indent="0" algn="ctr">
                        <a:lnSpc>
                          <a:spcPts val="2240"/>
                        </a:lnSpc>
                        <a:buNone/>
                      </a:pPr>
                      <a:r>
                        <a:rPr lang="en-US" sz="1600" b="1" dirty="0">
                          <a:solidFill>
                            <a:srgbClr val="000000"/>
                          </a:solidFill>
                          <a:latin typeface="Lato" pitchFamily="34" charset="0"/>
                          <a:ea typeface="Lato" pitchFamily="34" charset="-122"/>
                          <a:cs typeface="Lato" pitchFamily="34" charset="-120"/>
                        </a:rPr>
                        <a:t>CHAIR_S ↓</a:t>
                      </a:r>
                      <a:endParaRPr lang="en-US" sz="1600" dirty="0">
                        <a:latin typeface="Lato" charset="0"/>
                        <a:ea typeface="Lato" charset="0"/>
                        <a:cs typeface="Lato" charset="0"/>
                      </a:endParaRPr>
                    </a:p>
                  </a:txBody>
                  <a:tcPr marL="71120" marR="71120" marT="71120" marB="71120">
                    <a:lnL w="12700" cap="flat" cmpd="sng" algn="ctr">
                      <a:solidFill>
                        <a:srgbClr val="B0B8C1"/>
                      </a:solidFill>
                      <a:prstDash val="solid"/>
                      <a:round/>
                      <a:headEnd type="none" w="med" len="med"/>
                      <a:tailEnd type="none" w="med" len="med"/>
                    </a:lnL>
                    <a:lnR w="12700" cap="flat" cmpd="sng" algn="ctr">
                      <a:solidFill>
                        <a:srgbClr val="B0B8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8C1"/>
                      </a:solidFill>
                      <a:prstDash val="solid"/>
                      <a:round/>
                      <a:headEnd type="none" w="med" len="med"/>
                      <a:tailEnd type="none" w="med" len="med"/>
                    </a:lnB>
                    <a:solidFill>
                      <a:srgbClr val="DCE6F2"/>
                    </a:solidFill>
                  </a:tcPr>
                </a:tc>
                <a:tc>
                  <a:txBody>
                    <a:bodyPr/>
                    <a:lstStyle/>
                    <a:p>
                      <a:pPr marL="0" indent="0" algn="ctr">
                        <a:lnSpc>
                          <a:spcPts val="2240"/>
                        </a:lnSpc>
                        <a:buNone/>
                      </a:pPr>
                      <a:r>
                        <a:rPr lang="en-US" sz="1600" b="1" dirty="0">
                          <a:solidFill>
                            <a:srgbClr val="000000"/>
                          </a:solidFill>
                          <a:latin typeface="Lato" pitchFamily="34" charset="0"/>
                          <a:ea typeface="Lato" pitchFamily="34" charset="-122"/>
                          <a:cs typeface="Lato" pitchFamily="34" charset="-120"/>
                        </a:rPr>
                        <a:t>CHAIR_I ↓</a:t>
                      </a:r>
                      <a:endParaRPr lang="en-US" sz="1600" dirty="0">
                        <a:latin typeface="Lato" charset="0"/>
                        <a:ea typeface="Lato" charset="0"/>
                        <a:cs typeface="Lato" charset="0"/>
                      </a:endParaRPr>
                    </a:p>
                  </a:txBody>
                  <a:tcPr marL="71120" marR="71120" marT="71120" marB="71120">
                    <a:lnL w="12700" cap="flat" cmpd="sng" algn="ctr">
                      <a:solidFill>
                        <a:srgbClr val="B0B8C1"/>
                      </a:solidFill>
                      <a:prstDash val="solid"/>
                      <a:round/>
                      <a:headEnd type="none" w="med" len="med"/>
                      <a:tailEnd type="none" w="med" len="med"/>
                    </a:lnL>
                    <a:lnR w="12700" cap="flat" cmpd="sng" algn="ctr">
                      <a:solidFill>
                        <a:srgbClr val="B0B8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8C1"/>
                      </a:solidFill>
                      <a:prstDash val="solid"/>
                      <a:round/>
                      <a:headEnd type="none" w="med" len="med"/>
                      <a:tailEnd type="none" w="med" len="med"/>
                    </a:lnB>
                    <a:solidFill>
                      <a:srgbClr val="DCE6F2"/>
                    </a:solidFill>
                  </a:tcPr>
                </a:tc>
                <a:tc>
                  <a:txBody>
                    <a:bodyPr/>
                    <a:lstStyle/>
                    <a:p>
                      <a:pPr marL="0" indent="0" algn="ctr">
                        <a:lnSpc>
                          <a:spcPts val="2240"/>
                        </a:lnSpc>
                        <a:buNone/>
                      </a:pPr>
                      <a:r>
                        <a:rPr lang="en-US" sz="1600" b="1" dirty="0">
                          <a:solidFill>
                            <a:srgbClr val="000000"/>
                          </a:solidFill>
                          <a:latin typeface="Lato" pitchFamily="34" charset="0"/>
                          <a:ea typeface="Lato" pitchFamily="34" charset="-122"/>
                          <a:cs typeface="Lato" pitchFamily="34" charset="-120"/>
                        </a:rPr>
                        <a:t>CHAIR_S ↓</a:t>
                      </a:r>
                      <a:endParaRPr lang="en-US" sz="1600" dirty="0">
                        <a:latin typeface="Lato" charset="0"/>
                        <a:ea typeface="Lato" charset="0"/>
                        <a:cs typeface="Lato" charset="0"/>
                      </a:endParaRPr>
                    </a:p>
                  </a:txBody>
                  <a:tcPr marL="71120" marR="71120" marT="71120" marB="71120">
                    <a:lnL w="12700" cap="flat" cmpd="sng" algn="ctr">
                      <a:solidFill>
                        <a:srgbClr val="B0B8C1"/>
                      </a:solidFill>
                      <a:prstDash val="solid"/>
                      <a:round/>
                      <a:headEnd type="none" w="med" len="med"/>
                      <a:tailEnd type="none" w="med" len="med"/>
                    </a:lnL>
                    <a:lnR w="12700" cap="flat" cmpd="sng" algn="ctr">
                      <a:solidFill>
                        <a:srgbClr val="B0B8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8C1"/>
                      </a:solidFill>
                      <a:prstDash val="solid"/>
                      <a:round/>
                      <a:headEnd type="none" w="med" len="med"/>
                      <a:tailEnd type="none" w="med" len="med"/>
                    </a:lnB>
                    <a:solidFill>
                      <a:srgbClr val="DCE6F2"/>
                    </a:solidFill>
                  </a:tcPr>
                </a:tc>
                <a:tc>
                  <a:txBody>
                    <a:bodyPr/>
                    <a:lstStyle/>
                    <a:p>
                      <a:pPr marL="0" indent="0" algn="ctr">
                        <a:lnSpc>
                          <a:spcPts val="2240"/>
                        </a:lnSpc>
                        <a:buNone/>
                      </a:pPr>
                      <a:r>
                        <a:rPr lang="en-US" sz="1600" b="1" dirty="0">
                          <a:solidFill>
                            <a:srgbClr val="000000"/>
                          </a:solidFill>
                          <a:latin typeface="Lato" pitchFamily="34" charset="0"/>
                          <a:ea typeface="Lato" pitchFamily="34" charset="-122"/>
                          <a:cs typeface="Lato" pitchFamily="34" charset="-120"/>
                        </a:rPr>
                        <a:t>CHAIR_I ↓</a:t>
                      </a:r>
                      <a:endParaRPr lang="en-US" sz="1600" dirty="0">
                        <a:latin typeface="Lato" charset="0"/>
                        <a:ea typeface="Lato" charset="0"/>
                        <a:cs typeface="Lato" charset="0"/>
                      </a:endParaRPr>
                    </a:p>
                  </a:txBody>
                  <a:tcPr marL="71120" marR="71120" marT="71120" marB="71120">
                    <a:lnL w="12700" cap="flat" cmpd="sng" algn="ctr">
                      <a:solidFill>
                        <a:srgbClr val="B0B8C1"/>
                      </a:solidFill>
                      <a:prstDash val="solid"/>
                      <a:round/>
                      <a:headEnd type="none" w="med" len="med"/>
                      <a:tailEnd type="none" w="med" len="med"/>
                    </a:lnL>
                    <a:lnR w="12700" cap="flat" cmpd="sng" algn="ctr">
                      <a:solidFill>
                        <a:srgbClr val="B0B8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8C1"/>
                      </a:solidFill>
                      <a:prstDash val="solid"/>
                      <a:round/>
                      <a:headEnd type="none" w="med" len="med"/>
                      <a:tailEnd type="none" w="med" len="med"/>
                    </a:lnB>
                    <a:solidFill>
                      <a:srgbClr val="DCE6F2"/>
                    </a:solidFill>
                  </a:tcPr>
                </a:tc>
                <a:tc>
                  <a:txBody>
                    <a:bodyPr/>
                    <a:lstStyle/>
                    <a:p>
                      <a:pPr marL="0" indent="0" algn="ctr">
                        <a:lnSpc>
                          <a:spcPts val="2240"/>
                        </a:lnSpc>
                        <a:buNone/>
                      </a:pPr>
                      <a:r>
                        <a:rPr lang="en-US" sz="1600" b="1" dirty="0">
                          <a:solidFill>
                            <a:srgbClr val="000000"/>
                          </a:solidFill>
                          <a:latin typeface="Lato" pitchFamily="34" charset="0"/>
                          <a:ea typeface="Lato" pitchFamily="34" charset="-122"/>
                          <a:cs typeface="Lato" pitchFamily="34" charset="-120"/>
                        </a:rPr>
                        <a:t>CHAIR_S ↓</a:t>
                      </a:r>
                      <a:endParaRPr lang="en-US" sz="1600" dirty="0">
                        <a:latin typeface="Lato" charset="0"/>
                        <a:ea typeface="Lato" charset="0"/>
                        <a:cs typeface="Lato" charset="0"/>
                      </a:endParaRPr>
                    </a:p>
                  </a:txBody>
                  <a:tcPr marL="71120" marR="71120" marT="71120" marB="71120">
                    <a:lnL w="12700" cap="flat" cmpd="sng" algn="ctr">
                      <a:solidFill>
                        <a:srgbClr val="B0B8C1"/>
                      </a:solidFill>
                      <a:prstDash val="solid"/>
                      <a:round/>
                      <a:headEnd type="none" w="med" len="med"/>
                      <a:tailEnd type="none" w="med" len="med"/>
                    </a:lnL>
                    <a:lnR w="12700" cap="flat" cmpd="sng" algn="ctr">
                      <a:solidFill>
                        <a:srgbClr val="B0B8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8C1"/>
                      </a:solidFill>
                      <a:prstDash val="solid"/>
                      <a:round/>
                      <a:headEnd type="none" w="med" len="med"/>
                      <a:tailEnd type="none" w="med" len="med"/>
                    </a:lnB>
                    <a:solidFill>
                      <a:srgbClr val="DCE6F2"/>
                    </a:solidFill>
                  </a:tcPr>
                </a:tc>
                <a:tc>
                  <a:txBody>
                    <a:bodyPr/>
                    <a:lstStyle/>
                    <a:p>
                      <a:pPr marL="0" indent="0" algn="ctr">
                        <a:lnSpc>
                          <a:spcPts val="2240"/>
                        </a:lnSpc>
                        <a:buNone/>
                      </a:pPr>
                      <a:r>
                        <a:rPr lang="en-US" sz="1600" b="1" dirty="0">
                          <a:solidFill>
                            <a:srgbClr val="000000"/>
                          </a:solidFill>
                          <a:latin typeface="Lato" pitchFamily="34" charset="0"/>
                          <a:ea typeface="Lato" pitchFamily="34" charset="-122"/>
                          <a:cs typeface="Lato" pitchFamily="34" charset="-120"/>
                        </a:rPr>
                        <a:t>CHAIR_I ↓</a:t>
                      </a:r>
                      <a:endParaRPr lang="en-US" sz="1600" dirty="0">
                        <a:latin typeface="Lato" charset="0"/>
                        <a:ea typeface="Lato" charset="0"/>
                        <a:cs typeface="Lato" charset="0"/>
                      </a:endParaRPr>
                    </a:p>
                  </a:txBody>
                  <a:tcPr marL="71120" marR="71120" marT="71120" marB="71120">
                    <a:lnL w="12700" cap="flat" cmpd="sng" algn="ctr">
                      <a:solidFill>
                        <a:srgbClr val="B0B8C1"/>
                      </a:solidFill>
                      <a:prstDash val="solid"/>
                      <a:round/>
                      <a:headEnd type="none" w="med" len="med"/>
                      <a:tailEnd type="none" w="med" len="med"/>
                    </a:lnL>
                    <a:lnR w="12700" cap="flat" cmpd="sng" algn="ctr">
                      <a:solidFill>
                        <a:srgbClr val="B0B8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8C1"/>
                      </a:solidFill>
                      <a:prstDash val="solid"/>
                      <a:round/>
                      <a:headEnd type="none" w="med" len="med"/>
                      <a:tailEnd type="none" w="med" len="med"/>
                    </a:lnB>
                    <a:solidFill>
                      <a:srgbClr val="DCE6F2"/>
                    </a:solidFill>
                  </a:tcPr>
                </a:tc>
                <a:extLst>
                  <a:ext uri="{0D108BD9-81ED-4DB2-BD59-A6C34878D82A}">
                    <a16:rowId xmlns:a16="http://schemas.microsoft.com/office/drawing/2014/main" val="10000"/>
                  </a:ext>
                </a:extLst>
              </a:tr>
              <a:tr h="429171">
                <a:tc>
                  <a:txBody>
                    <a:bodyPr/>
                    <a:lstStyle/>
                    <a:p>
                      <a:pPr marL="0" indent="0">
                        <a:lnSpc>
                          <a:spcPts val="2240"/>
                        </a:lnSpc>
                        <a:buNone/>
                      </a:pPr>
                      <a:r>
                        <a:rPr lang="en-US" sz="1600" dirty="0">
                          <a:solidFill>
                            <a:srgbClr val="000000"/>
                          </a:solidFill>
                          <a:latin typeface="Lato" pitchFamily="34" charset="0"/>
                          <a:ea typeface="Lato" pitchFamily="34" charset="-122"/>
                          <a:cs typeface="Lato" pitchFamily="34" charset="-120"/>
                        </a:rPr>
                        <a:t>Greedy</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8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2240"/>
                        </a:lnSpc>
                        <a:buNone/>
                      </a:pPr>
                      <a:r>
                        <a:rPr lang="en-US" sz="1600" dirty="0">
                          <a:solidFill>
                            <a:srgbClr val="000000"/>
                          </a:solidFill>
                          <a:latin typeface="Lato" pitchFamily="34" charset="0"/>
                          <a:ea typeface="Lato" pitchFamily="34" charset="-122"/>
                          <a:cs typeface="Lato" pitchFamily="34" charset="-120"/>
                        </a:rPr>
                        <a:t>49.6</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8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2240"/>
                        </a:lnSpc>
                        <a:buNone/>
                      </a:pPr>
                      <a:r>
                        <a:rPr lang="en-US" sz="1600" dirty="0">
                          <a:solidFill>
                            <a:srgbClr val="000000"/>
                          </a:solidFill>
                          <a:latin typeface="Lato" pitchFamily="34" charset="0"/>
                          <a:ea typeface="Lato" pitchFamily="34" charset="-122"/>
                          <a:cs typeface="Lato" pitchFamily="34" charset="-120"/>
                        </a:rPr>
                        <a:t>14.4</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8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2240"/>
                        </a:lnSpc>
                        <a:buNone/>
                      </a:pPr>
                      <a:r>
                        <a:rPr lang="en-US" sz="1600" dirty="0">
                          <a:solidFill>
                            <a:srgbClr val="000000"/>
                          </a:solidFill>
                          <a:latin typeface="Lato" pitchFamily="34" charset="0"/>
                          <a:ea typeface="Lato" pitchFamily="34" charset="-122"/>
                          <a:cs typeface="Lato" pitchFamily="34" charset="-120"/>
                        </a:rPr>
                        <a:t>55.8</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8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2240"/>
                        </a:lnSpc>
                        <a:buNone/>
                      </a:pPr>
                      <a:r>
                        <a:rPr lang="en-US" sz="1600" dirty="0">
                          <a:solidFill>
                            <a:srgbClr val="000000"/>
                          </a:solidFill>
                          <a:latin typeface="Lato" pitchFamily="34" charset="0"/>
                          <a:ea typeface="Lato" pitchFamily="34" charset="-122"/>
                          <a:cs typeface="Lato" pitchFamily="34" charset="-120"/>
                        </a:rPr>
                        <a:t>15.4</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8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2240"/>
                        </a:lnSpc>
                        <a:buNone/>
                      </a:pPr>
                      <a:r>
                        <a:rPr lang="en-US" sz="1600" dirty="0">
                          <a:solidFill>
                            <a:srgbClr val="000000"/>
                          </a:solidFill>
                          <a:latin typeface="Lato" pitchFamily="34" charset="0"/>
                          <a:ea typeface="Lato" pitchFamily="34" charset="-122"/>
                          <a:cs typeface="Lato" pitchFamily="34" charset="-120"/>
                        </a:rPr>
                        <a:t>32.8</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8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2240"/>
                        </a:lnSpc>
                        <a:buNone/>
                      </a:pPr>
                      <a:r>
                        <a:rPr lang="en-US" sz="1600" dirty="0">
                          <a:solidFill>
                            <a:srgbClr val="000000"/>
                          </a:solidFill>
                          <a:latin typeface="Lato" pitchFamily="34" charset="0"/>
                          <a:ea typeface="Lato" pitchFamily="34" charset="-122"/>
                          <a:cs typeface="Lato" pitchFamily="34" charset="-120"/>
                        </a:rPr>
                        <a:t>9.1</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8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429171">
                <a:tc>
                  <a:txBody>
                    <a:bodyPr/>
                    <a:lstStyle/>
                    <a:p>
                      <a:pPr marL="0" indent="0">
                        <a:lnSpc>
                          <a:spcPts val="2240"/>
                        </a:lnSpc>
                        <a:buNone/>
                      </a:pPr>
                      <a:r>
                        <a:rPr lang="en-US" sz="1600" dirty="0">
                          <a:solidFill>
                            <a:srgbClr val="000000"/>
                          </a:solidFill>
                          <a:latin typeface="Lato" pitchFamily="34" charset="0"/>
                          <a:ea typeface="Lato" pitchFamily="34" charset="-122"/>
                          <a:cs typeface="Lato" pitchFamily="34" charset="-120"/>
                        </a:rPr>
                        <a:t>Beam Search</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2240"/>
                        </a:lnSpc>
                        <a:buNone/>
                      </a:pPr>
                      <a:r>
                        <a:rPr lang="en-US" sz="1600" dirty="0">
                          <a:solidFill>
                            <a:srgbClr val="000000"/>
                          </a:solidFill>
                          <a:latin typeface="Lato" pitchFamily="34" charset="0"/>
                          <a:ea typeface="Lato" pitchFamily="34" charset="-122"/>
                          <a:cs typeface="Lato" pitchFamily="34" charset="-120"/>
                        </a:rPr>
                        <a:t>46.3</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2240"/>
                        </a:lnSpc>
                        <a:buNone/>
                      </a:pPr>
                      <a:r>
                        <a:rPr lang="en-US" sz="1600" dirty="0">
                          <a:solidFill>
                            <a:srgbClr val="000000"/>
                          </a:solidFill>
                          <a:latin typeface="Lato" pitchFamily="34" charset="0"/>
                          <a:ea typeface="Lato" pitchFamily="34" charset="-122"/>
                          <a:cs typeface="Lato" pitchFamily="34" charset="-120"/>
                        </a:rPr>
                        <a:t>12.9</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2240"/>
                        </a:lnSpc>
                        <a:buNone/>
                      </a:pPr>
                      <a:r>
                        <a:rPr lang="en-US" sz="1600" dirty="0">
                          <a:solidFill>
                            <a:srgbClr val="000000"/>
                          </a:solidFill>
                          <a:latin typeface="Lato" pitchFamily="34" charset="0"/>
                          <a:ea typeface="Lato" pitchFamily="34" charset="-122"/>
                          <a:cs typeface="Lato" pitchFamily="34" charset="-120"/>
                        </a:rPr>
                        <a:t>50.4</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2240"/>
                        </a:lnSpc>
                        <a:buNone/>
                      </a:pPr>
                      <a:r>
                        <a:rPr lang="en-US" sz="1600" dirty="0">
                          <a:solidFill>
                            <a:srgbClr val="000000"/>
                          </a:solidFill>
                          <a:latin typeface="Lato" pitchFamily="34" charset="0"/>
                          <a:ea typeface="Lato" pitchFamily="34" charset="-122"/>
                          <a:cs typeface="Lato" pitchFamily="34" charset="-120"/>
                        </a:rPr>
                        <a:t>13.3</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2240"/>
                        </a:lnSpc>
                        <a:buNone/>
                      </a:pPr>
                      <a:r>
                        <a:rPr lang="en-US" sz="1600" dirty="0">
                          <a:solidFill>
                            <a:srgbClr val="000000"/>
                          </a:solidFill>
                          <a:latin typeface="Lato" pitchFamily="34" charset="0"/>
                          <a:ea typeface="Lato" pitchFamily="34" charset="-122"/>
                          <a:cs typeface="Lato" pitchFamily="34" charset="-120"/>
                        </a:rPr>
                        <a:t>33.0</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2240"/>
                        </a:lnSpc>
                        <a:buNone/>
                      </a:pPr>
                      <a:r>
                        <a:rPr lang="en-US" sz="1600" dirty="0">
                          <a:solidFill>
                            <a:srgbClr val="000000"/>
                          </a:solidFill>
                          <a:latin typeface="Lato" pitchFamily="34" charset="0"/>
                          <a:ea typeface="Lato" pitchFamily="34" charset="-122"/>
                          <a:cs typeface="Lato" pitchFamily="34" charset="-120"/>
                        </a:rPr>
                        <a:t>9.2</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429171">
                <a:tc>
                  <a:txBody>
                    <a:bodyPr/>
                    <a:lstStyle/>
                    <a:p>
                      <a:pPr marL="0" indent="0">
                        <a:lnSpc>
                          <a:spcPts val="2240"/>
                        </a:lnSpc>
                        <a:buNone/>
                      </a:pPr>
                      <a:r>
                        <a:rPr lang="en-US" sz="1600" dirty="0">
                          <a:solidFill>
                            <a:srgbClr val="000000"/>
                          </a:solidFill>
                          <a:latin typeface="Lato" pitchFamily="34" charset="0"/>
                          <a:ea typeface="Lato" pitchFamily="34" charset="-122"/>
                          <a:cs typeface="Lato" pitchFamily="34" charset="-120"/>
                        </a:rPr>
                        <a:t>DoLa</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2240"/>
                        </a:lnSpc>
                        <a:buNone/>
                      </a:pPr>
                      <a:r>
                        <a:rPr lang="en-US" sz="1600" dirty="0">
                          <a:solidFill>
                            <a:srgbClr val="000000"/>
                          </a:solidFill>
                          <a:latin typeface="Lato" pitchFamily="34" charset="0"/>
                          <a:ea typeface="Lato" pitchFamily="34" charset="-122"/>
                          <a:cs typeface="Lato" pitchFamily="34" charset="-120"/>
                        </a:rPr>
                        <a:t>47.1</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2240"/>
                        </a:lnSpc>
                        <a:buNone/>
                      </a:pPr>
                      <a:r>
                        <a:rPr lang="en-US" sz="1600" dirty="0">
                          <a:solidFill>
                            <a:srgbClr val="000000"/>
                          </a:solidFill>
                          <a:latin typeface="Lato" pitchFamily="34" charset="0"/>
                          <a:ea typeface="Lato" pitchFamily="34" charset="-122"/>
                          <a:cs typeface="Lato" pitchFamily="34" charset="-120"/>
                        </a:rPr>
                        <a:t>13.8</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2240"/>
                        </a:lnSpc>
                        <a:buNone/>
                      </a:pPr>
                      <a:r>
                        <a:rPr lang="en-US" sz="1600" dirty="0">
                          <a:solidFill>
                            <a:srgbClr val="000000"/>
                          </a:solidFill>
                          <a:latin typeface="Lato" pitchFamily="34" charset="0"/>
                          <a:ea typeface="Lato" pitchFamily="34" charset="-122"/>
                          <a:cs typeface="Lato" pitchFamily="34" charset="-120"/>
                        </a:rPr>
                        <a:t>55.4</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2240"/>
                        </a:lnSpc>
                        <a:buNone/>
                      </a:pPr>
                      <a:r>
                        <a:rPr lang="en-US" sz="1600" dirty="0">
                          <a:solidFill>
                            <a:srgbClr val="000000"/>
                          </a:solidFill>
                          <a:latin typeface="Lato" pitchFamily="34" charset="0"/>
                          <a:ea typeface="Lato" pitchFamily="34" charset="-122"/>
                          <a:cs typeface="Lato" pitchFamily="34" charset="-120"/>
                        </a:rPr>
                        <a:t>15.7</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2240"/>
                        </a:lnSpc>
                        <a:buNone/>
                      </a:pPr>
                      <a:r>
                        <a:rPr lang="en-US" sz="1600" dirty="0">
                          <a:solidFill>
                            <a:srgbClr val="000000"/>
                          </a:solidFill>
                          <a:latin typeface="Lato" pitchFamily="34" charset="0"/>
                          <a:ea typeface="Lato" pitchFamily="34" charset="-122"/>
                          <a:cs typeface="Lato" pitchFamily="34" charset="-120"/>
                        </a:rPr>
                        <a:t>31.3</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2240"/>
                        </a:lnSpc>
                        <a:buNone/>
                      </a:pPr>
                      <a:r>
                        <a:rPr lang="en-US" sz="1600" dirty="0">
                          <a:solidFill>
                            <a:srgbClr val="000000"/>
                          </a:solidFill>
                          <a:latin typeface="Lato" pitchFamily="34" charset="0"/>
                          <a:ea typeface="Lato" pitchFamily="34" charset="-122"/>
                          <a:cs typeface="Lato" pitchFamily="34" charset="-120"/>
                        </a:rPr>
                        <a:t>9.0</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429171">
                <a:tc>
                  <a:txBody>
                    <a:bodyPr/>
                    <a:lstStyle/>
                    <a:p>
                      <a:pPr marL="0" indent="0">
                        <a:lnSpc>
                          <a:spcPts val="2240"/>
                        </a:lnSpc>
                        <a:buNone/>
                      </a:pPr>
                      <a:r>
                        <a:rPr lang="en-US" sz="1600" dirty="0">
                          <a:solidFill>
                            <a:srgbClr val="000000"/>
                          </a:solidFill>
                          <a:latin typeface="Lato" pitchFamily="34" charset="0"/>
                          <a:ea typeface="Lato" pitchFamily="34" charset="-122"/>
                          <a:cs typeface="Lato" pitchFamily="34" charset="-120"/>
                        </a:rPr>
                        <a:t>VCD</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2240"/>
                        </a:lnSpc>
                        <a:buNone/>
                      </a:pPr>
                      <a:r>
                        <a:rPr lang="en-US" sz="1600" dirty="0">
                          <a:solidFill>
                            <a:srgbClr val="000000"/>
                          </a:solidFill>
                          <a:latin typeface="Lato" pitchFamily="34" charset="0"/>
                          <a:ea typeface="Lato" pitchFamily="34" charset="-122"/>
                          <a:cs typeface="Lato" pitchFamily="34" charset="-120"/>
                        </a:rPr>
                        <a:t>49.2</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2240"/>
                        </a:lnSpc>
                        <a:buNone/>
                      </a:pPr>
                      <a:r>
                        <a:rPr lang="en-US" sz="1600" dirty="0">
                          <a:solidFill>
                            <a:srgbClr val="000000"/>
                          </a:solidFill>
                          <a:latin typeface="Lato" pitchFamily="34" charset="0"/>
                          <a:ea typeface="Lato" pitchFamily="34" charset="-122"/>
                          <a:cs typeface="Lato" pitchFamily="34" charset="-120"/>
                        </a:rPr>
                        <a:t>14.8</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2240"/>
                        </a:lnSpc>
                        <a:buNone/>
                      </a:pPr>
                      <a:r>
                        <a:rPr lang="en-US" sz="1600" dirty="0">
                          <a:solidFill>
                            <a:srgbClr val="000000"/>
                          </a:solidFill>
                          <a:latin typeface="Lato" pitchFamily="34" charset="0"/>
                          <a:ea typeface="Lato" pitchFamily="34" charset="-122"/>
                          <a:cs typeface="Lato" pitchFamily="34" charset="-120"/>
                        </a:rPr>
                        <a:t>56.4</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2240"/>
                        </a:lnSpc>
                        <a:buNone/>
                      </a:pPr>
                      <a:r>
                        <a:rPr lang="en-US" sz="1600" dirty="0">
                          <a:solidFill>
                            <a:srgbClr val="000000"/>
                          </a:solidFill>
                          <a:latin typeface="Lato" pitchFamily="34" charset="0"/>
                          <a:ea typeface="Lato" pitchFamily="34" charset="-122"/>
                          <a:cs typeface="Lato" pitchFamily="34" charset="-120"/>
                        </a:rPr>
                        <a:t>15.5</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2240"/>
                        </a:lnSpc>
                        <a:buNone/>
                      </a:pPr>
                      <a:r>
                        <a:rPr lang="en-US" sz="1600" dirty="0">
                          <a:solidFill>
                            <a:srgbClr val="000000"/>
                          </a:solidFill>
                          <a:latin typeface="Lato" pitchFamily="34" charset="0"/>
                          <a:ea typeface="Lato" pitchFamily="34" charset="-122"/>
                          <a:cs typeface="Lato" pitchFamily="34" charset="-120"/>
                        </a:rPr>
                        <a:t>32.8</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2240"/>
                        </a:lnSpc>
                        <a:buNone/>
                      </a:pPr>
                      <a:r>
                        <a:rPr lang="en-US" sz="1600" dirty="0">
                          <a:solidFill>
                            <a:srgbClr val="000000"/>
                          </a:solidFill>
                          <a:latin typeface="Lato" pitchFamily="34" charset="0"/>
                          <a:ea typeface="Lato" pitchFamily="34" charset="-122"/>
                          <a:cs typeface="Lato" pitchFamily="34" charset="-120"/>
                        </a:rPr>
                        <a:t>8.9</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429171">
                <a:tc>
                  <a:txBody>
                    <a:bodyPr/>
                    <a:lstStyle/>
                    <a:p>
                      <a:pPr marL="0" indent="0">
                        <a:lnSpc>
                          <a:spcPts val="2240"/>
                        </a:lnSpc>
                        <a:buNone/>
                      </a:pPr>
                      <a:r>
                        <a:rPr lang="en-US" sz="1600" dirty="0">
                          <a:solidFill>
                            <a:srgbClr val="000000"/>
                          </a:solidFill>
                          <a:latin typeface="Lato" pitchFamily="34" charset="0"/>
                          <a:ea typeface="Lato" pitchFamily="34" charset="-122"/>
                          <a:cs typeface="Lato" pitchFamily="34" charset="-120"/>
                        </a:rPr>
                        <a:t>OPERA</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2240"/>
                        </a:lnSpc>
                        <a:buNone/>
                      </a:pPr>
                      <a:r>
                        <a:rPr lang="en-US" sz="1600" dirty="0">
                          <a:solidFill>
                            <a:srgbClr val="000000"/>
                          </a:solidFill>
                          <a:latin typeface="Lato" pitchFamily="34" charset="0"/>
                          <a:ea typeface="Lato" pitchFamily="34" charset="-122"/>
                          <a:cs typeface="Lato" pitchFamily="34" charset="-120"/>
                        </a:rPr>
                        <a:t>45.4</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2240"/>
                        </a:lnSpc>
                        <a:buNone/>
                      </a:pPr>
                      <a:r>
                        <a:rPr lang="en-US" sz="1600" dirty="0">
                          <a:solidFill>
                            <a:srgbClr val="000000"/>
                          </a:solidFill>
                          <a:latin typeface="Lato" pitchFamily="34" charset="0"/>
                          <a:ea typeface="Lato" pitchFamily="34" charset="-122"/>
                          <a:cs typeface="Lato" pitchFamily="34" charset="-120"/>
                        </a:rPr>
                        <a:t>12.7</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2240"/>
                        </a:lnSpc>
                        <a:buNone/>
                      </a:pPr>
                      <a:r>
                        <a:rPr lang="en-US" sz="1600" dirty="0">
                          <a:solidFill>
                            <a:srgbClr val="000000"/>
                          </a:solidFill>
                          <a:latin typeface="Lato" pitchFamily="34" charset="0"/>
                          <a:ea typeface="Lato" pitchFamily="34" charset="-122"/>
                          <a:cs typeface="Lato" pitchFamily="34" charset="-120"/>
                        </a:rPr>
                        <a:t>46.2</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2240"/>
                        </a:lnSpc>
                        <a:buNone/>
                      </a:pPr>
                      <a:r>
                        <a:rPr lang="en-US" sz="1600" dirty="0">
                          <a:solidFill>
                            <a:srgbClr val="000000"/>
                          </a:solidFill>
                          <a:latin typeface="Lato" pitchFamily="34" charset="0"/>
                          <a:ea typeface="Lato" pitchFamily="34" charset="-122"/>
                          <a:cs typeface="Lato" pitchFamily="34" charset="-120"/>
                        </a:rPr>
                        <a:t>13.1</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2240"/>
                        </a:lnSpc>
                        <a:buNone/>
                      </a:pPr>
                      <a:r>
                        <a:rPr lang="en-US" sz="1600" dirty="0">
                          <a:solidFill>
                            <a:srgbClr val="000000"/>
                          </a:solidFill>
                          <a:latin typeface="Lato" pitchFamily="34" charset="0"/>
                          <a:ea typeface="Lato" pitchFamily="34" charset="-122"/>
                          <a:cs typeface="Lato" pitchFamily="34" charset="-120"/>
                        </a:rPr>
                        <a:t>34.0</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2240"/>
                        </a:lnSpc>
                        <a:buNone/>
                      </a:pPr>
                      <a:r>
                        <a:rPr lang="en-US" sz="1600" dirty="0">
                          <a:solidFill>
                            <a:srgbClr val="000000"/>
                          </a:solidFill>
                          <a:latin typeface="Lato" pitchFamily="34" charset="0"/>
                          <a:ea typeface="Lato" pitchFamily="34" charset="-122"/>
                          <a:cs typeface="Lato" pitchFamily="34" charset="-120"/>
                        </a:rPr>
                        <a:t>8.7</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429171">
                <a:tc>
                  <a:txBody>
                    <a:bodyPr/>
                    <a:lstStyle/>
                    <a:p>
                      <a:pPr marL="0" indent="0">
                        <a:lnSpc>
                          <a:spcPts val="2240"/>
                        </a:lnSpc>
                        <a:buNone/>
                      </a:pPr>
                      <a:r>
                        <a:rPr lang="en-US" sz="1600" dirty="0">
                          <a:solidFill>
                            <a:srgbClr val="000000"/>
                          </a:solidFill>
                          <a:latin typeface="Lato" pitchFamily="34" charset="0"/>
                          <a:ea typeface="Lato" pitchFamily="34" charset="-122"/>
                          <a:cs typeface="Lato" pitchFamily="34" charset="-120"/>
                        </a:rPr>
                        <a:t>SID</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2240"/>
                        </a:lnSpc>
                        <a:buNone/>
                      </a:pPr>
                      <a:r>
                        <a:rPr lang="en-US" sz="1600" dirty="0">
                          <a:solidFill>
                            <a:srgbClr val="000000"/>
                          </a:solidFill>
                          <a:latin typeface="Lato" pitchFamily="34" charset="0"/>
                          <a:ea typeface="Lato" pitchFamily="34" charset="-122"/>
                          <a:cs typeface="Lato" pitchFamily="34" charset="-120"/>
                        </a:rPr>
                        <a:t>44.2</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2240"/>
                        </a:lnSpc>
                        <a:buNone/>
                      </a:pPr>
                      <a:r>
                        <a:rPr lang="en-US" sz="1600" dirty="0">
                          <a:solidFill>
                            <a:srgbClr val="000000"/>
                          </a:solidFill>
                          <a:latin typeface="Lato" pitchFamily="34" charset="0"/>
                          <a:ea typeface="Lato" pitchFamily="34" charset="-122"/>
                          <a:cs typeface="Lato" pitchFamily="34" charset="-120"/>
                        </a:rPr>
                        <a:t>12.2</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2240"/>
                        </a:lnSpc>
                        <a:buNone/>
                      </a:pPr>
                      <a:r>
                        <a:rPr lang="en-US" sz="1600" dirty="0">
                          <a:solidFill>
                            <a:srgbClr val="000000"/>
                          </a:solidFill>
                          <a:latin typeface="Lato" pitchFamily="34" charset="0"/>
                          <a:ea typeface="Lato" pitchFamily="34" charset="-122"/>
                          <a:cs typeface="Lato" pitchFamily="34" charset="-120"/>
                        </a:rPr>
                        <a:t>44.8</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2240"/>
                        </a:lnSpc>
                        <a:buNone/>
                      </a:pPr>
                      <a:r>
                        <a:rPr lang="en-US" sz="1600" dirty="0">
                          <a:solidFill>
                            <a:srgbClr val="000000"/>
                          </a:solidFill>
                          <a:latin typeface="Lato" pitchFamily="34" charset="0"/>
                          <a:ea typeface="Lato" pitchFamily="34" charset="-122"/>
                          <a:cs typeface="Lato" pitchFamily="34" charset="-120"/>
                        </a:rPr>
                        <a:t>12.8</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2240"/>
                        </a:lnSpc>
                        <a:buNone/>
                      </a:pPr>
                      <a:r>
                        <a:rPr lang="en-US" sz="1600" dirty="0">
                          <a:solidFill>
                            <a:srgbClr val="000000"/>
                          </a:solidFill>
                          <a:latin typeface="Lato" pitchFamily="34" charset="0"/>
                          <a:ea typeface="Lato" pitchFamily="34" charset="-122"/>
                          <a:cs typeface="Lato" pitchFamily="34" charset="-120"/>
                        </a:rPr>
                        <a:t>32.8</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2240"/>
                        </a:lnSpc>
                        <a:buNone/>
                      </a:pPr>
                      <a:r>
                        <a:rPr lang="en-US" sz="1600" dirty="0">
                          <a:solidFill>
                            <a:srgbClr val="000000"/>
                          </a:solidFill>
                          <a:latin typeface="Lato" pitchFamily="34" charset="0"/>
                          <a:ea typeface="Lato" pitchFamily="34" charset="-122"/>
                          <a:cs typeface="Lato" pitchFamily="34" charset="-120"/>
                        </a:rPr>
                        <a:t>8.3</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6"/>
                  </a:ext>
                </a:extLst>
              </a:tr>
              <a:tr h="429171">
                <a:tc>
                  <a:txBody>
                    <a:bodyPr/>
                    <a:lstStyle/>
                    <a:p>
                      <a:pPr marL="0" indent="0">
                        <a:lnSpc>
                          <a:spcPts val="2240"/>
                        </a:lnSpc>
                        <a:buNone/>
                      </a:pPr>
                      <a:r>
                        <a:rPr lang="en-US" sz="1600" dirty="0">
                          <a:solidFill>
                            <a:srgbClr val="C00000"/>
                          </a:solidFill>
                          <a:latin typeface="Lato" pitchFamily="34" charset="0"/>
                          <a:ea typeface="Lato" pitchFamily="34" charset="-122"/>
                          <a:cs typeface="Lato" pitchFamily="34" charset="-120"/>
                        </a:rPr>
                        <a:t>EAZY</a:t>
                      </a:r>
                      <a:endParaRPr lang="en-US" sz="1600" dirty="0">
                        <a:latin typeface="Lato" charset="0"/>
                        <a:ea typeface="Lato" charset="0"/>
                        <a:cs typeface="Lato" charset="0"/>
                      </a:endParaRPr>
                    </a:p>
                  </a:txBody>
                  <a:tcPr marL="71120" marR="71120" marT="71120" marB="71120">
                    <a:lnL w="12700" cap="flat" cmpd="sng" algn="ctr">
                      <a:solidFill>
                        <a:srgbClr val="CBCBCB"/>
                      </a:solidFill>
                      <a:prstDash val="solid"/>
                      <a:round/>
                      <a:headEnd type="none" w="med" len="med"/>
                      <a:tailEnd type="none" w="med" len="med"/>
                    </a:lnL>
                    <a:lnR w="12700" cap="flat" cmpd="sng" algn="ctr">
                      <a:solidFill>
                        <a:srgbClr val="C8BA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8BABC"/>
                      </a:solidFill>
                      <a:prstDash val="solid"/>
                      <a:round/>
                      <a:headEnd type="none" w="med" len="med"/>
                      <a:tailEnd type="none" w="med" len="med"/>
                    </a:lnB>
                    <a:solidFill>
                      <a:srgbClr val="FBE9EC"/>
                    </a:solidFill>
                  </a:tcPr>
                </a:tc>
                <a:tc>
                  <a:txBody>
                    <a:bodyPr/>
                    <a:lstStyle/>
                    <a:p>
                      <a:pPr marL="0" indent="0" algn="ctr">
                        <a:lnSpc>
                          <a:spcPts val="2240"/>
                        </a:lnSpc>
                        <a:buNone/>
                      </a:pPr>
                      <a:r>
                        <a:rPr lang="en-US" sz="1600" dirty="0">
                          <a:solidFill>
                            <a:srgbClr val="C00000"/>
                          </a:solidFill>
                          <a:latin typeface="Lato" pitchFamily="34" charset="0"/>
                          <a:ea typeface="Lato" pitchFamily="34" charset="-122"/>
                          <a:cs typeface="Lato" pitchFamily="34" charset="-120"/>
                        </a:rPr>
                        <a:t>38.8</a:t>
                      </a:r>
                      <a:endParaRPr lang="en-US" sz="1600" dirty="0">
                        <a:latin typeface="Lato" charset="0"/>
                        <a:ea typeface="Lato" charset="0"/>
                        <a:cs typeface="Lato" charset="0"/>
                      </a:endParaRPr>
                    </a:p>
                  </a:txBody>
                  <a:tcPr marL="71120" marR="71120" marT="71120" marB="71120">
                    <a:lnL w="12700" cap="flat" cmpd="sng" algn="ctr">
                      <a:solidFill>
                        <a:srgbClr val="C8BABC"/>
                      </a:solidFill>
                      <a:prstDash val="solid"/>
                      <a:round/>
                      <a:headEnd type="none" w="med" len="med"/>
                      <a:tailEnd type="none" w="med" len="med"/>
                    </a:lnL>
                    <a:lnR w="12700" cap="flat" cmpd="sng" algn="ctr">
                      <a:solidFill>
                        <a:srgbClr val="C8BA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8BABC"/>
                      </a:solidFill>
                      <a:prstDash val="solid"/>
                      <a:round/>
                      <a:headEnd type="none" w="med" len="med"/>
                      <a:tailEnd type="none" w="med" len="med"/>
                    </a:lnB>
                    <a:solidFill>
                      <a:srgbClr val="FBE9EC"/>
                    </a:solidFill>
                  </a:tcPr>
                </a:tc>
                <a:tc>
                  <a:txBody>
                    <a:bodyPr/>
                    <a:lstStyle/>
                    <a:p>
                      <a:pPr marL="0" indent="0" algn="ctr">
                        <a:lnSpc>
                          <a:spcPts val="2240"/>
                        </a:lnSpc>
                        <a:buNone/>
                      </a:pPr>
                      <a:r>
                        <a:rPr lang="en-US" sz="1600" dirty="0">
                          <a:solidFill>
                            <a:srgbClr val="C00000"/>
                          </a:solidFill>
                          <a:latin typeface="Lato" pitchFamily="34" charset="0"/>
                          <a:ea typeface="Lato" pitchFamily="34" charset="-122"/>
                          <a:cs typeface="Lato" pitchFamily="34" charset="-120"/>
                        </a:rPr>
                        <a:t>11.4</a:t>
                      </a:r>
                      <a:endParaRPr lang="en-US" sz="1600" dirty="0">
                        <a:latin typeface="Lato" charset="0"/>
                        <a:ea typeface="Lato" charset="0"/>
                        <a:cs typeface="Lato" charset="0"/>
                      </a:endParaRPr>
                    </a:p>
                  </a:txBody>
                  <a:tcPr marL="71120" marR="71120" marT="71120" marB="71120">
                    <a:lnL w="12700" cap="flat" cmpd="sng" algn="ctr">
                      <a:solidFill>
                        <a:srgbClr val="C8BABC"/>
                      </a:solidFill>
                      <a:prstDash val="solid"/>
                      <a:round/>
                      <a:headEnd type="none" w="med" len="med"/>
                      <a:tailEnd type="none" w="med" len="med"/>
                    </a:lnL>
                    <a:lnR w="12700" cap="flat" cmpd="sng" algn="ctr">
                      <a:solidFill>
                        <a:srgbClr val="C8BA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8BABC"/>
                      </a:solidFill>
                      <a:prstDash val="solid"/>
                      <a:round/>
                      <a:headEnd type="none" w="med" len="med"/>
                      <a:tailEnd type="none" w="med" len="med"/>
                    </a:lnB>
                    <a:solidFill>
                      <a:srgbClr val="FBE9EC"/>
                    </a:solidFill>
                  </a:tcPr>
                </a:tc>
                <a:tc>
                  <a:txBody>
                    <a:bodyPr/>
                    <a:lstStyle/>
                    <a:p>
                      <a:pPr marL="0" indent="0" algn="ctr">
                        <a:lnSpc>
                          <a:spcPts val="2240"/>
                        </a:lnSpc>
                        <a:buNone/>
                      </a:pPr>
                      <a:r>
                        <a:rPr lang="en-US" sz="1600" dirty="0">
                          <a:solidFill>
                            <a:srgbClr val="C00000"/>
                          </a:solidFill>
                          <a:latin typeface="Lato" pitchFamily="34" charset="0"/>
                          <a:ea typeface="Lato" pitchFamily="34" charset="-122"/>
                          <a:cs typeface="Lato" pitchFamily="34" charset="-120"/>
                        </a:rPr>
                        <a:t>26.6</a:t>
                      </a:r>
                      <a:endParaRPr lang="en-US" sz="1600" dirty="0">
                        <a:latin typeface="Lato" charset="0"/>
                        <a:ea typeface="Lato" charset="0"/>
                        <a:cs typeface="Lato" charset="0"/>
                      </a:endParaRPr>
                    </a:p>
                  </a:txBody>
                  <a:tcPr marL="71120" marR="71120" marT="71120" marB="71120">
                    <a:lnL w="12700" cap="flat" cmpd="sng" algn="ctr">
                      <a:solidFill>
                        <a:srgbClr val="C8BABC"/>
                      </a:solidFill>
                      <a:prstDash val="solid"/>
                      <a:round/>
                      <a:headEnd type="none" w="med" len="med"/>
                      <a:tailEnd type="none" w="med" len="med"/>
                    </a:lnL>
                    <a:lnR w="12700" cap="flat" cmpd="sng" algn="ctr">
                      <a:solidFill>
                        <a:srgbClr val="C8BA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8BABC"/>
                      </a:solidFill>
                      <a:prstDash val="solid"/>
                      <a:round/>
                      <a:headEnd type="none" w="med" len="med"/>
                      <a:tailEnd type="none" w="med" len="med"/>
                    </a:lnB>
                    <a:solidFill>
                      <a:srgbClr val="FBE9EC"/>
                    </a:solidFill>
                  </a:tcPr>
                </a:tc>
                <a:tc>
                  <a:txBody>
                    <a:bodyPr/>
                    <a:lstStyle/>
                    <a:p>
                      <a:pPr marL="0" indent="0" algn="ctr">
                        <a:lnSpc>
                          <a:spcPts val="2240"/>
                        </a:lnSpc>
                        <a:buNone/>
                      </a:pPr>
                      <a:r>
                        <a:rPr lang="en-US" sz="1600" dirty="0">
                          <a:solidFill>
                            <a:srgbClr val="C00000"/>
                          </a:solidFill>
                          <a:latin typeface="Lato" pitchFamily="34" charset="0"/>
                          <a:ea typeface="Lato" pitchFamily="34" charset="-122"/>
                          <a:cs typeface="Lato" pitchFamily="34" charset="-120"/>
                        </a:rPr>
                        <a:t>8.9</a:t>
                      </a:r>
                      <a:endParaRPr lang="en-US" sz="1600" dirty="0">
                        <a:latin typeface="Lato" charset="0"/>
                        <a:ea typeface="Lato" charset="0"/>
                        <a:cs typeface="Lato" charset="0"/>
                      </a:endParaRPr>
                    </a:p>
                  </a:txBody>
                  <a:tcPr marL="71120" marR="71120" marT="71120" marB="71120">
                    <a:lnL w="12700" cap="flat" cmpd="sng" algn="ctr">
                      <a:solidFill>
                        <a:srgbClr val="C8BABC"/>
                      </a:solidFill>
                      <a:prstDash val="solid"/>
                      <a:round/>
                      <a:headEnd type="none" w="med" len="med"/>
                      <a:tailEnd type="none" w="med" len="med"/>
                    </a:lnL>
                    <a:lnR w="12700" cap="flat" cmpd="sng" algn="ctr">
                      <a:solidFill>
                        <a:srgbClr val="C8BA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8BABC"/>
                      </a:solidFill>
                      <a:prstDash val="solid"/>
                      <a:round/>
                      <a:headEnd type="none" w="med" len="med"/>
                      <a:tailEnd type="none" w="med" len="med"/>
                    </a:lnB>
                    <a:solidFill>
                      <a:srgbClr val="FBE9EC"/>
                    </a:solidFill>
                  </a:tcPr>
                </a:tc>
                <a:tc>
                  <a:txBody>
                    <a:bodyPr/>
                    <a:lstStyle/>
                    <a:p>
                      <a:pPr marL="0" indent="0" algn="ctr">
                        <a:lnSpc>
                          <a:spcPts val="2240"/>
                        </a:lnSpc>
                        <a:buNone/>
                      </a:pPr>
                      <a:r>
                        <a:rPr lang="en-US" sz="1600" dirty="0">
                          <a:solidFill>
                            <a:srgbClr val="C00000"/>
                          </a:solidFill>
                          <a:latin typeface="Lato" pitchFamily="34" charset="0"/>
                          <a:ea typeface="Lato" pitchFamily="34" charset="-122"/>
                          <a:cs typeface="Lato" pitchFamily="34" charset="-120"/>
                        </a:rPr>
                        <a:t>26.8</a:t>
                      </a:r>
                      <a:endParaRPr lang="en-US" sz="1600" dirty="0">
                        <a:latin typeface="Lato" charset="0"/>
                        <a:ea typeface="Lato" charset="0"/>
                        <a:cs typeface="Lato" charset="0"/>
                      </a:endParaRPr>
                    </a:p>
                  </a:txBody>
                  <a:tcPr marL="71120" marR="71120" marT="71120" marB="71120">
                    <a:lnL w="12700" cap="flat" cmpd="sng" algn="ctr">
                      <a:solidFill>
                        <a:srgbClr val="C8BABC"/>
                      </a:solidFill>
                      <a:prstDash val="solid"/>
                      <a:round/>
                      <a:headEnd type="none" w="med" len="med"/>
                      <a:tailEnd type="none" w="med" len="med"/>
                    </a:lnL>
                    <a:lnR w="12700" cap="flat" cmpd="sng" algn="ctr">
                      <a:solidFill>
                        <a:srgbClr val="C8BA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8BABC"/>
                      </a:solidFill>
                      <a:prstDash val="solid"/>
                      <a:round/>
                      <a:headEnd type="none" w="med" len="med"/>
                      <a:tailEnd type="none" w="med" len="med"/>
                    </a:lnB>
                    <a:solidFill>
                      <a:srgbClr val="FBE9EC"/>
                    </a:solidFill>
                  </a:tcPr>
                </a:tc>
                <a:tc>
                  <a:txBody>
                    <a:bodyPr/>
                    <a:lstStyle/>
                    <a:p>
                      <a:pPr marL="0" indent="0" algn="ctr">
                        <a:lnSpc>
                          <a:spcPts val="2240"/>
                        </a:lnSpc>
                        <a:buNone/>
                      </a:pPr>
                      <a:r>
                        <a:rPr lang="en-US" sz="1600" dirty="0">
                          <a:solidFill>
                            <a:srgbClr val="C00000"/>
                          </a:solidFill>
                          <a:latin typeface="Lato" pitchFamily="34" charset="0"/>
                          <a:ea typeface="Lato" pitchFamily="34" charset="-122"/>
                          <a:cs typeface="Lato" pitchFamily="34" charset="-120"/>
                        </a:rPr>
                        <a:t>8.3</a:t>
                      </a:r>
                      <a:endParaRPr lang="en-US" sz="1600" dirty="0">
                        <a:latin typeface="Lato" charset="0"/>
                        <a:ea typeface="Lato" charset="0"/>
                        <a:cs typeface="Lato" charset="0"/>
                      </a:endParaRPr>
                    </a:p>
                  </a:txBody>
                  <a:tcPr marL="71120" marR="71120" marT="71120" marB="71120">
                    <a:lnL w="12700" cap="flat" cmpd="sng" algn="ctr">
                      <a:solidFill>
                        <a:srgbClr val="C8BABC"/>
                      </a:solidFill>
                      <a:prstDash val="solid"/>
                      <a:round/>
                      <a:headEnd type="none" w="med" len="med"/>
                      <a:tailEnd type="none" w="med" len="med"/>
                    </a:lnL>
                    <a:lnR w="12700" cap="flat" cmpd="sng" algn="ctr">
                      <a:solidFill>
                        <a:srgbClr val="C8BA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8BABC"/>
                      </a:solidFill>
                      <a:prstDash val="solid"/>
                      <a:round/>
                      <a:headEnd type="none" w="med" len="med"/>
                      <a:tailEnd type="none" w="med" len="med"/>
                    </a:lnB>
                    <a:solidFill>
                      <a:srgbClr val="FBE9EC"/>
                    </a:solidFill>
                  </a:tcPr>
                </a:tc>
                <a:extLst>
                  <a:ext uri="{0D108BD9-81ED-4DB2-BD59-A6C34878D82A}">
                    <a16:rowId xmlns:a16="http://schemas.microsoft.com/office/drawing/2014/main" val="10007"/>
                  </a:ext>
                </a:extLst>
              </a:tr>
            </a:tbl>
          </a:graphicData>
        </a:graphic>
      </p:graphicFrame>
      <p:sp>
        <p:nvSpPr>
          <p:cNvPr id="9" name="Text 6"/>
          <p:cNvSpPr/>
          <p:nvPr/>
        </p:nvSpPr>
        <p:spPr>
          <a:xfrm>
            <a:off x="340360" y="5495776"/>
            <a:ext cx="11511280" cy="368300"/>
          </a:xfrm>
          <a:prstGeom prst="rect">
            <a:avLst/>
          </a:prstGeom>
          <a:noFill/>
          <a:ln/>
        </p:spPr>
        <p:txBody>
          <a:bodyPr wrap="square" lIns="0" tIns="0" rIns="0" bIns="0" rtlCol="0" anchor="t">
            <a:normAutofit/>
          </a:bodyPr>
          <a:lstStyle/>
          <a:p>
            <a:pPr marL="0" indent="0" algn="ctr">
              <a:lnSpc>
                <a:spcPts val="2700"/>
              </a:lnSpc>
              <a:buNone/>
            </a:pPr>
            <a:r>
              <a:rPr lang="en-US" sz="2000" u="sng" dirty="0">
                <a:solidFill>
                  <a:srgbClr val="C00000"/>
                </a:solidFill>
                <a:latin typeface="Lato" pitchFamily="34" charset="0"/>
                <a:ea typeface="Lato" pitchFamily="34" charset="-122"/>
                <a:cs typeface="Lato" pitchFamily="34" charset="-120"/>
              </a:rPr>
              <a:t>EAZY gives the lowest CHAIR_S on all three models, and Shikra drops from 55.8 to 26.6</a:t>
            </a:r>
            <a:endParaRPr lang="en-US" sz="2000" dirty="0"/>
          </a:p>
        </p:txBody>
      </p:sp>
      <p:sp>
        <p:nvSpPr>
          <p:cNvPr id="10" name="Text 7"/>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11" name="Text 8"/>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Backup 9</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Results: Cost and General Ability</a:t>
            </a:r>
            <a:endParaRPr lang="en-US" sz="3200" dirty="0"/>
          </a:p>
        </p:txBody>
      </p:sp>
      <p:sp>
        <p:nvSpPr>
          <p:cNvPr id="4" name="Text 2"/>
          <p:cNvSpPr/>
          <p:nvPr/>
        </p:nvSpPr>
        <p:spPr>
          <a:xfrm>
            <a:off x="508000" y="1026120"/>
            <a:ext cx="11511280" cy="368300"/>
          </a:xfrm>
          <a:prstGeom prst="rect">
            <a:avLst/>
          </a:prstGeom>
          <a:noFill/>
          <a:ln/>
        </p:spPr>
        <p:txBody>
          <a:bodyPr wrap="square" lIns="0" tIns="0" rIns="0" bIns="0" rtlCol="0" anchor="t">
            <a:normAutofit/>
          </a:bodyPr>
          <a:lstStyle/>
          <a:p>
            <a:pPr marL="0" indent="0" algn="l">
              <a:lnSpc>
                <a:spcPts val="2700"/>
              </a:lnSpc>
              <a:buNone/>
            </a:pPr>
            <a:r>
              <a:rPr lang="en-US" sz="2000" b="1" dirty="0">
                <a:solidFill>
                  <a:srgbClr val="000000"/>
                </a:solidFill>
                <a:latin typeface="Lato" pitchFamily="34" charset="0"/>
                <a:ea typeface="Lato" pitchFamily="34" charset="-122"/>
                <a:cs typeface="Lato" pitchFamily="34" charset="-120"/>
              </a:rPr>
              <a:t>Cost:</a:t>
            </a:r>
            <a:r>
              <a:rPr lang="en-US" sz="2000" dirty="0">
                <a:solidFill>
                  <a:srgbClr val="000000"/>
                </a:solidFill>
                <a:latin typeface="Lato" pitchFamily="34" charset="0"/>
                <a:ea typeface="Lato" pitchFamily="34" charset="-122"/>
                <a:cs typeface="Lato" pitchFamily="34" charset="-120"/>
              </a:rPr>
              <a:t> EAZY needs </a:t>
            </a:r>
            <a:r>
              <a:rPr lang="en-US" sz="2000" u="sng" dirty="0">
                <a:solidFill>
                  <a:srgbClr val="C00000"/>
                </a:solidFill>
                <a:latin typeface="Lato" pitchFamily="34" charset="0"/>
                <a:ea typeface="Lato" pitchFamily="34" charset="-122"/>
                <a:cs typeface="Lato" pitchFamily="34" charset="-120"/>
              </a:rPr>
              <a:t>no training</a:t>
            </a:r>
            <a:r>
              <a:rPr lang="en-US" sz="2000" dirty="0">
                <a:solidFill>
                  <a:srgbClr val="000000"/>
                </a:solidFill>
                <a:latin typeface="Lato" pitchFamily="34" charset="0"/>
                <a:ea typeface="Lato" pitchFamily="34" charset="-122"/>
                <a:cs typeface="Lato" pitchFamily="34" charset="-120"/>
              </a:rPr>
              <a:t>, and we compare its average inference time per image</a:t>
            </a:r>
            <a:endParaRPr lang="en-US" sz="2000" dirty="0"/>
          </a:p>
        </p:txBody>
      </p:sp>
      <p:sp>
        <p:nvSpPr>
          <p:cNvPr id="5" name="Shape 3"/>
          <p:cNvSpPr/>
          <p:nvPr/>
        </p:nvSpPr>
        <p:spPr>
          <a:xfrm>
            <a:off x="3187700" y="1572220"/>
            <a:ext cx="5816600" cy="3829050"/>
          </a:xfrm>
          <a:prstGeom prst="roundRect">
            <a:avLst>
              <a:gd name="adj" fmla="val 3980"/>
            </a:avLst>
          </a:prstGeom>
          <a:solidFill>
            <a:srgbClr val="DCE6F2"/>
          </a:solidFill>
          <a:ln/>
        </p:spPr>
        <p:txBody>
          <a:bodyPr/>
          <a:lstStyle/>
          <a:p>
            <a:endParaRPr lang="en-US"/>
          </a:p>
        </p:txBody>
      </p:sp>
      <p:pic>
        <p:nvPicPr>
          <p:cNvPr id="6" name="Image 0" descr="Paper Figure 11: average inference time per image; greedy 3.60 s, beam search 6.63 s, VCD 6.98 s, OPERA 20.41 s, EAZY 9.52 s"/>
          <p:cNvPicPr>
            <a:picLocks noChangeAspect="1"/>
          </p:cNvPicPr>
          <p:nvPr/>
        </p:nvPicPr>
        <p:blipFill>
          <a:blip r:embed="rId3"/>
          <a:srcRect l="-27" r="-27"/>
          <a:stretch/>
        </p:blipFill>
        <p:spPr>
          <a:xfrm>
            <a:off x="3492500" y="1775420"/>
            <a:ext cx="5207000" cy="3422650"/>
          </a:xfrm>
          <a:prstGeom prst="rect">
            <a:avLst/>
          </a:prstGeom>
        </p:spPr>
      </p:pic>
      <p:sp>
        <p:nvSpPr>
          <p:cNvPr id="7" name="Text 4"/>
          <p:cNvSpPr/>
          <p:nvPr/>
        </p:nvSpPr>
        <p:spPr>
          <a:xfrm>
            <a:off x="340360" y="5604470"/>
            <a:ext cx="11511280" cy="368300"/>
          </a:xfrm>
          <a:prstGeom prst="rect">
            <a:avLst/>
          </a:prstGeom>
          <a:noFill/>
          <a:ln/>
        </p:spPr>
        <p:txBody>
          <a:bodyPr wrap="square" lIns="0" tIns="0" rIns="0" bIns="0" rtlCol="0" anchor="t">
            <a:normAutofit/>
          </a:bodyPr>
          <a:lstStyle/>
          <a:p>
            <a:pPr marL="0" indent="0" algn="ctr">
              <a:lnSpc>
                <a:spcPts val="2700"/>
              </a:lnSpc>
              <a:buNone/>
            </a:pPr>
            <a:r>
              <a:rPr lang="en-US" sz="2000" u="sng" dirty="0">
                <a:solidFill>
                  <a:srgbClr val="C00000"/>
                </a:solidFill>
                <a:latin typeface="Lato" pitchFamily="34" charset="0"/>
                <a:ea typeface="Lato" pitchFamily="34" charset="-122"/>
                <a:cs typeface="Lato" pitchFamily="34" charset="-120"/>
              </a:rPr>
              <a:t>EAZY runs about 2× faster than OPERA, and MME and MMBench stay within 1% of greedy</a:t>
            </a:r>
            <a:endParaRPr lang="en-US" sz="2000" dirty="0"/>
          </a:p>
        </p:txBody>
      </p:sp>
      <p:sp>
        <p:nvSpPr>
          <p:cNvPr id="8" name="Text 5"/>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9" name="Text 6"/>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Backup 10</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Limitations: Failure Cases</a:t>
            </a:r>
            <a:endParaRPr lang="en-US" sz="3200" dirty="0"/>
          </a:p>
        </p:txBody>
      </p:sp>
      <p:sp>
        <p:nvSpPr>
          <p:cNvPr id="4" name="Text 2"/>
          <p:cNvSpPr/>
          <p:nvPr/>
        </p:nvSpPr>
        <p:spPr>
          <a:xfrm>
            <a:off x="508000" y="1026120"/>
            <a:ext cx="11511280" cy="368300"/>
          </a:xfrm>
          <a:prstGeom prst="rect">
            <a:avLst/>
          </a:prstGeom>
          <a:noFill/>
          <a:ln/>
        </p:spPr>
        <p:txBody>
          <a:bodyPr wrap="square" lIns="0" tIns="0" rIns="0" bIns="0" rtlCol="0" anchor="t">
            <a:normAutofit/>
          </a:bodyPr>
          <a:lstStyle/>
          <a:p>
            <a:pPr marL="0" indent="0" algn="l">
              <a:lnSpc>
                <a:spcPts val="2700"/>
              </a:lnSpc>
              <a:buNone/>
            </a:pPr>
            <a:r>
              <a:rPr lang="en-US" sz="2000" b="1" dirty="0">
                <a:solidFill>
                  <a:srgbClr val="000000"/>
                </a:solidFill>
                <a:latin typeface="Lato" pitchFamily="34" charset="0"/>
                <a:ea typeface="Lato" pitchFamily="34" charset="-122"/>
                <a:cs typeface="Lato" pitchFamily="34" charset="-120"/>
              </a:rPr>
              <a:t>Failure cases:</a:t>
            </a:r>
            <a:r>
              <a:rPr lang="en-US" sz="2000" dirty="0">
                <a:solidFill>
                  <a:srgbClr val="000000"/>
                </a:solidFill>
                <a:latin typeface="Lato" pitchFamily="34" charset="0"/>
                <a:ea typeface="Lato" pitchFamily="34" charset="-122"/>
                <a:cs typeface="Lato" pitchFamily="34" charset="-120"/>
              </a:rPr>
              <a:t> real objects that are </a:t>
            </a:r>
            <a:r>
              <a:rPr lang="en-US" sz="2000" u="sng" dirty="0">
                <a:solidFill>
                  <a:srgbClr val="C00000"/>
                </a:solidFill>
                <a:latin typeface="Lato" pitchFamily="34" charset="0"/>
                <a:ea typeface="Lato" pitchFamily="34" charset="-122"/>
                <a:cs typeface="Lato" pitchFamily="34" charset="-120"/>
              </a:rPr>
              <a:t>tiny or cut off</a:t>
            </a:r>
            <a:r>
              <a:rPr lang="en-US" sz="2000" dirty="0">
                <a:solidFill>
                  <a:srgbClr val="000000"/>
                </a:solidFill>
                <a:latin typeface="Lato" pitchFamily="34" charset="0"/>
                <a:ea typeface="Lato" pitchFamily="34" charset="-122"/>
                <a:cs typeface="Lato" pitchFamily="34" charset="-120"/>
              </a:rPr>
              <a:t> can be erased too</a:t>
            </a:r>
            <a:endParaRPr lang="en-US" sz="2000" dirty="0"/>
          </a:p>
        </p:txBody>
      </p:sp>
      <p:sp>
        <p:nvSpPr>
          <p:cNvPr id="5" name="Shape 3"/>
          <p:cNvSpPr/>
          <p:nvPr/>
        </p:nvSpPr>
        <p:spPr>
          <a:xfrm>
            <a:off x="508000" y="1572220"/>
            <a:ext cx="11176000" cy="3807420"/>
          </a:xfrm>
          <a:prstGeom prst="roundRect">
            <a:avLst>
              <a:gd name="adj" fmla="val 4003"/>
            </a:avLst>
          </a:prstGeom>
          <a:solidFill>
            <a:srgbClr val="DCE6F2"/>
          </a:solidFill>
          <a:ln/>
        </p:spPr>
        <p:txBody>
          <a:bodyPr/>
          <a:lstStyle/>
          <a:p>
            <a:endParaRPr lang="en-US"/>
          </a:p>
        </p:txBody>
      </p:sp>
      <p:sp>
        <p:nvSpPr>
          <p:cNvPr id="6" name="Text 4"/>
          <p:cNvSpPr/>
          <p:nvPr/>
        </p:nvSpPr>
        <p:spPr>
          <a:xfrm>
            <a:off x="1572999" y="1775420"/>
            <a:ext cx="663952" cy="231130"/>
          </a:xfrm>
          <a:prstGeom prst="rect">
            <a:avLst/>
          </a:prstGeom>
          <a:noFill/>
          <a:ln/>
        </p:spPr>
        <p:txBody>
          <a:bodyPr wrap="square" lIns="0" tIns="0" rIns="0" bIns="0" rtlCol="0" anchor="t">
            <a:normAutofit/>
          </a:bodyPr>
          <a:lstStyle/>
          <a:p>
            <a:pPr marL="0" indent="0" algn="ctr">
              <a:lnSpc>
                <a:spcPts val="1620"/>
              </a:lnSpc>
              <a:buNone/>
            </a:pPr>
            <a:r>
              <a:rPr lang="en-US" sz="1200" b="1" dirty="0">
                <a:solidFill>
                  <a:srgbClr val="555555"/>
                </a:solidFill>
                <a:latin typeface="Lato" pitchFamily="34" charset="0"/>
                <a:ea typeface="Lato" pitchFamily="34" charset="-122"/>
                <a:cs typeface="Lato" pitchFamily="34" charset="-120"/>
              </a:rPr>
              <a:t>Original</a:t>
            </a:r>
            <a:endParaRPr lang="en-US" sz="1200" dirty="0"/>
          </a:p>
        </p:txBody>
      </p:sp>
      <p:pic>
        <p:nvPicPr>
          <p:cNvPr id="7" name="Image 0" descr="A boy batting on a baseball field; a red box marks the small ball on the ground"/>
          <p:cNvPicPr>
            <a:picLocks noChangeAspect="1"/>
          </p:cNvPicPr>
          <p:nvPr/>
        </p:nvPicPr>
        <p:blipFill>
          <a:blip r:embed="rId3"/>
          <a:srcRect/>
          <a:stretch/>
        </p:blipFill>
        <p:spPr>
          <a:xfrm>
            <a:off x="508000" y="2031950"/>
            <a:ext cx="2794000" cy="2794000"/>
          </a:xfrm>
          <a:prstGeom prst="roundRect">
            <a:avLst>
              <a:gd name="adj" fmla="val 1818"/>
            </a:avLst>
          </a:prstGeom>
        </p:spPr>
      </p:pic>
      <p:sp>
        <p:nvSpPr>
          <p:cNvPr id="8" name="Text 5"/>
          <p:cNvSpPr/>
          <p:nvPr/>
        </p:nvSpPr>
        <p:spPr>
          <a:xfrm>
            <a:off x="4211007" y="1775420"/>
            <a:ext cx="1179135" cy="231130"/>
          </a:xfrm>
          <a:prstGeom prst="rect">
            <a:avLst/>
          </a:prstGeom>
          <a:noFill/>
          <a:ln/>
        </p:spPr>
        <p:txBody>
          <a:bodyPr wrap="square" lIns="0" tIns="0" rIns="0" bIns="0" rtlCol="0" anchor="t">
            <a:normAutofit/>
          </a:bodyPr>
          <a:lstStyle/>
          <a:p>
            <a:pPr marL="0" indent="0" algn="ctr">
              <a:lnSpc>
                <a:spcPts val="1620"/>
              </a:lnSpc>
              <a:buNone/>
            </a:pPr>
            <a:r>
              <a:rPr lang="en-US" sz="1200" b="1" dirty="0">
                <a:solidFill>
                  <a:srgbClr val="C00000"/>
                </a:solidFill>
                <a:latin typeface="Lato" pitchFamily="34" charset="0"/>
                <a:ea typeface="Lato" pitchFamily="34" charset="-122"/>
                <a:cs typeface="Lato" pitchFamily="34" charset="-120"/>
              </a:rPr>
              <a:t>After zero-out</a:t>
            </a:r>
            <a:endParaRPr lang="en-US" sz="1200" dirty="0"/>
          </a:p>
        </p:txBody>
      </p:sp>
      <p:pic>
        <p:nvPicPr>
          <p:cNvPr id="9" name="Image 1" descr="The same image with zeroed tokens covering the ball"/>
          <p:cNvPicPr>
            <a:picLocks noChangeAspect="1"/>
          </p:cNvPicPr>
          <p:nvPr/>
        </p:nvPicPr>
        <p:blipFill>
          <a:blip r:embed="rId4"/>
          <a:srcRect l="74" r="74"/>
          <a:stretch/>
        </p:blipFill>
        <p:spPr>
          <a:xfrm>
            <a:off x="3403600" y="2031950"/>
            <a:ext cx="2794000" cy="2794000"/>
          </a:xfrm>
          <a:prstGeom prst="roundRect">
            <a:avLst>
              <a:gd name="adj" fmla="val 1818"/>
            </a:avLst>
          </a:prstGeom>
        </p:spPr>
      </p:pic>
      <p:sp>
        <p:nvSpPr>
          <p:cNvPr id="10" name="Text 6"/>
          <p:cNvSpPr/>
          <p:nvPr/>
        </p:nvSpPr>
        <p:spPr>
          <a:xfrm>
            <a:off x="535657" y="4902150"/>
            <a:ext cx="5634236" cy="299690"/>
          </a:xfrm>
          <a:prstGeom prst="rect">
            <a:avLst/>
          </a:prstGeom>
          <a:noFill/>
          <a:ln/>
        </p:spPr>
        <p:txBody>
          <a:bodyPr wrap="square" lIns="0" tIns="0" rIns="0" bIns="0" rtlCol="0" anchor="t">
            <a:normAutofit/>
          </a:bodyPr>
          <a:lstStyle/>
          <a:p>
            <a:pPr marL="0" indent="0" algn="ctr">
              <a:lnSpc>
                <a:spcPts val="2160"/>
              </a:lnSpc>
              <a:buNone/>
            </a:pPr>
            <a:r>
              <a:rPr lang="en-US" sz="1600" b="1" dirty="0">
                <a:solidFill>
                  <a:srgbClr val="000000"/>
                </a:solidFill>
                <a:latin typeface="Lato" pitchFamily="34" charset="0"/>
                <a:ea typeface="Lato" pitchFamily="34" charset="-122"/>
                <a:cs typeface="Lato" pitchFamily="34" charset="-120"/>
              </a:rPr>
              <a:t>Small object:</a:t>
            </a:r>
            <a:r>
              <a:rPr lang="en-US" sz="1600" dirty="0">
                <a:solidFill>
                  <a:srgbClr val="000000"/>
                </a:solidFill>
                <a:latin typeface="Lato" pitchFamily="34" charset="0"/>
                <a:ea typeface="Lato" pitchFamily="34" charset="-122"/>
                <a:cs typeface="Lato" pitchFamily="34" charset="-120"/>
              </a:rPr>
              <a:t> the zeroed tokens cover the whole "ball"</a:t>
            </a:r>
            <a:endParaRPr lang="en-US" sz="1600" dirty="0"/>
          </a:p>
        </p:txBody>
      </p:sp>
      <p:sp>
        <p:nvSpPr>
          <p:cNvPr id="11" name="Text 7"/>
          <p:cNvSpPr/>
          <p:nvPr/>
        </p:nvSpPr>
        <p:spPr>
          <a:xfrm>
            <a:off x="7059399" y="1775420"/>
            <a:ext cx="663952" cy="231130"/>
          </a:xfrm>
          <a:prstGeom prst="rect">
            <a:avLst/>
          </a:prstGeom>
          <a:noFill/>
          <a:ln/>
        </p:spPr>
        <p:txBody>
          <a:bodyPr wrap="square" lIns="0" tIns="0" rIns="0" bIns="0" rtlCol="0" anchor="t">
            <a:normAutofit/>
          </a:bodyPr>
          <a:lstStyle/>
          <a:p>
            <a:pPr marL="0" indent="0" algn="ctr">
              <a:lnSpc>
                <a:spcPts val="1620"/>
              </a:lnSpc>
              <a:buNone/>
            </a:pPr>
            <a:r>
              <a:rPr lang="en-US" sz="1200" b="1" dirty="0">
                <a:solidFill>
                  <a:srgbClr val="555555"/>
                </a:solidFill>
                <a:latin typeface="Lato" pitchFamily="34" charset="0"/>
                <a:ea typeface="Lato" pitchFamily="34" charset="-122"/>
                <a:cs typeface="Lato" pitchFamily="34" charset="-120"/>
              </a:rPr>
              <a:t>Original</a:t>
            </a:r>
            <a:endParaRPr lang="en-US" sz="1200" dirty="0"/>
          </a:p>
        </p:txBody>
      </p:sp>
      <p:pic>
        <p:nvPicPr>
          <p:cNvPr id="12" name="Image 2" descr="An open white refrigerator; a red box marks the microwave at the top edge"/>
          <p:cNvPicPr>
            <a:picLocks noChangeAspect="1"/>
          </p:cNvPicPr>
          <p:nvPr/>
        </p:nvPicPr>
        <p:blipFill>
          <a:blip r:embed="rId5"/>
          <a:srcRect/>
          <a:stretch/>
        </p:blipFill>
        <p:spPr>
          <a:xfrm>
            <a:off x="5994400" y="2031950"/>
            <a:ext cx="2794000" cy="2794000"/>
          </a:xfrm>
          <a:prstGeom prst="roundRect">
            <a:avLst>
              <a:gd name="adj" fmla="val 1818"/>
            </a:avLst>
          </a:prstGeom>
        </p:spPr>
      </p:pic>
      <p:sp>
        <p:nvSpPr>
          <p:cNvPr id="13" name="Text 8"/>
          <p:cNvSpPr/>
          <p:nvPr/>
        </p:nvSpPr>
        <p:spPr>
          <a:xfrm>
            <a:off x="9697407" y="1775420"/>
            <a:ext cx="1179135" cy="231130"/>
          </a:xfrm>
          <a:prstGeom prst="rect">
            <a:avLst/>
          </a:prstGeom>
          <a:noFill/>
          <a:ln/>
        </p:spPr>
        <p:txBody>
          <a:bodyPr wrap="square" lIns="0" tIns="0" rIns="0" bIns="0" rtlCol="0" anchor="t">
            <a:normAutofit/>
          </a:bodyPr>
          <a:lstStyle/>
          <a:p>
            <a:pPr marL="0" indent="0" algn="ctr">
              <a:lnSpc>
                <a:spcPts val="1620"/>
              </a:lnSpc>
              <a:buNone/>
            </a:pPr>
            <a:r>
              <a:rPr lang="en-US" sz="1200" b="1" dirty="0">
                <a:solidFill>
                  <a:srgbClr val="C00000"/>
                </a:solidFill>
                <a:latin typeface="Lato" pitchFamily="34" charset="0"/>
                <a:ea typeface="Lato" pitchFamily="34" charset="-122"/>
                <a:cs typeface="Lato" pitchFamily="34" charset="-120"/>
              </a:rPr>
              <a:t>After zero-out</a:t>
            </a:r>
            <a:endParaRPr lang="en-US" sz="1200" dirty="0"/>
          </a:p>
        </p:txBody>
      </p:sp>
      <p:pic>
        <p:nvPicPr>
          <p:cNvPr id="14" name="Image 3" descr="The same image with zeroed tokens near the top edge"/>
          <p:cNvPicPr>
            <a:picLocks noChangeAspect="1"/>
          </p:cNvPicPr>
          <p:nvPr/>
        </p:nvPicPr>
        <p:blipFill>
          <a:blip r:embed="rId6"/>
          <a:srcRect/>
          <a:stretch/>
        </p:blipFill>
        <p:spPr>
          <a:xfrm>
            <a:off x="8890000" y="2031950"/>
            <a:ext cx="2794000" cy="2794000"/>
          </a:xfrm>
          <a:prstGeom prst="roundRect">
            <a:avLst>
              <a:gd name="adj" fmla="val 1818"/>
            </a:avLst>
          </a:prstGeom>
        </p:spPr>
      </p:pic>
      <p:sp>
        <p:nvSpPr>
          <p:cNvPr id="15" name="Text 9"/>
          <p:cNvSpPr/>
          <p:nvPr/>
        </p:nvSpPr>
        <p:spPr>
          <a:xfrm>
            <a:off x="6169893" y="4902150"/>
            <a:ext cx="5338564" cy="299690"/>
          </a:xfrm>
          <a:prstGeom prst="rect">
            <a:avLst/>
          </a:prstGeom>
          <a:noFill/>
          <a:ln/>
        </p:spPr>
        <p:txBody>
          <a:bodyPr wrap="square" lIns="0" tIns="0" rIns="0" bIns="0" rtlCol="0" anchor="t">
            <a:normAutofit/>
          </a:bodyPr>
          <a:lstStyle/>
          <a:p>
            <a:pPr marL="0" indent="0" algn="ctr">
              <a:lnSpc>
                <a:spcPts val="2160"/>
              </a:lnSpc>
              <a:buNone/>
            </a:pPr>
            <a:r>
              <a:rPr lang="en-US" sz="1600" b="1" dirty="0">
                <a:solidFill>
                  <a:srgbClr val="000000"/>
                </a:solidFill>
                <a:latin typeface="Lato" pitchFamily="34" charset="0"/>
                <a:ea typeface="Lato" pitchFamily="34" charset="-122"/>
                <a:cs typeface="Lato" pitchFamily="34" charset="-120"/>
              </a:rPr>
              <a:t>Edge + long word:</a:t>
            </a:r>
            <a:r>
              <a:rPr lang="en-US" sz="1600" dirty="0">
                <a:solidFill>
                  <a:srgbClr val="000000"/>
                </a:solidFill>
                <a:latin typeface="Lato" pitchFamily="34" charset="0"/>
                <a:ea typeface="Lato" pitchFamily="34" charset="-122"/>
                <a:cs typeface="Lato" pitchFamily="34" charset="-120"/>
              </a:rPr>
              <a:t> "microwave" splits into 3 tokens</a:t>
            </a:r>
            <a:endParaRPr lang="en-US" sz="1600" dirty="0"/>
          </a:p>
        </p:txBody>
      </p:sp>
      <p:sp>
        <p:nvSpPr>
          <p:cNvPr id="16" name="Text 10"/>
          <p:cNvSpPr/>
          <p:nvPr/>
        </p:nvSpPr>
        <p:spPr>
          <a:xfrm>
            <a:off x="340360" y="5582841"/>
            <a:ext cx="11511280" cy="368300"/>
          </a:xfrm>
          <a:prstGeom prst="rect">
            <a:avLst/>
          </a:prstGeom>
          <a:noFill/>
          <a:ln/>
        </p:spPr>
        <p:txBody>
          <a:bodyPr wrap="square" lIns="0" tIns="0" rIns="0" bIns="0" rtlCol="0" anchor="t">
            <a:normAutofit/>
          </a:bodyPr>
          <a:lstStyle/>
          <a:p>
            <a:pPr marL="0" indent="0" algn="ctr">
              <a:lnSpc>
                <a:spcPts val="2700"/>
              </a:lnSpc>
              <a:buNone/>
            </a:pPr>
            <a:r>
              <a:rPr lang="en-US" sz="2000" u="sng" dirty="0">
                <a:solidFill>
                  <a:srgbClr val="C00000"/>
                </a:solidFill>
                <a:latin typeface="Lato" pitchFamily="34" charset="0"/>
                <a:ea typeface="Lato" pitchFamily="34" charset="-122"/>
                <a:cs typeface="Lato" pitchFamily="34" charset="-120"/>
              </a:rPr>
              <a:t>Telling a false anchor from a small real object remains open</a:t>
            </a:r>
            <a:endParaRPr lang="en-US" sz="2000" dirty="0"/>
          </a:p>
        </p:txBody>
      </p:sp>
      <p:sp>
        <p:nvSpPr>
          <p:cNvPr id="17" name="Text 11"/>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18" name="Text 12"/>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Backup 11</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Discussion: Visual Bias as a Main Cause</a:t>
            </a:r>
            <a:endParaRPr lang="en-US" sz="3200" dirty="0"/>
          </a:p>
        </p:txBody>
      </p:sp>
      <p:sp>
        <p:nvSpPr>
          <p:cNvPr id="4" name="Text 2"/>
          <p:cNvSpPr/>
          <p:nvPr/>
        </p:nvSpPr>
        <p:spPr>
          <a:xfrm>
            <a:off x="508000" y="1026120"/>
            <a:ext cx="11511280" cy="368300"/>
          </a:xfrm>
          <a:prstGeom prst="rect">
            <a:avLst/>
          </a:prstGeom>
          <a:noFill/>
          <a:ln/>
        </p:spPr>
        <p:txBody>
          <a:bodyPr wrap="square" lIns="0" tIns="0" rIns="0" bIns="0" rtlCol="0" anchor="t">
            <a:normAutofit/>
          </a:bodyPr>
          <a:lstStyle/>
          <a:p>
            <a:pPr marL="0" indent="0" algn="l">
              <a:lnSpc>
                <a:spcPts val="2700"/>
              </a:lnSpc>
              <a:buNone/>
            </a:pPr>
            <a:r>
              <a:rPr lang="en-US" sz="2000" b="1" dirty="0">
                <a:solidFill>
                  <a:srgbClr val="000000"/>
                </a:solidFill>
                <a:latin typeface="Lato" pitchFamily="34" charset="0"/>
                <a:ea typeface="Lato" pitchFamily="34" charset="-122"/>
                <a:cs typeface="Lato" pitchFamily="34" charset="-120"/>
              </a:rPr>
              <a:t>Noise test:</a:t>
            </a:r>
            <a:r>
              <a:rPr lang="en-US" sz="2000" dirty="0">
                <a:solidFill>
                  <a:srgbClr val="000000"/>
                </a:solidFill>
                <a:latin typeface="Lato" pitchFamily="34" charset="0"/>
                <a:ea typeface="Lato" pitchFamily="34" charset="-122"/>
                <a:cs typeface="Lato" pitchFamily="34" charset="-120"/>
              </a:rPr>
              <a:t> we blur the image step by step and </a:t>
            </a:r>
            <a:r>
              <a:rPr lang="en-US" sz="2000" u="sng" dirty="0">
                <a:solidFill>
                  <a:srgbClr val="C00000"/>
                </a:solidFill>
                <a:latin typeface="Lato" pitchFamily="34" charset="0"/>
                <a:ea typeface="Lato" pitchFamily="34" charset="-122"/>
                <a:cs typeface="Lato" pitchFamily="34" charset="-120"/>
              </a:rPr>
              <a:t>track which hallucinations change</a:t>
            </a:r>
            <a:endParaRPr lang="en-US" sz="2000" dirty="0"/>
          </a:p>
        </p:txBody>
      </p:sp>
      <p:sp>
        <p:nvSpPr>
          <p:cNvPr id="5" name="Shape 3"/>
          <p:cNvSpPr/>
          <p:nvPr/>
        </p:nvSpPr>
        <p:spPr>
          <a:xfrm>
            <a:off x="1536700" y="1572220"/>
            <a:ext cx="9118600" cy="3849340"/>
          </a:xfrm>
          <a:prstGeom prst="roundRect">
            <a:avLst>
              <a:gd name="adj" fmla="val 3959"/>
            </a:avLst>
          </a:prstGeom>
          <a:solidFill>
            <a:srgbClr val="DCE6F2"/>
          </a:solidFill>
          <a:ln/>
        </p:spPr>
        <p:txBody>
          <a:bodyPr/>
          <a:lstStyle/>
          <a:p>
            <a:endParaRPr lang="en-US"/>
          </a:p>
        </p:txBody>
      </p:sp>
      <p:pic>
        <p:nvPicPr>
          <p:cNvPr id="6" name="Image 0" descr="Bar chart: hallucinated object count drops as image noise steps increase from 0 to 500"/>
          <p:cNvPicPr>
            <a:picLocks noChangeAspect="1"/>
          </p:cNvPicPr>
          <p:nvPr/>
        </p:nvPicPr>
        <p:blipFill>
          <a:blip r:embed="rId3"/>
          <a:srcRect/>
          <a:stretch/>
        </p:blipFill>
        <p:spPr>
          <a:xfrm>
            <a:off x="1841500" y="1775420"/>
            <a:ext cx="4419600" cy="3092450"/>
          </a:xfrm>
          <a:prstGeom prst="rect">
            <a:avLst/>
          </a:prstGeom>
        </p:spPr>
      </p:pic>
      <p:sp>
        <p:nvSpPr>
          <p:cNvPr id="7" name="Text 4"/>
          <p:cNvSpPr/>
          <p:nvPr/>
        </p:nvSpPr>
        <p:spPr>
          <a:xfrm>
            <a:off x="2013134" y="4944070"/>
            <a:ext cx="4076283" cy="299690"/>
          </a:xfrm>
          <a:prstGeom prst="rect">
            <a:avLst/>
          </a:prstGeom>
          <a:noFill/>
          <a:ln/>
        </p:spPr>
        <p:txBody>
          <a:bodyPr wrap="square" lIns="0" tIns="0" rIns="0" bIns="0" rtlCol="0" anchor="t">
            <a:normAutofit/>
          </a:bodyPr>
          <a:lstStyle/>
          <a:p>
            <a:pPr marL="0" indent="0" algn="ctr">
              <a:lnSpc>
                <a:spcPts val="2160"/>
              </a:lnSpc>
              <a:buNone/>
            </a:pPr>
            <a:r>
              <a:rPr lang="en-US" sz="1600" dirty="0">
                <a:solidFill>
                  <a:srgbClr val="000000"/>
                </a:solidFill>
                <a:latin typeface="Lato" pitchFamily="34" charset="0"/>
                <a:ea typeface="Lato" pitchFamily="34" charset="-122"/>
                <a:cs typeface="Lato" pitchFamily="34" charset="-120"/>
              </a:rPr>
              <a:t>Hallucinations drop as the noise grows</a:t>
            </a:r>
            <a:endParaRPr lang="en-US" sz="1600" dirty="0"/>
          </a:p>
        </p:txBody>
      </p:sp>
      <p:pic>
        <p:nvPicPr>
          <p:cNvPr id="8" name="Image 1" descr="Pie chart: visual bias 80 percent, language prior 8.6 percent, others 11.4 percent"/>
          <p:cNvPicPr>
            <a:picLocks noChangeAspect="1"/>
          </p:cNvPicPr>
          <p:nvPr/>
        </p:nvPicPr>
        <p:blipFill>
          <a:blip r:embed="rId4"/>
          <a:srcRect t="-34" b="-34"/>
          <a:stretch/>
        </p:blipFill>
        <p:spPr>
          <a:xfrm>
            <a:off x="6565900" y="1775420"/>
            <a:ext cx="3784600" cy="3092450"/>
          </a:xfrm>
          <a:prstGeom prst="rect">
            <a:avLst/>
          </a:prstGeom>
        </p:spPr>
      </p:pic>
      <p:sp>
        <p:nvSpPr>
          <p:cNvPr id="9" name="Text 5"/>
          <p:cNvSpPr/>
          <p:nvPr/>
        </p:nvSpPr>
        <p:spPr>
          <a:xfrm>
            <a:off x="6973074" y="4944070"/>
            <a:ext cx="2970252" cy="299690"/>
          </a:xfrm>
          <a:prstGeom prst="rect">
            <a:avLst/>
          </a:prstGeom>
          <a:noFill/>
          <a:ln/>
        </p:spPr>
        <p:txBody>
          <a:bodyPr wrap="square" lIns="0" tIns="0" rIns="0" bIns="0" rtlCol="0" anchor="t">
            <a:normAutofit/>
          </a:bodyPr>
          <a:lstStyle/>
          <a:p>
            <a:pPr marL="0" indent="0" algn="ctr">
              <a:lnSpc>
                <a:spcPts val="2160"/>
              </a:lnSpc>
              <a:buNone/>
            </a:pPr>
            <a:r>
              <a:rPr lang="en-US" sz="1600" dirty="0">
                <a:solidFill>
                  <a:srgbClr val="000000"/>
                </a:solidFill>
                <a:latin typeface="Lato" pitchFamily="34" charset="0"/>
                <a:ea typeface="Lato" pitchFamily="34" charset="-122"/>
                <a:cs typeface="Lato" pitchFamily="34" charset="-120"/>
              </a:rPr>
              <a:t>Visual bias is the main cause</a:t>
            </a:r>
            <a:endParaRPr lang="en-US" sz="1600" dirty="0"/>
          </a:p>
        </p:txBody>
      </p:sp>
      <p:sp>
        <p:nvSpPr>
          <p:cNvPr id="10" name="Text 6"/>
          <p:cNvSpPr/>
          <p:nvPr/>
        </p:nvSpPr>
        <p:spPr>
          <a:xfrm>
            <a:off x="340360" y="5624761"/>
            <a:ext cx="11511280" cy="368300"/>
          </a:xfrm>
          <a:prstGeom prst="rect">
            <a:avLst/>
          </a:prstGeom>
          <a:noFill/>
          <a:ln/>
        </p:spPr>
        <p:txBody>
          <a:bodyPr wrap="square" lIns="0" tIns="0" rIns="0" bIns="0" rtlCol="0" anchor="t">
            <a:normAutofit/>
          </a:bodyPr>
          <a:lstStyle/>
          <a:p>
            <a:pPr marL="0" indent="0" algn="ctr">
              <a:lnSpc>
                <a:spcPts val="2700"/>
              </a:lnSpc>
              <a:buNone/>
            </a:pPr>
            <a:r>
              <a:rPr lang="en-US" sz="2000" u="sng" dirty="0">
                <a:solidFill>
                  <a:srgbClr val="C00000"/>
                </a:solidFill>
                <a:latin typeface="Lato" pitchFamily="34" charset="0"/>
                <a:ea typeface="Lato" pitchFamily="34" charset="-122"/>
                <a:cs typeface="Lato" pitchFamily="34" charset="-120"/>
              </a:rPr>
              <a:t>80% of hallucination changes follow the visual input, while only 8.6% follow the language prior</a:t>
            </a:r>
            <a:endParaRPr lang="en-US" sz="2000" dirty="0"/>
          </a:p>
        </p:txBody>
      </p:sp>
      <p:sp>
        <p:nvSpPr>
          <p:cNvPr id="11" name="Text 7"/>
          <p:cNvSpPr/>
          <p:nvPr/>
        </p:nvSpPr>
        <p:spPr>
          <a:xfrm>
            <a:off x="177800" y="6464300"/>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Lato" pitchFamily="34" charset="0"/>
                <a:ea typeface="Lato" pitchFamily="34" charset="-122"/>
                <a:cs typeface="Lato" pitchFamily="34" charset="-120"/>
              </a:rPr>
              <a:t>Rutgers University</a:t>
            </a:r>
            <a:endParaRPr lang="en-US" sz="1600" dirty="0"/>
          </a:p>
        </p:txBody>
      </p:sp>
      <p:sp>
        <p:nvSpPr>
          <p:cNvPr id="12" name="Text 8"/>
          <p:cNvSpPr/>
          <p:nvPr/>
        </p:nvSpPr>
        <p:spPr>
          <a:xfrm>
            <a:off x="10106660" y="6502400"/>
            <a:ext cx="18313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FFFF"/>
                </a:solidFill>
                <a:latin typeface="Lato" pitchFamily="34" charset="0"/>
                <a:ea typeface="Lato" pitchFamily="34" charset="-122"/>
                <a:cs typeface="Lato" pitchFamily="34" charset="-120"/>
              </a:rPr>
              <a:t>Backup 12</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6350"/>
            <a:ext cx="12192000" cy="501650"/>
          </a:xfrm>
          <a:prstGeom prst="rect">
            <a:avLst/>
          </a:prstGeom>
          <a:solidFill>
            <a:srgbClr val="CC0033"/>
          </a:solidFill>
          <a:ln/>
        </p:spPr>
        <p:txBody>
          <a:bodyPr/>
          <a:lstStyle/>
          <a:p>
            <a:endParaRPr lang="en-US"/>
          </a:p>
        </p:txBody>
      </p:sp>
      <p:sp>
        <p:nvSpPr>
          <p:cNvPr id="3" name="Text 1"/>
          <p:cNvSpPr/>
          <p:nvPr/>
        </p:nvSpPr>
        <p:spPr>
          <a:xfrm>
            <a:off x="304800" y="6473825"/>
            <a:ext cx="18702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FFFFF"/>
                </a:solidFill>
                <a:latin typeface="Lato" pitchFamily="34" charset="0"/>
                <a:ea typeface="Lato" pitchFamily="34" charset="-122"/>
                <a:cs typeface="Lato" pitchFamily="34" charset="-120"/>
              </a:rPr>
              <a:t>Rutgers University</a:t>
            </a:r>
            <a:endParaRPr lang="en-US" sz="1500" dirty="0"/>
          </a:p>
        </p:txBody>
      </p:sp>
      <p:sp>
        <p:nvSpPr>
          <p:cNvPr id="4" name="Text 2"/>
          <p:cNvSpPr/>
          <p:nvPr/>
        </p:nvSpPr>
        <p:spPr>
          <a:xfrm>
            <a:off x="11242715" y="6491585"/>
            <a:ext cx="644485" cy="256530"/>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FFFFFF"/>
                </a:solidFill>
                <a:latin typeface="Lato" pitchFamily="34" charset="0"/>
                <a:ea typeface="Lato" pitchFamily="34" charset="-122"/>
                <a:cs typeface="Lato" pitchFamily="34" charset="-120"/>
              </a:rPr>
              <a:t>Backup</a:t>
            </a:r>
            <a:endParaRPr lang="en-US" sz="1300" dirty="0"/>
          </a:p>
        </p:txBody>
      </p:sp>
      <p:sp>
        <p:nvSpPr>
          <p:cNvPr id="5" name="Text 3"/>
          <p:cNvSpPr>
            <a:spLocks noGrp="1"/>
          </p:cNvSpPr>
          <p:nvPr>
            <p:ph type="title"/>
          </p:nvPr>
        </p:nvSpPr>
        <p:spPr>
          <a:xfrm>
            <a:off x="508000" y="355600"/>
            <a:ext cx="1151128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00000"/>
                </a:solidFill>
                <a:latin typeface="Lato" pitchFamily="34" charset="0"/>
                <a:ea typeface="Lato" pitchFamily="34" charset="-122"/>
                <a:cs typeface="Lato" pitchFamily="34" charset="-120"/>
              </a:rPr>
              <a:t>Key Idea: Risk Is a State in the Observer's Hidden Space</a:t>
            </a:r>
            <a:endParaRPr lang="en-US" sz="3200" dirty="0"/>
          </a:p>
        </p:txBody>
      </p:sp>
      <p:sp>
        <p:nvSpPr>
          <p:cNvPr id="6" name="Text 4"/>
          <p:cNvSpPr/>
          <p:nvPr/>
        </p:nvSpPr>
        <p:spPr>
          <a:xfrm>
            <a:off x="508000" y="1026120"/>
            <a:ext cx="11511280" cy="393700"/>
          </a:xfrm>
          <a:prstGeom prst="rect">
            <a:avLst/>
          </a:prstGeom>
          <a:noFill/>
          <a:ln/>
        </p:spPr>
        <p:txBody>
          <a:bodyPr wrap="square" lIns="0" tIns="0" rIns="0" bIns="0" rtlCol="0" anchor="t">
            <a:normAutofit/>
          </a:bodyPr>
          <a:lstStyle/>
          <a:p>
            <a:pPr marL="0" indent="0" algn="l">
              <a:lnSpc>
                <a:spcPts val="2900"/>
              </a:lnSpc>
              <a:buNone/>
            </a:pPr>
            <a:r>
              <a:rPr lang="en-US" sz="2000" b="1" dirty="0">
                <a:solidFill>
                  <a:srgbClr val="000000"/>
                </a:solidFill>
                <a:latin typeface="Lato" pitchFamily="34" charset="0"/>
                <a:ea typeface="Lato" pitchFamily="34" charset="-122"/>
                <a:cs typeface="Lato" pitchFamily="34" charset="-120"/>
              </a:rPr>
              <a:t>Idea:</a:t>
            </a:r>
            <a:r>
              <a:rPr lang="en-US" sz="2000" dirty="0">
                <a:solidFill>
                  <a:srgbClr val="000000"/>
                </a:solidFill>
                <a:latin typeface="Lato" pitchFamily="34" charset="0"/>
                <a:ea typeface="Lato" pitchFamily="34" charset="-122"/>
                <a:cs typeface="Lato" pitchFamily="34" charset="-120"/>
              </a:rPr>
              <a:t> each step reads fine as text, but </a:t>
            </a:r>
            <a:r>
              <a:rPr lang="en-US" sz="2000" u="sng" dirty="0">
                <a:solidFill>
                  <a:srgbClr val="C00000"/>
                </a:solidFill>
                <a:latin typeface="Lato" pitchFamily="34" charset="0"/>
                <a:ea typeface="Lato" pitchFamily="34" charset="-122"/>
                <a:cs typeface="Lato" pitchFamily="34" charset="-120"/>
              </a:rPr>
              <a:t>the observer's hidden state already carries the risk context</a:t>
            </a:r>
            <a:endParaRPr lang="en-US" sz="2000" dirty="0"/>
          </a:p>
        </p:txBody>
      </p:sp>
      <p:sp>
        <p:nvSpPr>
          <p:cNvPr id="7" name="Text 5"/>
          <p:cNvSpPr/>
          <p:nvPr/>
        </p:nvSpPr>
        <p:spPr>
          <a:xfrm>
            <a:off x="508000" y="1677739"/>
            <a:ext cx="12065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00000"/>
                </a:solidFill>
                <a:latin typeface="Lato" pitchFamily="34" charset="0"/>
                <a:ea typeface="Lato" pitchFamily="34" charset="-122"/>
                <a:cs typeface="Lato" pitchFamily="34" charset="-120"/>
              </a:rPr>
              <a:t>Agent steps</a:t>
            </a:r>
            <a:endParaRPr lang="en-US" sz="1200" dirty="0"/>
          </a:p>
        </p:txBody>
      </p:sp>
      <p:sp>
        <p:nvSpPr>
          <p:cNvPr id="8" name="Text 6"/>
          <p:cNvSpPr/>
          <p:nvPr/>
        </p:nvSpPr>
        <p:spPr>
          <a:xfrm>
            <a:off x="508000" y="1903760"/>
            <a:ext cx="1206500" cy="3810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555555"/>
                </a:solidFill>
                <a:latin typeface="Lato" pitchFamily="34" charset="0"/>
                <a:ea typeface="Lato" pitchFamily="34" charset="-122"/>
                <a:cs typeface="Lato" pitchFamily="34" charset="-120"/>
              </a:rPr>
              <a:t>the same Shopify run</a:t>
            </a:r>
            <a:endParaRPr lang="en-US" sz="1000" dirty="0"/>
          </a:p>
        </p:txBody>
      </p:sp>
      <p:sp>
        <p:nvSpPr>
          <p:cNvPr id="9" name="Shape 7"/>
          <p:cNvSpPr/>
          <p:nvPr/>
        </p:nvSpPr>
        <p:spPr>
          <a:xfrm>
            <a:off x="1714500" y="1662509"/>
            <a:ext cx="939800" cy="612080"/>
          </a:xfrm>
          <a:prstGeom prst="roundRect">
            <a:avLst>
              <a:gd name="adj" fmla="val 10374"/>
            </a:avLst>
          </a:prstGeom>
          <a:solidFill>
            <a:srgbClr val="E8EEF8"/>
          </a:solidFill>
          <a:ln/>
        </p:spPr>
        <p:txBody>
          <a:bodyPr/>
          <a:lstStyle/>
          <a:p>
            <a:endParaRPr lang="en-US"/>
          </a:p>
        </p:txBody>
      </p:sp>
      <p:sp>
        <p:nvSpPr>
          <p:cNvPr id="10" name="Text 8"/>
          <p:cNvSpPr/>
          <p:nvPr/>
        </p:nvSpPr>
        <p:spPr>
          <a:xfrm>
            <a:off x="2122140" y="1713309"/>
            <a:ext cx="124470" cy="203200"/>
          </a:xfrm>
          <a:prstGeom prst="rect">
            <a:avLst/>
          </a:prstGeom>
          <a:noFill/>
          <a:ln/>
        </p:spPr>
        <p:txBody>
          <a:bodyPr wrap="square" lIns="0" tIns="0" rIns="0" bIns="0" rtlCol="0" anchor="t">
            <a:normAutofit/>
          </a:bodyPr>
          <a:lstStyle/>
          <a:p>
            <a:pPr marL="0" indent="0" algn="ctr">
              <a:lnSpc>
                <a:spcPts val="1400"/>
              </a:lnSpc>
              <a:buNone/>
            </a:pPr>
            <a:r>
              <a:rPr lang="en-US" sz="1000" b="1" dirty="0">
                <a:solidFill>
                  <a:srgbClr val="2F5597"/>
                </a:solidFill>
                <a:latin typeface="Lato" pitchFamily="34" charset="0"/>
                <a:ea typeface="Lato" pitchFamily="34" charset="-122"/>
                <a:cs typeface="Lato" pitchFamily="34" charset="-120"/>
              </a:rPr>
              <a:t>1</a:t>
            </a:r>
            <a:endParaRPr lang="en-US" sz="1000" dirty="0"/>
          </a:p>
        </p:txBody>
      </p:sp>
      <p:sp>
        <p:nvSpPr>
          <p:cNvPr id="11" name="Text 9"/>
          <p:cNvSpPr/>
          <p:nvPr/>
        </p:nvSpPr>
        <p:spPr>
          <a:xfrm>
            <a:off x="1746726" y="1903809"/>
            <a:ext cx="875348" cy="185390"/>
          </a:xfrm>
          <a:prstGeom prst="rect">
            <a:avLst/>
          </a:prstGeom>
          <a:noFill/>
          <a:ln/>
        </p:spPr>
        <p:txBody>
          <a:bodyPr wrap="square" lIns="0" tIns="0" rIns="0" bIns="0" rtlCol="0" anchor="t">
            <a:normAutofit/>
          </a:bodyPr>
          <a:lstStyle/>
          <a:p>
            <a:pPr marL="0" indent="0" algn="ctr">
              <a:lnSpc>
                <a:spcPts val="1260"/>
              </a:lnSpc>
              <a:buNone/>
            </a:pPr>
            <a:r>
              <a:rPr lang="en-US" sz="1050" dirty="0">
                <a:solidFill>
                  <a:srgbClr val="000000"/>
                </a:solidFill>
                <a:latin typeface="Lato" pitchFamily="34" charset="0"/>
                <a:ea typeface="Lato" pitchFamily="34" charset="-122"/>
                <a:cs typeface="Lato" pitchFamily="34" charset="-120"/>
              </a:rPr>
              <a:t>Search store</a:t>
            </a:r>
            <a:endParaRPr lang="en-US" sz="1050" dirty="0"/>
          </a:p>
        </p:txBody>
      </p:sp>
      <p:sp>
        <p:nvSpPr>
          <p:cNvPr id="12" name="Shape 10"/>
          <p:cNvSpPr/>
          <p:nvPr/>
        </p:nvSpPr>
        <p:spPr>
          <a:xfrm>
            <a:off x="2705100" y="1662509"/>
            <a:ext cx="939800" cy="612080"/>
          </a:xfrm>
          <a:prstGeom prst="roundRect">
            <a:avLst>
              <a:gd name="adj" fmla="val 10374"/>
            </a:avLst>
          </a:prstGeom>
          <a:solidFill>
            <a:srgbClr val="E8EEF8"/>
          </a:solidFill>
          <a:ln/>
        </p:spPr>
        <p:txBody>
          <a:bodyPr/>
          <a:lstStyle/>
          <a:p>
            <a:endParaRPr lang="en-US"/>
          </a:p>
        </p:txBody>
      </p:sp>
      <p:sp>
        <p:nvSpPr>
          <p:cNvPr id="13" name="Text 11"/>
          <p:cNvSpPr/>
          <p:nvPr/>
        </p:nvSpPr>
        <p:spPr>
          <a:xfrm>
            <a:off x="3112740" y="1713309"/>
            <a:ext cx="124470" cy="203200"/>
          </a:xfrm>
          <a:prstGeom prst="rect">
            <a:avLst/>
          </a:prstGeom>
          <a:noFill/>
          <a:ln/>
        </p:spPr>
        <p:txBody>
          <a:bodyPr wrap="square" lIns="0" tIns="0" rIns="0" bIns="0" rtlCol="0" anchor="t">
            <a:normAutofit/>
          </a:bodyPr>
          <a:lstStyle/>
          <a:p>
            <a:pPr marL="0" indent="0" algn="ctr">
              <a:lnSpc>
                <a:spcPts val="1400"/>
              </a:lnSpc>
              <a:buNone/>
            </a:pPr>
            <a:r>
              <a:rPr lang="en-US" sz="1000" b="1" dirty="0">
                <a:solidFill>
                  <a:srgbClr val="2F5597"/>
                </a:solidFill>
                <a:latin typeface="Lato" pitchFamily="34" charset="0"/>
                <a:ea typeface="Lato" pitchFamily="34" charset="-122"/>
                <a:cs typeface="Lato" pitchFamily="34" charset="-120"/>
              </a:rPr>
              <a:t>2</a:t>
            </a:r>
            <a:endParaRPr lang="en-US" sz="1000" dirty="0"/>
          </a:p>
        </p:txBody>
      </p:sp>
      <p:sp>
        <p:nvSpPr>
          <p:cNvPr id="14" name="Text 12"/>
          <p:cNvSpPr/>
          <p:nvPr/>
        </p:nvSpPr>
        <p:spPr>
          <a:xfrm>
            <a:off x="2717800" y="1903809"/>
            <a:ext cx="914400" cy="345380"/>
          </a:xfrm>
          <a:prstGeom prst="rect">
            <a:avLst/>
          </a:prstGeom>
          <a:noFill/>
          <a:ln/>
        </p:spPr>
        <p:txBody>
          <a:bodyPr wrap="square" lIns="0" tIns="0" rIns="0" bIns="0" rtlCol="0" anchor="t">
            <a:normAutofit/>
          </a:bodyPr>
          <a:lstStyle/>
          <a:p>
            <a:pPr marL="0" indent="0" algn="ctr">
              <a:lnSpc>
                <a:spcPts val="1260"/>
              </a:lnSpc>
              <a:buNone/>
            </a:pPr>
            <a:r>
              <a:rPr lang="en-US" sz="1050" dirty="0">
                <a:solidFill>
                  <a:srgbClr val="000000"/>
                </a:solidFill>
                <a:latin typeface="Lato" pitchFamily="34" charset="0"/>
                <a:ea typeface="Lato" pitchFamily="34" charset="-122"/>
                <a:cs typeface="Lato" pitchFamily="34" charset="-120"/>
              </a:rPr>
              <a:t>Validate phone</a:t>
            </a:r>
            <a:endParaRPr lang="en-US" sz="1050" dirty="0"/>
          </a:p>
        </p:txBody>
      </p:sp>
      <p:sp>
        <p:nvSpPr>
          <p:cNvPr id="15" name="Shape 13"/>
          <p:cNvSpPr/>
          <p:nvPr/>
        </p:nvSpPr>
        <p:spPr>
          <a:xfrm>
            <a:off x="3695700" y="1662509"/>
            <a:ext cx="939800" cy="612080"/>
          </a:xfrm>
          <a:prstGeom prst="roundRect">
            <a:avLst>
              <a:gd name="adj" fmla="val 10374"/>
            </a:avLst>
          </a:prstGeom>
          <a:solidFill>
            <a:srgbClr val="E8EEF8"/>
          </a:solidFill>
          <a:ln/>
        </p:spPr>
        <p:txBody>
          <a:bodyPr/>
          <a:lstStyle/>
          <a:p>
            <a:endParaRPr lang="en-US"/>
          </a:p>
        </p:txBody>
      </p:sp>
      <p:sp>
        <p:nvSpPr>
          <p:cNvPr id="16" name="Text 14"/>
          <p:cNvSpPr/>
          <p:nvPr/>
        </p:nvSpPr>
        <p:spPr>
          <a:xfrm>
            <a:off x="4103340" y="1713309"/>
            <a:ext cx="124470" cy="203200"/>
          </a:xfrm>
          <a:prstGeom prst="rect">
            <a:avLst/>
          </a:prstGeom>
          <a:noFill/>
          <a:ln/>
        </p:spPr>
        <p:txBody>
          <a:bodyPr wrap="square" lIns="0" tIns="0" rIns="0" bIns="0" rtlCol="0" anchor="t">
            <a:normAutofit/>
          </a:bodyPr>
          <a:lstStyle/>
          <a:p>
            <a:pPr marL="0" indent="0" algn="ctr">
              <a:lnSpc>
                <a:spcPts val="1400"/>
              </a:lnSpc>
              <a:buNone/>
            </a:pPr>
            <a:r>
              <a:rPr lang="en-US" sz="1000" b="1" dirty="0">
                <a:solidFill>
                  <a:srgbClr val="2F5597"/>
                </a:solidFill>
                <a:latin typeface="Lato" pitchFamily="34" charset="0"/>
                <a:ea typeface="Lato" pitchFamily="34" charset="-122"/>
                <a:cs typeface="Lato" pitchFamily="34" charset="-120"/>
              </a:rPr>
              <a:t>3</a:t>
            </a:r>
            <a:endParaRPr lang="en-US" sz="1000" dirty="0"/>
          </a:p>
        </p:txBody>
      </p:sp>
      <p:sp>
        <p:nvSpPr>
          <p:cNvPr id="17" name="Text 15"/>
          <p:cNvSpPr/>
          <p:nvPr/>
        </p:nvSpPr>
        <p:spPr>
          <a:xfrm>
            <a:off x="3708400" y="1903809"/>
            <a:ext cx="914400" cy="345380"/>
          </a:xfrm>
          <a:prstGeom prst="rect">
            <a:avLst/>
          </a:prstGeom>
          <a:noFill/>
          <a:ln/>
        </p:spPr>
        <p:txBody>
          <a:bodyPr wrap="square" lIns="0" tIns="0" rIns="0" bIns="0" rtlCol="0" anchor="t">
            <a:normAutofit/>
          </a:bodyPr>
          <a:lstStyle/>
          <a:p>
            <a:pPr marL="0" indent="0" algn="ctr">
              <a:lnSpc>
                <a:spcPts val="1260"/>
              </a:lnSpc>
              <a:buNone/>
            </a:pPr>
            <a:r>
              <a:rPr lang="en-US" sz="1050" dirty="0">
                <a:solidFill>
                  <a:srgbClr val="000000"/>
                </a:solidFill>
                <a:latin typeface="Lato" pitchFamily="34" charset="0"/>
                <a:ea typeface="Lato" pitchFamily="34" charset="-122"/>
                <a:cs typeface="Lato" pitchFamily="34" charset="-120"/>
              </a:rPr>
              <a:t>Generate QR code</a:t>
            </a:r>
            <a:endParaRPr lang="en-US" sz="1050" dirty="0"/>
          </a:p>
        </p:txBody>
      </p:sp>
      <p:sp>
        <p:nvSpPr>
          <p:cNvPr id="18" name="Shape 16"/>
          <p:cNvSpPr/>
          <p:nvPr/>
        </p:nvSpPr>
        <p:spPr>
          <a:xfrm>
            <a:off x="4686300" y="1662509"/>
            <a:ext cx="939800" cy="612080"/>
          </a:xfrm>
          <a:prstGeom prst="roundRect">
            <a:avLst>
              <a:gd name="adj" fmla="val 10374"/>
            </a:avLst>
          </a:prstGeom>
          <a:solidFill>
            <a:srgbClr val="E8EEF8"/>
          </a:solidFill>
          <a:ln/>
        </p:spPr>
        <p:txBody>
          <a:bodyPr/>
          <a:lstStyle/>
          <a:p>
            <a:endParaRPr lang="en-US"/>
          </a:p>
        </p:txBody>
      </p:sp>
      <p:sp>
        <p:nvSpPr>
          <p:cNvPr id="19" name="Text 17"/>
          <p:cNvSpPr/>
          <p:nvPr/>
        </p:nvSpPr>
        <p:spPr>
          <a:xfrm>
            <a:off x="5093940" y="1713309"/>
            <a:ext cx="124470" cy="203200"/>
          </a:xfrm>
          <a:prstGeom prst="rect">
            <a:avLst/>
          </a:prstGeom>
          <a:noFill/>
          <a:ln/>
        </p:spPr>
        <p:txBody>
          <a:bodyPr wrap="square" lIns="0" tIns="0" rIns="0" bIns="0" rtlCol="0" anchor="t">
            <a:normAutofit/>
          </a:bodyPr>
          <a:lstStyle/>
          <a:p>
            <a:pPr marL="0" indent="0" algn="ctr">
              <a:lnSpc>
                <a:spcPts val="1400"/>
              </a:lnSpc>
              <a:buNone/>
            </a:pPr>
            <a:r>
              <a:rPr lang="en-US" sz="1000" b="1" dirty="0">
                <a:solidFill>
                  <a:srgbClr val="2F5597"/>
                </a:solidFill>
                <a:latin typeface="Lato" pitchFamily="34" charset="0"/>
                <a:ea typeface="Lato" pitchFamily="34" charset="-122"/>
                <a:cs typeface="Lato" pitchFamily="34" charset="-120"/>
              </a:rPr>
              <a:t>4</a:t>
            </a:r>
            <a:endParaRPr lang="en-US" sz="1000" dirty="0"/>
          </a:p>
        </p:txBody>
      </p:sp>
      <p:sp>
        <p:nvSpPr>
          <p:cNvPr id="20" name="Text 18"/>
          <p:cNvSpPr/>
          <p:nvPr/>
        </p:nvSpPr>
        <p:spPr>
          <a:xfrm>
            <a:off x="4718526" y="1903809"/>
            <a:ext cx="875348" cy="185390"/>
          </a:xfrm>
          <a:prstGeom prst="rect">
            <a:avLst/>
          </a:prstGeom>
          <a:noFill/>
          <a:ln/>
        </p:spPr>
        <p:txBody>
          <a:bodyPr wrap="square" lIns="0" tIns="0" rIns="0" bIns="0" rtlCol="0" anchor="t">
            <a:normAutofit/>
          </a:bodyPr>
          <a:lstStyle/>
          <a:p>
            <a:pPr marL="0" indent="0" algn="ctr">
              <a:lnSpc>
                <a:spcPts val="1260"/>
              </a:lnSpc>
              <a:buNone/>
            </a:pPr>
            <a:r>
              <a:rPr lang="en-US" sz="1050" dirty="0">
                <a:solidFill>
                  <a:srgbClr val="000000"/>
                </a:solidFill>
                <a:latin typeface="Lato" pitchFamily="34" charset="0"/>
                <a:ea typeface="Lato" pitchFamily="34" charset="-122"/>
                <a:cs typeface="Lato" pitchFamily="34" charset="-120"/>
              </a:rPr>
              <a:t>Search store</a:t>
            </a:r>
            <a:endParaRPr lang="en-US" sz="1050" dirty="0"/>
          </a:p>
        </p:txBody>
      </p:sp>
      <p:sp>
        <p:nvSpPr>
          <p:cNvPr id="21" name="Shape 19"/>
          <p:cNvSpPr/>
          <p:nvPr/>
        </p:nvSpPr>
        <p:spPr>
          <a:xfrm>
            <a:off x="5676900" y="1662509"/>
            <a:ext cx="939800" cy="612080"/>
          </a:xfrm>
          <a:prstGeom prst="roundRect">
            <a:avLst>
              <a:gd name="adj" fmla="val 10374"/>
            </a:avLst>
          </a:prstGeom>
          <a:solidFill>
            <a:srgbClr val="E8EEF8"/>
          </a:solidFill>
          <a:ln/>
        </p:spPr>
        <p:txBody>
          <a:bodyPr/>
          <a:lstStyle/>
          <a:p>
            <a:endParaRPr lang="en-US"/>
          </a:p>
        </p:txBody>
      </p:sp>
      <p:sp>
        <p:nvSpPr>
          <p:cNvPr id="22" name="Text 20"/>
          <p:cNvSpPr/>
          <p:nvPr/>
        </p:nvSpPr>
        <p:spPr>
          <a:xfrm>
            <a:off x="6084540" y="1713309"/>
            <a:ext cx="124470" cy="203200"/>
          </a:xfrm>
          <a:prstGeom prst="rect">
            <a:avLst/>
          </a:prstGeom>
          <a:noFill/>
          <a:ln/>
        </p:spPr>
        <p:txBody>
          <a:bodyPr wrap="square" lIns="0" tIns="0" rIns="0" bIns="0" rtlCol="0" anchor="t">
            <a:normAutofit/>
          </a:bodyPr>
          <a:lstStyle/>
          <a:p>
            <a:pPr marL="0" indent="0" algn="ctr">
              <a:lnSpc>
                <a:spcPts val="1400"/>
              </a:lnSpc>
              <a:buNone/>
            </a:pPr>
            <a:r>
              <a:rPr lang="en-US" sz="1000" b="1" dirty="0">
                <a:solidFill>
                  <a:srgbClr val="2F5597"/>
                </a:solidFill>
                <a:latin typeface="Lato" pitchFamily="34" charset="0"/>
                <a:ea typeface="Lato" pitchFamily="34" charset="-122"/>
                <a:cs typeface="Lato" pitchFamily="34" charset="-120"/>
              </a:rPr>
              <a:t>5</a:t>
            </a:r>
            <a:endParaRPr lang="en-US" sz="1000" dirty="0"/>
          </a:p>
        </p:txBody>
      </p:sp>
      <p:sp>
        <p:nvSpPr>
          <p:cNvPr id="23" name="Text 21"/>
          <p:cNvSpPr/>
          <p:nvPr/>
        </p:nvSpPr>
        <p:spPr>
          <a:xfrm>
            <a:off x="5689600" y="1903809"/>
            <a:ext cx="914400" cy="345380"/>
          </a:xfrm>
          <a:prstGeom prst="rect">
            <a:avLst/>
          </a:prstGeom>
          <a:noFill/>
          <a:ln/>
        </p:spPr>
        <p:txBody>
          <a:bodyPr wrap="square" lIns="0" tIns="0" rIns="0" bIns="0" rtlCol="0" anchor="t">
            <a:normAutofit/>
          </a:bodyPr>
          <a:lstStyle/>
          <a:p>
            <a:pPr marL="0" indent="0" algn="ctr">
              <a:lnSpc>
                <a:spcPts val="1260"/>
              </a:lnSpc>
              <a:buNone/>
            </a:pPr>
            <a:r>
              <a:rPr lang="en-US" sz="1050" dirty="0">
                <a:solidFill>
                  <a:srgbClr val="000000"/>
                </a:solidFill>
                <a:latin typeface="Lato" pitchFamily="34" charset="0"/>
                <a:ea typeface="Lato" pitchFamily="34" charset="-122"/>
                <a:cs typeface="Lato" pitchFamily="34" charset="-120"/>
              </a:rPr>
              <a:t>Reverse email lookup</a:t>
            </a:r>
            <a:endParaRPr lang="en-US" sz="1050" dirty="0"/>
          </a:p>
        </p:txBody>
      </p:sp>
      <p:sp>
        <p:nvSpPr>
          <p:cNvPr id="24" name="Shape 22"/>
          <p:cNvSpPr/>
          <p:nvPr/>
        </p:nvSpPr>
        <p:spPr>
          <a:xfrm>
            <a:off x="6667500" y="1662509"/>
            <a:ext cx="939800" cy="612080"/>
          </a:xfrm>
          <a:prstGeom prst="roundRect">
            <a:avLst>
              <a:gd name="adj" fmla="val 10374"/>
            </a:avLst>
          </a:prstGeom>
          <a:solidFill>
            <a:srgbClr val="E8EEF8"/>
          </a:solidFill>
          <a:ln/>
        </p:spPr>
        <p:txBody>
          <a:bodyPr/>
          <a:lstStyle/>
          <a:p>
            <a:endParaRPr lang="en-US"/>
          </a:p>
        </p:txBody>
      </p:sp>
      <p:sp>
        <p:nvSpPr>
          <p:cNvPr id="25" name="Text 23"/>
          <p:cNvSpPr/>
          <p:nvPr/>
        </p:nvSpPr>
        <p:spPr>
          <a:xfrm>
            <a:off x="7075140" y="1713309"/>
            <a:ext cx="124470" cy="203200"/>
          </a:xfrm>
          <a:prstGeom prst="rect">
            <a:avLst/>
          </a:prstGeom>
          <a:noFill/>
          <a:ln/>
        </p:spPr>
        <p:txBody>
          <a:bodyPr wrap="square" lIns="0" tIns="0" rIns="0" bIns="0" rtlCol="0" anchor="t">
            <a:normAutofit/>
          </a:bodyPr>
          <a:lstStyle/>
          <a:p>
            <a:pPr marL="0" indent="0" algn="ctr">
              <a:lnSpc>
                <a:spcPts val="1400"/>
              </a:lnSpc>
              <a:buNone/>
            </a:pPr>
            <a:r>
              <a:rPr lang="en-US" sz="1000" b="1" dirty="0">
                <a:solidFill>
                  <a:srgbClr val="2F5597"/>
                </a:solidFill>
                <a:latin typeface="Lato" pitchFamily="34" charset="0"/>
                <a:ea typeface="Lato" pitchFamily="34" charset="-122"/>
                <a:cs typeface="Lato" pitchFamily="34" charset="-120"/>
              </a:rPr>
              <a:t>6</a:t>
            </a:r>
            <a:endParaRPr lang="en-US" sz="1000" dirty="0"/>
          </a:p>
        </p:txBody>
      </p:sp>
      <p:sp>
        <p:nvSpPr>
          <p:cNvPr id="26" name="Text 24"/>
          <p:cNvSpPr/>
          <p:nvPr/>
        </p:nvSpPr>
        <p:spPr>
          <a:xfrm>
            <a:off x="6680200" y="1903809"/>
            <a:ext cx="914400" cy="345380"/>
          </a:xfrm>
          <a:prstGeom prst="rect">
            <a:avLst/>
          </a:prstGeom>
          <a:noFill/>
          <a:ln/>
        </p:spPr>
        <p:txBody>
          <a:bodyPr wrap="square" lIns="0" tIns="0" rIns="0" bIns="0" rtlCol="0" anchor="t">
            <a:normAutofit/>
          </a:bodyPr>
          <a:lstStyle/>
          <a:p>
            <a:pPr marL="0" indent="0" algn="ctr">
              <a:lnSpc>
                <a:spcPts val="1260"/>
              </a:lnSpc>
              <a:buNone/>
            </a:pPr>
            <a:r>
              <a:rPr lang="en-US" sz="1050" dirty="0">
                <a:solidFill>
                  <a:srgbClr val="000000"/>
                </a:solidFill>
                <a:latin typeface="Lato" pitchFamily="34" charset="0"/>
                <a:ea typeface="Lato" pitchFamily="34" charset="-122"/>
                <a:cs typeface="Lato" pitchFamily="34" charset="-120"/>
              </a:rPr>
              <a:t>Log person to CRM</a:t>
            </a:r>
            <a:endParaRPr lang="en-US" sz="1050" dirty="0"/>
          </a:p>
        </p:txBody>
      </p:sp>
      <p:sp>
        <p:nvSpPr>
          <p:cNvPr id="27" name="Shape 25"/>
          <p:cNvSpPr/>
          <p:nvPr/>
        </p:nvSpPr>
        <p:spPr>
          <a:xfrm>
            <a:off x="7658100" y="1662509"/>
            <a:ext cx="939800" cy="612080"/>
          </a:xfrm>
          <a:prstGeom prst="roundRect">
            <a:avLst>
              <a:gd name="adj" fmla="val 10374"/>
            </a:avLst>
          </a:prstGeom>
          <a:solidFill>
            <a:srgbClr val="E8EEF8"/>
          </a:solidFill>
          <a:ln/>
        </p:spPr>
        <p:txBody>
          <a:bodyPr/>
          <a:lstStyle/>
          <a:p>
            <a:endParaRPr lang="en-US"/>
          </a:p>
        </p:txBody>
      </p:sp>
      <p:sp>
        <p:nvSpPr>
          <p:cNvPr id="28" name="Text 26"/>
          <p:cNvSpPr/>
          <p:nvPr/>
        </p:nvSpPr>
        <p:spPr>
          <a:xfrm>
            <a:off x="8065740" y="1713309"/>
            <a:ext cx="124470" cy="203200"/>
          </a:xfrm>
          <a:prstGeom prst="rect">
            <a:avLst/>
          </a:prstGeom>
          <a:noFill/>
          <a:ln/>
        </p:spPr>
        <p:txBody>
          <a:bodyPr wrap="square" lIns="0" tIns="0" rIns="0" bIns="0" rtlCol="0" anchor="t">
            <a:normAutofit/>
          </a:bodyPr>
          <a:lstStyle/>
          <a:p>
            <a:pPr marL="0" indent="0" algn="ctr">
              <a:lnSpc>
                <a:spcPts val="1400"/>
              </a:lnSpc>
              <a:buNone/>
            </a:pPr>
            <a:r>
              <a:rPr lang="en-US" sz="1000" b="1" dirty="0">
                <a:solidFill>
                  <a:srgbClr val="2F5597"/>
                </a:solidFill>
                <a:latin typeface="Lato" pitchFamily="34" charset="0"/>
                <a:ea typeface="Lato" pitchFamily="34" charset="-122"/>
                <a:cs typeface="Lato" pitchFamily="34" charset="-120"/>
              </a:rPr>
              <a:t>7</a:t>
            </a:r>
            <a:endParaRPr lang="en-US" sz="1000" dirty="0"/>
          </a:p>
        </p:txBody>
      </p:sp>
      <p:sp>
        <p:nvSpPr>
          <p:cNvPr id="29" name="Text 27"/>
          <p:cNvSpPr/>
          <p:nvPr/>
        </p:nvSpPr>
        <p:spPr>
          <a:xfrm>
            <a:off x="7670800" y="1903809"/>
            <a:ext cx="914400" cy="345380"/>
          </a:xfrm>
          <a:prstGeom prst="rect">
            <a:avLst/>
          </a:prstGeom>
          <a:noFill/>
          <a:ln/>
        </p:spPr>
        <p:txBody>
          <a:bodyPr wrap="square" lIns="0" tIns="0" rIns="0" bIns="0" rtlCol="0" anchor="t">
            <a:normAutofit/>
          </a:bodyPr>
          <a:lstStyle/>
          <a:p>
            <a:pPr marL="0" indent="0" algn="ctr">
              <a:lnSpc>
                <a:spcPts val="1260"/>
              </a:lnSpc>
              <a:buNone/>
            </a:pPr>
            <a:r>
              <a:rPr lang="en-US" sz="1050" dirty="0">
                <a:solidFill>
                  <a:srgbClr val="000000"/>
                </a:solidFill>
                <a:latin typeface="Lato" pitchFamily="34" charset="0"/>
                <a:ea typeface="Lato" pitchFamily="34" charset="-122"/>
                <a:cs typeface="Lato" pitchFamily="34" charset="-120"/>
              </a:rPr>
              <a:t>Collections via token</a:t>
            </a:r>
            <a:endParaRPr lang="en-US" sz="1050" dirty="0"/>
          </a:p>
        </p:txBody>
      </p:sp>
      <p:sp>
        <p:nvSpPr>
          <p:cNvPr id="30" name="Shape 28"/>
          <p:cNvSpPr/>
          <p:nvPr/>
        </p:nvSpPr>
        <p:spPr>
          <a:xfrm>
            <a:off x="8648700" y="1662509"/>
            <a:ext cx="939800" cy="612080"/>
          </a:xfrm>
          <a:prstGeom prst="roundRect">
            <a:avLst>
              <a:gd name="adj" fmla="val 10374"/>
            </a:avLst>
          </a:prstGeom>
          <a:solidFill>
            <a:srgbClr val="E8EEF8"/>
          </a:solidFill>
          <a:ln/>
        </p:spPr>
        <p:txBody>
          <a:bodyPr/>
          <a:lstStyle/>
          <a:p>
            <a:endParaRPr lang="en-US"/>
          </a:p>
        </p:txBody>
      </p:sp>
      <p:sp>
        <p:nvSpPr>
          <p:cNvPr id="31" name="Text 29"/>
          <p:cNvSpPr/>
          <p:nvPr/>
        </p:nvSpPr>
        <p:spPr>
          <a:xfrm>
            <a:off x="9056340" y="1713309"/>
            <a:ext cx="124470" cy="203200"/>
          </a:xfrm>
          <a:prstGeom prst="rect">
            <a:avLst/>
          </a:prstGeom>
          <a:noFill/>
          <a:ln/>
        </p:spPr>
        <p:txBody>
          <a:bodyPr wrap="square" lIns="0" tIns="0" rIns="0" bIns="0" rtlCol="0" anchor="t">
            <a:normAutofit/>
          </a:bodyPr>
          <a:lstStyle/>
          <a:p>
            <a:pPr marL="0" indent="0" algn="ctr">
              <a:lnSpc>
                <a:spcPts val="1400"/>
              </a:lnSpc>
              <a:buNone/>
            </a:pPr>
            <a:r>
              <a:rPr lang="en-US" sz="1000" b="1" dirty="0">
                <a:solidFill>
                  <a:srgbClr val="2F5597"/>
                </a:solidFill>
                <a:latin typeface="Lato" pitchFamily="34" charset="0"/>
                <a:ea typeface="Lato" pitchFamily="34" charset="-122"/>
                <a:cs typeface="Lato" pitchFamily="34" charset="-120"/>
              </a:rPr>
              <a:t>8</a:t>
            </a:r>
            <a:endParaRPr lang="en-US" sz="1000" dirty="0"/>
          </a:p>
        </p:txBody>
      </p:sp>
      <p:sp>
        <p:nvSpPr>
          <p:cNvPr id="32" name="Text 30"/>
          <p:cNvSpPr/>
          <p:nvPr/>
        </p:nvSpPr>
        <p:spPr>
          <a:xfrm>
            <a:off x="8661400" y="1903809"/>
            <a:ext cx="914400" cy="345380"/>
          </a:xfrm>
          <a:prstGeom prst="rect">
            <a:avLst/>
          </a:prstGeom>
          <a:noFill/>
          <a:ln/>
        </p:spPr>
        <p:txBody>
          <a:bodyPr wrap="square" lIns="0" tIns="0" rIns="0" bIns="0" rtlCol="0" anchor="t">
            <a:normAutofit/>
          </a:bodyPr>
          <a:lstStyle/>
          <a:p>
            <a:pPr marL="0" indent="0" algn="ctr">
              <a:lnSpc>
                <a:spcPts val="1260"/>
              </a:lnSpc>
              <a:buNone/>
            </a:pPr>
            <a:r>
              <a:rPr lang="en-US" sz="1050" dirty="0">
                <a:solidFill>
                  <a:srgbClr val="000000"/>
                </a:solidFill>
                <a:latin typeface="Lato" pitchFamily="34" charset="0"/>
                <a:ea typeface="Lato" pitchFamily="34" charset="-122"/>
                <a:cs typeface="Lato" pitchFamily="34" charset="-120"/>
              </a:rPr>
              <a:t>Read admin account</a:t>
            </a:r>
            <a:endParaRPr lang="en-US" sz="1050" dirty="0"/>
          </a:p>
        </p:txBody>
      </p:sp>
      <p:sp>
        <p:nvSpPr>
          <p:cNvPr id="33" name="Shape 31"/>
          <p:cNvSpPr/>
          <p:nvPr/>
        </p:nvSpPr>
        <p:spPr>
          <a:xfrm>
            <a:off x="9639300" y="1662509"/>
            <a:ext cx="939800" cy="612080"/>
          </a:xfrm>
          <a:prstGeom prst="roundRect">
            <a:avLst>
              <a:gd name="adj" fmla="val 10374"/>
            </a:avLst>
          </a:prstGeom>
          <a:solidFill>
            <a:srgbClr val="E8EEF8"/>
          </a:solidFill>
          <a:ln/>
        </p:spPr>
        <p:txBody>
          <a:bodyPr/>
          <a:lstStyle/>
          <a:p>
            <a:endParaRPr lang="en-US"/>
          </a:p>
        </p:txBody>
      </p:sp>
      <p:sp>
        <p:nvSpPr>
          <p:cNvPr id="34" name="Text 32"/>
          <p:cNvSpPr/>
          <p:nvPr/>
        </p:nvSpPr>
        <p:spPr>
          <a:xfrm>
            <a:off x="10046940" y="1713309"/>
            <a:ext cx="124470" cy="203200"/>
          </a:xfrm>
          <a:prstGeom prst="rect">
            <a:avLst/>
          </a:prstGeom>
          <a:noFill/>
          <a:ln/>
        </p:spPr>
        <p:txBody>
          <a:bodyPr wrap="square" lIns="0" tIns="0" rIns="0" bIns="0" rtlCol="0" anchor="t">
            <a:normAutofit/>
          </a:bodyPr>
          <a:lstStyle/>
          <a:p>
            <a:pPr marL="0" indent="0" algn="ctr">
              <a:lnSpc>
                <a:spcPts val="1400"/>
              </a:lnSpc>
              <a:buNone/>
            </a:pPr>
            <a:r>
              <a:rPr lang="en-US" sz="1000" b="1" dirty="0">
                <a:solidFill>
                  <a:srgbClr val="2F5597"/>
                </a:solidFill>
                <a:latin typeface="Lato" pitchFamily="34" charset="0"/>
                <a:ea typeface="Lato" pitchFamily="34" charset="-122"/>
                <a:cs typeface="Lato" pitchFamily="34" charset="-120"/>
              </a:rPr>
              <a:t>9</a:t>
            </a:r>
            <a:endParaRPr lang="en-US" sz="1000" dirty="0"/>
          </a:p>
        </p:txBody>
      </p:sp>
      <p:sp>
        <p:nvSpPr>
          <p:cNvPr id="35" name="Text 33"/>
          <p:cNvSpPr/>
          <p:nvPr/>
        </p:nvSpPr>
        <p:spPr>
          <a:xfrm>
            <a:off x="9652000" y="1903809"/>
            <a:ext cx="914400" cy="345380"/>
          </a:xfrm>
          <a:prstGeom prst="rect">
            <a:avLst/>
          </a:prstGeom>
          <a:noFill/>
          <a:ln/>
        </p:spPr>
        <p:txBody>
          <a:bodyPr wrap="square" lIns="0" tIns="0" rIns="0" bIns="0" rtlCol="0" anchor="t">
            <a:normAutofit/>
          </a:bodyPr>
          <a:lstStyle/>
          <a:p>
            <a:pPr marL="0" indent="0" algn="ctr">
              <a:lnSpc>
                <a:spcPts val="1260"/>
              </a:lnSpc>
              <a:buNone/>
            </a:pPr>
            <a:r>
              <a:rPr lang="en-US" sz="1050" dirty="0">
                <a:solidFill>
                  <a:srgbClr val="000000"/>
                </a:solidFill>
                <a:latin typeface="Lato" pitchFamily="34" charset="0"/>
                <a:ea typeface="Lato" pitchFamily="34" charset="-122"/>
                <a:cs typeface="Lato" pitchFamily="34" charset="-120"/>
              </a:rPr>
              <a:t>SMS via API key</a:t>
            </a:r>
            <a:endParaRPr lang="en-US" sz="1050" dirty="0"/>
          </a:p>
        </p:txBody>
      </p:sp>
      <p:sp>
        <p:nvSpPr>
          <p:cNvPr id="36" name="Shape 34"/>
          <p:cNvSpPr/>
          <p:nvPr/>
        </p:nvSpPr>
        <p:spPr>
          <a:xfrm>
            <a:off x="10636250" y="1668859"/>
            <a:ext cx="927100" cy="599380"/>
          </a:xfrm>
          <a:prstGeom prst="roundRect">
            <a:avLst>
              <a:gd name="adj" fmla="val 9535"/>
            </a:avLst>
          </a:prstGeom>
          <a:solidFill>
            <a:srgbClr val="FFFFFF"/>
          </a:solidFill>
          <a:ln w="12700">
            <a:solidFill>
              <a:srgbClr val="C00000"/>
            </a:solidFill>
            <a:prstDash val="solid"/>
          </a:ln>
        </p:spPr>
        <p:txBody>
          <a:bodyPr/>
          <a:lstStyle/>
          <a:p>
            <a:endParaRPr lang="en-US"/>
          </a:p>
        </p:txBody>
      </p:sp>
      <p:sp>
        <p:nvSpPr>
          <p:cNvPr id="37" name="Text 35"/>
          <p:cNvSpPr/>
          <p:nvPr/>
        </p:nvSpPr>
        <p:spPr>
          <a:xfrm>
            <a:off x="11000730" y="1713309"/>
            <a:ext cx="198140" cy="203200"/>
          </a:xfrm>
          <a:prstGeom prst="rect">
            <a:avLst/>
          </a:prstGeom>
          <a:noFill/>
          <a:ln/>
        </p:spPr>
        <p:txBody>
          <a:bodyPr wrap="square" lIns="0" tIns="0" rIns="0" bIns="0" rtlCol="0" anchor="t">
            <a:normAutofit/>
          </a:bodyPr>
          <a:lstStyle/>
          <a:p>
            <a:pPr marL="0" indent="0" algn="ctr">
              <a:lnSpc>
                <a:spcPts val="1400"/>
              </a:lnSpc>
              <a:buNone/>
            </a:pPr>
            <a:r>
              <a:rPr lang="en-US" sz="1000" b="1" dirty="0">
                <a:solidFill>
                  <a:srgbClr val="C00000"/>
                </a:solidFill>
                <a:latin typeface="Lato" pitchFamily="34" charset="0"/>
                <a:ea typeface="Lato" pitchFamily="34" charset="-122"/>
                <a:cs typeface="Lato" pitchFamily="34" charset="-120"/>
              </a:rPr>
              <a:t>10</a:t>
            </a:r>
            <a:endParaRPr lang="en-US" sz="1000" dirty="0"/>
          </a:p>
        </p:txBody>
      </p:sp>
      <p:sp>
        <p:nvSpPr>
          <p:cNvPr id="38" name="Text 36"/>
          <p:cNvSpPr/>
          <p:nvPr/>
        </p:nvSpPr>
        <p:spPr>
          <a:xfrm>
            <a:off x="10655300" y="1903809"/>
            <a:ext cx="889000" cy="345380"/>
          </a:xfrm>
          <a:prstGeom prst="rect">
            <a:avLst/>
          </a:prstGeom>
          <a:noFill/>
          <a:ln/>
        </p:spPr>
        <p:txBody>
          <a:bodyPr wrap="square" lIns="0" tIns="0" rIns="0" bIns="0" rtlCol="0" anchor="t">
            <a:normAutofit/>
          </a:bodyPr>
          <a:lstStyle/>
          <a:p>
            <a:pPr marL="0" indent="0" algn="ctr">
              <a:lnSpc>
                <a:spcPts val="1260"/>
              </a:lnSpc>
              <a:buNone/>
            </a:pPr>
            <a:r>
              <a:rPr lang="en-US" sz="1050" b="1" dirty="0">
                <a:solidFill>
                  <a:srgbClr val="C00000"/>
                </a:solidFill>
                <a:latin typeface="Lato" pitchFamily="34" charset="0"/>
                <a:ea typeface="Lato" pitchFamily="34" charset="-122"/>
                <a:cs typeface="Lato" pitchFamily="34" charset="-120"/>
              </a:rPr>
              <a:t>Checkout, no confirm</a:t>
            </a:r>
            <a:endParaRPr lang="en-US" sz="1050" dirty="0"/>
          </a:p>
        </p:txBody>
      </p:sp>
      <p:sp>
        <p:nvSpPr>
          <p:cNvPr id="39" name="Text 37"/>
          <p:cNvSpPr/>
          <p:nvPr/>
        </p:nvSpPr>
        <p:spPr>
          <a:xfrm>
            <a:off x="508000" y="2346970"/>
            <a:ext cx="1206500"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555555"/>
                </a:solidFill>
                <a:latin typeface="Lato" pitchFamily="34" charset="0"/>
                <a:ea typeface="Lato" pitchFamily="34" charset="-122"/>
                <a:cs typeface="Lato" pitchFamily="34" charset="-120"/>
              </a:rPr>
              <a:t>read from the text</a:t>
            </a:r>
            <a:endParaRPr lang="en-US" sz="1000" dirty="0"/>
          </a:p>
        </p:txBody>
      </p:sp>
      <p:sp>
        <p:nvSpPr>
          <p:cNvPr id="40" name="Text 38"/>
          <p:cNvSpPr/>
          <p:nvPr/>
        </p:nvSpPr>
        <p:spPr>
          <a:xfrm>
            <a:off x="1689100" y="2338090"/>
            <a:ext cx="990600" cy="220960"/>
          </a:xfrm>
          <a:prstGeom prst="rect">
            <a:avLst/>
          </a:prstGeom>
          <a:noFill/>
          <a:ln/>
        </p:spPr>
        <p:txBody>
          <a:bodyPr wrap="square" lIns="0" tIns="0" rIns="0" bIns="0" rtlCol="0" anchor="t">
            <a:normAutofit/>
          </a:bodyPr>
          <a:lstStyle/>
          <a:p>
            <a:pPr marL="0" indent="0" algn="ctr">
              <a:lnSpc>
                <a:spcPts val="1540"/>
              </a:lnSpc>
              <a:buNone/>
            </a:pPr>
            <a:r>
              <a:rPr lang="en-US" sz="1100" dirty="0">
                <a:solidFill>
                  <a:srgbClr val="888888"/>
                </a:solidFill>
                <a:latin typeface="Lato" pitchFamily="34" charset="0"/>
                <a:ea typeface="Lato" pitchFamily="34" charset="-122"/>
                <a:cs typeface="Lato" pitchFamily="34" charset="-120"/>
              </a:rPr>
              <a:t>fine</a:t>
            </a:r>
            <a:endParaRPr lang="en-US" sz="1100" dirty="0"/>
          </a:p>
        </p:txBody>
      </p:sp>
      <p:sp>
        <p:nvSpPr>
          <p:cNvPr id="41" name="Text 39"/>
          <p:cNvSpPr/>
          <p:nvPr/>
        </p:nvSpPr>
        <p:spPr>
          <a:xfrm>
            <a:off x="2679700" y="2338090"/>
            <a:ext cx="990600" cy="220960"/>
          </a:xfrm>
          <a:prstGeom prst="rect">
            <a:avLst/>
          </a:prstGeom>
          <a:noFill/>
          <a:ln/>
        </p:spPr>
        <p:txBody>
          <a:bodyPr wrap="square" lIns="0" tIns="0" rIns="0" bIns="0" rtlCol="0" anchor="t">
            <a:normAutofit/>
          </a:bodyPr>
          <a:lstStyle/>
          <a:p>
            <a:pPr marL="0" indent="0" algn="ctr">
              <a:lnSpc>
                <a:spcPts val="1540"/>
              </a:lnSpc>
              <a:buNone/>
            </a:pPr>
            <a:r>
              <a:rPr lang="en-US" sz="1100" dirty="0">
                <a:solidFill>
                  <a:srgbClr val="888888"/>
                </a:solidFill>
                <a:latin typeface="Lato" pitchFamily="34" charset="0"/>
                <a:ea typeface="Lato" pitchFamily="34" charset="-122"/>
                <a:cs typeface="Lato" pitchFamily="34" charset="-120"/>
              </a:rPr>
              <a:t>fine</a:t>
            </a:r>
            <a:endParaRPr lang="en-US" sz="1100" dirty="0"/>
          </a:p>
        </p:txBody>
      </p:sp>
      <p:sp>
        <p:nvSpPr>
          <p:cNvPr id="42" name="Text 40"/>
          <p:cNvSpPr/>
          <p:nvPr/>
        </p:nvSpPr>
        <p:spPr>
          <a:xfrm>
            <a:off x="3670300" y="2338090"/>
            <a:ext cx="990600" cy="220960"/>
          </a:xfrm>
          <a:prstGeom prst="rect">
            <a:avLst/>
          </a:prstGeom>
          <a:noFill/>
          <a:ln/>
        </p:spPr>
        <p:txBody>
          <a:bodyPr wrap="square" lIns="0" tIns="0" rIns="0" bIns="0" rtlCol="0" anchor="t">
            <a:normAutofit/>
          </a:bodyPr>
          <a:lstStyle/>
          <a:p>
            <a:pPr marL="0" indent="0" algn="ctr">
              <a:lnSpc>
                <a:spcPts val="1540"/>
              </a:lnSpc>
              <a:buNone/>
            </a:pPr>
            <a:r>
              <a:rPr lang="en-US" sz="1100" dirty="0">
                <a:solidFill>
                  <a:srgbClr val="888888"/>
                </a:solidFill>
                <a:latin typeface="Lato" pitchFamily="34" charset="0"/>
                <a:ea typeface="Lato" pitchFamily="34" charset="-122"/>
                <a:cs typeface="Lato" pitchFamily="34" charset="-120"/>
              </a:rPr>
              <a:t>fine</a:t>
            </a:r>
            <a:endParaRPr lang="en-US" sz="1100" dirty="0"/>
          </a:p>
        </p:txBody>
      </p:sp>
      <p:sp>
        <p:nvSpPr>
          <p:cNvPr id="43" name="Text 41"/>
          <p:cNvSpPr/>
          <p:nvPr/>
        </p:nvSpPr>
        <p:spPr>
          <a:xfrm>
            <a:off x="4660900" y="2338090"/>
            <a:ext cx="990600" cy="220960"/>
          </a:xfrm>
          <a:prstGeom prst="rect">
            <a:avLst/>
          </a:prstGeom>
          <a:noFill/>
          <a:ln/>
        </p:spPr>
        <p:txBody>
          <a:bodyPr wrap="square" lIns="0" tIns="0" rIns="0" bIns="0" rtlCol="0" anchor="t">
            <a:normAutofit/>
          </a:bodyPr>
          <a:lstStyle/>
          <a:p>
            <a:pPr marL="0" indent="0" algn="ctr">
              <a:lnSpc>
                <a:spcPts val="1540"/>
              </a:lnSpc>
              <a:buNone/>
            </a:pPr>
            <a:r>
              <a:rPr lang="en-US" sz="1100" dirty="0">
                <a:solidFill>
                  <a:srgbClr val="888888"/>
                </a:solidFill>
                <a:latin typeface="Lato" pitchFamily="34" charset="0"/>
                <a:ea typeface="Lato" pitchFamily="34" charset="-122"/>
                <a:cs typeface="Lato" pitchFamily="34" charset="-120"/>
              </a:rPr>
              <a:t>fine</a:t>
            </a:r>
            <a:endParaRPr lang="en-US" sz="1100" dirty="0"/>
          </a:p>
        </p:txBody>
      </p:sp>
      <p:sp>
        <p:nvSpPr>
          <p:cNvPr id="44" name="Text 42"/>
          <p:cNvSpPr/>
          <p:nvPr/>
        </p:nvSpPr>
        <p:spPr>
          <a:xfrm>
            <a:off x="5651500" y="2338090"/>
            <a:ext cx="990600" cy="220960"/>
          </a:xfrm>
          <a:prstGeom prst="rect">
            <a:avLst/>
          </a:prstGeom>
          <a:noFill/>
          <a:ln/>
        </p:spPr>
        <p:txBody>
          <a:bodyPr wrap="square" lIns="0" tIns="0" rIns="0" bIns="0" rtlCol="0" anchor="t">
            <a:normAutofit/>
          </a:bodyPr>
          <a:lstStyle/>
          <a:p>
            <a:pPr marL="0" indent="0" algn="ctr">
              <a:lnSpc>
                <a:spcPts val="1540"/>
              </a:lnSpc>
              <a:buNone/>
            </a:pPr>
            <a:r>
              <a:rPr lang="en-US" sz="1100" dirty="0">
                <a:solidFill>
                  <a:srgbClr val="888888"/>
                </a:solidFill>
                <a:latin typeface="Lato" pitchFamily="34" charset="0"/>
                <a:ea typeface="Lato" pitchFamily="34" charset="-122"/>
                <a:cs typeface="Lato" pitchFamily="34" charset="-120"/>
              </a:rPr>
              <a:t>fine</a:t>
            </a:r>
            <a:endParaRPr lang="en-US" sz="1100" dirty="0"/>
          </a:p>
        </p:txBody>
      </p:sp>
      <p:sp>
        <p:nvSpPr>
          <p:cNvPr id="45" name="Text 43"/>
          <p:cNvSpPr/>
          <p:nvPr/>
        </p:nvSpPr>
        <p:spPr>
          <a:xfrm>
            <a:off x="6642100" y="2338090"/>
            <a:ext cx="990600" cy="220960"/>
          </a:xfrm>
          <a:prstGeom prst="rect">
            <a:avLst/>
          </a:prstGeom>
          <a:noFill/>
          <a:ln/>
        </p:spPr>
        <p:txBody>
          <a:bodyPr wrap="square" lIns="0" tIns="0" rIns="0" bIns="0" rtlCol="0" anchor="t">
            <a:normAutofit/>
          </a:bodyPr>
          <a:lstStyle/>
          <a:p>
            <a:pPr marL="0" indent="0" algn="ctr">
              <a:lnSpc>
                <a:spcPts val="1540"/>
              </a:lnSpc>
              <a:buNone/>
            </a:pPr>
            <a:r>
              <a:rPr lang="en-US" sz="1100" dirty="0">
                <a:solidFill>
                  <a:srgbClr val="888888"/>
                </a:solidFill>
                <a:latin typeface="Lato" pitchFamily="34" charset="0"/>
                <a:ea typeface="Lato" pitchFamily="34" charset="-122"/>
                <a:cs typeface="Lato" pitchFamily="34" charset="-120"/>
              </a:rPr>
              <a:t>fine</a:t>
            </a:r>
            <a:endParaRPr lang="en-US" sz="1100" dirty="0"/>
          </a:p>
        </p:txBody>
      </p:sp>
      <p:sp>
        <p:nvSpPr>
          <p:cNvPr id="46" name="Text 44"/>
          <p:cNvSpPr/>
          <p:nvPr/>
        </p:nvSpPr>
        <p:spPr>
          <a:xfrm>
            <a:off x="7632700" y="2338090"/>
            <a:ext cx="990600" cy="220960"/>
          </a:xfrm>
          <a:prstGeom prst="rect">
            <a:avLst/>
          </a:prstGeom>
          <a:noFill/>
          <a:ln/>
        </p:spPr>
        <p:txBody>
          <a:bodyPr wrap="square" lIns="0" tIns="0" rIns="0" bIns="0" rtlCol="0" anchor="t">
            <a:normAutofit/>
          </a:bodyPr>
          <a:lstStyle/>
          <a:p>
            <a:pPr marL="0" indent="0" algn="ctr">
              <a:lnSpc>
                <a:spcPts val="1540"/>
              </a:lnSpc>
              <a:buNone/>
            </a:pPr>
            <a:r>
              <a:rPr lang="en-US" sz="1100" dirty="0">
                <a:solidFill>
                  <a:srgbClr val="888888"/>
                </a:solidFill>
                <a:latin typeface="Lato" pitchFamily="34" charset="0"/>
                <a:ea typeface="Lato" pitchFamily="34" charset="-122"/>
                <a:cs typeface="Lato" pitchFamily="34" charset="-120"/>
              </a:rPr>
              <a:t>fine</a:t>
            </a:r>
            <a:endParaRPr lang="en-US" sz="1100" dirty="0"/>
          </a:p>
        </p:txBody>
      </p:sp>
      <p:sp>
        <p:nvSpPr>
          <p:cNvPr id="47" name="Text 45"/>
          <p:cNvSpPr/>
          <p:nvPr/>
        </p:nvSpPr>
        <p:spPr>
          <a:xfrm>
            <a:off x="8623300" y="2338090"/>
            <a:ext cx="990600" cy="220960"/>
          </a:xfrm>
          <a:prstGeom prst="rect">
            <a:avLst/>
          </a:prstGeom>
          <a:noFill/>
          <a:ln/>
        </p:spPr>
        <p:txBody>
          <a:bodyPr wrap="square" lIns="0" tIns="0" rIns="0" bIns="0" rtlCol="0" anchor="t">
            <a:normAutofit/>
          </a:bodyPr>
          <a:lstStyle/>
          <a:p>
            <a:pPr marL="0" indent="0" algn="ctr">
              <a:lnSpc>
                <a:spcPts val="1540"/>
              </a:lnSpc>
              <a:buNone/>
            </a:pPr>
            <a:r>
              <a:rPr lang="en-US" sz="1100" dirty="0">
                <a:solidFill>
                  <a:srgbClr val="888888"/>
                </a:solidFill>
                <a:latin typeface="Lato" pitchFamily="34" charset="0"/>
                <a:ea typeface="Lato" pitchFamily="34" charset="-122"/>
                <a:cs typeface="Lato" pitchFamily="34" charset="-120"/>
              </a:rPr>
              <a:t>fine</a:t>
            </a:r>
            <a:endParaRPr lang="en-US" sz="1100" dirty="0"/>
          </a:p>
        </p:txBody>
      </p:sp>
      <p:sp>
        <p:nvSpPr>
          <p:cNvPr id="48" name="Text 46"/>
          <p:cNvSpPr/>
          <p:nvPr/>
        </p:nvSpPr>
        <p:spPr>
          <a:xfrm>
            <a:off x="9613900" y="2338090"/>
            <a:ext cx="990600" cy="220960"/>
          </a:xfrm>
          <a:prstGeom prst="rect">
            <a:avLst/>
          </a:prstGeom>
          <a:noFill/>
          <a:ln/>
        </p:spPr>
        <p:txBody>
          <a:bodyPr wrap="square" lIns="0" tIns="0" rIns="0" bIns="0" rtlCol="0" anchor="t">
            <a:normAutofit/>
          </a:bodyPr>
          <a:lstStyle/>
          <a:p>
            <a:pPr marL="0" indent="0" algn="ctr">
              <a:lnSpc>
                <a:spcPts val="1540"/>
              </a:lnSpc>
              <a:buNone/>
            </a:pPr>
            <a:r>
              <a:rPr lang="en-US" sz="1100" b="1" dirty="0">
                <a:solidFill>
                  <a:srgbClr val="555555"/>
                </a:solidFill>
                <a:latin typeface="Lato" pitchFamily="34" charset="0"/>
                <a:ea typeface="Lato" pitchFamily="34" charset="-122"/>
                <a:cs typeface="Lato" pitchFamily="34" charset="-120"/>
              </a:rPr>
              <a:t>risky</a:t>
            </a:r>
            <a:endParaRPr lang="en-US" sz="1100" dirty="0"/>
          </a:p>
        </p:txBody>
      </p:sp>
      <p:sp>
        <p:nvSpPr>
          <p:cNvPr id="49" name="Text 47"/>
          <p:cNvSpPr/>
          <p:nvPr/>
        </p:nvSpPr>
        <p:spPr>
          <a:xfrm>
            <a:off x="10604500" y="2338090"/>
            <a:ext cx="990600" cy="220960"/>
          </a:xfrm>
          <a:prstGeom prst="rect">
            <a:avLst/>
          </a:prstGeom>
          <a:noFill/>
          <a:ln/>
        </p:spPr>
        <p:txBody>
          <a:bodyPr wrap="square" lIns="0" tIns="0" rIns="0" bIns="0" rtlCol="0" anchor="t">
            <a:normAutofit/>
          </a:bodyPr>
          <a:lstStyle/>
          <a:p>
            <a:pPr marL="0" indent="0" algn="ctr">
              <a:lnSpc>
                <a:spcPts val="1540"/>
              </a:lnSpc>
              <a:buNone/>
            </a:pPr>
            <a:r>
              <a:rPr lang="en-US" sz="1100" b="1" dirty="0">
                <a:solidFill>
                  <a:srgbClr val="C00000"/>
                </a:solidFill>
                <a:latin typeface="Lato" pitchFamily="34" charset="0"/>
                <a:ea typeface="Lato" pitchFamily="34" charset="-122"/>
                <a:cs typeface="Lato" pitchFamily="34" charset="-120"/>
              </a:rPr>
              <a:t>unsafe</a:t>
            </a:r>
            <a:endParaRPr lang="en-US" sz="1100" dirty="0"/>
          </a:p>
        </p:txBody>
      </p:sp>
      <p:sp>
        <p:nvSpPr>
          <p:cNvPr id="50" name="Text 48"/>
          <p:cNvSpPr/>
          <p:nvPr/>
        </p:nvSpPr>
        <p:spPr>
          <a:xfrm>
            <a:off x="508000" y="2735560"/>
            <a:ext cx="12065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00000"/>
                </a:solidFill>
                <a:latin typeface="Lato" pitchFamily="34" charset="0"/>
                <a:ea typeface="Lato" pitchFamily="34" charset="-122"/>
                <a:cs typeface="Lato" pitchFamily="34" charset="-120"/>
              </a:rPr>
              <a:t>Observer LLM</a:t>
            </a:r>
            <a:endParaRPr lang="en-US" sz="1200" dirty="0"/>
          </a:p>
        </p:txBody>
      </p:sp>
      <p:sp>
        <p:nvSpPr>
          <p:cNvPr id="51" name="Shape 49"/>
          <p:cNvSpPr/>
          <p:nvPr/>
        </p:nvSpPr>
        <p:spPr>
          <a:xfrm>
            <a:off x="1720850" y="2603500"/>
            <a:ext cx="9842500" cy="477441"/>
          </a:xfrm>
          <a:prstGeom prst="roundRect">
            <a:avLst>
              <a:gd name="adj" fmla="val 11970"/>
            </a:avLst>
          </a:prstGeom>
          <a:solidFill>
            <a:srgbClr val="CFE2F3"/>
          </a:solidFill>
          <a:ln w="12700">
            <a:solidFill>
              <a:srgbClr val="3D85C6"/>
            </a:solidFill>
            <a:prstDash val="solid"/>
          </a:ln>
        </p:spPr>
        <p:txBody>
          <a:bodyPr/>
          <a:lstStyle/>
          <a:p>
            <a:endParaRPr lang="en-US"/>
          </a:p>
        </p:txBody>
      </p:sp>
      <p:sp>
        <p:nvSpPr>
          <p:cNvPr id="52" name="Shape 50"/>
          <p:cNvSpPr/>
          <p:nvPr/>
        </p:nvSpPr>
        <p:spPr>
          <a:xfrm>
            <a:off x="1857375" y="2769195"/>
            <a:ext cx="146050" cy="146050"/>
          </a:xfrm>
          <a:prstGeom prst="rect">
            <a:avLst/>
          </a:prstGeom>
          <a:solidFill>
            <a:srgbClr val="9FC5E8"/>
          </a:solidFill>
          <a:ln w="6350">
            <a:solidFill>
              <a:srgbClr val="3D85C6"/>
            </a:solidFill>
            <a:prstDash val="solid"/>
          </a:ln>
        </p:spPr>
        <p:txBody>
          <a:bodyPr/>
          <a:lstStyle/>
          <a:p>
            <a:endParaRPr lang="en-US"/>
          </a:p>
        </p:txBody>
      </p:sp>
      <p:sp>
        <p:nvSpPr>
          <p:cNvPr id="53" name="Shape 51"/>
          <p:cNvSpPr/>
          <p:nvPr/>
        </p:nvSpPr>
        <p:spPr>
          <a:xfrm>
            <a:off x="2035175" y="2769195"/>
            <a:ext cx="146050" cy="146050"/>
          </a:xfrm>
          <a:prstGeom prst="rect">
            <a:avLst/>
          </a:prstGeom>
          <a:solidFill>
            <a:srgbClr val="6FA8DC"/>
          </a:solidFill>
          <a:ln w="6350">
            <a:solidFill>
              <a:srgbClr val="3D85C6"/>
            </a:solidFill>
            <a:prstDash val="solid"/>
          </a:ln>
        </p:spPr>
        <p:txBody>
          <a:bodyPr/>
          <a:lstStyle/>
          <a:p>
            <a:endParaRPr lang="en-US"/>
          </a:p>
        </p:txBody>
      </p:sp>
      <p:sp>
        <p:nvSpPr>
          <p:cNvPr id="54" name="Shape 52"/>
          <p:cNvSpPr/>
          <p:nvPr/>
        </p:nvSpPr>
        <p:spPr>
          <a:xfrm>
            <a:off x="2212975" y="2769195"/>
            <a:ext cx="146050" cy="146050"/>
          </a:xfrm>
          <a:prstGeom prst="rect">
            <a:avLst/>
          </a:prstGeom>
          <a:solidFill>
            <a:srgbClr val="9FC5E8"/>
          </a:solidFill>
          <a:ln w="6350">
            <a:solidFill>
              <a:srgbClr val="3D85C6"/>
            </a:solidFill>
            <a:prstDash val="solid"/>
          </a:ln>
        </p:spPr>
        <p:txBody>
          <a:bodyPr/>
          <a:lstStyle/>
          <a:p>
            <a:endParaRPr lang="en-US"/>
          </a:p>
        </p:txBody>
      </p:sp>
      <p:sp>
        <p:nvSpPr>
          <p:cNvPr id="55" name="Shape 53"/>
          <p:cNvSpPr/>
          <p:nvPr/>
        </p:nvSpPr>
        <p:spPr>
          <a:xfrm>
            <a:off x="2390775" y="2769195"/>
            <a:ext cx="146050" cy="146050"/>
          </a:xfrm>
          <a:prstGeom prst="rect">
            <a:avLst/>
          </a:prstGeom>
          <a:solidFill>
            <a:srgbClr val="CFE2F3"/>
          </a:solidFill>
          <a:ln w="6350">
            <a:solidFill>
              <a:srgbClr val="3D85C6"/>
            </a:solidFill>
            <a:prstDash val="solid"/>
          </a:ln>
        </p:spPr>
        <p:txBody>
          <a:bodyPr/>
          <a:lstStyle/>
          <a:p>
            <a:endParaRPr lang="en-US"/>
          </a:p>
        </p:txBody>
      </p:sp>
      <p:sp>
        <p:nvSpPr>
          <p:cNvPr id="56" name="Shape 54"/>
          <p:cNvSpPr/>
          <p:nvPr/>
        </p:nvSpPr>
        <p:spPr>
          <a:xfrm>
            <a:off x="2568575" y="2769195"/>
            <a:ext cx="146050" cy="146050"/>
          </a:xfrm>
          <a:prstGeom prst="rect">
            <a:avLst/>
          </a:prstGeom>
          <a:solidFill>
            <a:srgbClr val="9FC5E8"/>
          </a:solidFill>
          <a:ln w="6350">
            <a:solidFill>
              <a:srgbClr val="3D85C6"/>
            </a:solidFill>
            <a:prstDash val="solid"/>
          </a:ln>
        </p:spPr>
        <p:txBody>
          <a:bodyPr/>
          <a:lstStyle/>
          <a:p>
            <a:endParaRPr lang="en-US"/>
          </a:p>
        </p:txBody>
      </p:sp>
      <p:sp>
        <p:nvSpPr>
          <p:cNvPr id="57" name="Shape 55"/>
          <p:cNvSpPr/>
          <p:nvPr/>
        </p:nvSpPr>
        <p:spPr>
          <a:xfrm>
            <a:off x="2746375" y="2769195"/>
            <a:ext cx="146050" cy="146050"/>
          </a:xfrm>
          <a:prstGeom prst="rect">
            <a:avLst/>
          </a:prstGeom>
          <a:solidFill>
            <a:srgbClr val="6FA8DC"/>
          </a:solidFill>
          <a:ln w="6350">
            <a:solidFill>
              <a:srgbClr val="3D85C6"/>
            </a:solidFill>
            <a:prstDash val="solid"/>
          </a:ln>
        </p:spPr>
        <p:txBody>
          <a:bodyPr/>
          <a:lstStyle/>
          <a:p>
            <a:endParaRPr lang="en-US"/>
          </a:p>
        </p:txBody>
      </p:sp>
      <p:sp>
        <p:nvSpPr>
          <p:cNvPr id="58" name="Text 56"/>
          <p:cNvSpPr/>
          <p:nvPr/>
        </p:nvSpPr>
        <p:spPr>
          <a:xfrm>
            <a:off x="2740571" y="2660650"/>
            <a:ext cx="8950112" cy="388541"/>
          </a:xfrm>
          <a:prstGeom prst="rect">
            <a:avLst/>
          </a:prstGeom>
          <a:noFill/>
          <a:ln/>
        </p:spPr>
        <p:txBody>
          <a:bodyPr wrap="square" lIns="0" tIns="0" rIns="0" bIns="0" rtlCol="0" anchor="t">
            <a:normAutofit/>
          </a:bodyPr>
          <a:lstStyle/>
          <a:p>
            <a:pPr marL="0" indent="0" algn="l">
              <a:lnSpc>
                <a:spcPts val="1430"/>
              </a:lnSpc>
              <a:buNone/>
            </a:pPr>
            <a:r>
              <a:rPr lang="en-US" sz="1100" b="1" dirty="0">
                <a:solidFill>
                  <a:srgbClr val="1C4587"/>
                </a:solidFill>
                <a:latin typeface="Lato" pitchFamily="34" charset="0"/>
                <a:ea typeface="Lato" pitchFamily="34" charset="-122"/>
                <a:cs typeface="Lato" pitchFamily="34" charset="-120"/>
              </a:rPr>
              <a:t>hidden state ht:</a:t>
            </a:r>
            <a:r>
              <a:rPr lang="en-US" sz="1100" dirty="0">
                <a:solidFill>
                  <a:srgbClr val="1C4587"/>
                </a:solidFill>
                <a:latin typeface="Lato" pitchFamily="34" charset="0"/>
                <a:ea typeface="Lato" pitchFamily="34" charset="-122"/>
                <a:cs typeface="Lato" pitchFamily="34" charset="-120"/>
              </a:rPr>
              <a:t> the vector inside the model after it has read the prefix. The text of step t shows one action, while ht carries the whole context: credentials in play, repeated failed retrievals, sensitive entities</a:t>
            </a:r>
            <a:endParaRPr lang="en-US" sz="1100" dirty="0"/>
          </a:p>
        </p:txBody>
      </p:sp>
      <p:sp>
        <p:nvSpPr>
          <p:cNvPr id="59" name="Text 57"/>
          <p:cNvSpPr/>
          <p:nvPr/>
        </p:nvSpPr>
        <p:spPr>
          <a:xfrm>
            <a:off x="508000" y="3194000"/>
            <a:ext cx="1206500"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00000"/>
                </a:solidFill>
                <a:latin typeface="Lato" pitchFamily="34" charset="0"/>
                <a:ea typeface="Lato" pitchFamily="34" charset="-122"/>
                <a:cs typeface="Lato" pitchFamily="34" charset="-120"/>
              </a:rPr>
              <a:t>Nearest mechanism</a:t>
            </a:r>
            <a:endParaRPr lang="en-US" sz="1200" dirty="0"/>
          </a:p>
        </p:txBody>
      </p:sp>
      <p:sp>
        <p:nvSpPr>
          <p:cNvPr id="60" name="Shape 58"/>
          <p:cNvSpPr/>
          <p:nvPr/>
        </p:nvSpPr>
        <p:spPr>
          <a:xfrm>
            <a:off x="1714500" y="3150791"/>
            <a:ext cx="3911600" cy="513060"/>
          </a:xfrm>
          <a:prstGeom prst="roundRect">
            <a:avLst>
              <a:gd name="adj" fmla="val 12377"/>
            </a:avLst>
          </a:prstGeom>
          <a:solidFill>
            <a:srgbClr val="E8EEF8"/>
          </a:solidFill>
          <a:ln/>
        </p:spPr>
        <p:txBody>
          <a:bodyPr/>
          <a:lstStyle/>
          <a:p>
            <a:endParaRPr lang="en-US"/>
          </a:p>
        </p:txBody>
      </p:sp>
      <p:sp>
        <p:nvSpPr>
          <p:cNvPr id="61" name="Shape 59"/>
          <p:cNvSpPr/>
          <p:nvPr/>
        </p:nvSpPr>
        <p:spPr>
          <a:xfrm>
            <a:off x="1717675" y="3214291"/>
            <a:ext cx="139700" cy="139700"/>
          </a:xfrm>
          <a:prstGeom prst="roundRect">
            <a:avLst>
              <a:gd name="adj" fmla="val 13636"/>
            </a:avLst>
          </a:prstGeom>
          <a:solidFill>
            <a:srgbClr val="9DB4D8"/>
          </a:solidFill>
          <a:ln/>
        </p:spPr>
        <p:txBody>
          <a:bodyPr/>
          <a:lstStyle/>
          <a:p>
            <a:endParaRPr lang="en-US"/>
          </a:p>
        </p:txBody>
      </p:sp>
      <p:sp>
        <p:nvSpPr>
          <p:cNvPr id="62" name="Shape 60"/>
          <p:cNvSpPr/>
          <p:nvPr/>
        </p:nvSpPr>
        <p:spPr>
          <a:xfrm>
            <a:off x="1876425" y="3214291"/>
            <a:ext cx="139700" cy="139700"/>
          </a:xfrm>
          <a:prstGeom prst="roundRect">
            <a:avLst>
              <a:gd name="adj" fmla="val 13636"/>
            </a:avLst>
          </a:prstGeom>
          <a:solidFill>
            <a:srgbClr val="9DB4D8"/>
          </a:solidFill>
          <a:ln/>
        </p:spPr>
        <p:txBody>
          <a:bodyPr/>
          <a:lstStyle/>
          <a:p>
            <a:endParaRPr lang="en-US"/>
          </a:p>
        </p:txBody>
      </p:sp>
      <p:sp>
        <p:nvSpPr>
          <p:cNvPr id="63" name="Shape 61"/>
          <p:cNvSpPr/>
          <p:nvPr/>
        </p:nvSpPr>
        <p:spPr>
          <a:xfrm>
            <a:off x="2035175" y="3214291"/>
            <a:ext cx="139700" cy="139700"/>
          </a:xfrm>
          <a:prstGeom prst="roundRect">
            <a:avLst>
              <a:gd name="adj" fmla="val 13636"/>
            </a:avLst>
          </a:prstGeom>
          <a:solidFill>
            <a:srgbClr val="2F5597"/>
          </a:solidFill>
          <a:ln/>
        </p:spPr>
        <p:txBody>
          <a:bodyPr/>
          <a:lstStyle/>
          <a:p>
            <a:endParaRPr lang="en-US"/>
          </a:p>
        </p:txBody>
      </p:sp>
      <p:sp>
        <p:nvSpPr>
          <p:cNvPr id="64" name="Shape 62"/>
          <p:cNvSpPr/>
          <p:nvPr/>
        </p:nvSpPr>
        <p:spPr>
          <a:xfrm>
            <a:off x="2193925" y="3214291"/>
            <a:ext cx="139700" cy="139700"/>
          </a:xfrm>
          <a:prstGeom prst="roundRect">
            <a:avLst>
              <a:gd name="adj" fmla="val 13636"/>
            </a:avLst>
          </a:prstGeom>
          <a:solidFill>
            <a:srgbClr val="9DB4D8"/>
          </a:solidFill>
          <a:ln/>
        </p:spPr>
        <p:txBody>
          <a:bodyPr/>
          <a:lstStyle/>
          <a:p>
            <a:endParaRPr lang="en-US"/>
          </a:p>
        </p:txBody>
      </p:sp>
      <p:sp>
        <p:nvSpPr>
          <p:cNvPr id="65" name="Shape 63"/>
          <p:cNvSpPr/>
          <p:nvPr/>
        </p:nvSpPr>
        <p:spPr>
          <a:xfrm>
            <a:off x="2352675" y="3214291"/>
            <a:ext cx="139700" cy="139700"/>
          </a:xfrm>
          <a:prstGeom prst="roundRect">
            <a:avLst>
              <a:gd name="adj" fmla="val 13636"/>
            </a:avLst>
          </a:prstGeom>
          <a:solidFill>
            <a:srgbClr val="9DB4D8"/>
          </a:solidFill>
          <a:ln/>
        </p:spPr>
        <p:txBody>
          <a:bodyPr/>
          <a:lstStyle/>
          <a:p>
            <a:endParaRPr lang="en-US"/>
          </a:p>
        </p:txBody>
      </p:sp>
      <p:sp>
        <p:nvSpPr>
          <p:cNvPr id="66" name="Shape 64"/>
          <p:cNvSpPr/>
          <p:nvPr/>
        </p:nvSpPr>
        <p:spPr>
          <a:xfrm>
            <a:off x="2511425" y="3214291"/>
            <a:ext cx="139700" cy="139700"/>
          </a:xfrm>
          <a:prstGeom prst="roundRect">
            <a:avLst>
              <a:gd name="adj" fmla="val 13636"/>
            </a:avLst>
          </a:prstGeom>
          <a:solidFill>
            <a:srgbClr val="DCE6F2"/>
          </a:solidFill>
          <a:ln/>
        </p:spPr>
        <p:txBody>
          <a:bodyPr/>
          <a:lstStyle/>
          <a:p>
            <a:endParaRPr lang="en-US"/>
          </a:p>
        </p:txBody>
      </p:sp>
      <p:sp>
        <p:nvSpPr>
          <p:cNvPr id="67" name="Shape 65"/>
          <p:cNvSpPr/>
          <p:nvPr/>
        </p:nvSpPr>
        <p:spPr>
          <a:xfrm>
            <a:off x="2708275" y="3214291"/>
            <a:ext cx="139700" cy="139700"/>
          </a:xfrm>
          <a:prstGeom prst="roundRect">
            <a:avLst>
              <a:gd name="adj" fmla="val 13636"/>
            </a:avLst>
          </a:prstGeom>
          <a:solidFill>
            <a:srgbClr val="9DB4D8"/>
          </a:solidFill>
          <a:ln/>
        </p:spPr>
        <p:txBody>
          <a:bodyPr/>
          <a:lstStyle/>
          <a:p>
            <a:endParaRPr lang="en-US"/>
          </a:p>
        </p:txBody>
      </p:sp>
      <p:sp>
        <p:nvSpPr>
          <p:cNvPr id="68" name="Shape 66"/>
          <p:cNvSpPr/>
          <p:nvPr/>
        </p:nvSpPr>
        <p:spPr>
          <a:xfrm>
            <a:off x="2867025" y="3214291"/>
            <a:ext cx="139700" cy="139700"/>
          </a:xfrm>
          <a:prstGeom prst="roundRect">
            <a:avLst>
              <a:gd name="adj" fmla="val 13636"/>
            </a:avLst>
          </a:prstGeom>
          <a:solidFill>
            <a:srgbClr val="DCE6F2"/>
          </a:solidFill>
          <a:ln/>
        </p:spPr>
        <p:txBody>
          <a:bodyPr/>
          <a:lstStyle/>
          <a:p>
            <a:endParaRPr lang="en-US"/>
          </a:p>
        </p:txBody>
      </p:sp>
      <p:sp>
        <p:nvSpPr>
          <p:cNvPr id="69" name="Shape 67"/>
          <p:cNvSpPr/>
          <p:nvPr/>
        </p:nvSpPr>
        <p:spPr>
          <a:xfrm>
            <a:off x="3025775" y="3214291"/>
            <a:ext cx="139700" cy="139700"/>
          </a:xfrm>
          <a:prstGeom prst="roundRect">
            <a:avLst>
              <a:gd name="adj" fmla="val 13636"/>
            </a:avLst>
          </a:prstGeom>
          <a:solidFill>
            <a:srgbClr val="2F5597"/>
          </a:solidFill>
          <a:ln/>
        </p:spPr>
        <p:txBody>
          <a:bodyPr/>
          <a:lstStyle/>
          <a:p>
            <a:endParaRPr lang="en-US"/>
          </a:p>
        </p:txBody>
      </p:sp>
      <p:sp>
        <p:nvSpPr>
          <p:cNvPr id="70" name="Shape 68"/>
          <p:cNvSpPr/>
          <p:nvPr/>
        </p:nvSpPr>
        <p:spPr>
          <a:xfrm>
            <a:off x="3184525" y="3214291"/>
            <a:ext cx="139700" cy="139700"/>
          </a:xfrm>
          <a:prstGeom prst="roundRect">
            <a:avLst>
              <a:gd name="adj" fmla="val 13636"/>
            </a:avLst>
          </a:prstGeom>
          <a:solidFill>
            <a:srgbClr val="9DB4D8"/>
          </a:solidFill>
          <a:ln/>
        </p:spPr>
        <p:txBody>
          <a:bodyPr/>
          <a:lstStyle/>
          <a:p>
            <a:endParaRPr lang="en-US"/>
          </a:p>
        </p:txBody>
      </p:sp>
      <p:sp>
        <p:nvSpPr>
          <p:cNvPr id="71" name="Shape 69"/>
          <p:cNvSpPr/>
          <p:nvPr/>
        </p:nvSpPr>
        <p:spPr>
          <a:xfrm>
            <a:off x="3343275" y="3214291"/>
            <a:ext cx="139700" cy="139700"/>
          </a:xfrm>
          <a:prstGeom prst="roundRect">
            <a:avLst>
              <a:gd name="adj" fmla="val 13636"/>
            </a:avLst>
          </a:prstGeom>
          <a:solidFill>
            <a:srgbClr val="DCE6F2"/>
          </a:solidFill>
          <a:ln/>
        </p:spPr>
        <p:txBody>
          <a:bodyPr/>
          <a:lstStyle/>
          <a:p>
            <a:endParaRPr lang="en-US"/>
          </a:p>
        </p:txBody>
      </p:sp>
      <p:sp>
        <p:nvSpPr>
          <p:cNvPr id="72" name="Shape 70"/>
          <p:cNvSpPr/>
          <p:nvPr/>
        </p:nvSpPr>
        <p:spPr>
          <a:xfrm>
            <a:off x="3502025" y="3214291"/>
            <a:ext cx="139700" cy="139700"/>
          </a:xfrm>
          <a:prstGeom prst="roundRect">
            <a:avLst>
              <a:gd name="adj" fmla="val 13636"/>
            </a:avLst>
          </a:prstGeom>
          <a:solidFill>
            <a:srgbClr val="9DB4D8"/>
          </a:solidFill>
          <a:ln/>
        </p:spPr>
        <p:txBody>
          <a:bodyPr/>
          <a:lstStyle/>
          <a:p>
            <a:endParaRPr lang="en-US"/>
          </a:p>
        </p:txBody>
      </p:sp>
      <p:sp>
        <p:nvSpPr>
          <p:cNvPr id="73" name="Shape 71"/>
          <p:cNvSpPr/>
          <p:nvPr/>
        </p:nvSpPr>
        <p:spPr>
          <a:xfrm>
            <a:off x="3698875" y="3214291"/>
            <a:ext cx="139700" cy="139700"/>
          </a:xfrm>
          <a:prstGeom prst="roundRect">
            <a:avLst>
              <a:gd name="adj" fmla="val 13636"/>
            </a:avLst>
          </a:prstGeom>
          <a:solidFill>
            <a:srgbClr val="DCE6F2"/>
          </a:solidFill>
          <a:ln/>
        </p:spPr>
        <p:txBody>
          <a:bodyPr/>
          <a:lstStyle/>
          <a:p>
            <a:endParaRPr lang="en-US"/>
          </a:p>
        </p:txBody>
      </p:sp>
      <p:sp>
        <p:nvSpPr>
          <p:cNvPr id="74" name="Shape 72"/>
          <p:cNvSpPr/>
          <p:nvPr/>
        </p:nvSpPr>
        <p:spPr>
          <a:xfrm>
            <a:off x="3857625" y="3214291"/>
            <a:ext cx="139700" cy="139700"/>
          </a:xfrm>
          <a:prstGeom prst="roundRect">
            <a:avLst>
              <a:gd name="adj" fmla="val 13636"/>
            </a:avLst>
          </a:prstGeom>
          <a:solidFill>
            <a:srgbClr val="9DB4D8"/>
          </a:solidFill>
          <a:ln/>
        </p:spPr>
        <p:txBody>
          <a:bodyPr/>
          <a:lstStyle/>
          <a:p>
            <a:endParaRPr lang="en-US"/>
          </a:p>
        </p:txBody>
      </p:sp>
      <p:sp>
        <p:nvSpPr>
          <p:cNvPr id="75" name="Shape 73"/>
          <p:cNvSpPr/>
          <p:nvPr/>
        </p:nvSpPr>
        <p:spPr>
          <a:xfrm>
            <a:off x="4016375" y="3214291"/>
            <a:ext cx="139700" cy="139700"/>
          </a:xfrm>
          <a:prstGeom prst="roundRect">
            <a:avLst>
              <a:gd name="adj" fmla="val 13636"/>
            </a:avLst>
          </a:prstGeom>
          <a:solidFill>
            <a:srgbClr val="2F5597"/>
          </a:solidFill>
          <a:ln/>
        </p:spPr>
        <p:txBody>
          <a:bodyPr/>
          <a:lstStyle/>
          <a:p>
            <a:endParaRPr lang="en-US"/>
          </a:p>
        </p:txBody>
      </p:sp>
      <p:sp>
        <p:nvSpPr>
          <p:cNvPr id="76" name="Shape 74"/>
          <p:cNvSpPr/>
          <p:nvPr/>
        </p:nvSpPr>
        <p:spPr>
          <a:xfrm>
            <a:off x="4175125" y="3214291"/>
            <a:ext cx="139700" cy="139700"/>
          </a:xfrm>
          <a:prstGeom prst="roundRect">
            <a:avLst>
              <a:gd name="adj" fmla="val 13636"/>
            </a:avLst>
          </a:prstGeom>
          <a:solidFill>
            <a:srgbClr val="9DB4D8"/>
          </a:solidFill>
          <a:ln/>
        </p:spPr>
        <p:txBody>
          <a:bodyPr/>
          <a:lstStyle/>
          <a:p>
            <a:endParaRPr lang="en-US"/>
          </a:p>
        </p:txBody>
      </p:sp>
      <p:sp>
        <p:nvSpPr>
          <p:cNvPr id="77" name="Shape 75"/>
          <p:cNvSpPr/>
          <p:nvPr/>
        </p:nvSpPr>
        <p:spPr>
          <a:xfrm>
            <a:off x="4333875" y="3214291"/>
            <a:ext cx="139700" cy="139700"/>
          </a:xfrm>
          <a:prstGeom prst="roundRect">
            <a:avLst>
              <a:gd name="adj" fmla="val 13636"/>
            </a:avLst>
          </a:prstGeom>
          <a:solidFill>
            <a:srgbClr val="9DB4D8"/>
          </a:solidFill>
          <a:ln/>
        </p:spPr>
        <p:txBody>
          <a:bodyPr/>
          <a:lstStyle/>
          <a:p>
            <a:endParaRPr lang="en-US"/>
          </a:p>
        </p:txBody>
      </p:sp>
      <p:sp>
        <p:nvSpPr>
          <p:cNvPr id="78" name="Shape 76"/>
          <p:cNvSpPr/>
          <p:nvPr/>
        </p:nvSpPr>
        <p:spPr>
          <a:xfrm>
            <a:off x="4492625" y="3214291"/>
            <a:ext cx="139700" cy="139700"/>
          </a:xfrm>
          <a:prstGeom prst="roundRect">
            <a:avLst>
              <a:gd name="adj" fmla="val 13636"/>
            </a:avLst>
          </a:prstGeom>
          <a:solidFill>
            <a:srgbClr val="DCE6F2"/>
          </a:solidFill>
          <a:ln/>
        </p:spPr>
        <p:txBody>
          <a:bodyPr/>
          <a:lstStyle/>
          <a:p>
            <a:endParaRPr lang="en-US"/>
          </a:p>
        </p:txBody>
      </p:sp>
      <p:sp>
        <p:nvSpPr>
          <p:cNvPr id="79" name="Shape 77"/>
          <p:cNvSpPr/>
          <p:nvPr/>
        </p:nvSpPr>
        <p:spPr>
          <a:xfrm>
            <a:off x="4689475" y="3214291"/>
            <a:ext cx="139700" cy="139700"/>
          </a:xfrm>
          <a:prstGeom prst="roundRect">
            <a:avLst>
              <a:gd name="adj" fmla="val 13636"/>
            </a:avLst>
          </a:prstGeom>
          <a:solidFill>
            <a:srgbClr val="9DB4D8"/>
          </a:solidFill>
          <a:ln/>
        </p:spPr>
        <p:txBody>
          <a:bodyPr/>
          <a:lstStyle/>
          <a:p>
            <a:endParaRPr lang="en-US"/>
          </a:p>
        </p:txBody>
      </p:sp>
      <p:sp>
        <p:nvSpPr>
          <p:cNvPr id="80" name="Shape 78"/>
          <p:cNvSpPr/>
          <p:nvPr/>
        </p:nvSpPr>
        <p:spPr>
          <a:xfrm>
            <a:off x="4848225" y="3214291"/>
            <a:ext cx="139700" cy="139700"/>
          </a:xfrm>
          <a:prstGeom prst="roundRect">
            <a:avLst>
              <a:gd name="adj" fmla="val 13636"/>
            </a:avLst>
          </a:prstGeom>
          <a:solidFill>
            <a:srgbClr val="9DB4D8"/>
          </a:solidFill>
          <a:ln/>
        </p:spPr>
        <p:txBody>
          <a:bodyPr/>
          <a:lstStyle/>
          <a:p>
            <a:endParaRPr lang="en-US"/>
          </a:p>
        </p:txBody>
      </p:sp>
      <p:sp>
        <p:nvSpPr>
          <p:cNvPr id="81" name="Shape 79"/>
          <p:cNvSpPr/>
          <p:nvPr/>
        </p:nvSpPr>
        <p:spPr>
          <a:xfrm>
            <a:off x="5006975" y="3214291"/>
            <a:ext cx="139700" cy="139700"/>
          </a:xfrm>
          <a:prstGeom prst="roundRect">
            <a:avLst>
              <a:gd name="adj" fmla="val 13636"/>
            </a:avLst>
          </a:prstGeom>
          <a:solidFill>
            <a:srgbClr val="2F5597"/>
          </a:solidFill>
          <a:ln/>
        </p:spPr>
        <p:txBody>
          <a:bodyPr/>
          <a:lstStyle/>
          <a:p>
            <a:endParaRPr lang="en-US"/>
          </a:p>
        </p:txBody>
      </p:sp>
      <p:sp>
        <p:nvSpPr>
          <p:cNvPr id="82" name="Shape 80"/>
          <p:cNvSpPr/>
          <p:nvPr/>
        </p:nvSpPr>
        <p:spPr>
          <a:xfrm>
            <a:off x="5165725" y="3214291"/>
            <a:ext cx="139700" cy="139700"/>
          </a:xfrm>
          <a:prstGeom prst="roundRect">
            <a:avLst>
              <a:gd name="adj" fmla="val 13636"/>
            </a:avLst>
          </a:prstGeom>
          <a:solidFill>
            <a:srgbClr val="DCE6F2"/>
          </a:solidFill>
          <a:ln/>
        </p:spPr>
        <p:txBody>
          <a:bodyPr/>
          <a:lstStyle/>
          <a:p>
            <a:endParaRPr lang="en-US"/>
          </a:p>
        </p:txBody>
      </p:sp>
      <p:sp>
        <p:nvSpPr>
          <p:cNvPr id="83" name="Shape 81"/>
          <p:cNvSpPr/>
          <p:nvPr/>
        </p:nvSpPr>
        <p:spPr>
          <a:xfrm>
            <a:off x="5324475" y="3214291"/>
            <a:ext cx="139700" cy="139700"/>
          </a:xfrm>
          <a:prstGeom prst="roundRect">
            <a:avLst>
              <a:gd name="adj" fmla="val 13636"/>
            </a:avLst>
          </a:prstGeom>
          <a:solidFill>
            <a:srgbClr val="9DB4D8"/>
          </a:solidFill>
          <a:ln/>
        </p:spPr>
        <p:txBody>
          <a:bodyPr/>
          <a:lstStyle/>
          <a:p>
            <a:endParaRPr lang="en-US"/>
          </a:p>
        </p:txBody>
      </p:sp>
      <p:sp>
        <p:nvSpPr>
          <p:cNvPr id="84" name="Shape 82"/>
          <p:cNvSpPr/>
          <p:nvPr/>
        </p:nvSpPr>
        <p:spPr>
          <a:xfrm>
            <a:off x="5483225" y="3214291"/>
            <a:ext cx="139700" cy="139700"/>
          </a:xfrm>
          <a:prstGeom prst="roundRect">
            <a:avLst>
              <a:gd name="adj" fmla="val 13636"/>
            </a:avLst>
          </a:prstGeom>
          <a:solidFill>
            <a:srgbClr val="E39AA6"/>
          </a:solidFill>
          <a:ln/>
        </p:spPr>
        <p:txBody>
          <a:bodyPr/>
          <a:lstStyle/>
          <a:p>
            <a:endParaRPr lang="en-US"/>
          </a:p>
        </p:txBody>
      </p:sp>
      <p:sp>
        <p:nvSpPr>
          <p:cNvPr id="85" name="Text 83"/>
          <p:cNvSpPr/>
          <p:nvPr/>
        </p:nvSpPr>
        <p:spPr>
          <a:xfrm>
            <a:off x="1655826" y="3404791"/>
            <a:ext cx="4028948" cy="220960"/>
          </a:xfrm>
          <a:prstGeom prst="rect">
            <a:avLst/>
          </a:prstGeom>
          <a:noFill/>
          <a:ln/>
        </p:spPr>
        <p:txBody>
          <a:bodyPr wrap="square" lIns="0" tIns="0" rIns="0" bIns="0" rtlCol="0" anchor="t">
            <a:normAutofit/>
          </a:bodyPr>
          <a:lstStyle/>
          <a:p>
            <a:pPr marL="0" indent="0" algn="ctr">
              <a:lnSpc>
                <a:spcPts val="1540"/>
              </a:lnSpc>
              <a:buNone/>
            </a:pPr>
            <a:r>
              <a:rPr lang="en-US" sz="1100" b="1" dirty="0">
                <a:solidFill>
                  <a:srgbClr val="2F5597"/>
                </a:solidFill>
                <a:latin typeface="Lato" pitchFamily="34" charset="0"/>
                <a:ea typeface="Lato" pitchFamily="34" charset="-122"/>
                <a:cs typeface="Lato" pitchFamily="34" charset="-120"/>
              </a:rPr>
              <a:t>M1: information gathering</a:t>
            </a:r>
            <a:endParaRPr lang="en-US" sz="1100" dirty="0"/>
          </a:p>
        </p:txBody>
      </p:sp>
      <p:sp>
        <p:nvSpPr>
          <p:cNvPr id="86" name="Shape 84"/>
          <p:cNvSpPr/>
          <p:nvPr/>
        </p:nvSpPr>
        <p:spPr>
          <a:xfrm>
            <a:off x="5676900" y="3150791"/>
            <a:ext cx="5892800" cy="513060"/>
          </a:xfrm>
          <a:prstGeom prst="roundRect">
            <a:avLst>
              <a:gd name="adj" fmla="val 12377"/>
            </a:avLst>
          </a:prstGeom>
          <a:solidFill>
            <a:srgbClr val="FBE9EC"/>
          </a:solidFill>
          <a:ln/>
        </p:spPr>
        <p:txBody>
          <a:bodyPr/>
          <a:lstStyle/>
          <a:p>
            <a:endParaRPr lang="en-US"/>
          </a:p>
        </p:txBody>
      </p:sp>
      <p:sp>
        <p:nvSpPr>
          <p:cNvPr id="87" name="Shape 85"/>
          <p:cNvSpPr/>
          <p:nvPr/>
        </p:nvSpPr>
        <p:spPr>
          <a:xfrm>
            <a:off x="5680075" y="3214291"/>
            <a:ext cx="139700" cy="139700"/>
          </a:xfrm>
          <a:prstGeom prst="roundRect">
            <a:avLst>
              <a:gd name="adj" fmla="val 13636"/>
            </a:avLst>
          </a:prstGeom>
          <a:solidFill>
            <a:srgbClr val="9DB4D8"/>
          </a:solidFill>
          <a:ln/>
        </p:spPr>
        <p:txBody>
          <a:bodyPr/>
          <a:lstStyle/>
          <a:p>
            <a:endParaRPr lang="en-US"/>
          </a:p>
        </p:txBody>
      </p:sp>
      <p:sp>
        <p:nvSpPr>
          <p:cNvPr id="88" name="Shape 86"/>
          <p:cNvSpPr/>
          <p:nvPr/>
        </p:nvSpPr>
        <p:spPr>
          <a:xfrm>
            <a:off x="5838825" y="3214291"/>
            <a:ext cx="139700" cy="139700"/>
          </a:xfrm>
          <a:prstGeom prst="roundRect">
            <a:avLst>
              <a:gd name="adj" fmla="val 13636"/>
            </a:avLst>
          </a:prstGeom>
          <a:solidFill>
            <a:srgbClr val="E39AA6"/>
          </a:solidFill>
          <a:ln/>
        </p:spPr>
        <p:txBody>
          <a:bodyPr/>
          <a:lstStyle/>
          <a:p>
            <a:endParaRPr lang="en-US"/>
          </a:p>
        </p:txBody>
      </p:sp>
      <p:sp>
        <p:nvSpPr>
          <p:cNvPr id="89" name="Shape 87"/>
          <p:cNvSpPr/>
          <p:nvPr/>
        </p:nvSpPr>
        <p:spPr>
          <a:xfrm>
            <a:off x="5997575" y="3214291"/>
            <a:ext cx="139700" cy="139700"/>
          </a:xfrm>
          <a:prstGeom prst="roundRect">
            <a:avLst>
              <a:gd name="adj" fmla="val 13636"/>
            </a:avLst>
          </a:prstGeom>
          <a:solidFill>
            <a:srgbClr val="9DB4D8"/>
          </a:solidFill>
          <a:ln/>
        </p:spPr>
        <p:txBody>
          <a:bodyPr/>
          <a:lstStyle/>
          <a:p>
            <a:endParaRPr lang="en-US"/>
          </a:p>
        </p:txBody>
      </p:sp>
      <p:sp>
        <p:nvSpPr>
          <p:cNvPr id="90" name="Shape 88"/>
          <p:cNvSpPr/>
          <p:nvPr/>
        </p:nvSpPr>
        <p:spPr>
          <a:xfrm>
            <a:off x="6156325" y="3214291"/>
            <a:ext cx="139700" cy="139700"/>
          </a:xfrm>
          <a:prstGeom prst="roundRect">
            <a:avLst>
              <a:gd name="adj" fmla="val 13636"/>
            </a:avLst>
          </a:prstGeom>
          <a:solidFill>
            <a:srgbClr val="E39AA6"/>
          </a:solidFill>
          <a:ln/>
        </p:spPr>
        <p:txBody>
          <a:bodyPr/>
          <a:lstStyle/>
          <a:p>
            <a:endParaRPr lang="en-US"/>
          </a:p>
        </p:txBody>
      </p:sp>
      <p:sp>
        <p:nvSpPr>
          <p:cNvPr id="91" name="Shape 89"/>
          <p:cNvSpPr/>
          <p:nvPr/>
        </p:nvSpPr>
        <p:spPr>
          <a:xfrm>
            <a:off x="6315075" y="3214291"/>
            <a:ext cx="139700" cy="139700"/>
          </a:xfrm>
          <a:prstGeom prst="roundRect">
            <a:avLst>
              <a:gd name="adj" fmla="val 13636"/>
            </a:avLst>
          </a:prstGeom>
          <a:solidFill>
            <a:srgbClr val="DCE6F2"/>
          </a:solidFill>
          <a:ln/>
        </p:spPr>
        <p:txBody>
          <a:bodyPr/>
          <a:lstStyle/>
          <a:p>
            <a:endParaRPr lang="en-US"/>
          </a:p>
        </p:txBody>
      </p:sp>
      <p:sp>
        <p:nvSpPr>
          <p:cNvPr id="92" name="Shape 90"/>
          <p:cNvSpPr/>
          <p:nvPr/>
        </p:nvSpPr>
        <p:spPr>
          <a:xfrm>
            <a:off x="6473825" y="3214291"/>
            <a:ext cx="139700" cy="139700"/>
          </a:xfrm>
          <a:prstGeom prst="roundRect">
            <a:avLst>
              <a:gd name="adj" fmla="val 13636"/>
            </a:avLst>
          </a:prstGeom>
          <a:solidFill>
            <a:srgbClr val="D4606F"/>
          </a:solidFill>
          <a:ln/>
        </p:spPr>
        <p:txBody>
          <a:bodyPr/>
          <a:lstStyle/>
          <a:p>
            <a:endParaRPr lang="en-US"/>
          </a:p>
        </p:txBody>
      </p:sp>
      <p:sp>
        <p:nvSpPr>
          <p:cNvPr id="93" name="Shape 91"/>
          <p:cNvSpPr/>
          <p:nvPr/>
        </p:nvSpPr>
        <p:spPr>
          <a:xfrm>
            <a:off x="6670675" y="3214291"/>
            <a:ext cx="139700" cy="139700"/>
          </a:xfrm>
          <a:prstGeom prst="roundRect">
            <a:avLst>
              <a:gd name="adj" fmla="val 13636"/>
            </a:avLst>
          </a:prstGeom>
          <a:solidFill>
            <a:srgbClr val="E39AA6"/>
          </a:solidFill>
          <a:ln/>
        </p:spPr>
        <p:txBody>
          <a:bodyPr/>
          <a:lstStyle/>
          <a:p>
            <a:endParaRPr lang="en-US"/>
          </a:p>
        </p:txBody>
      </p:sp>
      <p:sp>
        <p:nvSpPr>
          <p:cNvPr id="94" name="Shape 92"/>
          <p:cNvSpPr/>
          <p:nvPr/>
        </p:nvSpPr>
        <p:spPr>
          <a:xfrm>
            <a:off x="6829425" y="3214291"/>
            <a:ext cx="139700" cy="139700"/>
          </a:xfrm>
          <a:prstGeom prst="roundRect">
            <a:avLst>
              <a:gd name="adj" fmla="val 13636"/>
            </a:avLst>
          </a:prstGeom>
          <a:solidFill>
            <a:srgbClr val="E39AA6"/>
          </a:solidFill>
          <a:ln/>
        </p:spPr>
        <p:txBody>
          <a:bodyPr/>
          <a:lstStyle/>
          <a:p>
            <a:endParaRPr lang="en-US"/>
          </a:p>
        </p:txBody>
      </p:sp>
      <p:sp>
        <p:nvSpPr>
          <p:cNvPr id="95" name="Shape 93"/>
          <p:cNvSpPr/>
          <p:nvPr/>
        </p:nvSpPr>
        <p:spPr>
          <a:xfrm>
            <a:off x="6988175" y="3214291"/>
            <a:ext cx="139700" cy="139700"/>
          </a:xfrm>
          <a:prstGeom prst="roundRect">
            <a:avLst>
              <a:gd name="adj" fmla="val 13636"/>
            </a:avLst>
          </a:prstGeom>
          <a:solidFill>
            <a:srgbClr val="9DB4D8"/>
          </a:solidFill>
          <a:ln/>
        </p:spPr>
        <p:txBody>
          <a:bodyPr/>
          <a:lstStyle/>
          <a:p>
            <a:endParaRPr lang="en-US"/>
          </a:p>
        </p:txBody>
      </p:sp>
      <p:sp>
        <p:nvSpPr>
          <p:cNvPr id="96" name="Shape 94"/>
          <p:cNvSpPr/>
          <p:nvPr/>
        </p:nvSpPr>
        <p:spPr>
          <a:xfrm>
            <a:off x="7146925" y="3214291"/>
            <a:ext cx="139700" cy="139700"/>
          </a:xfrm>
          <a:prstGeom prst="roundRect">
            <a:avLst>
              <a:gd name="adj" fmla="val 13636"/>
            </a:avLst>
          </a:prstGeom>
          <a:solidFill>
            <a:srgbClr val="D4606F"/>
          </a:solidFill>
          <a:ln/>
        </p:spPr>
        <p:txBody>
          <a:bodyPr/>
          <a:lstStyle/>
          <a:p>
            <a:endParaRPr lang="en-US"/>
          </a:p>
        </p:txBody>
      </p:sp>
      <p:sp>
        <p:nvSpPr>
          <p:cNvPr id="97" name="Shape 95"/>
          <p:cNvSpPr/>
          <p:nvPr/>
        </p:nvSpPr>
        <p:spPr>
          <a:xfrm>
            <a:off x="7305675" y="3214291"/>
            <a:ext cx="139700" cy="139700"/>
          </a:xfrm>
          <a:prstGeom prst="roundRect">
            <a:avLst>
              <a:gd name="adj" fmla="val 13636"/>
            </a:avLst>
          </a:prstGeom>
          <a:solidFill>
            <a:srgbClr val="E39AA6"/>
          </a:solidFill>
          <a:ln/>
        </p:spPr>
        <p:txBody>
          <a:bodyPr/>
          <a:lstStyle/>
          <a:p>
            <a:endParaRPr lang="en-US"/>
          </a:p>
        </p:txBody>
      </p:sp>
      <p:sp>
        <p:nvSpPr>
          <p:cNvPr id="98" name="Shape 96"/>
          <p:cNvSpPr/>
          <p:nvPr/>
        </p:nvSpPr>
        <p:spPr>
          <a:xfrm>
            <a:off x="7464425" y="3214291"/>
            <a:ext cx="139700" cy="139700"/>
          </a:xfrm>
          <a:prstGeom prst="roundRect">
            <a:avLst>
              <a:gd name="adj" fmla="val 13636"/>
            </a:avLst>
          </a:prstGeom>
          <a:solidFill>
            <a:srgbClr val="D4606F"/>
          </a:solidFill>
          <a:ln/>
        </p:spPr>
        <p:txBody>
          <a:bodyPr/>
          <a:lstStyle/>
          <a:p>
            <a:endParaRPr lang="en-US"/>
          </a:p>
        </p:txBody>
      </p:sp>
      <p:sp>
        <p:nvSpPr>
          <p:cNvPr id="99" name="Shape 97"/>
          <p:cNvSpPr/>
          <p:nvPr/>
        </p:nvSpPr>
        <p:spPr>
          <a:xfrm>
            <a:off x="7661275" y="3214291"/>
            <a:ext cx="139700" cy="139700"/>
          </a:xfrm>
          <a:prstGeom prst="roundRect">
            <a:avLst>
              <a:gd name="adj" fmla="val 13636"/>
            </a:avLst>
          </a:prstGeom>
          <a:solidFill>
            <a:srgbClr val="E39AA6"/>
          </a:solidFill>
          <a:ln/>
        </p:spPr>
        <p:txBody>
          <a:bodyPr/>
          <a:lstStyle/>
          <a:p>
            <a:endParaRPr lang="en-US"/>
          </a:p>
        </p:txBody>
      </p:sp>
      <p:sp>
        <p:nvSpPr>
          <p:cNvPr id="100" name="Shape 98"/>
          <p:cNvSpPr/>
          <p:nvPr/>
        </p:nvSpPr>
        <p:spPr>
          <a:xfrm>
            <a:off x="7820025" y="3214291"/>
            <a:ext cx="139700" cy="139700"/>
          </a:xfrm>
          <a:prstGeom prst="roundRect">
            <a:avLst>
              <a:gd name="adj" fmla="val 13636"/>
            </a:avLst>
          </a:prstGeom>
          <a:solidFill>
            <a:srgbClr val="D4606F"/>
          </a:solidFill>
          <a:ln/>
        </p:spPr>
        <p:txBody>
          <a:bodyPr/>
          <a:lstStyle/>
          <a:p>
            <a:endParaRPr lang="en-US"/>
          </a:p>
        </p:txBody>
      </p:sp>
      <p:sp>
        <p:nvSpPr>
          <p:cNvPr id="101" name="Shape 99"/>
          <p:cNvSpPr/>
          <p:nvPr/>
        </p:nvSpPr>
        <p:spPr>
          <a:xfrm>
            <a:off x="7978775" y="3214291"/>
            <a:ext cx="139700" cy="139700"/>
          </a:xfrm>
          <a:prstGeom prst="roundRect">
            <a:avLst>
              <a:gd name="adj" fmla="val 13636"/>
            </a:avLst>
          </a:prstGeom>
          <a:solidFill>
            <a:srgbClr val="E39AA6"/>
          </a:solidFill>
          <a:ln/>
        </p:spPr>
        <p:txBody>
          <a:bodyPr/>
          <a:lstStyle/>
          <a:p>
            <a:endParaRPr lang="en-US"/>
          </a:p>
        </p:txBody>
      </p:sp>
      <p:sp>
        <p:nvSpPr>
          <p:cNvPr id="102" name="Shape 100"/>
          <p:cNvSpPr/>
          <p:nvPr/>
        </p:nvSpPr>
        <p:spPr>
          <a:xfrm>
            <a:off x="8137525" y="3214291"/>
            <a:ext cx="139700" cy="139700"/>
          </a:xfrm>
          <a:prstGeom prst="roundRect">
            <a:avLst>
              <a:gd name="adj" fmla="val 13636"/>
            </a:avLst>
          </a:prstGeom>
          <a:solidFill>
            <a:srgbClr val="D4606F"/>
          </a:solidFill>
          <a:ln/>
        </p:spPr>
        <p:txBody>
          <a:bodyPr/>
          <a:lstStyle/>
          <a:p>
            <a:endParaRPr lang="en-US"/>
          </a:p>
        </p:txBody>
      </p:sp>
      <p:sp>
        <p:nvSpPr>
          <p:cNvPr id="103" name="Shape 101"/>
          <p:cNvSpPr/>
          <p:nvPr/>
        </p:nvSpPr>
        <p:spPr>
          <a:xfrm>
            <a:off x="8296275" y="3214291"/>
            <a:ext cx="139700" cy="139700"/>
          </a:xfrm>
          <a:prstGeom prst="roundRect">
            <a:avLst>
              <a:gd name="adj" fmla="val 13636"/>
            </a:avLst>
          </a:prstGeom>
          <a:solidFill>
            <a:srgbClr val="C00000"/>
          </a:solidFill>
          <a:ln/>
        </p:spPr>
        <p:txBody>
          <a:bodyPr/>
          <a:lstStyle/>
          <a:p>
            <a:endParaRPr lang="en-US"/>
          </a:p>
        </p:txBody>
      </p:sp>
      <p:sp>
        <p:nvSpPr>
          <p:cNvPr id="104" name="Shape 102"/>
          <p:cNvSpPr/>
          <p:nvPr/>
        </p:nvSpPr>
        <p:spPr>
          <a:xfrm>
            <a:off x="8455025" y="3214291"/>
            <a:ext cx="139700" cy="139700"/>
          </a:xfrm>
          <a:prstGeom prst="roundRect">
            <a:avLst>
              <a:gd name="adj" fmla="val 13636"/>
            </a:avLst>
          </a:prstGeom>
          <a:solidFill>
            <a:srgbClr val="D4606F"/>
          </a:solidFill>
          <a:ln/>
        </p:spPr>
        <p:txBody>
          <a:bodyPr/>
          <a:lstStyle/>
          <a:p>
            <a:endParaRPr lang="en-US"/>
          </a:p>
        </p:txBody>
      </p:sp>
      <p:sp>
        <p:nvSpPr>
          <p:cNvPr id="105" name="Shape 103"/>
          <p:cNvSpPr/>
          <p:nvPr/>
        </p:nvSpPr>
        <p:spPr>
          <a:xfrm>
            <a:off x="8651875" y="3214291"/>
            <a:ext cx="139700" cy="139700"/>
          </a:xfrm>
          <a:prstGeom prst="roundRect">
            <a:avLst>
              <a:gd name="adj" fmla="val 13636"/>
            </a:avLst>
          </a:prstGeom>
          <a:solidFill>
            <a:srgbClr val="D4606F"/>
          </a:solidFill>
          <a:ln/>
        </p:spPr>
        <p:txBody>
          <a:bodyPr/>
          <a:lstStyle/>
          <a:p>
            <a:endParaRPr lang="en-US"/>
          </a:p>
        </p:txBody>
      </p:sp>
      <p:sp>
        <p:nvSpPr>
          <p:cNvPr id="106" name="Shape 104"/>
          <p:cNvSpPr/>
          <p:nvPr/>
        </p:nvSpPr>
        <p:spPr>
          <a:xfrm>
            <a:off x="8810625" y="3214291"/>
            <a:ext cx="139700" cy="139700"/>
          </a:xfrm>
          <a:prstGeom prst="roundRect">
            <a:avLst>
              <a:gd name="adj" fmla="val 13636"/>
            </a:avLst>
          </a:prstGeom>
          <a:solidFill>
            <a:srgbClr val="D4606F"/>
          </a:solidFill>
          <a:ln/>
        </p:spPr>
        <p:txBody>
          <a:bodyPr/>
          <a:lstStyle/>
          <a:p>
            <a:endParaRPr lang="en-US"/>
          </a:p>
        </p:txBody>
      </p:sp>
      <p:sp>
        <p:nvSpPr>
          <p:cNvPr id="107" name="Shape 105"/>
          <p:cNvSpPr/>
          <p:nvPr/>
        </p:nvSpPr>
        <p:spPr>
          <a:xfrm>
            <a:off x="8969375" y="3214291"/>
            <a:ext cx="139700" cy="139700"/>
          </a:xfrm>
          <a:prstGeom prst="roundRect">
            <a:avLst>
              <a:gd name="adj" fmla="val 13636"/>
            </a:avLst>
          </a:prstGeom>
          <a:solidFill>
            <a:srgbClr val="E39AA6"/>
          </a:solidFill>
          <a:ln/>
        </p:spPr>
        <p:txBody>
          <a:bodyPr/>
          <a:lstStyle/>
          <a:p>
            <a:endParaRPr lang="en-US"/>
          </a:p>
        </p:txBody>
      </p:sp>
      <p:sp>
        <p:nvSpPr>
          <p:cNvPr id="108" name="Shape 106"/>
          <p:cNvSpPr/>
          <p:nvPr/>
        </p:nvSpPr>
        <p:spPr>
          <a:xfrm>
            <a:off x="9128125" y="3214291"/>
            <a:ext cx="139700" cy="139700"/>
          </a:xfrm>
          <a:prstGeom prst="roundRect">
            <a:avLst>
              <a:gd name="adj" fmla="val 13636"/>
            </a:avLst>
          </a:prstGeom>
          <a:solidFill>
            <a:srgbClr val="C00000"/>
          </a:solidFill>
          <a:ln/>
        </p:spPr>
        <p:txBody>
          <a:bodyPr/>
          <a:lstStyle/>
          <a:p>
            <a:endParaRPr lang="en-US"/>
          </a:p>
        </p:txBody>
      </p:sp>
      <p:sp>
        <p:nvSpPr>
          <p:cNvPr id="109" name="Shape 107"/>
          <p:cNvSpPr/>
          <p:nvPr/>
        </p:nvSpPr>
        <p:spPr>
          <a:xfrm>
            <a:off x="9286875" y="3214291"/>
            <a:ext cx="139700" cy="139700"/>
          </a:xfrm>
          <a:prstGeom prst="roundRect">
            <a:avLst>
              <a:gd name="adj" fmla="val 13636"/>
            </a:avLst>
          </a:prstGeom>
          <a:solidFill>
            <a:srgbClr val="C00000"/>
          </a:solidFill>
          <a:ln/>
        </p:spPr>
        <p:txBody>
          <a:bodyPr/>
          <a:lstStyle/>
          <a:p>
            <a:endParaRPr lang="en-US"/>
          </a:p>
        </p:txBody>
      </p:sp>
      <p:sp>
        <p:nvSpPr>
          <p:cNvPr id="110" name="Shape 108"/>
          <p:cNvSpPr/>
          <p:nvPr/>
        </p:nvSpPr>
        <p:spPr>
          <a:xfrm>
            <a:off x="9445625" y="3214291"/>
            <a:ext cx="139700" cy="139700"/>
          </a:xfrm>
          <a:prstGeom prst="roundRect">
            <a:avLst>
              <a:gd name="adj" fmla="val 13636"/>
            </a:avLst>
          </a:prstGeom>
          <a:solidFill>
            <a:srgbClr val="D4606F"/>
          </a:solidFill>
          <a:ln/>
        </p:spPr>
        <p:txBody>
          <a:bodyPr/>
          <a:lstStyle/>
          <a:p>
            <a:endParaRPr lang="en-US"/>
          </a:p>
        </p:txBody>
      </p:sp>
      <p:sp>
        <p:nvSpPr>
          <p:cNvPr id="111" name="Shape 109"/>
          <p:cNvSpPr/>
          <p:nvPr/>
        </p:nvSpPr>
        <p:spPr>
          <a:xfrm>
            <a:off x="9642475" y="3214291"/>
            <a:ext cx="139700" cy="139700"/>
          </a:xfrm>
          <a:prstGeom prst="roundRect">
            <a:avLst>
              <a:gd name="adj" fmla="val 13636"/>
            </a:avLst>
          </a:prstGeom>
          <a:solidFill>
            <a:srgbClr val="D4606F"/>
          </a:solidFill>
          <a:ln/>
        </p:spPr>
        <p:txBody>
          <a:bodyPr/>
          <a:lstStyle/>
          <a:p>
            <a:endParaRPr lang="en-US"/>
          </a:p>
        </p:txBody>
      </p:sp>
      <p:sp>
        <p:nvSpPr>
          <p:cNvPr id="112" name="Shape 110"/>
          <p:cNvSpPr/>
          <p:nvPr/>
        </p:nvSpPr>
        <p:spPr>
          <a:xfrm>
            <a:off x="9801225" y="3214291"/>
            <a:ext cx="139700" cy="139700"/>
          </a:xfrm>
          <a:prstGeom prst="roundRect">
            <a:avLst>
              <a:gd name="adj" fmla="val 13636"/>
            </a:avLst>
          </a:prstGeom>
          <a:solidFill>
            <a:srgbClr val="C00000"/>
          </a:solidFill>
          <a:ln/>
        </p:spPr>
        <p:txBody>
          <a:bodyPr/>
          <a:lstStyle/>
          <a:p>
            <a:endParaRPr lang="en-US"/>
          </a:p>
        </p:txBody>
      </p:sp>
      <p:sp>
        <p:nvSpPr>
          <p:cNvPr id="113" name="Shape 111"/>
          <p:cNvSpPr/>
          <p:nvPr/>
        </p:nvSpPr>
        <p:spPr>
          <a:xfrm>
            <a:off x="9959975" y="3214291"/>
            <a:ext cx="139700" cy="139700"/>
          </a:xfrm>
          <a:prstGeom prst="roundRect">
            <a:avLst>
              <a:gd name="adj" fmla="val 13636"/>
            </a:avLst>
          </a:prstGeom>
          <a:solidFill>
            <a:srgbClr val="D4606F"/>
          </a:solidFill>
          <a:ln/>
        </p:spPr>
        <p:txBody>
          <a:bodyPr/>
          <a:lstStyle/>
          <a:p>
            <a:endParaRPr lang="en-US"/>
          </a:p>
        </p:txBody>
      </p:sp>
      <p:sp>
        <p:nvSpPr>
          <p:cNvPr id="114" name="Shape 112"/>
          <p:cNvSpPr/>
          <p:nvPr/>
        </p:nvSpPr>
        <p:spPr>
          <a:xfrm>
            <a:off x="10118725" y="3214291"/>
            <a:ext cx="139700" cy="139700"/>
          </a:xfrm>
          <a:prstGeom prst="roundRect">
            <a:avLst>
              <a:gd name="adj" fmla="val 13636"/>
            </a:avLst>
          </a:prstGeom>
          <a:solidFill>
            <a:srgbClr val="C00000"/>
          </a:solidFill>
          <a:ln/>
        </p:spPr>
        <p:txBody>
          <a:bodyPr/>
          <a:lstStyle/>
          <a:p>
            <a:endParaRPr lang="en-US"/>
          </a:p>
        </p:txBody>
      </p:sp>
      <p:sp>
        <p:nvSpPr>
          <p:cNvPr id="115" name="Shape 113"/>
          <p:cNvSpPr/>
          <p:nvPr/>
        </p:nvSpPr>
        <p:spPr>
          <a:xfrm>
            <a:off x="10277475" y="3214291"/>
            <a:ext cx="139700" cy="139700"/>
          </a:xfrm>
          <a:prstGeom prst="roundRect">
            <a:avLst>
              <a:gd name="adj" fmla="val 13636"/>
            </a:avLst>
          </a:prstGeom>
          <a:solidFill>
            <a:srgbClr val="C00000"/>
          </a:solidFill>
          <a:ln/>
        </p:spPr>
        <p:txBody>
          <a:bodyPr/>
          <a:lstStyle/>
          <a:p>
            <a:endParaRPr lang="en-US"/>
          </a:p>
        </p:txBody>
      </p:sp>
      <p:sp>
        <p:nvSpPr>
          <p:cNvPr id="116" name="Shape 114"/>
          <p:cNvSpPr/>
          <p:nvPr/>
        </p:nvSpPr>
        <p:spPr>
          <a:xfrm>
            <a:off x="10436225" y="3214291"/>
            <a:ext cx="139700" cy="139700"/>
          </a:xfrm>
          <a:prstGeom prst="roundRect">
            <a:avLst>
              <a:gd name="adj" fmla="val 13636"/>
            </a:avLst>
          </a:prstGeom>
          <a:solidFill>
            <a:srgbClr val="C00000"/>
          </a:solidFill>
          <a:ln/>
        </p:spPr>
        <p:txBody>
          <a:bodyPr/>
          <a:lstStyle/>
          <a:p>
            <a:endParaRPr lang="en-US"/>
          </a:p>
        </p:txBody>
      </p:sp>
      <p:sp>
        <p:nvSpPr>
          <p:cNvPr id="117" name="Shape 115"/>
          <p:cNvSpPr/>
          <p:nvPr/>
        </p:nvSpPr>
        <p:spPr>
          <a:xfrm>
            <a:off x="10633075" y="3214291"/>
            <a:ext cx="139700" cy="139700"/>
          </a:xfrm>
          <a:prstGeom prst="roundRect">
            <a:avLst>
              <a:gd name="adj" fmla="val 13636"/>
            </a:avLst>
          </a:prstGeom>
          <a:solidFill>
            <a:srgbClr val="C00000"/>
          </a:solidFill>
          <a:ln/>
        </p:spPr>
        <p:txBody>
          <a:bodyPr/>
          <a:lstStyle/>
          <a:p>
            <a:endParaRPr lang="en-US"/>
          </a:p>
        </p:txBody>
      </p:sp>
      <p:sp>
        <p:nvSpPr>
          <p:cNvPr id="118" name="Shape 116"/>
          <p:cNvSpPr/>
          <p:nvPr/>
        </p:nvSpPr>
        <p:spPr>
          <a:xfrm>
            <a:off x="10791825" y="3214291"/>
            <a:ext cx="139700" cy="139700"/>
          </a:xfrm>
          <a:prstGeom prst="roundRect">
            <a:avLst>
              <a:gd name="adj" fmla="val 13636"/>
            </a:avLst>
          </a:prstGeom>
          <a:solidFill>
            <a:srgbClr val="C00000"/>
          </a:solidFill>
          <a:ln/>
        </p:spPr>
        <p:txBody>
          <a:bodyPr/>
          <a:lstStyle/>
          <a:p>
            <a:endParaRPr lang="en-US"/>
          </a:p>
        </p:txBody>
      </p:sp>
      <p:sp>
        <p:nvSpPr>
          <p:cNvPr id="119" name="Shape 117"/>
          <p:cNvSpPr/>
          <p:nvPr/>
        </p:nvSpPr>
        <p:spPr>
          <a:xfrm>
            <a:off x="10950575" y="3214291"/>
            <a:ext cx="139700" cy="139700"/>
          </a:xfrm>
          <a:prstGeom prst="roundRect">
            <a:avLst>
              <a:gd name="adj" fmla="val 13636"/>
            </a:avLst>
          </a:prstGeom>
          <a:solidFill>
            <a:srgbClr val="D4606F"/>
          </a:solidFill>
          <a:ln/>
        </p:spPr>
        <p:txBody>
          <a:bodyPr/>
          <a:lstStyle/>
          <a:p>
            <a:endParaRPr lang="en-US"/>
          </a:p>
        </p:txBody>
      </p:sp>
      <p:sp>
        <p:nvSpPr>
          <p:cNvPr id="120" name="Shape 118"/>
          <p:cNvSpPr/>
          <p:nvPr/>
        </p:nvSpPr>
        <p:spPr>
          <a:xfrm>
            <a:off x="11109325" y="3214291"/>
            <a:ext cx="139700" cy="139700"/>
          </a:xfrm>
          <a:prstGeom prst="roundRect">
            <a:avLst>
              <a:gd name="adj" fmla="val 13636"/>
            </a:avLst>
          </a:prstGeom>
          <a:solidFill>
            <a:srgbClr val="C00000"/>
          </a:solidFill>
          <a:ln/>
        </p:spPr>
        <p:txBody>
          <a:bodyPr/>
          <a:lstStyle/>
          <a:p>
            <a:endParaRPr lang="en-US"/>
          </a:p>
        </p:txBody>
      </p:sp>
      <p:sp>
        <p:nvSpPr>
          <p:cNvPr id="121" name="Shape 119"/>
          <p:cNvSpPr/>
          <p:nvPr/>
        </p:nvSpPr>
        <p:spPr>
          <a:xfrm>
            <a:off x="11268075" y="3214291"/>
            <a:ext cx="139700" cy="139700"/>
          </a:xfrm>
          <a:prstGeom prst="roundRect">
            <a:avLst>
              <a:gd name="adj" fmla="val 13636"/>
            </a:avLst>
          </a:prstGeom>
          <a:solidFill>
            <a:srgbClr val="C00000"/>
          </a:solidFill>
          <a:ln/>
        </p:spPr>
        <p:txBody>
          <a:bodyPr/>
          <a:lstStyle/>
          <a:p>
            <a:endParaRPr lang="en-US"/>
          </a:p>
        </p:txBody>
      </p:sp>
      <p:sp>
        <p:nvSpPr>
          <p:cNvPr id="122" name="Shape 120"/>
          <p:cNvSpPr/>
          <p:nvPr/>
        </p:nvSpPr>
        <p:spPr>
          <a:xfrm>
            <a:off x="11426825" y="3214291"/>
            <a:ext cx="139700" cy="139700"/>
          </a:xfrm>
          <a:prstGeom prst="roundRect">
            <a:avLst>
              <a:gd name="adj" fmla="val 13636"/>
            </a:avLst>
          </a:prstGeom>
          <a:solidFill>
            <a:srgbClr val="C00000"/>
          </a:solidFill>
          <a:ln/>
        </p:spPr>
        <p:txBody>
          <a:bodyPr/>
          <a:lstStyle/>
          <a:p>
            <a:endParaRPr lang="en-US"/>
          </a:p>
        </p:txBody>
      </p:sp>
      <p:sp>
        <p:nvSpPr>
          <p:cNvPr id="123" name="Text 121"/>
          <p:cNvSpPr/>
          <p:nvPr/>
        </p:nvSpPr>
        <p:spPr>
          <a:xfrm>
            <a:off x="5588508" y="3404791"/>
            <a:ext cx="6069584" cy="220960"/>
          </a:xfrm>
          <a:prstGeom prst="rect">
            <a:avLst/>
          </a:prstGeom>
          <a:noFill/>
          <a:ln/>
        </p:spPr>
        <p:txBody>
          <a:bodyPr wrap="square" lIns="0" tIns="0" rIns="0" bIns="0" rtlCol="0" anchor="t">
            <a:normAutofit/>
          </a:bodyPr>
          <a:lstStyle/>
          <a:p>
            <a:pPr marL="0" indent="0" algn="ctr">
              <a:lnSpc>
                <a:spcPts val="1540"/>
              </a:lnSpc>
              <a:buNone/>
            </a:pPr>
            <a:r>
              <a:rPr lang="en-US" sz="1100" b="1" dirty="0">
                <a:solidFill>
                  <a:srgbClr val="C00000"/>
                </a:solidFill>
                <a:latin typeface="Lato" pitchFamily="34" charset="0"/>
                <a:ea typeface="Lato" pitchFamily="34" charset="-122"/>
                <a:cs typeface="Lato" pitchFamily="34" charset="-120"/>
              </a:rPr>
              <a:t>M6: credentialed access and sensitive entity expansion</a:t>
            </a:r>
            <a:endParaRPr lang="en-US" sz="1100" dirty="0"/>
          </a:p>
        </p:txBody>
      </p:sp>
      <p:sp>
        <p:nvSpPr>
          <p:cNvPr id="124" name="Text 122"/>
          <p:cNvSpPr/>
          <p:nvPr/>
        </p:nvSpPr>
        <p:spPr>
          <a:xfrm>
            <a:off x="508000" y="4099471"/>
            <a:ext cx="12065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00000"/>
                </a:solidFill>
                <a:latin typeface="Lato" pitchFamily="34" charset="0"/>
                <a:ea typeface="Lato" pitchFamily="34" charset="-122"/>
                <a:cs typeface="Lato" pitchFamily="34" charset="-120"/>
              </a:rPr>
              <a:t>Risk score</a:t>
            </a:r>
            <a:endParaRPr lang="en-US" sz="1200" dirty="0"/>
          </a:p>
        </p:txBody>
      </p:sp>
      <p:sp>
        <p:nvSpPr>
          <p:cNvPr id="125" name="Shape 123"/>
          <p:cNvSpPr/>
          <p:nvPr/>
        </p:nvSpPr>
        <p:spPr>
          <a:xfrm>
            <a:off x="508000" y="4423916"/>
            <a:ext cx="190500" cy="31750"/>
          </a:xfrm>
          <a:prstGeom prst="rect">
            <a:avLst/>
          </a:prstGeom>
          <a:solidFill>
            <a:srgbClr val="C00000"/>
          </a:solidFill>
          <a:ln/>
        </p:spPr>
        <p:txBody>
          <a:bodyPr/>
          <a:lstStyle/>
          <a:p>
            <a:endParaRPr lang="en-US"/>
          </a:p>
        </p:txBody>
      </p:sp>
      <p:sp>
        <p:nvSpPr>
          <p:cNvPr id="126" name="Text 124"/>
          <p:cNvSpPr/>
          <p:nvPr/>
        </p:nvSpPr>
        <p:spPr>
          <a:xfrm>
            <a:off x="749300" y="4350891"/>
            <a:ext cx="298351"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C00000"/>
                </a:solidFill>
                <a:latin typeface="Lato" pitchFamily="34" charset="0"/>
                <a:ea typeface="Lato" pitchFamily="34" charset="-122"/>
                <a:cs typeface="Lato" pitchFamily="34" charset="-120"/>
              </a:rPr>
              <a:t>ours</a:t>
            </a:r>
            <a:endParaRPr lang="en-US" sz="1000" dirty="0"/>
          </a:p>
        </p:txBody>
      </p:sp>
      <p:sp>
        <p:nvSpPr>
          <p:cNvPr id="127" name="Shape 125"/>
          <p:cNvSpPr/>
          <p:nvPr/>
        </p:nvSpPr>
        <p:spPr>
          <a:xfrm>
            <a:off x="508000" y="4639816"/>
            <a:ext cx="190500" cy="31750"/>
          </a:xfrm>
          <a:prstGeom prst="rect">
            <a:avLst/>
          </a:prstGeom>
          <a:solidFill>
            <a:srgbClr val="888888"/>
          </a:solidFill>
          <a:ln/>
        </p:spPr>
        <p:txBody>
          <a:bodyPr/>
          <a:lstStyle/>
          <a:p>
            <a:endParaRPr lang="en-US"/>
          </a:p>
        </p:txBody>
      </p:sp>
      <p:sp>
        <p:nvSpPr>
          <p:cNvPr id="128" name="Text 126"/>
          <p:cNvSpPr/>
          <p:nvPr/>
        </p:nvSpPr>
        <p:spPr>
          <a:xfrm>
            <a:off x="749300" y="4566791"/>
            <a:ext cx="965200"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555555"/>
                </a:solidFill>
                <a:latin typeface="Lato" pitchFamily="34" charset="0"/>
                <a:ea typeface="Lato" pitchFamily="34" charset="-122"/>
                <a:cs typeface="Lato" pitchFamily="34" charset="-120"/>
              </a:rPr>
              <a:t>reactive auditor</a:t>
            </a:r>
            <a:endParaRPr lang="en-US" sz="1000" dirty="0"/>
          </a:p>
        </p:txBody>
      </p:sp>
      <p:sp>
        <p:nvSpPr>
          <p:cNvPr id="129" name="Text 127"/>
          <p:cNvSpPr/>
          <p:nvPr/>
        </p:nvSpPr>
        <p:spPr>
          <a:xfrm>
            <a:off x="508000" y="4782691"/>
            <a:ext cx="1206500" cy="185390"/>
          </a:xfrm>
          <a:prstGeom prst="rect">
            <a:avLst/>
          </a:prstGeom>
          <a:noFill/>
          <a:ln/>
        </p:spPr>
        <p:txBody>
          <a:bodyPr wrap="square" lIns="0" tIns="0" rIns="0" bIns="0" rtlCol="0" anchor="t">
            <a:normAutofit/>
          </a:bodyPr>
          <a:lstStyle/>
          <a:p>
            <a:pPr marL="0" indent="0" algn="l">
              <a:lnSpc>
                <a:spcPts val="1260"/>
              </a:lnSpc>
              <a:buNone/>
            </a:pPr>
            <a:r>
              <a:rPr lang="en-US" sz="900" dirty="0">
                <a:solidFill>
                  <a:srgbClr val="888888"/>
                </a:solidFill>
                <a:latin typeface="Lato" pitchFamily="34" charset="0"/>
                <a:ea typeface="Lato" pitchFamily="34" charset="-122"/>
                <a:cs typeface="Lato" pitchFamily="34" charset="-120"/>
              </a:rPr>
              <a:t>(AgentDoG)</a:t>
            </a:r>
            <a:endParaRPr lang="en-US" sz="900" dirty="0"/>
          </a:p>
        </p:txBody>
      </p:sp>
      <p:pic>
        <p:nvPicPr>
          <p:cNvPr id="130" name="Image 0" descr="risk score of both auditors over the ten steps; ours crosses the threshold at step 6, the reactive auditor at step 9"/>
          <p:cNvPicPr>
            <a:picLocks noChangeAspect="1"/>
          </p:cNvPicPr>
          <p:nvPr/>
        </p:nvPicPr>
        <p:blipFill>
          <a:blip r:embed="rId3"/>
          <a:srcRect l="-16" r="-16"/>
          <a:stretch/>
        </p:blipFill>
        <p:spPr>
          <a:xfrm>
            <a:off x="1714500" y="3727351"/>
            <a:ext cx="9855200" cy="1587500"/>
          </a:xfrm>
          <a:prstGeom prst="rect">
            <a:avLst/>
          </a:prstGeom>
        </p:spPr>
      </p:pic>
      <p:sp>
        <p:nvSpPr>
          <p:cNvPr id="131" name="Text 128"/>
          <p:cNvSpPr/>
          <p:nvPr/>
        </p:nvSpPr>
        <p:spPr>
          <a:xfrm>
            <a:off x="6642100" y="5422801"/>
            <a:ext cx="990600" cy="220960"/>
          </a:xfrm>
          <a:prstGeom prst="rect">
            <a:avLst/>
          </a:prstGeom>
          <a:noFill/>
          <a:ln/>
        </p:spPr>
        <p:txBody>
          <a:bodyPr wrap="square" lIns="0" tIns="0" rIns="0" bIns="0" rtlCol="0" anchor="t">
            <a:normAutofit/>
          </a:bodyPr>
          <a:lstStyle/>
          <a:p>
            <a:pPr marL="0" indent="0" algn="ctr">
              <a:lnSpc>
                <a:spcPts val="1540"/>
              </a:lnSpc>
              <a:buNone/>
            </a:pPr>
            <a:r>
              <a:rPr lang="en-US" sz="1100" b="1" dirty="0">
                <a:solidFill>
                  <a:srgbClr val="C00000"/>
                </a:solidFill>
                <a:latin typeface="Lato" pitchFamily="34" charset="0"/>
                <a:ea typeface="Lato" pitchFamily="34" charset="-122"/>
                <a:cs typeface="Lato" pitchFamily="34" charset="-120"/>
              </a:rPr>
              <a:t>early warning</a:t>
            </a:r>
            <a:endParaRPr lang="en-US" sz="1100" dirty="0"/>
          </a:p>
        </p:txBody>
      </p:sp>
      <p:sp>
        <p:nvSpPr>
          <p:cNvPr id="132" name="Text 129"/>
          <p:cNvSpPr/>
          <p:nvPr/>
        </p:nvSpPr>
        <p:spPr>
          <a:xfrm>
            <a:off x="9613900" y="5422801"/>
            <a:ext cx="990600" cy="220960"/>
          </a:xfrm>
          <a:prstGeom prst="rect">
            <a:avLst/>
          </a:prstGeom>
          <a:noFill/>
          <a:ln/>
        </p:spPr>
        <p:txBody>
          <a:bodyPr wrap="square" lIns="0" tIns="0" rIns="0" bIns="0" rtlCol="0" anchor="t">
            <a:normAutofit/>
          </a:bodyPr>
          <a:lstStyle/>
          <a:p>
            <a:pPr marL="0" indent="0" algn="ctr">
              <a:lnSpc>
                <a:spcPts val="1540"/>
              </a:lnSpc>
              <a:buNone/>
            </a:pPr>
            <a:r>
              <a:rPr lang="en-US" sz="1100" b="1" dirty="0">
                <a:solidFill>
                  <a:srgbClr val="555555"/>
                </a:solidFill>
                <a:latin typeface="Lato" pitchFamily="34" charset="0"/>
                <a:ea typeface="Lato" pitchFamily="34" charset="-122"/>
                <a:cs typeface="Lato" pitchFamily="34" charset="-120"/>
              </a:rPr>
              <a:t>reactive alarm</a:t>
            </a:r>
            <a:endParaRPr lang="en-US" sz="1100" dirty="0"/>
          </a:p>
        </p:txBody>
      </p:sp>
      <p:sp>
        <p:nvSpPr>
          <p:cNvPr id="133" name="Text 130"/>
          <p:cNvSpPr/>
          <p:nvPr/>
        </p:nvSpPr>
        <p:spPr>
          <a:xfrm>
            <a:off x="340360" y="5918200"/>
            <a:ext cx="11511280" cy="355600"/>
          </a:xfrm>
          <a:prstGeom prst="rect">
            <a:avLst/>
          </a:prstGeom>
          <a:noFill/>
          <a:ln/>
        </p:spPr>
        <p:txBody>
          <a:bodyPr wrap="square" lIns="0" tIns="0" rIns="0" bIns="0" rtlCol="0" anchor="t">
            <a:normAutofit/>
          </a:bodyPr>
          <a:lstStyle/>
          <a:p>
            <a:pPr marL="0" indent="0" algn="ctr">
              <a:lnSpc>
                <a:spcPts val="2600"/>
              </a:lnSpc>
              <a:buNone/>
            </a:pPr>
            <a:r>
              <a:rPr lang="en-US" sz="2000" dirty="0">
                <a:solidFill>
                  <a:srgbClr val="000000"/>
                </a:solidFill>
                <a:latin typeface="Lato" pitchFamily="34" charset="0"/>
                <a:ea typeface="Lato" pitchFamily="34" charset="-122"/>
                <a:cs typeface="Lato" pitchFamily="34" charset="-120"/>
              </a:rPr>
              <a:t>Same ten steps: the text says fine until step 9, the hidden state says risk from step 5</a:t>
            </a:r>
            <a:endParaRPr lang="en-US" sz="2000" dirty="0"/>
          </a:p>
        </p:txBody>
      </p:sp>
    </p:spTree>
  </p:cSld>
  <p:clrMapOvr>
    <a:masterClrMapping/>
  </p:clrMapOvr>
</p:sld>
</file>

<file path=ppt/theme/theme1.xml><?xml version="1.0" encoding="utf-8"?>
<a:theme xmlns:a="http://schemas.openxmlformats.org/drawingml/2006/main" name="Where, When, and Why LLM Agents Fail: From Mechanistic Understanding to Auditing">
  <a:themeElements>
    <a:clrScheme name="Where, When, and Why LLM Agents Fail: From Mechanistic Understanding to Auditing">
      <a:dk1>
        <a:srgbClr val="000000"/>
      </a:dk1>
      <a:lt1>
        <a:srgbClr val="FFFFFF"/>
      </a:lt1>
      <a:dk2>
        <a:srgbClr val="404040"/>
      </a:dk2>
      <a:lt2>
        <a:srgbClr val="E6E6E6"/>
      </a:lt2>
      <a:accent1>
        <a:srgbClr val="2F5597"/>
      </a:accent1>
      <a:accent2>
        <a:srgbClr val="C00000"/>
      </a:accent2>
      <a:accent3>
        <a:srgbClr val="9DB4D8"/>
      </a:accent3>
      <a:accent4>
        <a:srgbClr val="CC0033"/>
      </a:accent4>
      <a:accent5>
        <a:srgbClr val="D4606F"/>
      </a:accent5>
      <a:accent6>
        <a:srgbClr val="2F64A8"/>
      </a:accent6>
      <a:hlink>
        <a:srgbClr val="0563C1"/>
      </a:hlink>
      <a:folHlink>
        <a:srgbClr val="954F72"/>
      </a:folHlink>
    </a:clrScheme>
    <a:fontScheme name="Where, When, and Why LLM Agents Fail: From Mechanistic Understanding to Auditing">
      <a:majorFont>
        <a:latin typeface="La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a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249</TotalTime>
  <Words>8561</Words>
  <Application>Microsoft Macintosh PowerPoint</Application>
  <PresentationFormat>Widescreen</PresentationFormat>
  <Paragraphs>1018</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Lato</vt:lpstr>
      <vt:lpstr>Where, When, and Why LLM Agents Fail: From Mechanistic Understanding to Auditing</vt:lpstr>
      <vt:lpstr>When AI Fails: From Mechanistic Understanding to Proactive Auditing</vt:lpstr>
      <vt:lpstr>Overview: Research Directions of Our Lab</vt:lpstr>
      <vt:lpstr>PowerPoint Presentation</vt:lpstr>
      <vt:lpstr>Object Hallucination in LVLMs</vt:lpstr>
      <vt:lpstr>Hallucinated Objects Across Scenes and Models</vt:lpstr>
      <vt:lpstr>Prior Work: Blaming the Language Model</vt:lpstr>
      <vt:lpstr>Our Question: What About the Visual Side?</vt:lpstr>
      <vt:lpstr>Where Does the Model Look?</vt:lpstr>
      <vt:lpstr>Middle Layers Localize Objects</vt:lpstr>
      <vt:lpstr>Where Do Hallucinations Look?</vt:lpstr>
      <vt:lpstr>From Latent Space to Output Words</vt:lpstr>
      <vt:lpstr>What Do the Papaya Tokens Encode?</vt:lpstr>
      <vt:lpstr>Zeroing Out Hallucinatory Image Tokens</vt:lpstr>
      <vt:lpstr>Zeroing Out Hallucinatory Image Tokens</vt:lpstr>
      <vt:lpstr>Zeroing Out Hallucinatory Image Tokens</vt:lpstr>
      <vt:lpstr>Zeroing Out Hallucinatory Image Tokens</vt:lpstr>
      <vt:lpstr>Results: Mitigation and Detection</vt:lpstr>
      <vt:lpstr>Case Study: One Token, Four Fixes</vt:lpstr>
      <vt:lpstr>Takeaways</vt:lpstr>
      <vt:lpstr>PowerPoint Presentation</vt:lpstr>
      <vt:lpstr>From One Agent to Many, on Longer Tasks</vt:lpstr>
      <vt:lpstr>Agents Now Act and Fail in the Real World</vt:lpstr>
      <vt:lpstr>One Agent's Mistake Becomes the Next's Fact</vt:lpstr>
      <vt:lpstr>Found After the Run, the Cost Is Already Paid</vt:lpstr>
      <vt:lpstr>Prior Work: Attribution After the Trajectory Has Failed</vt:lpstr>
      <vt:lpstr>Observation: Clues Appear Early, General Models Miss Them</vt:lpstr>
      <vt:lpstr>Data: Teaching an Auditor Where Runs Go Wrong</vt:lpstr>
      <vt:lpstr>A 7B Auditor That Follows the Run Step by Step</vt:lpstr>
      <vt:lpstr>Results: A Trained 7B Auditor Beats Strong General Models</vt:lpstr>
      <vt:lpstr>Going Further: Auditing Without Step Labels</vt:lpstr>
      <vt:lpstr>Hidden States to Risk State, One Label per Run</vt:lpstr>
      <vt:lpstr>Results: Earlier Warning Without Losing Final Accuracy</vt:lpstr>
      <vt:lpstr>What the Mechanism Bank Learned</vt:lpstr>
      <vt:lpstr>Takeaways</vt:lpstr>
      <vt:lpstr>AI for Biomedicine: A Multi-Agent T1D Knowledge Graph</vt:lpstr>
      <vt:lpstr>PowerPoint Presentation</vt:lpstr>
      <vt:lpstr>Backup</vt:lpstr>
      <vt:lpstr>Prior Work: Attention Drifts Away from the Image</vt:lpstr>
      <vt:lpstr>Zeroing Out Three Tokens</vt:lpstr>
      <vt:lpstr>Not One Lucky Image</vt:lpstr>
      <vt:lpstr>Key Insight Behind EAZY</vt:lpstr>
      <vt:lpstr>Step by Step on the Fruit Stand</vt:lpstr>
      <vt:lpstr>Case Study: Back to the Opening Examples</vt:lpstr>
      <vt:lpstr>Case Study: More Examples</vt:lpstr>
      <vt:lpstr>Results: Hallucination Detection</vt:lpstr>
      <vt:lpstr>Results: Hallucination Mitigation</vt:lpstr>
      <vt:lpstr>Results: Cost and General Ability</vt:lpstr>
      <vt:lpstr>Limitations: Failure Cases</vt:lpstr>
      <vt:lpstr>Discussion: Visual Bias as a Main Cause</vt:lpstr>
      <vt:lpstr>Key Idea: Risk Is a State in the Observer's Hidden Space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Where, When, and Why LLM Agents Fail: From Mechanistic Understanding to Auditing and Control</dc:title>
  <dc:subject/>
  <dc:creator/>
  <cp:lastModifiedBy>Ruixiang Tang</cp:lastModifiedBy>
  <cp:revision>2</cp:revision>
  <dcterms:created xsi:type="dcterms:W3CDTF">2026-10-15T16:55:12Z</dcterms:created>
  <dcterms:modified xsi:type="dcterms:W3CDTF">2026-10-15T21:05:00Z</dcterms:modified>
</cp:coreProperties>
</file>